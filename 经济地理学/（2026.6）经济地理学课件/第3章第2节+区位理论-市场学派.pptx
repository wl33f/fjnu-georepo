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5" r:id="rId2"/>
    <p:sldId id="324" r:id="rId3"/>
    <p:sldId id="274" r:id="rId4"/>
    <p:sldId id="290" r:id="rId5"/>
    <p:sldId id="291" r:id="rId6"/>
    <p:sldId id="264" r:id="rId7"/>
    <p:sldId id="266" r:id="rId8"/>
    <p:sldId id="265" r:id="rId9"/>
    <p:sldId id="268" r:id="rId10"/>
    <p:sldId id="267" r:id="rId11"/>
    <p:sldId id="282" r:id="rId12"/>
    <p:sldId id="270" r:id="rId13"/>
    <p:sldId id="307" r:id="rId14"/>
    <p:sldId id="281" r:id="rId15"/>
    <p:sldId id="310" r:id="rId16"/>
    <p:sldId id="311" r:id="rId17"/>
    <p:sldId id="308" r:id="rId18"/>
    <p:sldId id="275" r:id="rId19"/>
    <p:sldId id="292" r:id="rId20"/>
    <p:sldId id="271" r:id="rId21"/>
    <p:sldId id="272" r:id="rId22"/>
    <p:sldId id="295" r:id="rId23"/>
    <p:sldId id="293" r:id="rId24"/>
    <p:sldId id="296" r:id="rId25"/>
    <p:sldId id="297" r:id="rId26"/>
    <p:sldId id="316" r:id="rId27"/>
    <p:sldId id="317" r:id="rId28"/>
    <p:sldId id="318" r:id="rId2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FF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75" autoAdjust="0"/>
    <p:restoredTop sz="94660"/>
  </p:normalViewPr>
  <p:slideViewPr>
    <p:cSldViewPr>
      <p:cViewPr varScale="1">
        <p:scale>
          <a:sx n="78" d="100"/>
          <a:sy n="78" d="100"/>
        </p:scale>
        <p:origin x="-662" y="-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70B14E-8D5B-4294-858D-280247EA1E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3033E5-F564-484B-9D2A-6018CC0101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214F4B-1900-4A1F-A584-5638CE5F78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281512-3972-468A-B5B3-2086135CCE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0E4AC-E0BD-4ABB-BB0F-9E1297994C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75C719-9F94-4CEA-B0F4-884BD50CB0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B3A176-320D-4B5C-AF0D-104B7B9852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B7D952-6A1A-4C4F-924D-BC07986B41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2234AC-C910-4257-838C-F8449976FA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CCB8EA-27B7-4314-8296-6D13EDB39B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83AC06-8F48-486E-BDF1-04864F13DE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BBA9A7-B408-425D-B156-0B98222DA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C4F4D7-CB99-4E82-8FCC-1D12A4729E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F6AB3723-4ED9-41C0-874A-AD7F53C6C7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slide" Target="slide5.xml"/><Relationship Id="rId7" Type="http://schemas.openxmlformats.org/officeDocument/2006/relationships/slide" Target="slide11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3.xml"/><Relationship Id="rId4" Type="http://schemas.openxmlformats.org/officeDocument/2006/relationships/slide" Target="slide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2636838"/>
            <a:ext cx="7772400" cy="2232025"/>
          </a:xfrm>
        </p:spPr>
        <p:txBody>
          <a:bodyPr/>
          <a:lstStyle/>
          <a:p>
            <a:pPr eaLnBrk="1" hangingPunct="1"/>
            <a:r>
              <a:rPr lang="zh-CN" altLang="en-US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章  区 位 理 论</a:t>
            </a:r>
            <a:r>
              <a:rPr lang="en-US" altLang="zh-CN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en-US" altLang="zh-CN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en-US" altLang="zh-CN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</a:br>
            <a:r>
              <a:rPr lang="zh-CN" altLang="en-US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节  古典区位</a:t>
            </a:r>
            <a:r>
              <a:rPr lang="en-US" altLang="zh-CN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市场学派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7813" y="2276475"/>
            <a:ext cx="6842125" cy="1801813"/>
          </a:xfrm>
        </p:spPr>
        <p:txBody>
          <a:bodyPr/>
          <a:lstStyle/>
          <a:p>
            <a:pPr marL="466725" eaLnBrk="1" hangingPunct="1">
              <a:lnSpc>
                <a:spcPct val="200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一、克里斯塔勒中心地理论</a:t>
            </a:r>
          </a:p>
          <a:p>
            <a:pPr marL="466725" eaLnBrk="1" hangingPunct="1">
              <a:lnSpc>
                <a:spcPct val="200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二、廖什市场区位理论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algn="l" eaLnBrk="1" hangingPunct="1"/>
            <a:r>
              <a:rPr lang="zh-CN" altLang="en-US" sz="3200" smtClean="0">
                <a:solidFill>
                  <a:srgbClr val="FFFF00"/>
                </a:solidFill>
                <a:ea typeface="黑体" pitchFamily="49" charset="-122"/>
              </a:rPr>
              <a:t>一、克里斯塔勒</a:t>
            </a:r>
            <a:r>
              <a:rPr lang="zh-CN" altLang="en-US" sz="3200" smtClean="0">
                <a:solidFill>
                  <a:srgbClr val="FFFF00"/>
                </a:solidFill>
                <a:latin typeface="华文细黑" pitchFamily="2" charset="-122"/>
                <a:ea typeface="黑体" pitchFamily="49" charset="-122"/>
              </a:rPr>
              <a:t>“</a:t>
            </a:r>
            <a:r>
              <a:rPr lang="zh-CN" altLang="en-US" sz="3200" smtClean="0">
                <a:solidFill>
                  <a:srgbClr val="FFFF00"/>
                </a:solidFill>
                <a:ea typeface="黑体" pitchFamily="49" charset="-122"/>
              </a:rPr>
              <a:t>中心地</a:t>
            </a:r>
            <a:r>
              <a:rPr lang="zh-CN" altLang="en-US" sz="3200" smtClean="0">
                <a:solidFill>
                  <a:srgbClr val="FFFF00"/>
                </a:solidFill>
                <a:latin typeface="华文细黑" pitchFamily="2" charset="-122"/>
                <a:ea typeface="黑体" pitchFamily="49" charset="-122"/>
              </a:rPr>
              <a:t>”</a:t>
            </a:r>
            <a:r>
              <a:rPr lang="zh-CN" altLang="en-US" sz="3200" smtClean="0">
                <a:solidFill>
                  <a:srgbClr val="FFFF00"/>
                </a:solidFill>
                <a:ea typeface="黑体" pitchFamily="49" charset="-122"/>
              </a:rPr>
              <a:t>理论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（一）背景与理论核心</a:t>
            </a: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（二）理论内容</a:t>
            </a: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1. 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2" action="ppaction://hlinksldjump"/>
              </a:rPr>
              <a:t>基本概念</a:t>
            </a:r>
            <a:endParaRPr lang="zh-CN" altLang="en-US" sz="24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   中心地、中心地职能、中心性或中心度、货物供应范围、门槛及门槛人数、中心地等级</a:t>
            </a: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2. 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3" action="ppaction://hlinksldjump"/>
              </a:rPr>
              <a:t>假设条件</a:t>
            </a:r>
            <a:endParaRPr lang="zh-CN" altLang="en-US" sz="24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3. 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4" action="ppaction://hlinksldjump"/>
              </a:rPr>
              <a:t>六边形网格</a:t>
            </a:r>
            <a:endParaRPr lang="zh-CN" altLang="en-US" sz="24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4. 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5" action="ppaction://hlinksldjump"/>
              </a:rPr>
              <a:t>等级体系的出现</a:t>
            </a:r>
            <a:endParaRPr lang="zh-CN" altLang="en-US" sz="24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5. K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值</a:t>
            </a: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    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5" action="ppaction://hlinksldjump"/>
              </a:rPr>
              <a:t>市场原则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6" action="ppaction://hlinksldjump"/>
              </a:rPr>
              <a:t>交通原则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7" action="ppaction://hlinksldjump"/>
              </a:rPr>
              <a:t>行政原则</a:t>
            </a:r>
            <a:endParaRPr lang="zh-CN" altLang="en-US" sz="24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（三）</a:t>
            </a:r>
            <a:r>
              <a:rPr lang="zh-CN" altLang="en-US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  <a:hlinkClick r:id="rId8" action="ppaction://hlinksldjump"/>
              </a:rPr>
              <a:t>评价</a:t>
            </a:r>
            <a:endParaRPr lang="zh-CN" altLang="en-US" sz="2400" smtClean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229600" cy="5832475"/>
          </a:xfrm>
        </p:spPr>
        <p:txBody>
          <a:bodyPr/>
          <a:lstStyle/>
          <a:p>
            <a:pPr eaLnBrk="1" hangingPunct="1"/>
            <a:r>
              <a:rPr lang="zh-CN" altLang="en-US" sz="2000" smtClean="0">
                <a:solidFill>
                  <a:srgbClr val="FFFF00"/>
                </a:solidFill>
                <a:ea typeface="黑体" pitchFamily="49" charset="-122"/>
              </a:rPr>
              <a:t>中心地</a:t>
            </a:r>
            <a:r>
              <a:rPr lang="zh-CN" altLang="en-US" sz="2000" smtClean="0">
                <a:solidFill>
                  <a:schemeClr val="bg1"/>
                </a:solidFill>
                <a:ea typeface="黑体" pitchFamily="49" charset="-122"/>
              </a:rPr>
              <a:t>：能够像周围区域的消费者提供各种商品和服务的地点，可以是城市，也可以是集聚或商业服务中心；</a:t>
            </a:r>
          </a:p>
          <a:p>
            <a:pPr eaLnBrk="1" hangingPunct="1"/>
            <a:r>
              <a:rPr lang="zh-CN" altLang="en-US" sz="2000" smtClean="0">
                <a:solidFill>
                  <a:srgbClr val="FFFF00"/>
                </a:solidFill>
                <a:ea typeface="黑体" pitchFamily="49" charset="-122"/>
              </a:rPr>
              <a:t>中心地的职能（中心货物与服务）</a:t>
            </a:r>
            <a:r>
              <a:rPr lang="zh-CN" altLang="en-US" sz="2000" smtClean="0">
                <a:solidFill>
                  <a:schemeClr val="bg1"/>
                </a:solidFill>
                <a:ea typeface="黑体" pitchFamily="49" charset="-122"/>
              </a:rPr>
              <a:t>：分别指在中心地内生产的货物与提供的服务，具有等级之分；</a:t>
            </a:r>
          </a:p>
          <a:p>
            <a:pPr eaLnBrk="1" hangingPunct="1"/>
            <a:r>
              <a:rPr lang="zh-CN" altLang="en-US" sz="2000" smtClean="0">
                <a:solidFill>
                  <a:srgbClr val="FFFF00"/>
                </a:solidFill>
                <a:ea typeface="黑体" pitchFamily="49" charset="-122"/>
              </a:rPr>
              <a:t>中心性、中心度：</a:t>
            </a:r>
            <a:r>
              <a:rPr lang="zh-CN" altLang="en-US" sz="2000" smtClean="0">
                <a:solidFill>
                  <a:schemeClr val="bg1"/>
                </a:solidFill>
                <a:ea typeface="黑体" pitchFamily="49" charset="-122"/>
              </a:rPr>
              <a:t>中心地的中心职能作用的大小，</a:t>
            </a:r>
            <a:r>
              <a:rPr lang="en-US" altLang="zh-CN" sz="2000" smtClean="0">
                <a:solidFill>
                  <a:schemeClr val="bg1"/>
                </a:solidFill>
                <a:ea typeface="黑体" pitchFamily="49" charset="-122"/>
              </a:rPr>
              <a:t>C=B1-B2</a:t>
            </a:r>
            <a:r>
              <a:rPr lang="zh-CN" altLang="en-US" sz="2000" smtClean="0">
                <a:solidFill>
                  <a:schemeClr val="bg1"/>
                </a:solidFill>
                <a:ea typeface="黑体" pitchFamily="49" charset="-122"/>
              </a:rPr>
              <a:t>；</a:t>
            </a:r>
          </a:p>
          <a:p>
            <a:pPr eaLnBrk="1" hangingPunct="1"/>
            <a:endParaRPr lang="zh-CN" altLang="en-US" sz="2000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/>
            <a:endParaRPr lang="zh-CN" altLang="en-US" sz="2000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/>
            <a:endParaRPr lang="zh-CN" altLang="en-US" sz="2000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/>
            <a:r>
              <a:rPr lang="zh-CN" altLang="en-US" sz="2000" smtClean="0">
                <a:solidFill>
                  <a:srgbClr val="FFFF00"/>
                </a:solidFill>
                <a:ea typeface="黑体" pitchFamily="49" charset="-122"/>
              </a:rPr>
              <a:t>货物供应范围：</a:t>
            </a:r>
            <a:r>
              <a:rPr lang="zh-CN" altLang="en-US" sz="2000" smtClean="0">
                <a:solidFill>
                  <a:schemeClr val="bg1"/>
                </a:solidFill>
                <a:ea typeface="黑体" pitchFamily="49" charset="-122"/>
              </a:rPr>
              <a:t>由中心地供给的货物所能够达到的范围</a:t>
            </a:r>
            <a:endParaRPr lang="en-US" altLang="zh-CN" sz="2000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/>
            <a:r>
              <a:rPr lang="zh-CN" altLang="en-US" sz="2000" smtClean="0">
                <a:solidFill>
                  <a:srgbClr val="FFFF00"/>
                </a:solidFill>
                <a:ea typeface="黑体" pitchFamily="49" charset="-122"/>
              </a:rPr>
              <a:t>门槛及门槛人数</a:t>
            </a:r>
            <a:r>
              <a:rPr lang="zh-CN" altLang="en-US" sz="2000" smtClean="0">
                <a:solidFill>
                  <a:schemeClr val="bg1"/>
                </a:solidFill>
                <a:ea typeface="黑体" pitchFamily="49" charset="-122"/>
              </a:rPr>
              <a:t>：供给范围的下限；门槛指一个企业为维持经营活动所必须挣取的最低收入；门槛人数指维持一家企业所需的最低人口数，或某种服务业的最低顾客数；</a:t>
            </a:r>
          </a:p>
          <a:p>
            <a:pPr eaLnBrk="1" hangingPunct="1"/>
            <a:endParaRPr lang="zh-CN" altLang="en-US" sz="2000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/>
            <a:endParaRPr lang="zh-CN" altLang="en-US" sz="2000" smtClean="0">
              <a:solidFill>
                <a:schemeClr val="bg1"/>
              </a:solidFill>
              <a:ea typeface="华文细黑" pitchFamily="2" charset="-122"/>
            </a:endParaRPr>
          </a:p>
          <a:p>
            <a:pPr eaLnBrk="1" hangingPunct="1"/>
            <a:endParaRPr lang="en-US" altLang="zh-CN" sz="2000" smtClean="0">
              <a:solidFill>
                <a:srgbClr val="FFFF00"/>
              </a:solidFill>
              <a:ea typeface="黑体" pitchFamily="49" charset="-122"/>
            </a:endParaRPr>
          </a:p>
          <a:p>
            <a:pPr eaLnBrk="1" hangingPunct="1"/>
            <a:r>
              <a:rPr lang="zh-CN" altLang="en-US" sz="2000" smtClean="0">
                <a:solidFill>
                  <a:srgbClr val="FFFF00"/>
                </a:solidFill>
                <a:ea typeface="黑体" pitchFamily="49" charset="-122"/>
              </a:rPr>
              <a:t>中心地等级：</a:t>
            </a:r>
            <a:r>
              <a:rPr lang="zh-CN" altLang="en-US" sz="2000" smtClean="0">
                <a:solidFill>
                  <a:schemeClr val="bg1"/>
                </a:solidFill>
                <a:ea typeface="黑体" pitchFamily="49" charset="-122"/>
              </a:rPr>
              <a:t>取决于其能够提供的商品和服务的水平</a:t>
            </a:r>
            <a:endParaRPr lang="en-US" altLang="zh-CN" sz="2000" smtClean="0">
              <a:solidFill>
                <a:schemeClr val="bg1"/>
              </a:solidFill>
              <a:ea typeface="黑体" pitchFamily="49" charset="-122"/>
            </a:endParaRPr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1187450" y="2781300"/>
            <a:ext cx="2044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Z=Tz-Ez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altLang="zh-CN">
                <a:solidFill>
                  <a:schemeClr val="bg1"/>
                </a:solidFill>
              </a:rPr>
              <a:t>(Tg/Eg)</a:t>
            </a:r>
          </a:p>
        </p:txBody>
      </p:sp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3687763" y="2655888"/>
            <a:ext cx="5137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Tz,Ez</a:t>
            </a:r>
            <a:r>
              <a:rPr lang="zh-CN" altLang="en-US">
                <a:solidFill>
                  <a:schemeClr val="bg1"/>
                </a:solidFill>
              </a:rPr>
              <a:t>分别为中心地电话门数及人口数；</a:t>
            </a:r>
          </a:p>
          <a:p>
            <a:r>
              <a:rPr lang="en-US" altLang="zh-CN">
                <a:solidFill>
                  <a:schemeClr val="bg1"/>
                </a:solidFill>
              </a:rPr>
              <a:t>Tg,Eg</a:t>
            </a:r>
            <a:r>
              <a:rPr lang="zh-CN" altLang="en-US">
                <a:solidFill>
                  <a:schemeClr val="bg1"/>
                </a:solidFill>
              </a:rPr>
              <a:t>分别为中心地影响区域的电话门数及人口数</a:t>
            </a:r>
          </a:p>
        </p:txBody>
      </p:sp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1239838" y="4960938"/>
            <a:ext cx="10366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P=A(B</a:t>
            </a:r>
            <a:r>
              <a:rPr lang="en-US" altLang="zh-CN" baseline="30000">
                <a:solidFill>
                  <a:schemeClr val="bg1"/>
                </a:solidFill>
              </a:rPr>
              <a:t>N</a:t>
            </a:r>
            <a:r>
              <a:rPr lang="en-US" altLang="zh-CN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2916238" y="4941888"/>
            <a:ext cx="30797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P</a:t>
            </a:r>
            <a:r>
              <a:rPr lang="zh-CN" altLang="en-US">
                <a:solidFill>
                  <a:schemeClr val="bg1"/>
                </a:solidFill>
              </a:rPr>
              <a:t>为中心地职能的人口门槛；</a:t>
            </a:r>
          </a:p>
          <a:p>
            <a:r>
              <a:rPr lang="en-US" altLang="zh-CN">
                <a:solidFill>
                  <a:schemeClr val="bg1"/>
                </a:solidFill>
              </a:rPr>
              <a:t>A,B</a:t>
            </a:r>
            <a:r>
              <a:rPr lang="zh-CN" altLang="en-US">
                <a:solidFill>
                  <a:schemeClr val="bg1"/>
                </a:solidFill>
              </a:rPr>
              <a:t>为待定系数；</a:t>
            </a:r>
          </a:p>
          <a:p>
            <a:r>
              <a:rPr lang="en-US" altLang="zh-CN">
                <a:solidFill>
                  <a:schemeClr val="bg1"/>
                </a:solidFill>
              </a:rPr>
              <a:t>N</a:t>
            </a:r>
            <a:r>
              <a:rPr lang="zh-CN" altLang="en-US">
                <a:solidFill>
                  <a:schemeClr val="bg1"/>
                </a:solidFill>
              </a:rPr>
              <a:t>为商店数；</a:t>
            </a:r>
          </a:p>
        </p:txBody>
      </p:sp>
      <p:sp>
        <p:nvSpPr>
          <p:cNvPr id="5127" name="AutoShape 8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101013" y="5949950"/>
            <a:ext cx="287337" cy="358775"/>
          </a:xfrm>
          <a:prstGeom prst="upArrow">
            <a:avLst>
              <a:gd name="adj1" fmla="val 50000"/>
              <a:gd name="adj2" fmla="val 31216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7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7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/>
      <p:bldP spid="57349" grpId="0"/>
      <p:bldP spid="57350" grpId="0"/>
      <p:bldP spid="573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836613"/>
            <a:ext cx="7272338" cy="922337"/>
          </a:xfrm>
        </p:spPr>
        <p:txBody>
          <a:bodyPr/>
          <a:lstStyle/>
          <a:p>
            <a:pPr algn="l" eaLnBrk="1" hangingPunct="1"/>
            <a:r>
              <a:rPr lang="en-US" altLang="zh-CN" sz="28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8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假设条件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8888" y="2133600"/>
            <a:ext cx="7499350" cy="2836863"/>
          </a:xfrm>
        </p:spPr>
        <p:txBody>
          <a:bodyPr/>
          <a:lstStyle/>
          <a:p>
            <a:pPr eaLnBrk="1" hangingPunct="1">
              <a:lnSpc>
                <a:spcPct val="155000"/>
              </a:lnSpc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平原表面是均一的，没有水文、地形差异；</a:t>
            </a:r>
          </a:p>
          <a:p>
            <a:pPr eaLnBrk="1" hangingPunct="1">
              <a:lnSpc>
                <a:spcPct val="155000"/>
              </a:lnSpc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原料、人口分布均等；</a:t>
            </a:r>
          </a:p>
          <a:p>
            <a:pPr eaLnBrk="1" hangingPunct="1">
              <a:lnSpc>
                <a:spcPct val="155000"/>
              </a:lnSpc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为直线运输，四面八方均可通行</a:t>
            </a:r>
          </a:p>
        </p:txBody>
      </p:sp>
      <p:sp>
        <p:nvSpPr>
          <p:cNvPr id="6148" name="AutoShap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885113" y="5805488"/>
            <a:ext cx="287337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5" descr="市场的演变形态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39750" y="1341438"/>
            <a:ext cx="8229600" cy="3862387"/>
          </a:xfrm>
          <a:noFill/>
        </p:spPr>
      </p:pic>
      <p:sp>
        <p:nvSpPr>
          <p:cNvPr id="7171" name="AutoShape 6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388350" y="5949950"/>
            <a:ext cx="360363" cy="358775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5" descr="中心地市场原则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08075" y="274638"/>
            <a:ext cx="6927850" cy="5851525"/>
          </a:xfrm>
          <a:noFill/>
        </p:spPr>
      </p:pic>
      <p:sp>
        <p:nvSpPr>
          <p:cNvPr id="8195" name="AutoShape 8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316913" y="6092825"/>
            <a:ext cx="287337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4" descr="根据市场原则形成的中心地体系"/>
          <p:cNvPicPr>
            <a:picLocks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95288" y="333375"/>
            <a:ext cx="8229600" cy="3830638"/>
          </a:xfrm>
          <a:noFill/>
        </p:spPr>
      </p:pic>
      <p:sp>
        <p:nvSpPr>
          <p:cNvPr id="9219" name="AutoShap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675688" y="6381750"/>
            <a:ext cx="287337" cy="360363"/>
          </a:xfrm>
          <a:prstGeom prst="upArrow">
            <a:avLst>
              <a:gd name="adj1" fmla="val 50000"/>
              <a:gd name="adj2" fmla="val 31354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539750" y="4365625"/>
            <a:ext cx="499586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K=3,</a:t>
            </a:r>
            <a:r>
              <a:rPr lang="zh-CN" altLang="en-US" sz="24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市场区系列：</a:t>
            </a:r>
            <a:r>
              <a:rPr lang="en-US" altLang="zh-CN" sz="24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1,3,9,27,81,243…..</a:t>
            </a:r>
          </a:p>
          <a:p>
            <a:r>
              <a:rPr lang="en-US" altLang="zh-CN" sz="24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       </a:t>
            </a:r>
            <a:r>
              <a:rPr lang="zh-CN" altLang="en-US" sz="24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城市等级系列：</a:t>
            </a:r>
            <a:r>
              <a:rPr lang="en-US" altLang="zh-CN" sz="24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1,2,6,18…….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39750" y="5300663"/>
            <a:ext cx="82804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特点：</a:t>
            </a:r>
            <a:r>
              <a:rPr lang="en-US" altLang="zh-CN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中心地具有等级性，且各级中心地与中心职能相对应；</a:t>
            </a:r>
            <a:endParaRPr lang="en-US" altLang="zh-CN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r>
              <a:rPr lang="en-US" altLang="zh-CN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中心地按照一定的规则分布，一般三个中心地构成的三角形的重心是低一级中心地布局的区位点；</a:t>
            </a:r>
            <a:endParaRPr lang="en-US" altLang="zh-CN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r>
              <a:rPr lang="en-US" altLang="zh-CN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各等级间的中心地数量和市场区域面积呈几何级数变化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5" descr="中心地交通原则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11188" y="620713"/>
            <a:ext cx="8229600" cy="53975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5" descr="根据交通原则形成的中心地体系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68313" y="333375"/>
            <a:ext cx="8229600" cy="4868863"/>
          </a:xfrm>
          <a:noFill/>
        </p:spPr>
      </p:pic>
      <p:sp>
        <p:nvSpPr>
          <p:cNvPr id="11267" name="AutoShape 6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388350" y="6021388"/>
            <a:ext cx="287338" cy="360362"/>
          </a:xfrm>
          <a:prstGeom prst="upArrow">
            <a:avLst>
              <a:gd name="adj1" fmla="val 50000"/>
              <a:gd name="adj2" fmla="val 31353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1116013" y="5373688"/>
            <a:ext cx="43862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K=4,</a:t>
            </a:r>
            <a:r>
              <a:rPr lang="zh-CN" altLang="en-US" sz="24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市场区系列：</a:t>
            </a:r>
            <a:r>
              <a:rPr lang="en-US" altLang="zh-CN" sz="24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1,4,16,64……</a:t>
            </a:r>
          </a:p>
          <a:p>
            <a:r>
              <a:rPr lang="en-US" altLang="zh-CN" sz="24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       </a:t>
            </a:r>
            <a:r>
              <a:rPr lang="zh-CN" altLang="en-US" sz="24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中心地系列：</a:t>
            </a:r>
            <a:r>
              <a:rPr lang="en-US" altLang="zh-CN" sz="24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1,3,12,48……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11188" y="6237288"/>
            <a:ext cx="75723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特点：每个中心地位于比自己高一级的两个中心地交通线连接线的中间点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5" descr="根据行政管理原则形成的中心地体系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23850" y="260350"/>
            <a:ext cx="8569325" cy="5761038"/>
          </a:xfrm>
          <a:noFill/>
        </p:spPr>
      </p:pic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663575" y="6105525"/>
            <a:ext cx="38131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K=7,</a:t>
            </a:r>
            <a:r>
              <a:rPr lang="zh-CN" altLang="en-US" sz="20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市场区系列：</a:t>
            </a:r>
            <a:r>
              <a:rPr lang="en-US" altLang="zh-CN" sz="20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1,7,49,343……</a:t>
            </a:r>
          </a:p>
          <a:p>
            <a:r>
              <a:rPr lang="en-US" altLang="zh-CN" sz="20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       </a:t>
            </a:r>
            <a:r>
              <a:rPr lang="zh-CN" altLang="en-US" sz="20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中心地系列：</a:t>
            </a:r>
            <a:r>
              <a:rPr lang="en-US" altLang="zh-CN" sz="20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1,6,42,294……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716463" y="6165850"/>
            <a:ext cx="4103687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特点：低等级中心地从属于一个高等级中心地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5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5" descr="中心地行政原则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33575" y="274638"/>
            <a:ext cx="5276850" cy="5851525"/>
          </a:xfrm>
          <a:noFill/>
        </p:spPr>
      </p:pic>
      <p:sp>
        <p:nvSpPr>
          <p:cNvPr id="13315" name="AutoShape 6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459788" y="6237288"/>
            <a:ext cx="288925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pPr algn="l" eaLnBrk="1" hangingPunct="1"/>
            <a:r>
              <a:rPr lang="zh-CN" altLang="en-US" sz="3600" smtClean="0">
                <a:solidFill>
                  <a:srgbClr val="FFFF00"/>
                </a:solidFill>
                <a:ea typeface="黑体" pitchFamily="49" charset="-122"/>
              </a:rPr>
              <a:t>（三）评价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967287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zh-CN" sz="2800" b="1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1. </a:t>
            </a:r>
            <a:r>
              <a:rPr lang="zh-CN" altLang="en-US" sz="2800" b="1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理论和实现意义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克氏的中心地理论是现代地理学发展的基础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中心地理论是城市地理学和商业地理学的理论基础：</a:t>
            </a:r>
          </a:p>
          <a:p>
            <a:pPr lvl="2" eaLnBrk="1" hangingPunct="1">
              <a:lnSpc>
                <a:spcPct val="130000"/>
              </a:lnSpc>
            </a:pP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关于城市等级划分的研究；</a:t>
            </a:r>
          </a:p>
          <a:p>
            <a:pPr lvl="2" eaLnBrk="1" hangingPunct="1">
              <a:lnSpc>
                <a:spcPct val="130000"/>
              </a:lnSpc>
            </a:pP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关于城市与腹地之间的相互作用的研究；</a:t>
            </a:r>
          </a:p>
          <a:p>
            <a:pPr lvl="2" eaLnBrk="1" hangingPunct="1">
              <a:lnSpc>
                <a:spcPct val="130000"/>
              </a:lnSpc>
            </a:pP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关于城市内和城市之间的社会和经济空间模型的研究；</a:t>
            </a:r>
          </a:p>
          <a:p>
            <a:pPr lvl="2" eaLnBrk="1" hangingPunct="1">
              <a:lnSpc>
                <a:spcPct val="130000"/>
              </a:lnSpc>
            </a:pP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关于城市的区位、规模和职能等方面研究；</a:t>
            </a:r>
          </a:p>
          <a:p>
            <a:pPr lvl="2" eaLnBrk="1" hangingPunct="1">
              <a:lnSpc>
                <a:spcPct val="130000"/>
              </a:lnSpc>
            </a:pP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关于零售业和服务业的区位布局、规模和空间模型的研究 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中心地理论是区域经济学研究的理论基础之一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8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8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8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8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5" descr="福州主要超市布点图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0825" y="333375"/>
            <a:ext cx="6985000" cy="6524625"/>
          </a:xfrm>
          <a:noFill/>
        </p:spPr>
      </p:pic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7235825" y="727075"/>
            <a:ext cx="1708150" cy="404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400">
                <a:solidFill>
                  <a:schemeClr val="bg1"/>
                </a:solidFill>
                <a:ea typeface="黑体" pitchFamily="49" charset="-122"/>
              </a:rPr>
              <a:t>案例：</a:t>
            </a:r>
          </a:p>
          <a:p>
            <a:pPr>
              <a:lnSpc>
                <a:spcPct val="135000"/>
              </a:lnSpc>
            </a:pPr>
            <a:r>
              <a:rPr lang="zh-CN" altLang="en-US" sz="2400">
                <a:solidFill>
                  <a:schemeClr val="bg1"/>
                </a:solidFill>
                <a:ea typeface="黑体" pitchFamily="49" charset="-122"/>
              </a:rPr>
              <a:t>福州市主要</a:t>
            </a:r>
          </a:p>
          <a:p>
            <a:pPr>
              <a:lnSpc>
                <a:spcPct val="135000"/>
              </a:lnSpc>
            </a:pPr>
            <a:r>
              <a:rPr lang="zh-CN" altLang="en-US" sz="2400">
                <a:solidFill>
                  <a:schemeClr val="bg1"/>
                </a:solidFill>
                <a:ea typeface="黑体" pitchFamily="49" charset="-122"/>
              </a:rPr>
              <a:t>超市布点条</a:t>
            </a:r>
          </a:p>
          <a:p>
            <a:pPr>
              <a:lnSpc>
                <a:spcPct val="135000"/>
              </a:lnSpc>
            </a:pPr>
            <a:r>
              <a:rPr lang="zh-CN" altLang="en-US" sz="2400">
                <a:solidFill>
                  <a:schemeClr val="bg1"/>
                </a:solidFill>
                <a:ea typeface="黑体" pitchFamily="49" charset="-122"/>
              </a:rPr>
              <a:t>件分析：</a:t>
            </a:r>
          </a:p>
          <a:p>
            <a:pPr>
              <a:lnSpc>
                <a:spcPct val="135000"/>
              </a:lnSpc>
            </a:pPr>
            <a:r>
              <a:rPr lang="en-US" altLang="zh-CN" sz="2400">
                <a:solidFill>
                  <a:schemeClr val="bg1"/>
                </a:solidFill>
                <a:ea typeface="黑体" pitchFamily="49" charset="-122"/>
              </a:rPr>
              <a:t>1.</a:t>
            </a:r>
            <a:r>
              <a:rPr lang="zh-CN" altLang="en-US" sz="2400">
                <a:solidFill>
                  <a:schemeClr val="bg1"/>
                </a:solidFill>
                <a:ea typeface="黑体" pitchFamily="49" charset="-122"/>
              </a:rPr>
              <a:t>人口</a:t>
            </a:r>
          </a:p>
          <a:p>
            <a:pPr>
              <a:lnSpc>
                <a:spcPct val="135000"/>
              </a:lnSpc>
            </a:pPr>
            <a:r>
              <a:rPr lang="en-US" altLang="zh-CN" sz="2400">
                <a:solidFill>
                  <a:schemeClr val="bg1"/>
                </a:solidFill>
                <a:ea typeface="黑体" pitchFamily="49" charset="-122"/>
              </a:rPr>
              <a:t>2.</a:t>
            </a:r>
            <a:r>
              <a:rPr lang="zh-CN" altLang="en-US" sz="2400">
                <a:solidFill>
                  <a:schemeClr val="bg1"/>
                </a:solidFill>
                <a:ea typeface="黑体" pitchFamily="49" charset="-122"/>
              </a:rPr>
              <a:t>交通</a:t>
            </a:r>
          </a:p>
          <a:p>
            <a:pPr>
              <a:lnSpc>
                <a:spcPct val="135000"/>
              </a:lnSpc>
            </a:pPr>
            <a:r>
              <a:rPr lang="en-US" altLang="zh-CN" sz="2400">
                <a:solidFill>
                  <a:schemeClr val="bg1"/>
                </a:solidFill>
                <a:ea typeface="黑体" pitchFamily="49" charset="-122"/>
              </a:rPr>
              <a:t>3.</a:t>
            </a:r>
            <a:r>
              <a:rPr lang="zh-CN" altLang="en-US" sz="2400">
                <a:solidFill>
                  <a:schemeClr val="bg1"/>
                </a:solidFill>
                <a:ea typeface="黑体" pitchFamily="49" charset="-122"/>
              </a:rPr>
              <a:t>市场半径</a:t>
            </a:r>
          </a:p>
          <a:p>
            <a:pPr>
              <a:lnSpc>
                <a:spcPct val="135000"/>
              </a:lnSpc>
            </a:pPr>
            <a:r>
              <a:rPr lang="en-US" altLang="zh-CN" sz="2400">
                <a:solidFill>
                  <a:schemeClr val="bg1"/>
                </a:solidFill>
                <a:ea typeface="黑体" pitchFamily="49" charset="-122"/>
              </a:rPr>
              <a:t>4.</a:t>
            </a:r>
            <a:r>
              <a:rPr lang="zh-CN" altLang="en-US" sz="2400">
                <a:solidFill>
                  <a:schemeClr val="bg1"/>
                </a:solidFill>
                <a:ea typeface="黑体" pitchFamily="49" charset="-122"/>
              </a:rPr>
              <a:t>商场性质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0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0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0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0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0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0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0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0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0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0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New福州市公用设施——农贸市场与超市、公园分布图 (大)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85800" y="0"/>
            <a:ext cx="8001000" cy="6665913"/>
          </a:xfrm>
        </p:spPr>
      </p:pic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4784725" y="606425"/>
            <a:ext cx="3486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990000"/>
                </a:solidFill>
                <a:latin typeface="黑体" pitchFamily="49" charset="-122"/>
                <a:ea typeface="黑体" pitchFamily="49" charset="-122"/>
              </a:rPr>
              <a:t>农贸市场</a:t>
            </a:r>
            <a:r>
              <a:rPr lang="en-US" altLang="zh-CN" sz="2000">
                <a:solidFill>
                  <a:srgbClr val="990000"/>
                </a:solidFill>
                <a:latin typeface="黑体" pitchFamily="49" charset="-122"/>
                <a:ea typeface="黑体" pitchFamily="49" charset="-122"/>
              </a:rPr>
              <a:t>80</a:t>
            </a:r>
            <a:r>
              <a:rPr lang="zh-CN" altLang="en-US" sz="2000">
                <a:solidFill>
                  <a:srgbClr val="990000"/>
                </a:solidFill>
                <a:latin typeface="黑体" pitchFamily="49" charset="-122"/>
                <a:ea typeface="黑体" pitchFamily="49" charset="-122"/>
              </a:rPr>
              <a:t>家，大型超市</a:t>
            </a:r>
            <a:r>
              <a:rPr lang="en-US" altLang="zh-CN" sz="2000">
                <a:solidFill>
                  <a:srgbClr val="990000"/>
                </a:solidFill>
                <a:latin typeface="黑体" pitchFamily="49" charset="-122"/>
                <a:ea typeface="黑体" pitchFamily="49" charset="-122"/>
              </a:rPr>
              <a:t>85</a:t>
            </a:r>
            <a:r>
              <a:rPr lang="zh-CN" altLang="en-US" sz="2000">
                <a:solidFill>
                  <a:srgbClr val="990000"/>
                </a:solidFill>
                <a:latin typeface="黑体" pitchFamily="49" charset="-122"/>
                <a:ea typeface="黑体" pitchFamily="49" charset="-122"/>
              </a:rPr>
              <a:t>家</a:t>
            </a:r>
          </a:p>
          <a:p>
            <a:r>
              <a:rPr lang="zh-CN" altLang="en-US" sz="2000">
                <a:solidFill>
                  <a:srgbClr val="990000"/>
                </a:solidFill>
                <a:latin typeface="黑体" pitchFamily="49" charset="-122"/>
                <a:ea typeface="黑体" pitchFamily="49" charset="-122"/>
              </a:rPr>
              <a:t>市级公园</a:t>
            </a:r>
            <a:r>
              <a:rPr lang="en-US" altLang="zh-CN" sz="2000">
                <a:solidFill>
                  <a:srgbClr val="990000"/>
                </a:solidFill>
                <a:latin typeface="黑体" pitchFamily="49" charset="-122"/>
                <a:ea typeface="黑体" pitchFamily="49" charset="-122"/>
              </a:rPr>
              <a:t>18</a:t>
            </a:r>
            <a:r>
              <a:rPr lang="zh-CN" altLang="en-US" sz="2000">
                <a:solidFill>
                  <a:srgbClr val="990000"/>
                </a:solidFill>
                <a:latin typeface="黑体" pitchFamily="49" charset="-122"/>
                <a:ea typeface="黑体" pitchFamily="49" charset="-122"/>
              </a:rPr>
              <a:t>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公用设施完备度（农贸市场与超市） (大)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81000" y="65088"/>
            <a:ext cx="8001000" cy="666591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549275"/>
            <a:ext cx="8229600" cy="922338"/>
          </a:xfrm>
        </p:spPr>
        <p:txBody>
          <a:bodyPr/>
          <a:lstStyle/>
          <a:p>
            <a:pPr algn="l" eaLnBrk="1" hangingPunct="1"/>
            <a:r>
              <a:rPr lang="zh-CN" altLang="en-US" sz="3600" smtClean="0">
                <a:solidFill>
                  <a:srgbClr val="FFFF00"/>
                </a:solidFill>
                <a:ea typeface="黑体" pitchFamily="49" charset="-122"/>
              </a:rPr>
              <a:t>（三）评价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700213"/>
            <a:ext cx="8229600" cy="446405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400" b="1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400" b="1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存在问题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克里斯塔勒只重视货物供给范围的上限分析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在克里斯塔勒的中心地系统中，</a:t>
            </a:r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K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值在一个系统中是固定不变的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克里斯塔勒把消费者看作</a:t>
            </a:r>
            <a:r>
              <a:rPr lang="zh-CN" altLang="en-US" sz="2000" smtClean="0">
                <a:solidFill>
                  <a:schemeClr val="bg1"/>
                </a:solidFill>
                <a:ea typeface="黑体" pitchFamily="49" charset="-122"/>
              </a:rPr>
              <a:t>“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经济人</a:t>
            </a:r>
            <a:r>
              <a:rPr lang="zh-CN" altLang="en-US" sz="2000" smtClean="0">
                <a:solidFill>
                  <a:schemeClr val="bg1"/>
                </a:solidFill>
                <a:ea typeface="黑体" pitchFamily="49" charset="-122"/>
              </a:rPr>
              <a:t>”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，认为消费者首先是利用离自己最近的中心地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克里斯塔勒忽视离集聚利益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中心地理论对需求的增加、交通的发展和人口的移动带来的中心地系统的变化没有加以论述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algn="l" eaLnBrk="1" hangingPunct="1"/>
            <a:r>
              <a:rPr lang="zh-CN" altLang="en-US" sz="3600" smtClean="0">
                <a:solidFill>
                  <a:srgbClr val="FFFF00"/>
                </a:solidFill>
                <a:ea typeface="黑体" pitchFamily="49" charset="-122"/>
              </a:rPr>
              <a:t>二、廖什经济区位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981075"/>
            <a:ext cx="7643812" cy="5211763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（一）背景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（二）与以往工业区位理论的区别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（三）理论内容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1. 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2" action="ppaction://hlinksldjump"/>
              </a:rPr>
              <a:t>假设条件</a:t>
            </a:r>
            <a:endParaRPr lang="zh-CN" altLang="en-US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2. 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3" action="ppaction://hlinksldjump"/>
              </a:rPr>
              <a:t>需求圆锥体和市场区</a:t>
            </a:r>
            <a:endParaRPr lang="zh-CN" altLang="en-US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3. 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4" action="ppaction://hlinksldjump"/>
              </a:rPr>
              <a:t>市场网格的形成</a:t>
            </a:r>
            <a:endParaRPr lang="zh-CN" altLang="en-US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4. 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5" action="ppaction://hlinksldjump"/>
              </a:rPr>
              <a:t>经济景观（市场网体系）</a:t>
            </a:r>
            <a:endParaRPr lang="zh-CN" altLang="en-US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（四）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" action="ppaction://noaction"/>
              </a:rPr>
              <a:t>廖什对中心地理论的贡献</a:t>
            </a:r>
            <a:endParaRPr lang="zh-CN" altLang="en-US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9460" name="AutoShape 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8172450" y="5734050"/>
            <a:ext cx="287338" cy="287338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692150"/>
            <a:ext cx="8229600" cy="777875"/>
          </a:xfrm>
        </p:spPr>
        <p:txBody>
          <a:bodyPr/>
          <a:lstStyle/>
          <a:p>
            <a:pPr algn="l" eaLnBrk="1" hangingPunct="1"/>
            <a:r>
              <a:rPr lang="en-US" altLang="zh-CN" sz="32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32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假设条件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700213"/>
            <a:ext cx="8229600" cy="3816350"/>
          </a:xfrm>
        </p:spPr>
        <p:txBody>
          <a:bodyPr/>
          <a:lstStyle/>
          <a:p>
            <a:pPr eaLnBrk="1" hangingPunct="1">
              <a:lnSpc>
                <a:spcPct val="145000"/>
              </a:lnSpc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平原地区，运输条件相似，生产必须的原料质量均一，且广泛分布；</a:t>
            </a:r>
          </a:p>
          <a:p>
            <a:pPr eaLnBrk="1" hangingPunct="1">
              <a:lnSpc>
                <a:spcPct val="145000"/>
              </a:lnSpc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地区内农业人口分布均匀，有共同的消费行为；</a:t>
            </a:r>
          </a:p>
          <a:p>
            <a:pPr eaLnBrk="1" hangingPunct="1">
              <a:lnSpc>
                <a:spcPct val="145000"/>
              </a:lnSpc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地区内技术知识普及，一切人均可用于生产；</a:t>
            </a:r>
          </a:p>
          <a:p>
            <a:pPr eaLnBrk="1" hangingPunct="1">
              <a:lnSpc>
                <a:spcPct val="145000"/>
              </a:lnSpc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不考虑其他条件对经济活动的干扰</a:t>
            </a:r>
          </a:p>
        </p:txBody>
      </p:sp>
      <p:sp>
        <p:nvSpPr>
          <p:cNvPr id="20484" name="AutoShap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451725" y="5589588"/>
            <a:ext cx="360363" cy="360362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5" descr="需求曲线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297113" y="274638"/>
            <a:ext cx="4549775" cy="585152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5" descr="需求圆锥体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85775" y="274638"/>
            <a:ext cx="8170863" cy="5851525"/>
          </a:xfrm>
          <a:noFill/>
        </p:spPr>
      </p:pic>
      <p:sp>
        <p:nvSpPr>
          <p:cNvPr id="22531" name="AutoShape 6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604250" y="6308725"/>
            <a:ext cx="288925" cy="360363"/>
          </a:xfrm>
          <a:prstGeom prst="upArrow">
            <a:avLst>
              <a:gd name="adj1" fmla="val 50000"/>
              <a:gd name="adj2" fmla="val 31181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市场的演变形态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68313" y="1125538"/>
            <a:ext cx="8229600" cy="3862387"/>
          </a:xfrm>
          <a:noFill/>
        </p:spPr>
      </p:pic>
      <p:sp>
        <p:nvSpPr>
          <p:cNvPr id="23555" name="AutoShape 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388350" y="5949950"/>
            <a:ext cx="360363" cy="358775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2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4. </a:t>
            </a:r>
            <a:r>
              <a:rPr lang="zh-CN" altLang="en-US" sz="32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经济景观（市场网体系）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773238"/>
            <a:ext cx="8147050" cy="381635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  <a:hlinkClick r:id="rId2" action="ppaction://hlinksldjump"/>
              </a:rPr>
              <a:t>工商业集聚形成大城市</a:t>
            </a: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；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距离城市愈远，经济活动愈分散，直至不受中心城市影响，</a:t>
            </a: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  <a:hlinkClick r:id="rId3" action="ppaction://hlinksldjump"/>
              </a:rPr>
              <a:t>符合距离衰减法则</a:t>
            </a: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；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由于交通的影响，引起穷区与富区的差异，包括城乡、工农业的地区差异</a:t>
            </a:r>
          </a:p>
        </p:txBody>
      </p:sp>
      <p:sp>
        <p:nvSpPr>
          <p:cNvPr id="24580" name="AutoShape 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7740650" y="5805488"/>
            <a:ext cx="360363" cy="360362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5" descr="北京天津关系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0" y="0"/>
            <a:ext cx="7488238" cy="6669088"/>
          </a:xfrm>
          <a:noFill/>
        </p:spPr>
      </p:pic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7575550" y="412750"/>
            <a:ext cx="1708150" cy="491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案例：</a:t>
            </a:r>
          </a:p>
          <a:p>
            <a:pPr>
              <a:lnSpc>
                <a:spcPct val="120000"/>
              </a:lnSpc>
            </a:pPr>
            <a:r>
              <a:rPr lang="en-US" altLang="zh-CN" sz="2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z="2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北京市</a:t>
            </a: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及其与周</a:t>
            </a: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边城市规</a:t>
            </a: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模等级布</a:t>
            </a: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局现状</a:t>
            </a:r>
          </a:p>
          <a:p>
            <a:pPr>
              <a:lnSpc>
                <a:spcPct val="120000"/>
              </a:lnSpc>
            </a:pPr>
            <a:r>
              <a:rPr lang="en-US" altLang="zh-CN" sz="2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例外：</a:t>
            </a: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为什么北</a:t>
            </a: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京、天津</a:t>
            </a: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两大城市</a:t>
            </a: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临近布局？</a:t>
            </a:r>
          </a:p>
        </p:txBody>
      </p:sp>
      <p:sp>
        <p:nvSpPr>
          <p:cNvPr id="25604" name="AutoShape 6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604250" y="6165850"/>
            <a:ext cx="288925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45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5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5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5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5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5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45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5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45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45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45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45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5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45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45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45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45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45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5" descr="厦门泉州福州关系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0825" y="0"/>
            <a:ext cx="6769100" cy="6678613"/>
          </a:xfrm>
          <a:noFill/>
        </p:spPr>
      </p:pic>
      <p:sp>
        <p:nvSpPr>
          <p:cNvPr id="26627" name="Text Box 7"/>
          <p:cNvSpPr txBox="1">
            <a:spLocks noChangeArrowheads="1"/>
          </p:cNvSpPr>
          <p:nvPr/>
        </p:nvSpPr>
        <p:spPr bwMode="auto">
          <a:xfrm>
            <a:off x="7131050" y="1125538"/>
            <a:ext cx="201295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chemeClr val="bg1"/>
                </a:solidFill>
                <a:ea typeface="黑体" pitchFamily="49" charset="-122"/>
              </a:rPr>
              <a:t>案例：</a:t>
            </a:r>
          </a:p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chemeClr val="bg1"/>
                </a:solidFill>
                <a:ea typeface="黑体" pitchFamily="49" charset="-122"/>
              </a:rPr>
              <a:t>泉州市与厦门</a:t>
            </a:r>
          </a:p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chemeClr val="bg1"/>
                </a:solidFill>
                <a:ea typeface="黑体" pitchFamily="49" charset="-122"/>
              </a:rPr>
              <a:t>市港口功能的</a:t>
            </a:r>
          </a:p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chemeClr val="bg1"/>
                </a:solidFill>
                <a:ea typeface="黑体" pitchFamily="49" charset="-122"/>
              </a:rPr>
              <a:t>替代过程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4"/>
          <p:cNvGrpSpPr>
            <a:grpSpLocks/>
          </p:cNvGrpSpPr>
          <p:nvPr/>
        </p:nvGrpSpPr>
        <p:grpSpPr bwMode="auto">
          <a:xfrm>
            <a:off x="250825" y="188913"/>
            <a:ext cx="8713788" cy="5832475"/>
            <a:chOff x="2128" y="8178"/>
            <a:chExt cx="7652" cy="4752"/>
          </a:xfrm>
        </p:grpSpPr>
        <p:grpSp>
          <p:nvGrpSpPr>
            <p:cNvPr id="27652" name="Group 5"/>
            <p:cNvGrpSpPr>
              <a:grpSpLocks/>
            </p:cNvGrpSpPr>
            <p:nvPr/>
          </p:nvGrpSpPr>
          <p:grpSpPr bwMode="auto">
            <a:xfrm>
              <a:off x="2128" y="8178"/>
              <a:ext cx="7652" cy="4752"/>
              <a:chOff x="2128" y="2874"/>
              <a:chExt cx="7652" cy="4752"/>
            </a:xfrm>
          </p:grpSpPr>
          <p:grpSp>
            <p:nvGrpSpPr>
              <p:cNvPr id="27654" name="Group 6"/>
              <p:cNvGrpSpPr>
                <a:grpSpLocks/>
              </p:cNvGrpSpPr>
              <p:nvPr/>
            </p:nvGrpSpPr>
            <p:grpSpPr bwMode="auto">
              <a:xfrm>
                <a:off x="2128" y="2874"/>
                <a:ext cx="7652" cy="4752"/>
                <a:chOff x="2128" y="7298"/>
                <a:chExt cx="7652" cy="4752"/>
              </a:xfrm>
            </p:grpSpPr>
            <p:pic>
              <p:nvPicPr>
                <p:cNvPr id="27656" name="Picture 7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2128" y="7340"/>
                  <a:ext cx="7650" cy="47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7657" name="Picture 8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6390" y="7298"/>
                  <a:ext cx="3390" cy="3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27655" name="Text Box 9"/>
              <p:cNvSpPr txBox="1">
                <a:spLocks noChangeArrowheads="1"/>
              </p:cNvSpPr>
              <p:nvPr/>
            </p:nvSpPr>
            <p:spPr bwMode="auto">
              <a:xfrm>
                <a:off x="4500" y="5496"/>
                <a:ext cx="900" cy="4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altLang="zh-CN" sz="1400">
                    <a:latin typeface="Times New Roman" pitchFamily="18" charset="0"/>
                  </a:rPr>
                  <a:t>2004</a:t>
                </a:r>
                <a:r>
                  <a:rPr lang="zh-CN" altLang="en-US" sz="1400">
                    <a:latin typeface="Times New Roman" pitchFamily="18" charset="0"/>
                  </a:rPr>
                  <a:t>年</a:t>
                </a:r>
                <a:r>
                  <a:rPr lang="zh-CN" altLang="en-US" sz="900">
                    <a:latin typeface="Times New Roman" pitchFamily="18" charset="0"/>
                  </a:rPr>
                  <a:t>        </a:t>
                </a:r>
                <a:endParaRPr lang="zh-CN" altLang="en-US"/>
              </a:p>
            </p:txBody>
          </p:sp>
        </p:grpSp>
        <p:sp>
          <p:nvSpPr>
            <p:cNvPr id="27653" name="Text Box 10"/>
            <p:cNvSpPr txBox="1">
              <a:spLocks noChangeArrowheads="1"/>
            </p:cNvSpPr>
            <p:nvPr/>
          </p:nvSpPr>
          <p:spPr bwMode="auto">
            <a:xfrm>
              <a:off x="8710" y="10796"/>
              <a:ext cx="900" cy="4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altLang="zh-CN" sz="1400">
                  <a:latin typeface="Times New Roman" pitchFamily="18" charset="0"/>
                </a:rPr>
                <a:t>2007</a:t>
              </a:r>
              <a:r>
                <a:rPr lang="zh-CN" altLang="en-US" sz="1400">
                  <a:latin typeface="Times New Roman" pitchFamily="18" charset="0"/>
                </a:rPr>
                <a:t>年        </a:t>
              </a:r>
              <a:endParaRPr lang="zh-CN" altLang="en-US" sz="1400"/>
            </a:p>
          </p:txBody>
        </p:sp>
      </p:grpSp>
      <p:sp>
        <p:nvSpPr>
          <p:cNvPr id="27651" name="Text Box 11"/>
          <p:cNvSpPr txBox="1">
            <a:spLocks noChangeArrowheads="1"/>
          </p:cNvSpPr>
          <p:nvPr/>
        </p:nvSpPr>
        <p:spPr bwMode="auto">
          <a:xfrm>
            <a:off x="2411413" y="6215063"/>
            <a:ext cx="4819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图</a:t>
            </a:r>
            <a:r>
              <a:rPr lang="en-US" altLang="zh-CN" sz="20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1  2004</a:t>
            </a:r>
            <a:r>
              <a:rPr lang="zh-CN" altLang="en-US" sz="20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、</a:t>
            </a:r>
            <a:r>
              <a:rPr lang="en-US" altLang="zh-CN" sz="20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2007</a:t>
            </a:r>
            <a:r>
              <a:rPr lang="zh-CN" altLang="en-US" sz="200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年海西区城市腹地范围图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2004—2007</a:t>
            </a:r>
            <a:r>
              <a:rPr lang="zh-CN" altLang="en-US" sz="2800" smtClean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年海西区城市腹地范围（</a:t>
            </a:r>
            <a:r>
              <a:rPr lang="en-US" altLang="zh-CN" sz="2800" smtClean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km2</a:t>
            </a:r>
            <a:r>
              <a:rPr lang="zh-CN" altLang="en-US" sz="2800" smtClean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）变动</a:t>
            </a:r>
            <a:r>
              <a:rPr lang="zh-CN" altLang="en-US" smtClean="0"/>
              <a:t> </a:t>
            </a:r>
          </a:p>
        </p:txBody>
      </p:sp>
      <p:graphicFrame>
        <p:nvGraphicFramePr>
          <p:cNvPr id="99919" name="Group 591"/>
          <p:cNvGraphicFramePr>
            <a:graphicFrameLocks noGrp="1"/>
          </p:cNvGraphicFramePr>
          <p:nvPr>
            <p:ph type="tbl" idx="1"/>
          </p:nvPr>
        </p:nvGraphicFramePr>
        <p:xfrm>
          <a:off x="250825" y="1557338"/>
          <a:ext cx="8569325" cy="4525967"/>
        </p:xfrm>
        <a:graphic>
          <a:graphicData uri="http://schemas.openxmlformats.org/drawingml/2006/table">
            <a:tbl>
              <a:tblPr/>
              <a:tblGrid>
                <a:gridCol w="1071563"/>
                <a:gridCol w="1069975"/>
                <a:gridCol w="1071562"/>
                <a:gridCol w="1073150"/>
                <a:gridCol w="1069975"/>
                <a:gridCol w="1071563"/>
                <a:gridCol w="1069975"/>
                <a:gridCol w="1071562"/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宋体" pitchFamily="2" charset="-122"/>
                        </a:rPr>
                        <a:t>城市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2004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2007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宋体" pitchFamily="2" charset="-122"/>
                        </a:rPr>
                        <a:t>变动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宋体" pitchFamily="2" charset="-122"/>
                        </a:rPr>
                        <a:t>城市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2004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2007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变动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宋体" pitchFamily="2" charset="-122"/>
                        </a:rPr>
                        <a:t>福州市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39561.02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34849.89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－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4711.13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丽水市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6244.13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6198.86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－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45.27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宋体" pitchFamily="2" charset="-122"/>
                        </a:rPr>
                        <a:t>宁德市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1400.08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1708.19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＋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308.11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衢州市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6255.16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6412.20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＋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157.04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宋体" pitchFamily="2" charset="-122"/>
                        </a:rPr>
                        <a:t>南平市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7088.11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7207.83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＋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119.72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上饶市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8743.98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8460.71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－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283.27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宋体" pitchFamily="2" charset="-122"/>
                        </a:rPr>
                        <a:t>莆田市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3157.46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3169.10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＋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11.64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鹰潭市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4200.86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4241.75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＋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40.89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宋体" pitchFamily="2" charset="-122"/>
                        </a:rPr>
                        <a:t>泉州市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6935.15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6038.52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－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896.63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抚州市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3110.70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3360.71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＋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250.01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宋体" pitchFamily="2" charset="-122"/>
                        </a:rPr>
                        <a:t>三明市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16709.22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13052.37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－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3656.85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赣州市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17619.36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21301.89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＋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3682.53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宋体" pitchFamily="2" charset="-122"/>
                        </a:rPr>
                        <a:t>厦门市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12801.36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16550.44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＋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3749.08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梅州市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5709.18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5511.32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－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197.86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宋体" pitchFamily="2" charset="-122"/>
                        </a:rPr>
                        <a:t>龙岩市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11401.11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11448.94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＋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47.83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汕头市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9016.81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8185.57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－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831.24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宋体" pitchFamily="2" charset="-122"/>
                        </a:rPr>
                        <a:t>漳州市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2492.63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1785.08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－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707.55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潮州市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2007.35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2370.70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＋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363.35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宋体" pitchFamily="2" charset="-122"/>
                        </a:rPr>
                        <a:t>温州市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16561.66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17934.32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＋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1372.66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揭阳市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3338.96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3928.71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＋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589.75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341438"/>
            <a:ext cx="8893175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9" name="Text Box 5"/>
          <p:cNvSpPr txBox="1">
            <a:spLocks noChangeArrowheads="1"/>
          </p:cNvSpPr>
          <p:nvPr/>
        </p:nvSpPr>
        <p:spPr bwMode="auto">
          <a:xfrm>
            <a:off x="2051050" y="5516563"/>
            <a:ext cx="4908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海西区城市腹地与行政区面积对比 </a:t>
            </a:r>
          </a:p>
        </p:txBody>
      </p:sp>
      <p:sp>
        <p:nvSpPr>
          <p:cNvPr id="29700" name="AutoShape 6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604250" y="6165850"/>
            <a:ext cx="288925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7188</TotalTime>
  <Words>1637</Words>
  <Application>Microsoft Office PowerPoint</Application>
  <PresentationFormat>全屏显示(4:3)</PresentationFormat>
  <Paragraphs>201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Arial</vt:lpstr>
      <vt:lpstr>宋体</vt:lpstr>
      <vt:lpstr>Calibri</vt:lpstr>
      <vt:lpstr>黑体</vt:lpstr>
      <vt:lpstr>华文细黑</vt:lpstr>
      <vt:lpstr>Times New Roman</vt:lpstr>
      <vt:lpstr>默认设计模板</vt:lpstr>
      <vt:lpstr>第3章  区 位 理 论  第2节  古典区位-市场学派</vt:lpstr>
      <vt:lpstr>幻灯片 2</vt:lpstr>
      <vt:lpstr>一、克里斯塔勒“中心地”理论</vt:lpstr>
      <vt:lpstr>幻灯片 4</vt:lpstr>
      <vt:lpstr>2假设条件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（三）评价</vt:lpstr>
      <vt:lpstr>幻灯片 14</vt:lpstr>
      <vt:lpstr>幻灯片 15</vt:lpstr>
      <vt:lpstr>幻灯片 16</vt:lpstr>
      <vt:lpstr>（三）评价</vt:lpstr>
      <vt:lpstr>二、廖什经济区位</vt:lpstr>
      <vt:lpstr>1假设条件</vt:lpstr>
      <vt:lpstr>幻灯片 20</vt:lpstr>
      <vt:lpstr>幻灯片 21</vt:lpstr>
      <vt:lpstr>幻灯片 22</vt:lpstr>
      <vt:lpstr>4. 经济景观（市场网体系）</vt:lpstr>
      <vt:lpstr>幻灯片 24</vt:lpstr>
      <vt:lpstr>幻灯片 25</vt:lpstr>
      <vt:lpstr>幻灯片 26</vt:lpstr>
      <vt:lpstr>2004—2007年海西区城市腹地范围（km2）变动 </vt:lpstr>
      <vt:lpstr>幻灯片 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 第6节  区位理论</dc:title>
  <dc:creator>asd</dc:creator>
  <cp:lastModifiedBy>xbany</cp:lastModifiedBy>
  <cp:revision>101</cp:revision>
  <dcterms:created xsi:type="dcterms:W3CDTF">2004-06-12T16:08:21Z</dcterms:created>
  <dcterms:modified xsi:type="dcterms:W3CDTF">2020-02-11T13:33:23Z</dcterms:modified>
</cp:coreProperties>
</file>