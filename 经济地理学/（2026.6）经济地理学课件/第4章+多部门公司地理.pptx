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8" r:id="rId5"/>
    <p:sldId id="282" r:id="rId6"/>
    <p:sldId id="260" r:id="rId7"/>
    <p:sldId id="269" r:id="rId8"/>
    <p:sldId id="261" r:id="rId9"/>
    <p:sldId id="262" r:id="rId10"/>
    <p:sldId id="270" r:id="rId11"/>
    <p:sldId id="259" r:id="rId12"/>
    <p:sldId id="280" r:id="rId13"/>
    <p:sldId id="264" r:id="rId14"/>
    <p:sldId id="265" r:id="rId15"/>
    <p:sldId id="273" r:id="rId16"/>
    <p:sldId id="275" r:id="rId17"/>
    <p:sldId id="274" r:id="rId18"/>
    <p:sldId id="276" r:id="rId19"/>
    <p:sldId id="277" r:id="rId20"/>
    <p:sldId id="278" r:id="rId21"/>
    <p:sldId id="266" r:id="rId22"/>
    <p:sldId id="267" r:id="rId23"/>
    <p:sldId id="281" r:id="rId24"/>
    <p:sldId id="271" r:id="rId25"/>
    <p:sldId id="272" r:id="rId26"/>
    <p:sldId id="279" r:id="rId2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658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A666B-FCD5-469C-B1C2-ED62E4C6E4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9F4C1D-10EA-434D-AFCC-E2AB23458D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5C36E-1A14-4CEF-8BFC-CD45CA8B2D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3E1A8-B4D8-4B7F-A860-720F18FB9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17A6CA-1240-4C8C-BA34-8DB1E1EF1D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8A17D-EAE1-40E4-B7D5-0F70F07C3F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2C273-DAEA-42A6-AC70-41A4737DD5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79F55-B8C8-4C79-8CBE-747521A646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A6335-3E6C-4F98-A8DF-47336F2405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7E8D98-BDC5-44E7-84D8-352B3E7959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CCBC6-7730-473A-A843-1BE61B1E74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341CFCD1-A5F3-47EE-AE0B-3DEFF343FB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5" Type="http://schemas.openxmlformats.org/officeDocument/2006/relationships/slide" Target="slide19.xml"/><Relationship Id="rId4" Type="http://schemas.openxmlformats.org/officeDocument/2006/relationships/slide" Target="slide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2636838"/>
            <a:ext cx="7772400" cy="289877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章  多部门企业（公司）地理</a:t>
            </a:r>
            <a:b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节 公司地理研究的主要内容</a:t>
            </a:r>
            <a:r>
              <a:rPr lang="zh-CN" altLang="en-US" sz="3600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3600" dirty="0" smtClean="0">
                <a:latin typeface="黑体" pitchFamily="49" charset="-122"/>
                <a:ea typeface="黑体" pitchFamily="49" charset="-122"/>
              </a:rPr>
            </a:br>
            <a:r>
              <a:rPr lang="zh-CN" altLang="en-US" sz="3600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3600" dirty="0" smtClean="0">
                <a:latin typeface="黑体" pitchFamily="49" charset="-122"/>
                <a:ea typeface="黑体" pitchFamily="49" charset="-122"/>
              </a:rPr>
            </a:br>
            <a:endParaRPr lang="zh-CN" altLang="en-US" sz="3600" dirty="0" smtClean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3" y="1628775"/>
            <a:ext cx="6923087" cy="3960813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3600" smtClean="0">
                <a:solidFill>
                  <a:schemeClr val="bg1"/>
                </a:solidFill>
                <a:ea typeface="黑体" pitchFamily="49" charset="-122"/>
              </a:rPr>
              <a:t>一、公司概念讨论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endParaRPr lang="zh-CN" altLang="en-US" sz="360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3600" smtClean="0">
                <a:solidFill>
                  <a:schemeClr val="bg1"/>
                </a:solidFill>
                <a:ea typeface="黑体" pitchFamily="49" charset="-122"/>
              </a:rPr>
              <a:t>二、公司地理研究内容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765175"/>
            <a:ext cx="6769100" cy="1143000"/>
          </a:xfrm>
        </p:spPr>
        <p:txBody>
          <a:bodyPr/>
          <a:lstStyle/>
          <a:p>
            <a:pPr algn="l" eaLnBrk="1" hangingPunct="1"/>
            <a:r>
              <a:rPr lang="zh-CN" altLang="en-US" sz="4000" smtClean="0">
                <a:solidFill>
                  <a:srgbClr val="FFFF00"/>
                </a:solidFill>
                <a:ea typeface="黑体" pitchFamily="49" charset="-122"/>
              </a:rPr>
              <a:t>一、公司概念讨论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1050" y="2420938"/>
            <a:ext cx="6778625" cy="2981325"/>
          </a:xfrm>
        </p:spPr>
        <p:txBody>
          <a:bodyPr/>
          <a:lstStyle/>
          <a:p>
            <a:pPr eaLnBrk="1" hangingPunct="1">
              <a:lnSpc>
                <a:spcPct val="145000"/>
              </a:lnSpc>
              <a:buFont typeface="Wingdings" pitchFamily="2" charset="2"/>
              <a:buChar char="Ø"/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  <a:hlinkClick r:id="rId2" action="ppaction://hlinksldjump"/>
              </a:rPr>
              <a:t>公司</a:t>
            </a:r>
            <a:endParaRPr lang="zh-CN" altLang="en-US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Ø"/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公司的发展与地位</a:t>
            </a:r>
          </a:p>
        </p:txBody>
      </p:sp>
      <p:sp>
        <p:nvSpPr>
          <p:cNvPr id="4100" name="AutoShape 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380288" y="5805488"/>
            <a:ext cx="287337" cy="28733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549275"/>
            <a:ext cx="8229600" cy="55435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公司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：依照法律规定的条件和程序集资联合组成的，有独立注册资产、自主经营、自负盈亏的法人企业。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公司特征</a:t>
            </a: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：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1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）必须依照法律规定设立；（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2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）必须是法人；（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3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）是企业；（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4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）是联合体；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公司与企业的关系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：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1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）公司是企业的一种；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2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）公司是法人，企业不一定是法人；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3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）公司财产与股东财产在法律上是严格分开的，企业则无严格区分；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4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）公司只以其全部资产对外承担责任，股东只以其出资额对公司承担责任。</a:t>
            </a:r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123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740650" y="6021388"/>
            <a:ext cx="360363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公司的巨大影响力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184775"/>
          </a:xfrm>
        </p:spPr>
        <p:txBody>
          <a:bodyPr/>
          <a:lstStyle/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2018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年福布斯权力榜</a:t>
            </a: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第一位：中国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国家主席习近平</a:t>
            </a: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第二位：俄罗斯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总统普京</a:t>
            </a: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第三位：美国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特朗普</a:t>
            </a: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第四位：德国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安格拉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.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默克尔</a:t>
            </a: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第五位：亚马逊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杰夫贝佐斯</a:t>
            </a: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第六位：罗马天主教教主会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方济各</a:t>
            </a:r>
            <a:endParaRPr lang="en-US" altLang="zh-CN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第七位：微软创始人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比尔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盖茨</a:t>
            </a: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第八位：沙特新王储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穆罕默德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·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本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·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萨勒曼</a:t>
            </a: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第九位：印度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莫迪</a:t>
            </a:r>
          </a:p>
          <a:p>
            <a:pPr eaLnBrk="1" hangingPunct="1">
              <a:lnSpc>
                <a:spcPts val="3400"/>
              </a:lnSpc>
              <a:spcBef>
                <a:spcPct val="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第十位：谷歌创始人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拉里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佩奇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8229600" cy="715963"/>
          </a:xfrm>
        </p:spPr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二、公司地理研究内容</a:t>
            </a:r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827088" y="1484313"/>
            <a:ext cx="8075612" cy="475456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公司增长的空间研究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可分为内部增长、外部兼并、生产一体化化生产多样化；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公司内部结构的空间意义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功能型、产品结构型、区域结构型、控股分公司型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2" action="ppaction://hlinksldjump"/>
              </a:rPr>
              <a:t>公司与环境关系研究</a:t>
            </a:r>
            <a:endParaRPr lang="zh-CN" altLang="en-US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公司活动与区域发展研究</a:t>
            </a:r>
          </a:p>
        </p:txBody>
      </p:sp>
      <p:sp>
        <p:nvSpPr>
          <p:cNvPr id="7172" name="AutoShap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16913" y="5949950"/>
            <a:ext cx="287337" cy="2873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229600" cy="54340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工作环境：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顾主类组织：公司的使用者、推销者；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供给类组织：提供原材料、劳力、资本、设备、工作场地等；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竞争类组织：同一产品生产，同一原料使用者；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管理或调节组织：政府、工会等；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域环境：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公司的国内、国际政治、经济环境的综合；</a:t>
            </a:r>
          </a:p>
        </p:txBody>
      </p:sp>
      <p:sp>
        <p:nvSpPr>
          <p:cNvPr id="8195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740650" y="5876925"/>
            <a:ext cx="287338" cy="288925"/>
          </a:xfrm>
          <a:prstGeom prst="upArrow">
            <a:avLst>
              <a:gd name="adj1" fmla="val 50000"/>
              <a:gd name="adj2" fmla="val 25138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ctrTitle"/>
          </p:nvPr>
        </p:nvSpPr>
        <p:spPr>
          <a:xfrm>
            <a:off x="611188" y="25654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第二节  企业增长的空间轨迹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116013" y="620713"/>
            <a:ext cx="6994525" cy="5668962"/>
          </a:xfrm>
        </p:spPr>
        <p:txBody>
          <a:bodyPr/>
          <a:lstStyle/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一、企业增长动因及战略</a:t>
            </a: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（一）企业增长动因</a:t>
            </a: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实现规模效益</a:t>
            </a: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2" action="ppaction://hlinksldjump"/>
              </a:rPr>
              <a:t>实现交易内部化</a:t>
            </a:r>
            <a:endParaRPr lang="zh-CN" altLang="en-US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技术优势的发挥</a:t>
            </a: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来自竞争的压力</a:t>
            </a: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（二）企业增长的战略与方法</a:t>
            </a: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横向一体化</a:t>
            </a: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纵向一体化</a:t>
            </a: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多样化</a:t>
            </a:r>
          </a:p>
        </p:txBody>
      </p:sp>
      <p:sp>
        <p:nvSpPr>
          <p:cNvPr id="10243" name="AutoShap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16913" y="5876925"/>
            <a:ext cx="287337" cy="2159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528955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交易费用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：是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1937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年美国经济学家罗纳德</a:t>
            </a:r>
            <a:r>
              <a:rPr lang="en-US" altLang="zh-CN" smtClean="0">
                <a:solidFill>
                  <a:schemeClr val="bg1"/>
                </a:solidFill>
                <a:latin typeface="华文细黑" pitchFamily="2" charset="-122"/>
                <a:ea typeface="黑体" pitchFamily="49" charset="-122"/>
                <a:cs typeface="Arial" pitchFamily="34" charset="0"/>
              </a:rPr>
              <a:t>·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哈里</a:t>
            </a:r>
            <a:r>
              <a:rPr lang="en-US" altLang="zh-CN" smtClean="0">
                <a:solidFill>
                  <a:schemeClr val="bg1"/>
                </a:solidFill>
                <a:latin typeface="华文细黑" pitchFamily="2" charset="-122"/>
                <a:ea typeface="黑体" pitchFamily="49" charset="-122"/>
                <a:cs typeface="Arial" pitchFamily="34" charset="0"/>
              </a:rPr>
              <a:t>·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科斯（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Ronald Hery Coase)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在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《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企业的性质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》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中首次提出，指：经济制度运行过程中当事人为达成和履行交易协议所付出的时间、精力和物质。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  新制度学派运用交易费用理论来分析制度效率。</a:t>
            </a:r>
          </a:p>
        </p:txBody>
      </p:sp>
      <p:sp>
        <p:nvSpPr>
          <p:cNvPr id="11267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316913" y="6021388"/>
            <a:ext cx="287337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algn="l" eaLnBrk="1" hangingPunct="1"/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二、企业的空间扩张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196975"/>
            <a:ext cx="7570787" cy="5059363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（一）企业空间增长过程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企业空间增长过程的一般分析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不同增长形成的空间扩张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（二）企业空间增长阶段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（三）企业空间扩张规律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社会经济现象的地理扩散规律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企业空间扩张规律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中国特殊环境下的企业空间扩张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229600" cy="5832475"/>
          </a:xfrm>
        </p:spPr>
        <p:txBody>
          <a:bodyPr/>
          <a:lstStyle/>
          <a:p>
            <a:pPr eaLnBrk="1" hangingPunct="1"/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案例：青岛海尔集团扩展之路</a:t>
            </a:r>
          </a:p>
          <a:p>
            <a:pPr lvl="1" eaLnBrk="1" hangingPunct="1"/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原是一个集体所有制小厂（青岛电冰箱总厂），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1984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年，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400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多人，年销售额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348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万元，亏损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147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万元</a:t>
            </a:r>
          </a:p>
          <a:p>
            <a:pPr lvl="1" eaLnBrk="1" hangingPunct="1"/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2006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年是世界第四大白色家电制造商，中国电子信息百强企业之首，旗下拥有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240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多家法人单位，在全球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30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多个国家建立本土化设计中心、制造基地和贸易公司，全球员工总数超过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万人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,2005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年全球营业额实现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1039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亿元（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128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亿美元）</a:t>
            </a:r>
          </a:p>
          <a:p>
            <a:pPr lvl="1" eaLnBrk="1" hangingPunct="1"/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曾于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1998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年被列入美国哈佛商学院案例教材</a:t>
            </a:r>
          </a:p>
          <a:p>
            <a:pPr lvl="1" eaLnBrk="1" hangingPunct="1"/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84-91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年，青岛电冰箱总厂通过抓质量、管理，带来销售扩张，规模经济，内部扩张</a:t>
            </a:r>
          </a:p>
          <a:p>
            <a:pPr lvl="1" eaLnBrk="1" hangingPunct="1"/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89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年兼并具有纵向联系的青岛电镀厂 </a:t>
            </a:r>
          </a:p>
          <a:p>
            <a:pPr lvl="1" eaLnBrk="1" hangingPunct="1"/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91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年兼并产品有关联的青岛空调厂和冷柜厂，并成立海尔集团 </a:t>
            </a:r>
          </a:p>
          <a:p>
            <a:pPr lvl="1" eaLnBrk="1" hangingPunct="1"/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之后兼并的企业包括彩电生产厂家（杭州西湖电子、安徽黄山电子）、洗衣机生产厂家（青岛红星电器、广东顺德爱德洗衣机等）、冷柜及相关产品生产厂家（武汉冷柜、青岛冷凝器等）、其它电器（山东莱阳家电总厂）等 </a:t>
            </a:r>
          </a:p>
          <a:p>
            <a:pPr lvl="1" eaLnBrk="1" hangingPunct="1"/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1997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年，开始向生物工程发展，购买青岛第三制药厂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80%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股份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2492375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第三节  企业空间演变模式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412875"/>
            <a:ext cx="7354887" cy="4525963"/>
          </a:xfrm>
        </p:spPr>
        <p:txBody>
          <a:bodyPr/>
          <a:lstStyle/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一、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  <a:hlinkClick r:id="rId2" action="ppaction://hlinksldjump"/>
              </a:rPr>
              <a:t>沃茨的市场区扩大模式</a:t>
            </a:r>
            <a:endParaRPr lang="zh-CN" altLang="en-US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二、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  <a:hlinkClick r:id="rId3" action="ppaction://hlinksldjump"/>
              </a:rPr>
              <a:t>泰勒的组织变形及区域演变模式</a:t>
            </a:r>
            <a:endParaRPr lang="zh-CN" altLang="en-US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三、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  <a:hlinkClick r:id="rId4" action="ppaction://hlinksldjump"/>
              </a:rPr>
              <a:t>哈坎逊的全球扩张模式</a:t>
            </a:r>
            <a:endParaRPr lang="zh-CN" altLang="en-US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四、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  <a:hlinkClick r:id="rId5" action="ppaction://hlinksldjump"/>
              </a:rPr>
              <a:t>迪肯的全球转移模式</a:t>
            </a:r>
            <a:endParaRPr lang="zh-CN" altLang="en-US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五、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  <a:hlinkClick r:id="rId6" action="ppaction://hlinksldjump"/>
              </a:rPr>
              <a:t>模式比较及在中国应用</a:t>
            </a:r>
            <a:endParaRPr lang="zh-CN" altLang="en-US" smtClean="0">
              <a:solidFill>
                <a:schemeClr val="bg1"/>
              </a:solidFill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5661025"/>
            <a:ext cx="8229600" cy="638175"/>
          </a:xfrm>
        </p:spPr>
        <p:txBody>
          <a:bodyPr/>
          <a:lstStyle/>
          <a:p>
            <a:pPr eaLnBrk="1" hangingPunct="1"/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沃茨的市场区扩大模式</a:t>
            </a:r>
          </a:p>
        </p:txBody>
      </p:sp>
      <p:pic>
        <p:nvPicPr>
          <p:cNvPr id="16387" name="Picture 6" descr="沃茨的市场区扩大模式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850" y="260350"/>
            <a:ext cx="8640763" cy="5256213"/>
          </a:xfrm>
          <a:noFill/>
        </p:spPr>
      </p:pic>
      <p:sp>
        <p:nvSpPr>
          <p:cNvPr id="16388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6237288"/>
            <a:ext cx="28892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l" eaLnBrk="1" hangingPunct="1"/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二、泰勒的组织变形及区域演变模式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将空间分成地方、区域、全国和多国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种尺度；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公司始建地区位；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公司由地方向多国扩展要跨越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种门槛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 跨越门槛顺序：公司活动空间、信息空间、决策空间；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 不同类型机构的区位选择过程反映风险与不确定性：销售代理机构、销售部和仓库、建立生产机构；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图例解释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55895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泰勒的组织变形及区域演化模式</a:t>
            </a:r>
          </a:p>
        </p:txBody>
      </p:sp>
      <p:pic>
        <p:nvPicPr>
          <p:cNvPr id="18435" name="Picture 6" descr="泰勒的组织变形及区域演化模式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8313" y="260350"/>
            <a:ext cx="8424862" cy="5184775"/>
          </a:xfrm>
          <a:noFill/>
        </p:spPr>
      </p:pic>
      <p:sp>
        <p:nvSpPr>
          <p:cNvPr id="18436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532813" y="6092825"/>
            <a:ext cx="287337" cy="288925"/>
          </a:xfrm>
          <a:prstGeom prst="upArrow">
            <a:avLst>
              <a:gd name="adj1" fmla="val 50000"/>
              <a:gd name="adj2" fmla="val 25138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6" descr="哈坎逊公司全球扩展模式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1188" y="333375"/>
            <a:ext cx="8208962" cy="5832475"/>
          </a:xfrm>
          <a:noFill/>
        </p:spPr>
      </p:pic>
      <p:sp>
        <p:nvSpPr>
          <p:cNvPr id="19459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604250" y="6453188"/>
            <a:ext cx="288925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7" descr="迪肯全球转移模式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76375" y="260350"/>
            <a:ext cx="5903913" cy="6337300"/>
          </a:xfrm>
          <a:noFill/>
        </p:spPr>
      </p:pic>
      <p:sp>
        <p:nvSpPr>
          <p:cNvPr id="20483" name="AutoShape 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6237288"/>
            <a:ext cx="28892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6" descr="四个企业空间演变模式的比较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0825" y="188913"/>
            <a:ext cx="6399213" cy="6264275"/>
          </a:xfrm>
          <a:noFill/>
        </p:spPr>
      </p:pic>
      <p:sp>
        <p:nvSpPr>
          <p:cNvPr id="21507" name="Text Box 7"/>
          <p:cNvSpPr txBox="1">
            <a:spLocks noChangeArrowheads="1"/>
          </p:cNvSpPr>
          <p:nvPr/>
        </p:nvSpPr>
        <p:spPr bwMode="auto">
          <a:xfrm>
            <a:off x="6856413" y="266700"/>
            <a:ext cx="1963737" cy="52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Char char="•"/>
            </a:pPr>
            <a:r>
              <a:rPr lang="zh-CN" altLang="en-US" sz="2000">
                <a:solidFill>
                  <a:schemeClr val="bg1"/>
                </a:solidFill>
                <a:ea typeface="黑体" pitchFamily="49" charset="-122"/>
              </a:rPr>
              <a:t>均展示了公司从单厂到多厂、单区位到多区位的扩展过程；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zh-CN" altLang="en-US" sz="2000">
                <a:solidFill>
                  <a:schemeClr val="bg1"/>
                </a:solidFill>
                <a:ea typeface="黑体" pitchFamily="49" charset="-122"/>
              </a:rPr>
              <a:t>在公司扩张中，销售起先导作用，其次为生产机构的建立（按最低风险原则扩张）；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zh-CN" altLang="en-US" sz="2000">
                <a:solidFill>
                  <a:schemeClr val="bg1"/>
                </a:solidFill>
                <a:ea typeface="黑体" pitchFamily="49" charset="-122"/>
              </a:rPr>
              <a:t>市场占领促进公司的扩张；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836613"/>
            <a:ext cx="8229600" cy="633412"/>
          </a:xfrm>
        </p:spPr>
        <p:txBody>
          <a:bodyPr/>
          <a:lstStyle/>
          <a:p>
            <a:pPr algn="l" eaLnBrk="1" hangingPunct="1"/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案例：中国第一拖拉机集团有限责任公司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989138"/>
            <a:ext cx="7715250" cy="3960812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单产品、单区位多厂阶段（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1959-1979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多产品、单区位多厂阶段（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1979-1983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多产品、多工厂、多区位阶段（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1984-1988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多产品、多区位扩张阶段（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1988-1995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组织调整阶段（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1996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年以来）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81075"/>
            <a:ext cx="8229600" cy="850900"/>
          </a:xfrm>
        </p:spPr>
        <p:txBody>
          <a:bodyPr/>
          <a:lstStyle/>
          <a:p>
            <a:pPr algn="l" eaLnBrk="1" hangingPunct="1"/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案例：洛阳浮法玻璃集团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565400"/>
            <a:ext cx="7473950" cy="273685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经营区域范围逐步扩大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控股成员区位集中，其他成员广为分散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趋于向沿海地区扩张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229600" cy="6048375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案例：福建长富集团发展之路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是福建省规模最大的奶业基地和全省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26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家农业产业化重点龙头企业之一。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1998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年创业初始资金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1000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万，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2005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年坐拥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34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个规模牧场和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3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万多头奶牛，在奶源已构成制约乳业发展瓶颈状态下，长富优势明显。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2005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年产品福州市场占有率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55%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，销售收入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3.07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亿元。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促进南平地区农业结构调整；农民种植饲料增收；带动运输等相关行业发展，从业人员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1.3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万，其中牛奶配送队伍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5000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余人，培养一支青饲料产销的农民经纪人队伍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2005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年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10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月被伊利收购。原因：表面原因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——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资金问题？深层原因</a:t>
            </a:r>
            <a:r>
              <a:rPr lang="en-US" altLang="zh-CN" sz="2400" smtClean="0">
                <a:solidFill>
                  <a:schemeClr val="bg1"/>
                </a:solidFill>
                <a:ea typeface="黑体" pitchFamily="49" charset="-122"/>
              </a:rPr>
              <a:t>——</a:t>
            </a: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市场占有？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7772400" cy="1470025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r>
              <a:rPr lang="zh-CN" altLang="en-US" sz="4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第四节 公司组织结构类型</a:t>
            </a:r>
            <a:br>
              <a:rPr lang="zh-CN" altLang="en-US" sz="4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4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及其空间特征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6238" y="1341438"/>
            <a:ext cx="4897437" cy="4535487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功能部结构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产品部结构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区域部结构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顾客部结构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矩阵结构</a:t>
            </a:r>
          </a:p>
          <a:p>
            <a:pPr eaLnBrk="1" hangingPunct="1"/>
            <a:endParaRPr lang="en-US" altLang="zh-CN" smtClean="0">
              <a:solidFill>
                <a:schemeClr val="bg1"/>
              </a:solidFill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5734050"/>
            <a:ext cx="8229600" cy="711200"/>
          </a:xfrm>
        </p:spPr>
        <p:txBody>
          <a:bodyPr/>
          <a:lstStyle/>
          <a:p>
            <a:pPr eaLnBrk="1" hangingPunct="1"/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公司组织结构的主要类型</a:t>
            </a:r>
          </a:p>
        </p:txBody>
      </p:sp>
      <p:pic>
        <p:nvPicPr>
          <p:cNvPr id="27651" name="Picture 6" descr="公司组织结构的主要类型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8313" y="188913"/>
            <a:ext cx="8424862" cy="54721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2019</Words>
  <Application>Microsoft Office PowerPoint</Application>
  <PresentationFormat>全屏显示(4:3)</PresentationFormat>
  <Paragraphs>110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Arial</vt:lpstr>
      <vt:lpstr>宋体</vt:lpstr>
      <vt:lpstr>Calibri</vt:lpstr>
      <vt:lpstr>黑体</vt:lpstr>
      <vt:lpstr>Wingdings</vt:lpstr>
      <vt:lpstr>华文细黑</vt:lpstr>
      <vt:lpstr>默认设计模板</vt:lpstr>
      <vt:lpstr>第3章  多部门企业（公司）地理 第1节 公司地理研究的主要内容  </vt:lpstr>
      <vt:lpstr>幻灯片 2</vt:lpstr>
      <vt:lpstr>一、公司概念讨论</vt:lpstr>
      <vt:lpstr>幻灯片 4</vt:lpstr>
      <vt:lpstr>公司的巨大影响力</vt:lpstr>
      <vt:lpstr>二、公司地理研究内容</vt:lpstr>
      <vt:lpstr>幻灯片 7</vt:lpstr>
      <vt:lpstr>第二节  企业增长的空间轨迹</vt:lpstr>
      <vt:lpstr>幻灯片 9</vt:lpstr>
      <vt:lpstr>幻灯片 10</vt:lpstr>
      <vt:lpstr>二、企业的空间扩张</vt:lpstr>
      <vt:lpstr>幻灯片 12</vt:lpstr>
      <vt:lpstr>第三节  企业空间演变模式</vt:lpstr>
      <vt:lpstr>幻灯片 14</vt:lpstr>
      <vt:lpstr>沃茨的市场区扩大模式</vt:lpstr>
      <vt:lpstr>二、泰勒的组织变形及区域演变模式</vt:lpstr>
      <vt:lpstr>泰勒的组织变形及区域演化模式</vt:lpstr>
      <vt:lpstr>幻灯片 18</vt:lpstr>
      <vt:lpstr>幻灯片 19</vt:lpstr>
      <vt:lpstr>幻灯片 20</vt:lpstr>
      <vt:lpstr>案例：中国第一拖拉机集团有限责任公司</vt:lpstr>
      <vt:lpstr>案例：洛阳浮法玻璃集团</vt:lpstr>
      <vt:lpstr>幻灯片 23</vt:lpstr>
      <vt:lpstr>第四节 公司组织结构类型 及其空间特征</vt:lpstr>
      <vt:lpstr>幻灯片 25</vt:lpstr>
      <vt:lpstr>公司组织结构的主要类型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第5节  交通及其对经济活动区位的一般影响</dc:title>
  <dc:creator>asd</dc:creator>
  <cp:lastModifiedBy>xbany</cp:lastModifiedBy>
  <cp:revision>35</cp:revision>
  <dcterms:created xsi:type="dcterms:W3CDTF">2004-06-12T14:48:10Z</dcterms:created>
  <dcterms:modified xsi:type="dcterms:W3CDTF">2020-02-11T13:38:15Z</dcterms:modified>
</cp:coreProperties>
</file>