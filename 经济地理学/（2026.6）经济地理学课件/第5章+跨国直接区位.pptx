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307" r:id="rId6"/>
    <p:sldId id="271" r:id="rId7"/>
    <p:sldId id="260" r:id="rId8"/>
    <p:sldId id="267" r:id="rId9"/>
    <p:sldId id="268" r:id="rId10"/>
    <p:sldId id="261" r:id="rId11"/>
    <p:sldId id="269" r:id="rId12"/>
    <p:sldId id="262" r:id="rId13"/>
    <p:sldId id="278" r:id="rId14"/>
    <p:sldId id="293" r:id="rId15"/>
    <p:sldId id="259" r:id="rId16"/>
    <p:sldId id="304" r:id="rId17"/>
    <p:sldId id="303" r:id="rId18"/>
    <p:sldId id="274" r:id="rId19"/>
    <p:sldId id="275" r:id="rId20"/>
    <p:sldId id="276" r:id="rId21"/>
    <p:sldId id="277" r:id="rId22"/>
    <p:sldId id="280" r:id="rId23"/>
    <p:sldId id="281" r:id="rId24"/>
    <p:sldId id="282" r:id="rId25"/>
    <p:sldId id="283" r:id="rId26"/>
    <p:sldId id="284" r:id="rId27"/>
    <p:sldId id="285" r:id="rId28"/>
    <p:sldId id="286" r:id="rId29"/>
    <p:sldId id="287" r:id="rId30"/>
    <p:sldId id="270" r:id="rId31"/>
    <p:sldId id="272" r:id="rId32"/>
    <p:sldId id="305" r:id="rId33"/>
    <p:sldId id="306" r:id="rId34"/>
    <p:sldId id="308" r:id="rId35"/>
    <p:sldId id="264" r:id="rId36"/>
    <p:sldId id="288" r:id="rId37"/>
    <p:sldId id="289" r:id="rId38"/>
    <p:sldId id="294" r:id="rId39"/>
    <p:sldId id="295" r:id="rId40"/>
    <p:sldId id="296" r:id="rId41"/>
    <p:sldId id="299" r:id="rId42"/>
    <p:sldId id="301" r:id="rId43"/>
    <p:sldId id="300" r:id="rId44"/>
    <p:sldId id="302" r:id="rId45"/>
    <p:sldId id="290" r:id="rId46"/>
    <p:sldId id="291" r:id="rId47"/>
    <p:sldId id="279" r:id="rId4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FF00"/>
    <a:srgbClr val="FF3300"/>
    <a:srgbClr val="FF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65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08D5B2E-650B-4677-9647-0E0E7FD6271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35516B0-7A4B-4667-8477-1059992A8167}"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885B7D4-BFBD-4391-835F-9B67D8AD2C21}"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1E523F9-DBE7-49E7-9E32-CBD469747755}"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A31EDC3-C3FA-41E3-8722-AF72ACD36942}"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8EFCC2E-0206-4F7B-A77D-3BA3C32B853F}"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B2C84A4-64E5-44B2-BFF8-CD374DC6ACB1}"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98F57C4-D9B6-4129-BE43-EAE9B290AEA8}"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9AE7B0C-6931-4900-BB31-7AF6AF6957C5}"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ED465B2-DA5A-4725-87A9-73063498FC82}"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2BCD6F6-18D4-4336-812B-46A731C55BC8}"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AC05CCD-CD40-4F04-9413-D279BFB1B132}"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601C1BD4-6162-4078-82DF-0FFD6728F1C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4.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slide" Target="slide37.xml"/><Relationship Id="rId1" Type="http://schemas.openxmlformats.org/officeDocument/2006/relationships/slideLayout" Target="../slideLayouts/slideLayout2.xml"/><Relationship Id="rId4" Type="http://schemas.openxmlformats.org/officeDocument/2006/relationships/slide" Target="slide46.xml"/></Relationships>
</file>

<file path=ppt/slides/_rels/slide37.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slide" Target="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41.xml"/><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slide" Target="slide37.xml"/><Relationship Id="rId4" Type="http://schemas.openxmlformats.org/officeDocument/2006/relationships/slide" Target="slide44.xml"/></Relationships>
</file>

<file path=ppt/slides/_rels/slide41.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827088" y="2708275"/>
            <a:ext cx="7772400" cy="2898775"/>
          </a:xfrm>
        </p:spPr>
        <p:txBody>
          <a:bodyPr/>
          <a:lstStyle/>
          <a:p>
            <a:pPr eaLnBrk="1" hangingPunct="1">
              <a:lnSpc>
                <a:spcPct val="200000"/>
              </a:lnSpc>
            </a:pPr>
            <a:r>
              <a:rPr lang="zh-CN" altLang="en-US" sz="3600" dirty="0" smtClean="0">
                <a:solidFill>
                  <a:schemeClr val="bg1"/>
                </a:solidFill>
                <a:latin typeface="黑体" pitchFamily="49" charset="-122"/>
                <a:ea typeface="黑体" pitchFamily="49" charset="-122"/>
              </a:rPr>
              <a:t>第</a:t>
            </a:r>
            <a:r>
              <a:rPr lang="en-US" altLang="zh-CN" sz="3600" dirty="0" smtClean="0">
                <a:solidFill>
                  <a:schemeClr val="bg1"/>
                </a:solidFill>
                <a:latin typeface="黑体" pitchFamily="49" charset="-122"/>
                <a:ea typeface="黑体" pitchFamily="49" charset="-122"/>
              </a:rPr>
              <a:t>5</a:t>
            </a:r>
            <a:r>
              <a:rPr lang="zh-CN" altLang="en-US" sz="3600" dirty="0" smtClean="0">
                <a:solidFill>
                  <a:schemeClr val="bg1"/>
                </a:solidFill>
                <a:latin typeface="黑体" pitchFamily="49" charset="-122"/>
                <a:ea typeface="黑体" pitchFamily="49" charset="-122"/>
              </a:rPr>
              <a:t>章  </a:t>
            </a:r>
            <a:r>
              <a:rPr lang="zh-CN" altLang="en-US" sz="3600" dirty="0" smtClean="0">
                <a:solidFill>
                  <a:schemeClr val="bg1"/>
                </a:solidFill>
                <a:latin typeface="黑体" pitchFamily="49" charset="-122"/>
                <a:ea typeface="黑体" pitchFamily="49" charset="-122"/>
              </a:rPr>
              <a:t>跨国公司区位</a:t>
            </a:r>
            <a:r>
              <a:rPr lang="zh-CN" altLang="en-US" sz="3600" dirty="0" smtClean="0">
                <a:latin typeface="黑体" pitchFamily="49" charset="-122"/>
                <a:ea typeface="黑体" pitchFamily="49" charset="-122"/>
              </a:rPr>
              <a:t/>
            </a:r>
            <a:br>
              <a:rPr lang="zh-CN" altLang="en-US" sz="3600" dirty="0" smtClean="0">
                <a:latin typeface="黑体" pitchFamily="49" charset="-122"/>
                <a:ea typeface="黑体" pitchFamily="49" charset="-122"/>
              </a:rPr>
            </a:br>
            <a:r>
              <a:rPr lang="zh-CN" altLang="en-US" sz="3600" dirty="0" smtClean="0">
                <a:solidFill>
                  <a:schemeClr val="bg1"/>
                </a:solidFill>
                <a:latin typeface="黑体" pitchFamily="49" charset="-122"/>
                <a:ea typeface="黑体" pitchFamily="49" charset="-122"/>
              </a:rPr>
              <a:t>第</a:t>
            </a:r>
            <a:r>
              <a:rPr lang="en-US" altLang="zh-CN" sz="3600" dirty="0" smtClean="0">
                <a:solidFill>
                  <a:schemeClr val="bg1"/>
                </a:solidFill>
                <a:latin typeface="黑体" pitchFamily="49" charset="-122"/>
                <a:ea typeface="黑体" pitchFamily="49" charset="-122"/>
              </a:rPr>
              <a:t>1</a:t>
            </a:r>
            <a:r>
              <a:rPr lang="zh-CN" altLang="en-US" sz="3600" dirty="0" smtClean="0">
                <a:solidFill>
                  <a:schemeClr val="bg1"/>
                </a:solidFill>
                <a:latin typeface="黑体" pitchFamily="49" charset="-122"/>
                <a:ea typeface="黑体" pitchFamily="49" charset="-122"/>
              </a:rPr>
              <a:t>节 跨国直接投资区位选择</a:t>
            </a:r>
            <a:r>
              <a:rPr lang="zh-CN" altLang="en-US" sz="3600" dirty="0" smtClean="0">
                <a:latin typeface="黑体" pitchFamily="49" charset="-122"/>
                <a:ea typeface="黑体" pitchFamily="49" charset="-122"/>
              </a:rPr>
              <a:t/>
            </a:r>
            <a:br>
              <a:rPr lang="zh-CN" altLang="en-US" sz="3600" dirty="0" smtClean="0">
                <a:latin typeface="黑体" pitchFamily="49" charset="-122"/>
                <a:ea typeface="黑体" pitchFamily="49" charset="-122"/>
              </a:rPr>
            </a:br>
            <a:r>
              <a:rPr lang="zh-CN" altLang="en-US" sz="3600" dirty="0" smtClean="0">
                <a:latin typeface="黑体" pitchFamily="49" charset="-122"/>
                <a:ea typeface="黑体" pitchFamily="49" charset="-122"/>
              </a:rPr>
              <a:t/>
            </a:r>
            <a:br>
              <a:rPr lang="zh-CN" altLang="en-US" sz="3600" dirty="0" smtClean="0">
                <a:latin typeface="黑体" pitchFamily="49" charset="-122"/>
                <a:ea typeface="黑体" pitchFamily="49" charset="-122"/>
              </a:rPr>
            </a:br>
            <a:endParaRPr lang="zh-CN" altLang="en-US" sz="3600" dirty="0" smtClean="0">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body" idx="1"/>
          </p:nvPr>
        </p:nvSpPr>
        <p:spPr>
          <a:xfrm>
            <a:off x="971550" y="1700213"/>
            <a:ext cx="7570788" cy="4525962"/>
          </a:xfrm>
        </p:spPr>
        <p:txBody>
          <a:bodyPr/>
          <a:lstStyle/>
          <a:p>
            <a:pPr eaLnBrk="1" hangingPunct="1">
              <a:lnSpc>
                <a:spcPct val="135000"/>
              </a:lnSpc>
              <a:buFontTx/>
              <a:buNone/>
            </a:pPr>
            <a:r>
              <a:rPr lang="zh-CN" altLang="en-US" sz="3600" smtClean="0">
                <a:solidFill>
                  <a:schemeClr val="bg1"/>
                </a:solidFill>
                <a:ea typeface="黑体" pitchFamily="49" charset="-122"/>
              </a:rPr>
              <a:t>一、跨国直接投资原因</a:t>
            </a:r>
          </a:p>
          <a:p>
            <a:pPr eaLnBrk="1" hangingPunct="1">
              <a:lnSpc>
                <a:spcPct val="135000"/>
              </a:lnSpc>
              <a:buFontTx/>
              <a:buNone/>
            </a:pPr>
            <a:r>
              <a:rPr lang="zh-CN" altLang="en-US" sz="3600" smtClean="0">
                <a:solidFill>
                  <a:schemeClr val="bg1"/>
                </a:solidFill>
                <a:ea typeface="黑体" pitchFamily="49" charset="-122"/>
              </a:rPr>
              <a:t>二、跨国公司投资的国别选择</a:t>
            </a:r>
          </a:p>
          <a:p>
            <a:pPr eaLnBrk="1" hangingPunct="1">
              <a:lnSpc>
                <a:spcPct val="135000"/>
              </a:lnSpc>
              <a:buFontTx/>
              <a:buNone/>
            </a:pPr>
            <a:r>
              <a:rPr lang="zh-CN" altLang="en-US" sz="3600" smtClean="0">
                <a:solidFill>
                  <a:schemeClr val="bg1"/>
                </a:solidFill>
                <a:ea typeface="黑体" pitchFamily="49" charset="-122"/>
              </a:rPr>
              <a:t>三、跨国公司的微观区位选择</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71550" y="908050"/>
            <a:ext cx="6059488" cy="1143000"/>
          </a:xfrm>
        </p:spPr>
        <p:txBody>
          <a:bodyPr/>
          <a:lstStyle/>
          <a:p>
            <a:pPr algn="l" eaLnBrk="1" hangingPunct="1"/>
            <a:r>
              <a:rPr lang="zh-CN" altLang="en-US" sz="4000" smtClean="0">
                <a:solidFill>
                  <a:srgbClr val="FFFF00"/>
                </a:solidFill>
                <a:ea typeface="黑体" pitchFamily="49" charset="-122"/>
              </a:rPr>
              <a:t>一、跨国直接投资原因</a:t>
            </a:r>
          </a:p>
        </p:txBody>
      </p:sp>
      <p:sp>
        <p:nvSpPr>
          <p:cNvPr id="4099" name="Rectangle 3"/>
          <p:cNvSpPr>
            <a:spLocks noGrp="1" noChangeArrowheads="1"/>
          </p:cNvSpPr>
          <p:nvPr>
            <p:ph type="body" idx="1"/>
          </p:nvPr>
        </p:nvSpPr>
        <p:spPr>
          <a:xfrm>
            <a:off x="2051050" y="2349500"/>
            <a:ext cx="5627688" cy="2981325"/>
          </a:xfrm>
        </p:spPr>
        <p:txBody>
          <a:bodyPr/>
          <a:lstStyle/>
          <a:p>
            <a:pPr eaLnBrk="1" hangingPunct="1">
              <a:lnSpc>
                <a:spcPct val="155000"/>
              </a:lnSpc>
              <a:buFont typeface="Wingdings" pitchFamily="2" charset="2"/>
              <a:buChar char="Ø"/>
            </a:pPr>
            <a:r>
              <a:rPr lang="zh-CN" altLang="en-US" smtClean="0">
                <a:solidFill>
                  <a:schemeClr val="bg1"/>
                </a:solidFill>
                <a:ea typeface="黑体" pitchFamily="49" charset="-122"/>
                <a:hlinkClick r:id="rId2" action="ppaction://hlinksldjump"/>
              </a:rPr>
              <a:t>产品周期理论</a:t>
            </a:r>
            <a:endParaRPr lang="zh-CN" altLang="en-US" smtClean="0">
              <a:solidFill>
                <a:schemeClr val="bg1"/>
              </a:solidFill>
              <a:ea typeface="黑体" pitchFamily="49" charset="-122"/>
            </a:endParaRPr>
          </a:p>
          <a:p>
            <a:pPr eaLnBrk="1" hangingPunct="1">
              <a:lnSpc>
                <a:spcPct val="155000"/>
              </a:lnSpc>
              <a:buFont typeface="Wingdings" pitchFamily="2" charset="2"/>
              <a:buChar char="Ø"/>
            </a:pPr>
            <a:r>
              <a:rPr lang="zh-CN" altLang="en-US" smtClean="0">
                <a:solidFill>
                  <a:schemeClr val="bg1"/>
                </a:solidFill>
                <a:ea typeface="黑体" pitchFamily="49" charset="-122"/>
                <a:hlinkClick r:id="rId3" action="ppaction://hlinksldjump"/>
              </a:rPr>
              <a:t>折衷理论</a:t>
            </a:r>
            <a:endParaRPr lang="zh-CN" altLang="en-US" smtClean="0">
              <a:solidFill>
                <a:schemeClr val="bg1"/>
              </a:solidFill>
              <a:ea typeface="黑体" pitchFamily="49"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620713"/>
            <a:ext cx="8229600" cy="647700"/>
          </a:xfrm>
        </p:spPr>
        <p:txBody>
          <a:bodyPr/>
          <a:lstStyle/>
          <a:p>
            <a:pPr algn="l" eaLnBrk="1" hangingPunct="1"/>
            <a:r>
              <a:rPr lang="zh-CN" altLang="en-US" sz="3600" smtClean="0">
                <a:solidFill>
                  <a:srgbClr val="FFFF00"/>
                </a:solidFill>
                <a:ea typeface="黑体" pitchFamily="49" charset="-122"/>
              </a:rPr>
              <a:t>产品周期理论</a:t>
            </a:r>
            <a:r>
              <a:rPr lang="zh-CN" altLang="en-US" sz="4000" smtClean="0"/>
              <a:t/>
            </a:r>
            <a:br>
              <a:rPr lang="zh-CN" altLang="en-US" sz="4000" smtClean="0"/>
            </a:br>
            <a:endParaRPr lang="zh-CN" altLang="en-US" sz="4000" smtClean="0"/>
          </a:p>
        </p:txBody>
      </p:sp>
      <p:sp>
        <p:nvSpPr>
          <p:cNvPr id="4099" name="Rectangle 3"/>
          <p:cNvSpPr>
            <a:spLocks noGrp="1" noChangeArrowheads="1"/>
          </p:cNvSpPr>
          <p:nvPr>
            <p:ph type="body" idx="1"/>
          </p:nvPr>
        </p:nvSpPr>
        <p:spPr>
          <a:xfrm>
            <a:off x="457200" y="1125538"/>
            <a:ext cx="8229600" cy="5327650"/>
          </a:xfrm>
        </p:spPr>
        <p:txBody>
          <a:bodyPr/>
          <a:lstStyle/>
          <a:p>
            <a:pPr eaLnBrk="1" hangingPunct="1">
              <a:buFont typeface="Wingdings" pitchFamily="2" charset="2"/>
              <a:buChar char="Ø"/>
            </a:pPr>
            <a:r>
              <a:rPr lang="zh-CN" altLang="en-US" smtClean="0">
                <a:solidFill>
                  <a:srgbClr val="FFFF00"/>
                </a:solidFill>
                <a:latin typeface="黑体" pitchFamily="49" charset="-122"/>
                <a:ea typeface="黑体" pitchFamily="49" charset="-122"/>
              </a:rPr>
              <a:t>新产品阶段</a:t>
            </a:r>
          </a:p>
          <a:p>
            <a:pPr eaLnBrk="1" hangingPunct="1">
              <a:buFont typeface="Wingdings" pitchFamily="2" charset="2"/>
              <a:buNone/>
            </a:pPr>
            <a:r>
              <a:rPr lang="zh-CN" altLang="en-US" smtClean="0">
                <a:solidFill>
                  <a:schemeClr val="bg1"/>
                </a:solidFill>
                <a:latin typeface="黑体" pitchFamily="49" charset="-122"/>
                <a:ea typeface="黑体" pitchFamily="49" charset="-122"/>
              </a:rPr>
              <a:t>   </a:t>
            </a:r>
            <a:r>
              <a:rPr lang="zh-CN" altLang="en-US" sz="2400" smtClean="0">
                <a:solidFill>
                  <a:schemeClr val="bg1"/>
                </a:solidFill>
                <a:latin typeface="黑体" pitchFamily="49" charset="-122"/>
                <a:ea typeface="黑体" pitchFamily="49" charset="-122"/>
              </a:rPr>
              <a:t>主要出现在发达工业国家</a:t>
            </a:r>
            <a:r>
              <a:rPr lang="zh-CN" altLang="en-US" sz="2400" smtClean="0">
                <a:solidFill>
                  <a:schemeClr val="bg1"/>
                </a:solidFill>
                <a:latin typeface="黑体" pitchFamily="49" charset="-122"/>
                <a:ea typeface="黑体" pitchFamily="49" charset="-122"/>
                <a:sym typeface="Wingdings" pitchFamily="2" charset="2"/>
              </a:rPr>
              <a:t>：</a:t>
            </a:r>
            <a:r>
              <a:rPr lang="en-US" altLang="zh-CN" sz="2400" smtClean="0">
                <a:solidFill>
                  <a:schemeClr val="bg1"/>
                </a:solidFill>
                <a:latin typeface="黑体" pitchFamily="49" charset="-122"/>
                <a:ea typeface="黑体" pitchFamily="49" charset="-122"/>
                <a:sym typeface="Wingdings" pitchFamily="2" charset="2"/>
              </a:rPr>
              <a:t>1.</a:t>
            </a:r>
            <a:r>
              <a:rPr lang="zh-CN" altLang="en-US" sz="2400" smtClean="0">
                <a:solidFill>
                  <a:schemeClr val="bg1"/>
                </a:solidFill>
                <a:latin typeface="黑体" pitchFamily="49" charset="-122"/>
                <a:ea typeface="黑体" pitchFamily="49" charset="-122"/>
                <a:sym typeface="Wingdings" pitchFamily="2" charset="2"/>
              </a:rPr>
              <a:t>较高的科技水平；</a:t>
            </a:r>
            <a:r>
              <a:rPr lang="en-US" altLang="zh-CN" sz="2400" smtClean="0">
                <a:solidFill>
                  <a:schemeClr val="bg1"/>
                </a:solidFill>
                <a:latin typeface="黑体" pitchFamily="49" charset="-122"/>
                <a:ea typeface="黑体" pitchFamily="49" charset="-122"/>
                <a:sym typeface="Wingdings" pitchFamily="2" charset="2"/>
              </a:rPr>
              <a:t>2.</a:t>
            </a:r>
            <a:r>
              <a:rPr lang="zh-CN" altLang="en-US" sz="2400" smtClean="0">
                <a:solidFill>
                  <a:schemeClr val="bg1"/>
                </a:solidFill>
                <a:latin typeface="黑体" pitchFamily="49" charset="-122"/>
                <a:ea typeface="黑体" pitchFamily="49" charset="-122"/>
                <a:sym typeface="Wingdings" pitchFamily="2" charset="2"/>
              </a:rPr>
              <a:t>良好的通讯条件；</a:t>
            </a:r>
            <a:r>
              <a:rPr lang="en-US" altLang="zh-CN" sz="2400" smtClean="0">
                <a:solidFill>
                  <a:schemeClr val="bg1"/>
                </a:solidFill>
                <a:latin typeface="黑体" pitchFamily="49" charset="-122"/>
                <a:ea typeface="黑体" pitchFamily="49" charset="-122"/>
                <a:sym typeface="Wingdings" pitchFamily="2" charset="2"/>
              </a:rPr>
              <a:t>3.</a:t>
            </a:r>
            <a:r>
              <a:rPr lang="zh-CN" altLang="en-US" sz="2400" smtClean="0">
                <a:solidFill>
                  <a:schemeClr val="bg1"/>
                </a:solidFill>
                <a:latin typeface="黑体" pitchFamily="49" charset="-122"/>
                <a:ea typeface="黑体" pitchFamily="49" charset="-122"/>
                <a:sym typeface="Wingdings" pitchFamily="2" charset="2"/>
              </a:rPr>
              <a:t>较高的消费水平；</a:t>
            </a:r>
          </a:p>
          <a:p>
            <a:pPr eaLnBrk="1" hangingPunct="1">
              <a:buFont typeface="Wingdings" pitchFamily="2" charset="2"/>
              <a:buNone/>
            </a:pPr>
            <a:r>
              <a:rPr lang="zh-CN" altLang="en-US" sz="2400" smtClean="0">
                <a:solidFill>
                  <a:schemeClr val="bg1"/>
                </a:solidFill>
                <a:latin typeface="黑体" pitchFamily="49" charset="-122"/>
                <a:ea typeface="黑体" pitchFamily="49" charset="-122"/>
                <a:sym typeface="Wingdings" pitchFamily="2" charset="2"/>
              </a:rPr>
              <a:t>    产品通过出口供应其他国家；</a:t>
            </a:r>
            <a:endParaRPr lang="zh-CN" altLang="en-US" sz="2400" smtClean="0">
              <a:solidFill>
                <a:schemeClr val="bg1"/>
              </a:solidFill>
              <a:latin typeface="黑体" pitchFamily="49" charset="-122"/>
              <a:ea typeface="黑体" pitchFamily="49" charset="-122"/>
            </a:endParaRPr>
          </a:p>
          <a:p>
            <a:pPr eaLnBrk="1" hangingPunct="1">
              <a:buFont typeface="Wingdings" pitchFamily="2" charset="2"/>
              <a:buChar char="Ø"/>
            </a:pPr>
            <a:r>
              <a:rPr lang="zh-CN" altLang="en-US" smtClean="0">
                <a:solidFill>
                  <a:srgbClr val="FFFF00"/>
                </a:solidFill>
                <a:latin typeface="黑体" pitchFamily="49" charset="-122"/>
                <a:ea typeface="黑体" pitchFamily="49" charset="-122"/>
              </a:rPr>
              <a:t>成熟产品阶段</a:t>
            </a:r>
          </a:p>
          <a:p>
            <a:pPr eaLnBrk="1" hangingPunct="1">
              <a:buFont typeface="Wingdings" pitchFamily="2" charset="2"/>
              <a:buNone/>
            </a:pPr>
            <a:r>
              <a:rPr lang="zh-CN" altLang="en-US" smtClean="0">
                <a:solidFill>
                  <a:schemeClr val="bg1"/>
                </a:solidFill>
                <a:latin typeface="黑体" pitchFamily="49" charset="-122"/>
                <a:ea typeface="黑体" pitchFamily="49" charset="-122"/>
              </a:rPr>
              <a:t>   </a:t>
            </a:r>
            <a:r>
              <a:rPr lang="zh-CN" altLang="en-US" sz="2400" smtClean="0">
                <a:solidFill>
                  <a:schemeClr val="bg1"/>
                </a:solidFill>
                <a:latin typeface="黑体" pitchFamily="49" charset="-122"/>
                <a:ea typeface="黑体" pitchFamily="49" charset="-122"/>
              </a:rPr>
              <a:t>产品设计和生产已实现部分标准化，开始关注生产成本。企业可能向外投资，以减少关税壁垒的摩擦；</a:t>
            </a:r>
          </a:p>
          <a:p>
            <a:pPr eaLnBrk="1" hangingPunct="1">
              <a:buFont typeface="Wingdings" pitchFamily="2" charset="2"/>
              <a:buChar char="Ø"/>
            </a:pPr>
            <a:r>
              <a:rPr lang="zh-CN" altLang="en-US" smtClean="0">
                <a:solidFill>
                  <a:srgbClr val="FFFF00"/>
                </a:solidFill>
                <a:latin typeface="黑体" pitchFamily="49" charset="-122"/>
                <a:ea typeface="黑体" pitchFamily="49" charset="-122"/>
              </a:rPr>
              <a:t>标准化产品阶段</a:t>
            </a:r>
          </a:p>
          <a:p>
            <a:pPr eaLnBrk="1" hangingPunct="1">
              <a:lnSpc>
                <a:spcPct val="110000"/>
              </a:lnSpc>
              <a:buFont typeface="Wingdings" pitchFamily="2" charset="2"/>
              <a:buNone/>
            </a:pPr>
            <a:r>
              <a:rPr lang="zh-CN" altLang="en-US" smtClean="0">
                <a:solidFill>
                  <a:schemeClr val="bg1"/>
                </a:solidFill>
                <a:latin typeface="黑体" pitchFamily="49" charset="-122"/>
                <a:ea typeface="黑体" pitchFamily="49" charset="-122"/>
              </a:rPr>
              <a:t>   </a:t>
            </a:r>
            <a:r>
              <a:rPr lang="zh-CN" altLang="en-US" sz="2400" smtClean="0">
                <a:solidFill>
                  <a:schemeClr val="bg1"/>
                </a:solidFill>
                <a:latin typeface="黑体" pitchFamily="49" charset="-122"/>
                <a:ea typeface="黑体" pitchFamily="49" charset="-122"/>
              </a:rPr>
              <a:t>产品完全定型，区位选择以生产成本最低为准则，企业趋向于发展中国家，发达国家为进口国；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9">
                                            <p:txEl>
                                              <p:pRg st="3" end="3"/>
                                            </p:txEl>
                                          </p:spTgt>
                                        </p:tgtEl>
                                        <p:attrNameLst>
                                          <p:attrName>style.visibility</p:attrName>
                                        </p:attrNameLst>
                                      </p:cBhvr>
                                      <p:to>
                                        <p:strVal val="visible"/>
                                      </p:to>
                                    </p:set>
                                    <p:anim calcmode="lin" valueType="num">
                                      <p:cBhvr additive="base">
                                        <p:cTn id="25" dur="500" fill="hold"/>
                                        <p:tgtEl>
                                          <p:spTgt spid="40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99">
                                            <p:txEl>
                                              <p:pRg st="4" end="4"/>
                                            </p:txEl>
                                          </p:spTgt>
                                        </p:tgtEl>
                                        <p:attrNameLst>
                                          <p:attrName>style.visibility</p:attrName>
                                        </p:attrNameLst>
                                      </p:cBhvr>
                                      <p:to>
                                        <p:strVal val="visible"/>
                                      </p:to>
                                    </p:set>
                                    <p:anim calcmode="lin" valueType="num">
                                      <p:cBhvr additive="base">
                                        <p:cTn id="31" dur="500" fill="hold"/>
                                        <p:tgtEl>
                                          <p:spTgt spid="40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99">
                                            <p:txEl>
                                              <p:pRg st="5" end="5"/>
                                            </p:txEl>
                                          </p:spTgt>
                                        </p:tgtEl>
                                        <p:attrNameLst>
                                          <p:attrName>style.visibility</p:attrName>
                                        </p:attrNameLst>
                                      </p:cBhvr>
                                      <p:to>
                                        <p:strVal val="visible"/>
                                      </p:to>
                                    </p:set>
                                    <p:anim calcmode="lin" valueType="num">
                                      <p:cBhvr additive="base">
                                        <p:cTn id="37" dur="500" fill="hold"/>
                                        <p:tgtEl>
                                          <p:spTgt spid="409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099">
                                            <p:txEl>
                                              <p:pRg st="6" end="6"/>
                                            </p:txEl>
                                          </p:spTgt>
                                        </p:tgtEl>
                                        <p:attrNameLst>
                                          <p:attrName>style.visibility</p:attrName>
                                        </p:attrNameLst>
                                      </p:cBhvr>
                                      <p:to>
                                        <p:strVal val="visible"/>
                                      </p:to>
                                    </p:set>
                                    <p:anim calcmode="lin" valueType="num">
                                      <p:cBhvr additive="base">
                                        <p:cTn id="43" dur="500" fill="hold"/>
                                        <p:tgtEl>
                                          <p:spTgt spid="409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09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wsq\教学\经济地理\TU\产品周期理论.jpg"/>
          <p:cNvPicPr>
            <a:picLocks noChangeAspect="1" noChangeArrowheads="1"/>
          </p:cNvPicPr>
          <p:nvPr/>
        </p:nvPicPr>
        <p:blipFill>
          <a:blip r:embed="rId2" cstate="print"/>
          <a:srcRect/>
          <a:stretch>
            <a:fillRect/>
          </a:stretch>
        </p:blipFill>
        <p:spPr bwMode="auto">
          <a:xfrm>
            <a:off x="2411413" y="0"/>
            <a:ext cx="4321175" cy="68564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74638"/>
            <a:ext cx="8229600" cy="561975"/>
          </a:xfrm>
        </p:spPr>
        <p:txBody>
          <a:bodyPr/>
          <a:lstStyle/>
          <a:p>
            <a:pPr algn="l" eaLnBrk="1" hangingPunct="1"/>
            <a:r>
              <a:rPr lang="zh-CN" altLang="en-US" sz="3200" smtClean="0">
                <a:solidFill>
                  <a:srgbClr val="FFFF00"/>
                </a:solidFill>
                <a:ea typeface="黑体" pitchFamily="49" charset="-122"/>
              </a:rPr>
              <a:t>例子：瑞典工业空间结构</a:t>
            </a:r>
          </a:p>
        </p:txBody>
      </p:sp>
      <p:sp>
        <p:nvSpPr>
          <p:cNvPr id="24579" name="Rectangle 3"/>
          <p:cNvSpPr>
            <a:spLocks noGrp="1" noChangeArrowheads="1"/>
          </p:cNvSpPr>
          <p:nvPr>
            <p:ph type="body" idx="1"/>
          </p:nvPr>
        </p:nvSpPr>
        <p:spPr>
          <a:xfrm>
            <a:off x="457200" y="1052513"/>
            <a:ext cx="8229600" cy="5256212"/>
          </a:xfrm>
        </p:spPr>
        <p:txBody>
          <a:bodyPr/>
          <a:lstStyle/>
          <a:p>
            <a:pPr eaLnBrk="1" hangingPunct="1">
              <a:lnSpc>
                <a:spcPct val="110000"/>
              </a:lnSpc>
            </a:pPr>
            <a:r>
              <a:rPr lang="zh-CN" altLang="en-US" sz="2400" smtClean="0">
                <a:solidFill>
                  <a:srgbClr val="FFFF00"/>
                </a:solidFill>
                <a:latin typeface="黑体" pitchFamily="49" charset="-122"/>
                <a:ea typeface="黑体" pitchFamily="49" charset="-122"/>
              </a:rPr>
              <a:t>研究密集型工业：</a:t>
            </a:r>
            <a:r>
              <a:rPr lang="zh-CN" altLang="en-US" sz="2400" smtClean="0">
                <a:solidFill>
                  <a:schemeClr val="bg1"/>
                </a:solidFill>
                <a:latin typeface="黑体" pitchFamily="49" charset="-122"/>
                <a:ea typeface="黑体" pitchFamily="49" charset="-122"/>
              </a:rPr>
              <a:t>包括电子工业（电脑制造、电子办公设备等）和其他制造业（飞机制造等）。特点：大量投入用于研究与开发，研究人员比重大；分布：</a:t>
            </a:r>
            <a:r>
              <a:rPr lang="en-US" altLang="zh-CN" sz="2400" smtClean="0">
                <a:solidFill>
                  <a:schemeClr val="bg1"/>
                </a:solidFill>
                <a:latin typeface="黑体" pitchFamily="49" charset="-122"/>
                <a:ea typeface="黑体" pitchFamily="49" charset="-122"/>
              </a:rPr>
              <a:t>70%</a:t>
            </a:r>
            <a:r>
              <a:rPr lang="zh-CN" altLang="en-US" sz="2400" smtClean="0">
                <a:solidFill>
                  <a:schemeClr val="bg1"/>
                </a:solidFill>
                <a:latin typeface="黑体" pitchFamily="49" charset="-122"/>
                <a:ea typeface="黑体" pitchFamily="49" charset="-122"/>
              </a:rPr>
              <a:t>集中于大都市区。</a:t>
            </a:r>
          </a:p>
          <a:p>
            <a:pPr eaLnBrk="1" hangingPunct="1">
              <a:lnSpc>
                <a:spcPct val="110000"/>
              </a:lnSpc>
            </a:pPr>
            <a:r>
              <a:rPr lang="zh-CN" altLang="en-US" sz="2400" smtClean="0">
                <a:solidFill>
                  <a:srgbClr val="FFFF00"/>
                </a:solidFill>
                <a:latin typeface="黑体" pitchFamily="49" charset="-122"/>
                <a:ea typeface="黑体" pitchFamily="49" charset="-122"/>
              </a:rPr>
              <a:t>知识密集型工业：</a:t>
            </a:r>
            <a:r>
              <a:rPr lang="zh-CN" altLang="en-US" sz="2400" smtClean="0">
                <a:solidFill>
                  <a:schemeClr val="bg1"/>
                </a:solidFill>
                <a:latin typeface="黑体" pitchFamily="49" charset="-122"/>
                <a:ea typeface="黑体" pitchFamily="49" charset="-122"/>
              </a:rPr>
              <a:t>消费者耐用品工业（家用设备、机动车等）。分布：大城市市区和重要的交通中心→分散化。</a:t>
            </a:r>
          </a:p>
          <a:p>
            <a:pPr eaLnBrk="1" hangingPunct="1">
              <a:lnSpc>
                <a:spcPct val="110000"/>
              </a:lnSpc>
            </a:pPr>
            <a:r>
              <a:rPr lang="zh-CN" altLang="en-US" sz="2400" smtClean="0">
                <a:solidFill>
                  <a:srgbClr val="FFFF00"/>
                </a:solidFill>
                <a:latin typeface="黑体" pitchFamily="49" charset="-122"/>
                <a:ea typeface="黑体" pitchFamily="49" charset="-122"/>
              </a:rPr>
              <a:t>资金密集型工业</a:t>
            </a:r>
            <a:r>
              <a:rPr lang="zh-CN" altLang="en-US" sz="2400" smtClean="0">
                <a:solidFill>
                  <a:schemeClr val="bg1"/>
                </a:solidFill>
                <a:latin typeface="黑体" pitchFamily="49" charset="-122"/>
                <a:ea typeface="黑体" pitchFamily="49" charset="-122"/>
              </a:rPr>
              <a:t>：食品工业、石油工业、金属工业等。分布：多集中于接近原料地和交通中心。</a:t>
            </a:r>
          </a:p>
          <a:p>
            <a:pPr eaLnBrk="1" hangingPunct="1">
              <a:lnSpc>
                <a:spcPct val="110000"/>
              </a:lnSpc>
            </a:pPr>
            <a:r>
              <a:rPr lang="zh-CN" altLang="en-US" sz="2400" smtClean="0">
                <a:solidFill>
                  <a:srgbClr val="FFFF00"/>
                </a:solidFill>
                <a:latin typeface="黑体" pitchFamily="49" charset="-122"/>
                <a:ea typeface="黑体" pitchFamily="49" charset="-122"/>
              </a:rPr>
              <a:t>劳动密集型工业</a:t>
            </a:r>
            <a:r>
              <a:rPr lang="zh-CN" altLang="en-US" sz="2400" smtClean="0">
                <a:solidFill>
                  <a:schemeClr val="bg1"/>
                </a:solidFill>
                <a:latin typeface="黑体" pitchFamily="49" charset="-122"/>
                <a:ea typeface="黑体" pitchFamily="49" charset="-122"/>
              </a:rPr>
              <a:t>：食品工业、森林工业等，多集中于劳动文化水平低、工资低的相对落后地区；</a:t>
            </a:r>
          </a:p>
          <a:p>
            <a:pPr eaLnBrk="1" hangingPunct="1">
              <a:lnSpc>
                <a:spcPct val="110000"/>
              </a:lnSpc>
            </a:pPr>
            <a:r>
              <a:rPr lang="zh-CN" altLang="en-US" sz="2400" smtClean="0">
                <a:solidFill>
                  <a:srgbClr val="FFFF00"/>
                </a:solidFill>
                <a:latin typeface="黑体" pitchFamily="49" charset="-122"/>
                <a:ea typeface="黑体" pitchFamily="49" charset="-122"/>
              </a:rPr>
              <a:t>保护型工业</a:t>
            </a:r>
            <a:r>
              <a:rPr lang="zh-CN" altLang="en-US" sz="2400" smtClean="0">
                <a:solidFill>
                  <a:schemeClr val="bg1"/>
                </a:solidFill>
                <a:latin typeface="黑体" pitchFamily="49" charset="-122"/>
                <a:ea typeface="黑体" pitchFamily="49" charset="-122"/>
              </a:rPr>
              <a:t>：食品工业、木工业等。为使其免受国际竞争而得到保护，多集中于大都市区，这种趋势正渐减弱。</a:t>
            </a:r>
          </a:p>
        </p:txBody>
      </p:sp>
      <p:sp>
        <p:nvSpPr>
          <p:cNvPr id="7172" name="AutoShape 4">
            <a:hlinkClick r:id="rId2" action="ppaction://hlinksldjump"/>
          </p:cNvPr>
          <p:cNvSpPr>
            <a:spLocks noChangeArrowheads="1"/>
          </p:cNvSpPr>
          <p:nvPr/>
        </p:nvSpPr>
        <p:spPr bwMode="auto">
          <a:xfrm>
            <a:off x="8604250" y="6308725"/>
            <a:ext cx="288925" cy="288925"/>
          </a:xfrm>
          <a:prstGeom prst="upArrow">
            <a:avLst>
              <a:gd name="adj1" fmla="val 50000"/>
              <a:gd name="adj2" fmla="val 25000"/>
            </a:avLst>
          </a:prstGeom>
          <a:solidFill>
            <a:srgbClr val="FF00FF"/>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579">
                                            <p:txEl>
                                              <p:pRg st="2" end="2"/>
                                            </p:txEl>
                                          </p:spTgt>
                                        </p:tgtEl>
                                        <p:attrNameLst>
                                          <p:attrName>style.visibility</p:attrName>
                                        </p:attrNameLst>
                                      </p:cBhvr>
                                      <p:to>
                                        <p:strVal val="visible"/>
                                      </p:to>
                                    </p:set>
                                    <p:anim calcmode="lin" valueType="num">
                                      <p:cBhvr additive="base">
                                        <p:cTn id="19"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579">
                                            <p:txEl>
                                              <p:pRg st="3" end="3"/>
                                            </p:txEl>
                                          </p:spTgt>
                                        </p:tgtEl>
                                        <p:attrNameLst>
                                          <p:attrName>style.visibility</p:attrName>
                                        </p:attrNameLst>
                                      </p:cBhvr>
                                      <p:to>
                                        <p:strVal val="visible"/>
                                      </p:to>
                                    </p:set>
                                    <p:anim calcmode="lin" valueType="num">
                                      <p:cBhvr additive="base">
                                        <p:cTn id="25"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579">
                                            <p:txEl>
                                              <p:pRg st="4" end="4"/>
                                            </p:txEl>
                                          </p:spTgt>
                                        </p:tgtEl>
                                        <p:attrNameLst>
                                          <p:attrName>style.visibility</p:attrName>
                                        </p:attrNameLst>
                                      </p:cBhvr>
                                      <p:to>
                                        <p:strVal val="visible"/>
                                      </p:to>
                                    </p:set>
                                    <p:anim calcmode="lin" valueType="num">
                                      <p:cBhvr additive="base">
                                        <p:cTn id="31"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title"/>
          </p:nvPr>
        </p:nvSpPr>
        <p:spPr>
          <a:xfrm>
            <a:off x="1763713" y="981075"/>
            <a:ext cx="5627687" cy="715963"/>
          </a:xfrm>
        </p:spPr>
        <p:txBody>
          <a:bodyPr/>
          <a:lstStyle/>
          <a:p>
            <a:pPr algn="l" eaLnBrk="1" hangingPunct="1"/>
            <a:r>
              <a:rPr lang="zh-CN" altLang="en-US" sz="3600" smtClean="0">
                <a:solidFill>
                  <a:srgbClr val="FFFF00"/>
                </a:solidFill>
                <a:ea typeface="黑体" pitchFamily="49" charset="-122"/>
              </a:rPr>
              <a:t>折衷理论</a:t>
            </a:r>
          </a:p>
        </p:txBody>
      </p:sp>
      <p:sp>
        <p:nvSpPr>
          <p:cNvPr id="6152" name="Rectangle 8"/>
          <p:cNvSpPr>
            <a:spLocks noGrp="1" noChangeArrowheads="1"/>
          </p:cNvSpPr>
          <p:nvPr>
            <p:ph type="body" idx="1"/>
          </p:nvPr>
        </p:nvSpPr>
        <p:spPr>
          <a:xfrm>
            <a:off x="2051050" y="2060575"/>
            <a:ext cx="4978400" cy="2778125"/>
          </a:xfrm>
        </p:spPr>
        <p:txBody>
          <a:bodyPr/>
          <a:lstStyle/>
          <a:p>
            <a:pPr eaLnBrk="1" hangingPunct="1">
              <a:lnSpc>
                <a:spcPct val="140000"/>
              </a:lnSpc>
              <a:buFont typeface="Wingdings" pitchFamily="2" charset="2"/>
              <a:buChar char="Ø"/>
            </a:pPr>
            <a:r>
              <a:rPr lang="zh-CN" altLang="en-US" smtClean="0">
                <a:solidFill>
                  <a:schemeClr val="bg1"/>
                </a:solidFill>
                <a:ea typeface="黑体" pitchFamily="49" charset="-122"/>
              </a:rPr>
              <a:t>企业的所有权优势</a:t>
            </a:r>
          </a:p>
          <a:p>
            <a:pPr eaLnBrk="1" hangingPunct="1">
              <a:lnSpc>
                <a:spcPct val="140000"/>
              </a:lnSpc>
              <a:buFont typeface="Wingdings" pitchFamily="2" charset="2"/>
              <a:buChar char="Ø"/>
            </a:pPr>
            <a:r>
              <a:rPr lang="zh-CN" altLang="en-US" smtClean="0">
                <a:solidFill>
                  <a:schemeClr val="bg1"/>
                </a:solidFill>
                <a:ea typeface="黑体" pitchFamily="49" charset="-122"/>
              </a:rPr>
              <a:t>内部化优势</a:t>
            </a:r>
          </a:p>
          <a:p>
            <a:pPr eaLnBrk="1" hangingPunct="1">
              <a:lnSpc>
                <a:spcPct val="140000"/>
              </a:lnSpc>
              <a:buFont typeface="Wingdings" pitchFamily="2" charset="2"/>
              <a:buChar char="Ø"/>
            </a:pPr>
            <a:r>
              <a:rPr lang="zh-CN" altLang="en-US" smtClean="0">
                <a:solidFill>
                  <a:schemeClr val="bg1"/>
                </a:solidFill>
                <a:ea typeface="黑体" pitchFamily="49" charset="-122"/>
              </a:rPr>
              <a:t>区位优势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52">
                                            <p:txEl>
                                              <p:pRg st="0" end="0"/>
                                            </p:txEl>
                                          </p:spTgt>
                                        </p:tgtEl>
                                        <p:attrNameLst>
                                          <p:attrName>style.visibility</p:attrName>
                                        </p:attrNameLst>
                                      </p:cBhvr>
                                      <p:to>
                                        <p:strVal val="visible"/>
                                      </p:to>
                                    </p:set>
                                    <p:anim calcmode="lin" valueType="num">
                                      <p:cBhvr additive="base">
                                        <p:cTn id="7" dur="500" fill="hold"/>
                                        <p:tgtEl>
                                          <p:spTgt spid="61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52">
                                            <p:txEl>
                                              <p:pRg st="1" end="1"/>
                                            </p:txEl>
                                          </p:spTgt>
                                        </p:tgtEl>
                                        <p:attrNameLst>
                                          <p:attrName>style.visibility</p:attrName>
                                        </p:attrNameLst>
                                      </p:cBhvr>
                                      <p:to>
                                        <p:strVal val="visible"/>
                                      </p:to>
                                    </p:set>
                                    <p:anim calcmode="lin" valueType="num">
                                      <p:cBhvr additive="base">
                                        <p:cTn id="13" dur="500" fill="hold"/>
                                        <p:tgtEl>
                                          <p:spTgt spid="61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52">
                                            <p:txEl>
                                              <p:pRg st="2" end="2"/>
                                            </p:txEl>
                                          </p:spTgt>
                                        </p:tgtEl>
                                        <p:attrNameLst>
                                          <p:attrName>style.visibility</p:attrName>
                                        </p:attrNameLst>
                                      </p:cBhvr>
                                      <p:to>
                                        <p:strVal val="visible"/>
                                      </p:to>
                                    </p:set>
                                    <p:anim calcmode="lin" valueType="num">
                                      <p:cBhvr additive="base">
                                        <p:cTn id="19" dur="500" fill="hold"/>
                                        <p:tgtEl>
                                          <p:spTgt spid="615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4213" y="765175"/>
            <a:ext cx="7643812" cy="1143000"/>
          </a:xfrm>
        </p:spPr>
        <p:txBody>
          <a:bodyPr/>
          <a:lstStyle/>
          <a:p>
            <a:pPr algn="l" eaLnBrk="1" hangingPunct="1"/>
            <a:r>
              <a:rPr lang="zh-CN" altLang="en-US" sz="3600" smtClean="0">
                <a:solidFill>
                  <a:srgbClr val="FFFF00"/>
                </a:solidFill>
                <a:ea typeface="黑体" pitchFamily="49" charset="-122"/>
              </a:rPr>
              <a:t>二、跨国公司投资的国别选择</a:t>
            </a:r>
          </a:p>
        </p:txBody>
      </p:sp>
      <p:sp>
        <p:nvSpPr>
          <p:cNvPr id="9219" name="Rectangle 3"/>
          <p:cNvSpPr>
            <a:spLocks noGrp="1" noChangeArrowheads="1"/>
          </p:cNvSpPr>
          <p:nvPr>
            <p:ph type="body" idx="1"/>
          </p:nvPr>
        </p:nvSpPr>
        <p:spPr>
          <a:xfrm>
            <a:off x="900113" y="2276475"/>
            <a:ext cx="7499350" cy="2736850"/>
          </a:xfrm>
        </p:spPr>
        <p:txBody>
          <a:bodyPr/>
          <a:lstStyle/>
          <a:p>
            <a:pPr eaLnBrk="1" hangingPunct="1">
              <a:lnSpc>
                <a:spcPct val="150000"/>
              </a:lnSpc>
            </a:pPr>
            <a:r>
              <a:rPr lang="zh-CN" altLang="en-US" smtClean="0">
                <a:solidFill>
                  <a:schemeClr val="bg1"/>
                </a:solidFill>
                <a:ea typeface="黑体" pitchFamily="49" charset="-122"/>
              </a:rPr>
              <a:t>综合考虑各种因素：成本取向、利润取向、市场取向、要素取向、公司战略取向</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27088" y="908050"/>
            <a:ext cx="6491287" cy="1143000"/>
          </a:xfrm>
        </p:spPr>
        <p:txBody>
          <a:bodyPr/>
          <a:lstStyle/>
          <a:p>
            <a:pPr algn="l" eaLnBrk="1" hangingPunct="1"/>
            <a:r>
              <a:rPr lang="zh-CN" altLang="en-US" sz="3600" smtClean="0">
                <a:solidFill>
                  <a:srgbClr val="FFFF00"/>
                </a:solidFill>
                <a:ea typeface="黑体" pitchFamily="49" charset="-122"/>
              </a:rPr>
              <a:t>三、跨国公司的微观区位选择</a:t>
            </a:r>
          </a:p>
        </p:txBody>
      </p:sp>
      <p:sp>
        <p:nvSpPr>
          <p:cNvPr id="21507" name="Rectangle 3"/>
          <p:cNvSpPr>
            <a:spLocks noGrp="1" noChangeArrowheads="1"/>
          </p:cNvSpPr>
          <p:nvPr>
            <p:ph type="body" idx="1"/>
          </p:nvPr>
        </p:nvSpPr>
        <p:spPr>
          <a:xfrm>
            <a:off x="1403350" y="2420938"/>
            <a:ext cx="6491288" cy="3341687"/>
          </a:xfrm>
        </p:spPr>
        <p:txBody>
          <a:bodyPr/>
          <a:lstStyle/>
          <a:p>
            <a:pPr eaLnBrk="1" hangingPunct="1">
              <a:lnSpc>
                <a:spcPct val="150000"/>
              </a:lnSpc>
              <a:buFont typeface="Wingdings" pitchFamily="2" charset="2"/>
              <a:buChar char="Ø"/>
            </a:pPr>
            <a:r>
              <a:rPr lang="zh-CN" altLang="en-US" smtClean="0">
                <a:solidFill>
                  <a:schemeClr val="bg1"/>
                </a:solidFill>
                <a:ea typeface="黑体" pitchFamily="49" charset="-122"/>
              </a:rPr>
              <a:t>集中于经济中心区布局</a:t>
            </a:r>
          </a:p>
          <a:p>
            <a:pPr eaLnBrk="1" hangingPunct="1">
              <a:lnSpc>
                <a:spcPct val="150000"/>
              </a:lnSpc>
              <a:buFont typeface="Wingdings" pitchFamily="2" charset="2"/>
              <a:buChar char="Ø"/>
            </a:pPr>
            <a:r>
              <a:rPr lang="zh-CN" altLang="en-US" smtClean="0">
                <a:solidFill>
                  <a:schemeClr val="bg1"/>
                </a:solidFill>
                <a:ea typeface="黑体" pitchFamily="49" charset="-122"/>
              </a:rPr>
              <a:t>集中于边界地区</a:t>
            </a:r>
          </a:p>
          <a:p>
            <a:pPr eaLnBrk="1" hangingPunct="1">
              <a:lnSpc>
                <a:spcPct val="150000"/>
              </a:lnSpc>
              <a:buFont typeface="Wingdings" pitchFamily="2" charset="2"/>
              <a:buChar char="Ø"/>
            </a:pPr>
            <a:r>
              <a:rPr lang="zh-CN" altLang="en-US" smtClean="0">
                <a:solidFill>
                  <a:schemeClr val="bg1"/>
                </a:solidFill>
                <a:ea typeface="黑体" pitchFamily="49" charset="-122"/>
              </a:rPr>
              <a:t>集中于社会联系密切地区</a:t>
            </a:r>
          </a:p>
          <a:p>
            <a:pPr eaLnBrk="1" hangingPunct="1">
              <a:buFont typeface="Wingdings" pitchFamily="2" charset="2"/>
              <a:buChar char="Ø"/>
            </a:pPr>
            <a:endParaRPr lang="en-US" altLang="zh-CN" smtClean="0">
              <a:solidFill>
                <a:schemeClr val="bg1"/>
              </a:solidFill>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ctrTitle"/>
          </p:nvPr>
        </p:nvSpPr>
        <p:spPr>
          <a:xfrm>
            <a:off x="684213" y="2852738"/>
            <a:ext cx="7772400" cy="1143000"/>
          </a:xfrm>
        </p:spPr>
        <p:txBody>
          <a:bodyPr/>
          <a:lstStyle/>
          <a:p>
            <a:pPr eaLnBrk="1" hangingPunct="1">
              <a:lnSpc>
                <a:spcPct val="165000"/>
              </a:lnSpc>
            </a:pPr>
            <a:r>
              <a:rPr lang="zh-CN" altLang="en-US" sz="4000" smtClean="0">
                <a:solidFill>
                  <a:schemeClr val="bg1"/>
                </a:solidFill>
                <a:latin typeface="黑体" pitchFamily="49" charset="-122"/>
                <a:ea typeface="黑体" pitchFamily="49" charset="-122"/>
              </a:rPr>
              <a:t>第二节  跨国公司不同组分的</a:t>
            </a:r>
            <a:br>
              <a:rPr lang="zh-CN" altLang="en-US" sz="4000" smtClean="0">
                <a:solidFill>
                  <a:schemeClr val="bg1"/>
                </a:solidFill>
                <a:latin typeface="黑体" pitchFamily="49" charset="-122"/>
                <a:ea typeface="黑体" pitchFamily="49" charset="-122"/>
              </a:rPr>
            </a:br>
            <a:r>
              <a:rPr lang="zh-CN" altLang="en-US" sz="4000" smtClean="0">
                <a:solidFill>
                  <a:schemeClr val="bg1"/>
                </a:solidFill>
                <a:latin typeface="黑体" pitchFamily="49" charset="-122"/>
                <a:ea typeface="黑体" pitchFamily="49" charset="-122"/>
              </a:rPr>
              <a:t>区位选择</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914400" y="1773238"/>
            <a:ext cx="8229600" cy="3700462"/>
          </a:xfrm>
        </p:spPr>
        <p:txBody>
          <a:bodyPr/>
          <a:lstStyle/>
          <a:p>
            <a:pPr eaLnBrk="1" hangingPunct="1">
              <a:lnSpc>
                <a:spcPct val="155000"/>
              </a:lnSpc>
              <a:buFontTx/>
              <a:buNone/>
            </a:pPr>
            <a:r>
              <a:rPr lang="zh-CN" altLang="en-US" sz="3600" smtClean="0">
                <a:solidFill>
                  <a:schemeClr val="bg1"/>
                </a:solidFill>
                <a:ea typeface="黑体" pitchFamily="49" charset="-122"/>
              </a:rPr>
              <a:t>一、公司总部的区位特征</a:t>
            </a:r>
          </a:p>
          <a:p>
            <a:pPr eaLnBrk="1" hangingPunct="1">
              <a:lnSpc>
                <a:spcPct val="155000"/>
              </a:lnSpc>
              <a:buFontTx/>
              <a:buNone/>
            </a:pPr>
            <a:r>
              <a:rPr lang="zh-CN" altLang="en-US" sz="3600" smtClean="0">
                <a:solidFill>
                  <a:schemeClr val="bg1"/>
                </a:solidFill>
                <a:ea typeface="黑体" pitchFamily="49" charset="-122"/>
              </a:rPr>
              <a:t>二、公司研究与开发机构的区位特征</a:t>
            </a:r>
          </a:p>
          <a:p>
            <a:pPr eaLnBrk="1" hangingPunct="1">
              <a:lnSpc>
                <a:spcPct val="155000"/>
              </a:lnSpc>
              <a:buFontTx/>
              <a:buNone/>
            </a:pPr>
            <a:r>
              <a:rPr lang="zh-CN" altLang="en-US" sz="3600" smtClean="0">
                <a:solidFill>
                  <a:schemeClr val="bg1"/>
                </a:solidFill>
                <a:ea typeface="黑体" pitchFamily="49" charset="-122"/>
              </a:rPr>
              <a:t>三、公司生产单位的区位特征</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7"/>
          <p:cNvSpPr>
            <a:spLocks noGrp="1" noChangeArrowheads="1"/>
          </p:cNvSpPr>
          <p:nvPr>
            <p:ph type="title"/>
          </p:nvPr>
        </p:nvSpPr>
        <p:spPr>
          <a:xfrm>
            <a:off x="914400" y="836613"/>
            <a:ext cx="8229600" cy="1143000"/>
          </a:xfrm>
        </p:spPr>
        <p:txBody>
          <a:bodyPr/>
          <a:lstStyle/>
          <a:p>
            <a:pPr algn="l" eaLnBrk="1" hangingPunct="1"/>
            <a:r>
              <a:rPr lang="zh-CN" altLang="en-US" sz="3600" smtClean="0">
                <a:solidFill>
                  <a:srgbClr val="FFFF00"/>
                </a:solidFill>
                <a:ea typeface="黑体" pitchFamily="49" charset="-122"/>
              </a:rPr>
              <a:t>一、公司总部的区位特征</a:t>
            </a:r>
          </a:p>
        </p:txBody>
      </p:sp>
      <p:sp>
        <p:nvSpPr>
          <p:cNvPr id="10248" name="Rectangle 8"/>
          <p:cNvSpPr>
            <a:spLocks noGrp="1" noChangeArrowheads="1"/>
          </p:cNvSpPr>
          <p:nvPr>
            <p:ph type="body" idx="1"/>
          </p:nvPr>
        </p:nvSpPr>
        <p:spPr>
          <a:xfrm>
            <a:off x="1331913" y="2349500"/>
            <a:ext cx="7210425" cy="3529013"/>
          </a:xfrm>
        </p:spPr>
        <p:txBody>
          <a:bodyPr/>
          <a:lstStyle/>
          <a:p>
            <a:pPr eaLnBrk="1" hangingPunct="1">
              <a:lnSpc>
                <a:spcPct val="150000"/>
              </a:lnSpc>
              <a:buFontTx/>
              <a:buNone/>
            </a:pPr>
            <a:r>
              <a:rPr lang="zh-CN" altLang="en-US" smtClean="0">
                <a:solidFill>
                  <a:schemeClr val="bg1"/>
                </a:solidFill>
                <a:ea typeface="黑体" pitchFamily="49" charset="-122"/>
              </a:rPr>
              <a:t>（一）公司总部的区位要求</a:t>
            </a:r>
          </a:p>
          <a:p>
            <a:pPr eaLnBrk="1" hangingPunct="1">
              <a:lnSpc>
                <a:spcPct val="150000"/>
              </a:lnSpc>
              <a:buFontTx/>
              <a:buNone/>
            </a:pPr>
            <a:r>
              <a:rPr lang="zh-CN" altLang="en-US" smtClean="0">
                <a:solidFill>
                  <a:schemeClr val="bg1"/>
                </a:solidFill>
                <a:ea typeface="黑体" pitchFamily="49" charset="-122"/>
              </a:rPr>
              <a:t>（二）公司总部的实际区位</a:t>
            </a:r>
          </a:p>
          <a:p>
            <a:pPr eaLnBrk="1" hangingPunct="1">
              <a:lnSpc>
                <a:spcPct val="150000"/>
              </a:lnSpc>
              <a:buFontTx/>
              <a:buNone/>
            </a:pPr>
            <a:r>
              <a:rPr lang="zh-CN" altLang="en-US" smtClean="0">
                <a:solidFill>
                  <a:schemeClr val="bg1"/>
                </a:solidFill>
                <a:ea typeface="黑体" pitchFamily="49" charset="-122"/>
              </a:rPr>
              <a:t>（三）公司总部的区位变化</a:t>
            </a:r>
          </a:p>
          <a:p>
            <a:pPr eaLnBrk="1" hangingPunct="1">
              <a:buFontTx/>
              <a:buNone/>
            </a:pP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8">
                                            <p:txEl>
                                              <p:pRg st="0" end="0"/>
                                            </p:txEl>
                                          </p:spTgt>
                                        </p:tgtEl>
                                        <p:attrNameLst>
                                          <p:attrName>style.visibility</p:attrName>
                                        </p:attrNameLst>
                                      </p:cBhvr>
                                      <p:to>
                                        <p:strVal val="visible"/>
                                      </p:to>
                                    </p:set>
                                    <p:anim calcmode="lin" valueType="num">
                                      <p:cBhvr additive="base">
                                        <p:cTn id="7" dur="500" fill="hold"/>
                                        <p:tgtEl>
                                          <p:spTgt spid="102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8">
                                            <p:txEl>
                                              <p:pRg st="1" end="1"/>
                                            </p:txEl>
                                          </p:spTgt>
                                        </p:tgtEl>
                                        <p:attrNameLst>
                                          <p:attrName>style.visibility</p:attrName>
                                        </p:attrNameLst>
                                      </p:cBhvr>
                                      <p:to>
                                        <p:strVal val="visible"/>
                                      </p:to>
                                    </p:set>
                                    <p:anim calcmode="lin" valueType="num">
                                      <p:cBhvr additive="base">
                                        <p:cTn id="13" dur="500" fill="hold"/>
                                        <p:tgtEl>
                                          <p:spTgt spid="1024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8">
                                            <p:txEl>
                                              <p:pRg st="2" end="2"/>
                                            </p:txEl>
                                          </p:spTgt>
                                        </p:tgtEl>
                                        <p:attrNameLst>
                                          <p:attrName>style.visibility</p:attrName>
                                        </p:attrNameLst>
                                      </p:cBhvr>
                                      <p:to>
                                        <p:strVal val="visible"/>
                                      </p:to>
                                    </p:set>
                                    <p:anim calcmode="lin" valueType="num">
                                      <p:cBhvr additive="base">
                                        <p:cTn id="19" dur="500" fill="hold"/>
                                        <p:tgtEl>
                                          <p:spTgt spid="1024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48">
                                            <p:txEl>
                                              <p:pRg st="3" end="3"/>
                                            </p:txEl>
                                          </p:spTgt>
                                        </p:tgtEl>
                                        <p:attrNameLst>
                                          <p:attrName>style.visibility</p:attrName>
                                        </p:attrNameLst>
                                      </p:cBhvr>
                                      <p:to>
                                        <p:strVal val="visible"/>
                                      </p:to>
                                    </p:set>
                                    <p:anim calcmode="lin" valueType="num">
                                      <p:cBhvr additive="base">
                                        <p:cTn id="25" dur="500" fill="hold"/>
                                        <p:tgtEl>
                                          <p:spTgt spid="1024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457200" y="404813"/>
            <a:ext cx="8229600" cy="6119812"/>
          </a:xfrm>
        </p:spPr>
        <p:txBody>
          <a:bodyPr/>
          <a:lstStyle/>
          <a:p>
            <a:pPr eaLnBrk="1" hangingPunct="1">
              <a:lnSpc>
                <a:spcPct val="105000"/>
              </a:lnSpc>
            </a:pPr>
            <a:r>
              <a:rPr lang="zh-CN" altLang="en-US" sz="2800" smtClean="0">
                <a:solidFill>
                  <a:srgbClr val="FFFF00"/>
                </a:solidFill>
                <a:latin typeface="黑体" pitchFamily="49" charset="-122"/>
                <a:ea typeface="黑体" pitchFamily="49" charset="-122"/>
              </a:rPr>
              <a:t>案例：北京</a:t>
            </a:r>
            <a:r>
              <a:rPr lang="zh-CN" altLang="en-US" sz="2800" smtClean="0">
                <a:solidFill>
                  <a:srgbClr val="FFFF00"/>
                </a:solidFill>
                <a:ea typeface="黑体" pitchFamily="49" charset="-122"/>
              </a:rPr>
              <a:t>“</a:t>
            </a:r>
            <a:r>
              <a:rPr lang="zh-CN" altLang="en-US" sz="2800" smtClean="0">
                <a:solidFill>
                  <a:srgbClr val="FFFF00"/>
                </a:solidFill>
                <a:latin typeface="黑体" pitchFamily="49" charset="-122"/>
                <a:ea typeface="黑体" pitchFamily="49" charset="-122"/>
              </a:rPr>
              <a:t>总部经济</a:t>
            </a:r>
            <a:r>
              <a:rPr lang="zh-CN" altLang="en-US" sz="2800" smtClean="0">
                <a:solidFill>
                  <a:srgbClr val="FFFF00"/>
                </a:solidFill>
                <a:ea typeface="黑体" pitchFamily="49" charset="-122"/>
              </a:rPr>
              <a:t>”</a:t>
            </a:r>
            <a:r>
              <a:rPr lang="zh-CN" altLang="en-US" sz="2800" smtClean="0">
                <a:solidFill>
                  <a:srgbClr val="FFFF00"/>
                </a:solidFill>
                <a:latin typeface="黑体" pitchFamily="49" charset="-122"/>
                <a:ea typeface="黑体" pitchFamily="49" charset="-122"/>
              </a:rPr>
              <a:t>发展现状：</a:t>
            </a:r>
          </a:p>
          <a:p>
            <a:pPr lvl="1" eaLnBrk="1" hangingPunct="1">
              <a:lnSpc>
                <a:spcPts val="3700"/>
              </a:lnSpc>
              <a:spcBef>
                <a:spcPct val="0"/>
              </a:spcBef>
            </a:pPr>
            <a:r>
              <a:rPr lang="zh-CN" altLang="en-US" sz="2400" smtClean="0">
                <a:solidFill>
                  <a:schemeClr val="bg1"/>
                </a:solidFill>
                <a:latin typeface="黑体" pitchFamily="49" charset="-122"/>
                <a:ea typeface="黑体" pitchFamily="49" charset="-122"/>
              </a:rPr>
              <a:t>近年来北京大力发展</a:t>
            </a:r>
            <a:r>
              <a:rPr lang="zh-CN" altLang="en-US" sz="2400" smtClean="0">
                <a:solidFill>
                  <a:schemeClr val="bg1"/>
                </a:solidFill>
                <a:ea typeface="黑体" pitchFamily="49" charset="-122"/>
              </a:rPr>
              <a:t>“</a:t>
            </a:r>
            <a:r>
              <a:rPr lang="zh-CN" altLang="en-US" sz="2400" smtClean="0">
                <a:solidFill>
                  <a:schemeClr val="bg1"/>
                </a:solidFill>
                <a:latin typeface="黑体" pitchFamily="49" charset="-122"/>
                <a:ea typeface="黑体" pitchFamily="49" charset="-122"/>
              </a:rPr>
              <a:t>首都经济</a:t>
            </a:r>
            <a:r>
              <a:rPr lang="zh-CN" altLang="en-US" sz="2400" smtClean="0">
                <a:solidFill>
                  <a:schemeClr val="bg1"/>
                </a:solidFill>
                <a:ea typeface="黑体" pitchFamily="49" charset="-122"/>
              </a:rPr>
              <a:t>”</a:t>
            </a:r>
            <a:r>
              <a:rPr lang="zh-CN" altLang="en-US" sz="2400" smtClean="0">
                <a:solidFill>
                  <a:schemeClr val="bg1"/>
                </a:solidFill>
                <a:latin typeface="黑体" pitchFamily="49" charset="-122"/>
                <a:ea typeface="黑体" pitchFamily="49" charset="-122"/>
              </a:rPr>
              <a:t>（与总部经济相关），北京已成为大型跨国公司、国内企业集团总部的聚集之地</a:t>
            </a:r>
          </a:p>
          <a:p>
            <a:pPr lvl="1" eaLnBrk="1" hangingPunct="1">
              <a:lnSpc>
                <a:spcPts val="3700"/>
              </a:lnSpc>
              <a:spcBef>
                <a:spcPct val="0"/>
              </a:spcBef>
            </a:pPr>
            <a:r>
              <a:rPr lang="zh-CN" altLang="en-US" sz="2400" smtClean="0">
                <a:solidFill>
                  <a:schemeClr val="bg1"/>
                </a:solidFill>
                <a:latin typeface="黑体" pitchFamily="49" charset="-122"/>
                <a:ea typeface="黑体" pitchFamily="49" charset="-122"/>
              </a:rPr>
              <a:t>世界</a:t>
            </a:r>
            <a:r>
              <a:rPr lang="en-US" altLang="zh-CN" sz="2400" smtClean="0">
                <a:solidFill>
                  <a:schemeClr val="bg1"/>
                </a:solidFill>
                <a:latin typeface="黑体" pitchFamily="49" charset="-122"/>
                <a:ea typeface="黑体" pitchFamily="49" charset="-122"/>
              </a:rPr>
              <a:t>500</a:t>
            </a:r>
            <a:r>
              <a:rPr lang="zh-CN" altLang="en-US" sz="2400" smtClean="0">
                <a:solidFill>
                  <a:schemeClr val="bg1"/>
                </a:solidFill>
                <a:latin typeface="黑体" pitchFamily="49" charset="-122"/>
                <a:ea typeface="黑体" pitchFamily="49" charset="-122"/>
              </a:rPr>
              <a:t>强企业以总公司名义在华开办的各级代表处、办事处、事务所、中国总公司，其中北京占</a:t>
            </a:r>
            <a:r>
              <a:rPr lang="en-US" altLang="zh-CN" sz="2400" smtClean="0">
                <a:solidFill>
                  <a:schemeClr val="bg1"/>
                </a:solidFill>
                <a:latin typeface="黑体" pitchFamily="49" charset="-122"/>
                <a:ea typeface="黑体" pitchFamily="49" charset="-122"/>
              </a:rPr>
              <a:t>58%</a:t>
            </a:r>
            <a:r>
              <a:rPr lang="zh-CN" altLang="en-US" sz="2400" smtClean="0">
                <a:solidFill>
                  <a:schemeClr val="bg1"/>
                </a:solidFill>
                <a:latin typeface="黑体" pitchFamily="49" charset="-122"/>
                <a:ea typeface="黑体" pitchFamily="49" charset="-122"/>
              </a:rPr>
              <a:t>，上海占</a:t>
            </a:r>
            <a:r>
              <a:rPr lang="en-US" altLang="zh-CN" sz="2400" smtClean="0">
                <a:solidFill>
                  <a:schemeClr val="bg1"/>
                </a:solidFill>
                <a:latin typeface="黑体" pitchFamily="49" charset="-122"/>
                <a:ea typeface="黑体" pitchFamily="49" charset="-122"/>
              </a:rPr>
              <a:t>36%</a:t>
            </a:r>
          </a:p>
          <a:p>
            <a:pPr lvl="1" eaLnBrk="1" hangingPunct="1">
              <a:lnSpc>
                <a:spcPts val="3700"/>
              </a:lnSpc>
              <a:spcBef>
                <a:spcPct val="0"/>
              </a:spcBef>
            </a:pPr>
            <a:r>
              <a:rPr lang="zh-CN" altLang="en-US" sz="2400" smtClean="0">
                <a:solidFill>
                  <a:schemeClr val="bg1"/>
                </a:solidFill>
                <a:latin typeface="黑体" pitchFamily="49" charset="-122"/>
                <a:ea typeface="黑体" pitchFamily="49" charset="-122"/>
              </a:rPr>
              <a:t>全球跨国公司在华设立的研发机构，其中北京占</a:t>
            </a:r>
            <a:r>
              <a:rPr lang="en-US" altLang="zh-CN" sz="2400" smtClean="0">
                <a:solidFill>
                  <a:schemeClr val="bg1"/>
                </a:solidFill>
                <a:latin typeface="黑体" pitchFamily="49" charset="-122"/>
                <a:ea typeface="黑体" pitchFamily="49" charset="-122"/>
              </a:rPr>
              <a:t>42%</a:t>
            </a:r>
          </a:p>
          <a:p>
            <a:pPr lvl="1" eaLnBrk="1" hangingPunct="1">
              <a:lnSpc>
                <a:spcPts val="3700"/>
              </a:lnSpc>
              <a:spcBef>
                <a:spcPct val="0"/>
              </a:spcBef>
            </a:pPr>
            <a:r>
              <a:rPr lang="zh-CN" altLang="en-US" sz="2400" smtClean="0">
                <a:solidFill>
                  <a:schemeClr val="bg1"/>
                </a:solidFill>
                <a:latin typeface="黑体" pitchFamily="49" charset="-122"/>
                <a:ea typeface="黑体" pitchFamily="49" charset="-122"/>
              </a:rPr>
              <a:t>国内知名企业也快速进京，如华为、大唐、中兴等</a:t>
            </a:r>
          </a:p>
          <a:p>
            <a:pPr lvl="1" eaLnBrk="1" hangingPunct="1">
              <a:lnSpc>
                <a:spcPts val="3700"/>
              </a:lnSpc>
              <a:spcBef>
                <a:spcPct val="0"/>
              </a:spcBef>
            </a:pPr>
            <a:r>
              <a:rPr lang="zh-CN" altLang="en-US" sz="2400" smtClean="0">
                <a:solidFill>
                  <a:schemeClr val="bg1"/>
                </a:solidFill>
                <a:latin typeface="黑体" pitchFamily="49" charset="-122"/>
                <a:ea typeface="黑体" pitchFamily="49" charset="-122"/>
              </a:rPr>
              <a:t>目前北京服务业尤其是知识型服务业发展已在全国前列，第三产业比重</a:t>
            </a:r>
            <a:r>
              <a:rPr lang="en-US" altLang="zh-CN" sz="2400" smtClean="0">
                <a:solidFill>
                  <a:schemeClr val="bg1"/>
                </a:solidFill>
                <a:latin typeface="黑体" pitchFamily="49" charset="-122"/>
                <a:ea typeface="黑体" pitchFamily="49" charset="-122"/>
              </a:rPr>
              <a:t>2018</a:t>
            </a:r>
            <a:r>
              <a:rPr lang="zh-CN" altLang="en-US" sz="2400" smtClean="0">
                <a:solidFill>
                  <a:schemeClr val="bg1"/>
                </a:solidFill>
                <a:latin typeface="黑体" pitchFamily="49" charset="-122"/>
                <a:ea typeface="黑体" pitchFamily="49" charset="-122"/>
              </a:rPr>
              <a:t>年</a:t>
            </a:r>
            <a:r>
              <a:rPr lang="en-US" altLang="zh-CN" sz="2400" smtClean="0">
                <a:solidFill>
                  <a:schemeClr val="bg1"/>
                </a:solidFill>
                <a:latin typeface="黑体" pitchFamily="49" charset="-122"/>
                <a:ea typeface="黑体" pitchFamily="49" charset="-122"/>
              </a:rPr>
              <a:t>80.6%</a:t>
            </a:r>
            <a:r>
              <a:rPr lang="zh-CN" altLang="en-US" sz="2400" smtClean="0">
                <a:solidFill>
                  <a:schemeClr val="bg1"/>
                </a:solidFill>
                <a:latin typeface="黑体" pitchFamily="49" charset="-122"/>
                <a:ea typeface="黑体" pitchFamily="49" charset="-122"/>
              </a:rPr>
              <a:t>（第一、第二产业为</a:t>
            </a:r>
            <a:r>
              <a:rPr lang="en-US" altLang="zh-CN" sz="2400" smtClean="0">
                <a:solidFill>
                  <a:schemeClr val="bg1"/>
                </a:solidFill>
                <a:latin typeface="黑体" pitchFamily="49" charset="-122"/>
                <a:ea typeface="黑体" pitchFamily="49" charset="-122"/>
              </a:rPr>
              <a:t>0.4:19.0</a:t>
            </a:r>
            <a:r>
              <a:rPr lang="zh-CN" altLang="en-US" sz="2400" smtClean="0">
                <a:solidFill>
                  <a:schemeClr val="bg1"/>
                </a:solidFill>
                <a:latin typeface="黑体" pitchFamily="49" charset="-122"/>
                <a:ea typeface="黑体" pitchFamily="49" charset="-122"/>
              </a:rPr>
              <a:t>），现代服务业已为第三产业中第一大产业，形成朝阳</a:t>
            </a:r>
            <a:r>
              <a:rPr lang="en-US" altLang="zh-CN" sz="2400" smtClean="0">
                <a:solidFill>
                  <a:schemeClr val="bg1"/>
                </a:solidFill>
                <a:latin typeface="黑体" pitchFamily="49" charset="-122"/>
                <a:ea typeface="黑体" pitchFamily="49" charset="-122"/>
              </a:rPr>
              <a:t>CBD</a:t>
            </a:r>
            <a:r>
              <a:rPr lang="zh-CN" altLang="en-US" sz="2400" smtClean="0">
                <a:solidFill>
                  <a:schemeClr val="bg1"/>
                </a:solidFill>
                <a:latin typeface="黑体" pitchFamily="49" charset="-122"/>
                <a:ea typeface="黑体" pitchFamily="49" charset="-122"/>
              </a:rPr>
              <a:t>、中关村</a:t>
            </a:r>
            <a:r>
              <a:rPr lang="en-US" altLang="zh-CN" sz="2400" smtClean="0">
                <a:solidFill>
                  <a:schemeClr val="bg1"/>
                </a:solidFill>
                <a:latin typeface="黑体" pitchFamily="49" charset="-122"/>
                <a:ea typeface="黑体" pitchFamily="49" charset="-122"/>
              </a:rPr>
              <a:t>CBD</a:t>
            </a:r>
            <a:r>
              <a:rPr lang="zh-CN" altLang="en-US" sz="2400" smtClean="0">
                <a:solidFill>
                  <a:schemeClr val="bg1"/>
                </a:solidFill>
                <a:latin typeface="黑体" pitchFamily="49" charset="-122"/>
                <a:ea typeface="黑体" pitchFamily="49" charset="-122"/>
              </a:rPr>
              <a:t>、金融街等总部密集区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 calcmode="lin" valueType="num">
                                      <p:cBhvr additive="base">
                                        <p:cTn id="7"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1">
                                            <p:txEl>
                                              <p:pRg st="2" end="2"/>
                                            </p:txEl>
                                          </p:spTgt>
                                        </p:tgtEl>
                                        <p:attrNameLst>
                                          <p:attrName>style.visibility</p:attrName>
                                        </p:attrNameLst>
                                      </p:cBhvr>
                                      <p:to>
                                        <p:strVal val="visible"/>
                                      </p:to>
                                    </p:set>
                                    <p:anim calcmode="lin" valueType="num">
                                      <p:cBhvr additive="base">
                                        <p:cTn id="13"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 calcmode="lin" valueType="num">
                                      <p:cBhvr additive="base">
                                        <p:cTn id="19"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771">
                                            <p:txEl>
                                              <p:pRg st="4" end="4"/>
                                            </p:txEl>
                                          </p:spTgt>
                                        </p:tgtEl>
                                        <p:attrNameLst>
                                          <p:attrName>style.visibility</p:attrName>
                                        </p:attrNameLst>
                                      </p:cBhvr>
                                      <p:to>
                                        <p:strVal val="visible"/>
                                      </p:to>
                                    </p:set>
                                    <p:anim calcmode="lin" valueType="num">
                                      <p:cBhvr additive="base">
                                        <p:cTn id="25"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771">
                                            <p:txEl>
                                              <p:pRg st="5" end="5"/>
                                            </p:txEl>
                                          </p:spTgt>
                                        </p:tgtEl>
                                        <p:attrNameLst>
                                          <p:attrName>style.visibility</p:attrName>
                                        </p:attrNameLst>
                                      </p:cBhvr>
                                      <p:to>
                                        <p:strVal val="visible"/>
                                      </p:to>
                                    </p:set>
                                    <p:anim calcmode="lin" valueType="num">
                                      <p:cBhvr additive="base">
                                        <p:cTn id="31"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19" descr="等级分布图"/>
          <p:cNvPicPr>
            <a:picLocks noChangeAspect="1" noChangeArrowheads="1"/>
          </p:cNvPicPr>
          <p:nvPr/>
        </p:nvPicPr>
        <p:blipFill>
          <a:blip r:embed="rId2" cstate="print"/>
          <a:srcRect/>
          <a:stretch>
            <a:fillRect/>
          </a:stretch>
        </p:blipFill>
        <p:spPr bwMode="auto">
          <a:xfrm>
            <a:off x="1042988" y="0"/>
            <a:ext cx="6732587" cy="69453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8313" y="1052513"/>
            <a:ext cx="8229600" cy="715962"/>
          </a:xfrm>
        </p:spPr>
        <p:txBody>
          <a:bodyPr/>
          <a:lstStyle/>
          <a:p>
            <a:pPr algn="l" eaLnBrk="1" hangingPunct="1"/>
            <a:r>
              <a:rPr lang="zh-CN" altLang="en-US" sz="3600" smtClean="0">
                <a:solidFill>
                  <a:srgbClr val="FFFF00"/>
                </a:solidFill>
                <a:ea typeface="黑体" pitchFamily="49" charset="-122"/>
              </a:rPr>
              <a:t>二、公司研究与开发机构的区位特征</a:t>
            </a:r>
          </a:p>
        </p:txBody>
      </p:sp>
      <p:sp>
        <p:nvSpPr>
          <p:cNvPr id="5123" name="Rectangle 3"/>
          <p:cNvSpPr>
            <a:spLocks noGrp="1" noChangeArrowheads="1"/>
          </p:cNvSpPr>
          <p:nvPr>
            <p:ph type="body" idx="1"/>
          </p:nvPr>
        </p:nvSpPr>
        <p:spPr>
          <a:xfrm>
            <a:off x="1476375" y="2205038"/>
            <a:ext cx="7067550" cy="3455987"/>
          </a:xfrm>
        </p:spPr>
        <p:txBody>
          <a:bodyPr/>
          <a:lstStyle/>
          <a:p>
            <a:pPr eaLnBrk="1" hangingPunct="1">
              <a:lnSpc>
                <a:spcPct val="160000"/>
              </a:lnSpc>
              <a:buFontTx/>
              <a:buNone/>
            </a:pPr>
            <a:r>
              <a:rPr lang="zh-CN" altLang="en-US" smtClean="0">
                <a:solidFill>
                  <a:schemeClr val="bg1"/>
                </a:solidFill>
                <a:latin typeface="黑体" pitchFamily="49" charset="-122"/>
                <a:ea typeface="黑体" pitchFamily="49" charset="-122"/>
              </a:rPr>
              <a:t>（一）</a:t>
            </a:r>
            <a:r>
              <a:rPr lang="en-US" altLang="zh-CN" smtClean="0">
                <a:solidFill>
                  <a:schemeClr val="bg1"/>
                </a:solidFill>
                <a:latin typeface="黑体" pitchFamily="49" charset="-122"/>
                <a:ea typeface="黑体" pitchFamily="49" charset="-122"/>
              </a:rPr>
              <a:t>R&amp;D</a:t>
            </a:r>
            <a:r>
              <a:rPr lang="zh-CN" altLang="en-US" smtClean="0">
                <a:solidFill>
                  <a:schemeClr val="bg1"/>
                </a:solidFill>
                <a:latin typeface="黑体" pitchFamily="49" charset="-122"/>
                <a:ea typeface="黑体" pitchFamily="49" charset="-122"/>
              </a:rPr>
              <a:t>的过程特点</a:t>
            </a:r>
          </a:p>
          <a:p>
            <a:pPr eaLnBrk="1" hangingPunct="1">
              <a:lnSpc>
                <a:spcPct val="160000"/>
              </a:lnSpc>
              <a:buFontTx/>
              <a:buNone/>
            </a:pPr>
            <a:r>
              <a:rPr lang="zh-CN" altLang="en-US" smtClean="0">
                <a:solidFill>
                  <a:schemeClr val="bg1"/>
                </a:solidFill>
                <a:latin typeface="黑体" pitchFamily="49" charset="-122"/>
                <a:ea typeface="黑体" pitchFamily="49" charset="-122"/>
              </a:rPr>
              <a:t>（二）</a:t>
            </a:r>
            <a:r>
              <a:rPr lang="en-US" altLang="zh-CN" smtClean="0">
                <a:solidFill>
                  <a:schemeClr val="bg1"/>
                </a:solidFill>
                <a:latin typeface="黑体" pitchFamily="49" charset="-122"/>
                <a:ea typeface="黑体" pitchFamily="49" charset="-122"/>
              </a:rPr>
              <a:t>R&amp;D</a:t>
            </a:r>
            <a:r>
              <a:rPr lang="zh-CN" altLang="en-US" smtClean="0">
                <a:solidFill>
                  <a:schemeClr val="bg1"/>
                </a:solidFill>
                <a:latin typeface="黑体" pitchFamily="49" charset="-122"/>
                <a:ea typeface="黑体" pitchFamily="49" charset="-122"/>
              </a:rPr>
              <a:t>的区位要求</a:t>
            </a:r>
          </a:p>
          <a:p>
            <a:pPr eaLnBrk="1" hangingPunct="1">
              <a:lnSpc>
                <a:spcPct val="160000"/>
              </a:lnSpc>
              <a:buFontTx/>
              <a:buNone/>
            </a:pPr>
            <a:r>
              <a:rPr lang="zh-CN" altLang="en-US" smtClean="0">
                <a:solidFill>
                  <a:schemeClr val="bg1"/>
                </a:solidFill>
                <a:latin typeface="黑体" pitchFamily="49" charset="-122"/>
                <a:ea typeface="黑体" pitchFamily="49" charset="-122"/>
              </a:rPr>
              <a:t>（三）</a:t>
            </a:r>
            <a:r>
              <a:rPr lang="en-US" altLang="zh-CN" smtClean="0">
                <a:solidFill>
                  <a:schemeClr val="bg1"/>
                </a:solidFill>
                <a:latin typeface="黑体" pitchFamily="49" charset="-122"/>
                <a:ea typeface="黑体" pitchFamily="49" charset="-122"/>
              </a:rPr>
              <a:t>R&amp;D</a:t>
            </a:r>
            <a:r>
              <a:rPr lang="zh-CN" altLang="en-US" smtClean="0">
                <a:solidFill>
                  <a:schemeClr val="bg1"/>
                </a:solidFill>
                <a:latin typeface="黑体" pitchFamily="49" charset="-122"/>
                <a:ea typeface="黑体" pitchFamily="49" charset="-122"/>
              </a:rPr>
              <a:t>区位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288" y="1125538"/>
            <a:ext cx="8507412" cy="5072062"/>
          </a:xfrm>
        </p:spPr>
        <p:txBody>
          <a:bodyPr/>
          <a:lstStyle/>
          <a:p>
            <a:pPr>
              <a:lnSpc>
                <a:spcPct val="150000"/>
              </a:lnSpc>
            </a:pPr>
            <a:r>
              <a:rPr lang="zh-CN" altLang="en-US" sz="2800" smtClean="0">
                <a:solidFill>
                  <a:schemeClr val="bg1"/>
                </a:solidFill>
                <a:latin typeface="黑体" pitchFamily="49" charset="-122"/>
                <a:ea typeface="黑体" pitchFamily="49" charset="-122"/>
              </a:rPr>
              <a:t>研发活动主要有三种类型</a:t>
            </a:r>
            <a:endParaRPr lang="en-US" altLang="zh-CN" sz="2800" smtClean="0">
              <a:solidFill>
                <a:schemeClr val="bg1"/>
              </a:solidFill>
              <a:latin typeface="黑体" pitchFamily="49" charset="-122"/>
              <a:ea typeface="黑体" pitchFamily="49" charset="-122"/>
            </a:endParaRPr>
          </a:p>
          <a:p>
            <a:pPr lvl="1">
              <a:lnSpc>
                <a:spcPct val="150000"/>
              </a:lnSpc>
            </a:pPr>
            <a:r>
              <a:rPr lang="zh-CN" altLang="en-US" sz="2400" smtClean="0">
                <a:solidFill>
                  <a:schemeClr val="bg1"/>
                </a:solidFill>
                <a:latin typeface="黑体" pitchFamily="49" charset="-122"/>
                <a:ea typeface="黑体" pitchFamily="49" charset="-122"/>
              </a:rPr>
              <a:t>国际一体化实验室：创新产品和服务的“大脑”</a:t>
            </a:r>
            <a:endParaRPr lang="en-US" altLang="zh-CN" sz="2400" smtClean="0">
              <a:solidFill>
                <a:schemeClr val="bg1"/>
              </a:solidFill>
              <a:latin typeface="黑体" pitchFamily="49" charset="-122"/>
              <a:ea typeface="黑体" pitchFamily="49" charset="-122"/>
            </a:endParaRPr>
          </a:p>
          <a:p>
            <a:pPr lvl="1">
              <a:lnSpc>
                <a:spcPct val="150000"/>
              </a:lnSpc>
            </a:pPr>
            <a:r>
              <a:rPr lang="zh-CN" altLang="en-US" sz="2400" smtClean="0">
                <a:solidFill>
                  <a:schemeClr val="bg1"/>
                </a:solidFill>
                <a:latin typeface="黑体" pitchFamily="49" charset="-122"/>
                <a:ea typeface="黑体" pitchFamily="49" charset="-122"/>
              </a:rPr>
              <a:t>本地一体化实验室：应用国际一体化实验室开发的基础技术和知识，研发适应东道国市场的创新产品。是以本地市场和管制要求为导向</a:t>
            </a:r>
            <a:endParaRPr lang="en-US" altLang="zh-CN" sz="2400" smtClean="0">
              <a:solidFill>
                <a:schemeClr val="bg1"/>
              </a:solidFill>
              <a:latin typeface="黑体" pitchFamily="49" charset="-122"/>
              <a:ea typeface="黑体" pitchFamily="49" charset="-122"/>
            </a:endParaRPr>
          </a:p>
          <a:p>
            <a:pPr lvl="1">
              <a:lnSpc>
                <a:spcPct val="150000"/>
              </a:lnSpc>
            </a:pPr>
            <a:r>
              <a:rPr lang="zh-CN" altLang="en-US" sz="2400" smtClean="0">
                <a:solidFill>
                  <a:schemeClr val="bg1"/>
                </a:solidFill>
                <a:latin typeface="黑体" pitchFamily="49" charset="-122"/>
                <a:ea typeface="黑体" pitchFamily="49" charset="-122"/>
              </a:rPr>
              <a:t>支持性实验室：最低层级的研发机构，主要将母公司的技术；应用到本地市场并提供技术支持。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a:stretch>
            <a:fillRect/>
          </a:stretch>
        </p:blipFill>
        <p:spPr bwMode="auto">
          <a:xfrm>
            <a:off x="287338" y="642938"/>
            <a:ext cx="8786812" cy="5715000"/>
          </a:xfrm>
          <a:prstGeom prst="rect">
            <a:avLst/>
          </a:prstGeom>
          <a:noFill/>
          <a:ln w="9525">
            <a:noFill/>
            <a:miter lim="800000"/>
            <a:headEnd/>
            <a:tailEnd/>
          </a:ln>
        </p:spPr>
      </p:pic>
      <p:sp>
        <p:nvSpPr>
          <p:cNvPr id="5" name="上箭头 4">
            <a:hlinkClick r:id="rId3" action="ppaction://hlinksldjump"/>
          </p:cNvPr>
          <p:cNvSpPr/>
          <p:nvPr/>
        </p:nvSpPr>
        <p:spPr>
          <a:xfrm>
            <a:off x="8286750" y="6215063"/>
            <a:ext cx="142875" cy="1428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274638"/>
            <a:ext cx="8229600" cy="706437"/>
          </a:xfrm>
        </p:spPr>
        <p:txBody>
          <a:bodyPr/>
          <a:lstStyle/>
          <a:p>
            <a:pPr eaLnBrk="1" hangingPunct="1"/>
            <a:r>
              <a:rPr lang="zh-CN" altLang="en-US" sz="2800" smtClean="0">
                <a:solidFill>
                  <a:srgbClr val="FFFF00"/>
                </a:solidFill>
                <a:ea typeface="黑体" pitchFamily="49" charset="-122"/>
              </a:rPr>
              <a:t>摩托罗拉全面进入中国：从制造基地到地区总部</a:t>
            </a:r>
          </a:p>
        </p:txBody>
      </p:sp>
      <p:sp>
        <p:nvSpPr>
          <p:cNvPr id="28675" name="Rectangle 3"/>
          <p:cNvSpPr>
            <a:spLocks noGrp="1" noChangeArrowheads="1"/>
          </p:cNvSpPr>
          <p:nvPr>
            <p:ph type="body" idx="1"/>
          </p:nvPr>
        </p:nvSpPr>
        <p:spPr>
          <a:xfrm>
            <a:off x="457200" y="1125538"/>
            <a:ext cx="8229600" cy="5472112"/>
          </a:xfrm>
        </p:spPr>
        <p:txBody>
          <a:bodyPr/>
          <a:lstStyle/>
          <a:p>
            <a:pPr eaLnBrk="1" hangingPunct="1">
              <a:lnSpc>
                <a:spcPct val="110000"/>
              </a:lnSpc>
            </a:pPr>
            <a:r>
              <a:rPr lang="zh-CN" altLang="en-US" sz="2000" smtClean="0">
                <a:solidFill>
                  <a:srgbClr val="FFFF00"/>
                </a:solidFill>
                <a:latin typeface="黑体" pitchFamily="49" charset="-122"/>
                <a:ea typeface="黑体" pitchFamily="49" charset="-122"/>
              </a:rPr>
              <a:t>摩托罗拉公司：</a:t>
            </a:r>
            <a:r>
              <a:rPr lang="zh-CN" altLang="en-US" sz="2000" smtClean="0">
                <a:solidFill>
                  <a:schemeClr val="bg1"/>
                </a:solidFill>
                <a:latin typeface="黑体" pitchFamily="49" charset="-122"/>
                <a:ea typeface="黑体" pitchFamily="49" charset="-122"/>
              </a:rPr>
              <a:t>是总部设在美国的无线通信产品、半导体器件、先进的电子设备生产及服务厂家，主要产品有移动电话通信设备、汽车电子部件、国防和航空电子器件以及计算机等，同时它也是移动电话、寻呼机、双向无线电和商用</a:t>
            </a:r>
            <a:r>
              <a:rPr lang="en-US" altLang="zh-CN" sz="2000" smtClean="0">
                <a:solidFill>
                  <a:schemeClr val="bg1"/>
                </a:solidFill>
                <a:latin typeface="黑体" pitchFamily="49" charset="-122"/>
                <a:ea typeface="黑体" pitchFamily="49" charset="-122"/>
              </a:rPr>
              <a:t>CDMA</a:t>
            </a:r>
            <a:r>
              <a:rPr lang="zh-CN" altLang="en-US" sz="2000" smtClean="0">
                <a:solidFill>
                  <a:schemeClr val="bg1"/>
                </a:solidFill>
                <a:latin typeface="黑体" pitchFamily="49" charset="-122"/>
                <a:ea typeface="黑体" pitchFamily="49" charset="-122"/>
              </a:rPr>
              <a:t>（码分多址）技术的开路先锋，其业务范围遍及全球</a:t>
            </a:r>
          </a:p>
          <a:p>
            <a:pPr lvl="1" eaLnBrk="1" hangingPunct="1">
              <a:lnSpc>
                <a:spcPct val="110000"/>
              </a:lnSpc>
            </a:pPr>
            <a:r>
              <a:rPr lang="en-US" altLang="zh-CN" sz="1800" smtClean="0">
                <a:solidFill>
                  <a:schemeClr val="bg1"/>
                </a:solidFill>
                <a:latin typeface="黑体" pitchFamily="49" charset="-122"/>
                <a:ea typeface="黑体" pitchFamily="49" charset="-122"/>
              </a:rPr>
              <a:t>1987</a:t>
            </a:r>
            <a:r>
              <a:rPr lang="zh-CN" altLang="en-US" sz="1800" smtClean="0">
                <a:solidFill>
                  <a:schemeClr val="bg1"/>
                </a:solidFill>
                <a:latin typeface="黑体" pitchFamily="49" charset="-122"/>
                <a:ea typeface="黑体" pitchFamily="49" charset="-122"/>
              </a:rPr>
              <a:t>年，摩托罗拉在北京建立办事处；</a:t>
            </a:r>
          </a:p>
          <a:p>
            <a:pPr lvl="1" eaLnBrk="1" hangingPunct="1">
              <a:lnSpc>
                <a:spcPct val="110000"/>
              </a:lnSpc>
            </a:pPr>
            <a:r>
              <a:rPr lang="en-US" altLang="zh-CN" sz="1800" smtClean="0">
                <a:solidFill>
                  <a:schemeClr val="bg1"/>
                </a:solidFill>
                <a:latin typeface="黑体" pitchFamily="49" charset="-122"/>
                <a:ea typeface="黑体" pitchFamily="49" charset="-122"/>
              </a:rPr>
              <a:t>1988</a:t>
            </a:r>
            <a:r>
              <a:rPr lang="zh-CN" altLang="en-US" sz="1800" smtClean="0">
                <a:solidFill>
                  <a:schemeClr val="bg1"/>
                </a:solidFill>
                <a:latin typeface="黑体" pitchFamily="49" charset="-122"/>
                <a:ea typeface="黑体" pitchFamily="49" charset="-122"/>
              </a:rPr>
              <a:t>年，天津摩托罗拉电子试验有限公司建立；</a:t>
            </a:r>
          </a:p>
          <a:p>
            <a:pPr lvl="1" eaLnBrk="1" hangingPunct="1">
              <a:lnSpc>
                <a:spcPct val="110000"/>
              </a:lnSpc>
            </a:pPr>
            <a:r>
              <a:rPr lang="en-US" altLang="zh-CN" sz="1800" smtClean="0">
                <a:solidFill>
                  <a:schemeClr val="bg1"/>
                </a:solidFill>
                <a:latin typeface="黑体" pitchFamily="49" charset="-122"/>
                <a:ea typeface="黑体" pitchFamily="49" charset="-122"/>
              </a:rPr>
              <a:t>1992</a:t>
            </a:r>
            <a:r>
              <a:rPr lang="zh-CN" altLang="en-US" sz="1800" smtClean="0">
                <a:solidFill>
                  <a:schemeClr val="bg1"/>
                </a:solidFill>
                <a:latin typeface="黑体" pitchFamily="49" charset="-122"/>
                <a:ea typeface="黑体" pitchFamily="49" charset="-122"/>
              </a:rPr>
              <a:t>年摩托罗拉（中国）电子有限公司在天津注册成立；</a:t>
            </a:r>
            <a:r>
              <a:rPr lang="zh-CN" altLang="en-US" sz="1600" smtClean="0">
                <a:solidFill>
                  <a:schemeClr val="accent1"/>
                </a:solidFill>
                <a:latin typeface="黑体" pitchFamily="49" charset="-122"/>
                <a:ea typeface="黑体" pitchFamily="49" charset="-122"/>
              </a:rPr>
              <a:t>投产仅</a:t>
            </a:r>
            <a:r>
              <a:rPr lang="en-US" altLang="zh-CN" sz="1600" smtClean="0">
                <a:solidFill>
                  <a:schemeClr val="accent1"/>
                </a:solidFill>
                <a:latin typeface="黑体" pitchFamily="49" charset="-122"/>
                <a:ea typeface="黑体" pitchFamily="49" charset="-122"/>
              </a:rPr>
              <a:t>3</a:t>
            </a:r>
            <a:r>
              <a:rPr lang="zh-CN" altLang="en-US" sz="1600" smtClean="0">
                <a:solidFill>
                  <a:schemeClr val="accent1"/>
                </a:solidFill>
                <a:latin typeface="黑体" pitchFamily="49" charset="-122"/>
                <a:ea typeface="黑体" pitchFamily="49" charset="-122"/>
              </a:rPr>
              <a:t>个月创造产值</a:t>
            </a:r>
            <a:r>
              <a:rPr lang="en-US" altLang="zh-CN" sz="1600" smtClean="0">
                <a:solidFill>
                  <a:schemeClr val="accent1"/>
                </a:solidFill>
                <a:latin typeface="黑体" pitchFamily="49" charset="-122"/>
                <a:ea typeface="黑体" pitchFamily="49" charset="-122"/>
              </a:rPr>
              <a:t>500</a:t>
            </a:r>
            <a:r>
              <a:rPr lang="zh-CN" altLang="en-US" sz="1600" smtClean="0">
                <a:solidFill>
                  <a:schemeClr val="accent1"/>
                </a:solidFill>
                <a:latin typeface="黑体" pitchFamily="49" charset="-122"/>
                <a:ea typeface="黑体" pitchFamily="49" charset="-122"/>
              </a:rPr>
              <a:t>万元；</a:t>
            </a:r>
            <a:r>
              <a:rPr lang="en-US" altLang="zh-CN" sz="1600" smtClean="0">
                <a:solidFill>
                  <a:schemeClr val="accent1"/>
                </a:solidFill>
                <a:latin typeface="黑体" pitchFamily="49" charset="-122"/>
                <a:ea typeface="黑体" pitchFamily="49" charset="-122"/>
              </a:rPr>
              <a:t>1996</a:t>
            </a:r>
            <a:r>
              <a:rPr lang="zh-CN" altLang="en-US" sz="1600" smtClean="0">
                <a:solidFill>
                  <a:schemeClr val="accent1"/>
                </a:solidFill>
                <a:latin typeface="黑体" pitchFamily="49" charset="-122"/>
                <a:ea typeface="黑体" pitchFamily="49" charset="-122"/>
              </a:rPr>
              <a:t>年工业产值</a:t>
            </a:r>
            <a:r>
              <a:rPr lang="en-US" altLang="zh-CN" sz="1600" smtClean="0">
                <a:solidFill>
                  <a:schemeClr val="accent1"/>
                </a:solidFill>
                <a:latin typeface="黑体" pitchFamily="49" charset="-122"/>
                <a:ea typeface="黑体" pitchFamily="49" charset="-122"/>
              </a:rPr>
              <a:t>160</a:t>
            </a:r>
            <a:r>
              <a:rPr lang="zh-CN" altLang="en-US" sz="1600" smtClean="0">
                <a:solidFill>
                  <a:schemeClr val="accent1"/>
                </a:solidFill>
                <a:latin typeface="黑体" pitchFamily="49" charset="-122"/>
                <a:ea typeface="黑体" pitchFamily="49" charset="-122"/>
              </a:rPr>
              <a:t>亿元</a:t>
            </a:r>
            <a:r>
              <a:rPr lang="en-US" altLang="zh-CN" sz="1600" smtClean="0">
                <a:solidFill>
                  <a:schemeClr val="accent1"/>
                </a:solidFill>
                <a:latin typeface="黑体" pitchFamily="49" charset="-122"/>
                <a:ea typeface="黑体" pitchFamily="49" charset="-122"/>
              </a:rPr>
              <a:t>,</a:t>
            </a:r>
            <a:r>
              <a:rPr lang="zh-CN" altLang="en-US" sz="1600" smtClean="0">
                <a:solidFill>
                  <a:schemeClr val="accent1"/>
                </a:solidFill>
                <a:latin typeface="黑体" pitchFamily="49" charset="-122"/>
                <a:ea typeface="黑体" pitchFamily="49" charset="-122"/>
              </a:rPr>
              <a:t>利润</a:t>
            </a:r>
            <a:r>
              <a:rPr lang="en-US" altLang="zh-CN" sz="1600" smtClean="0">
                <a:solidFill>
                  <a:schemeClr val="accent1"/>
                </a:solidFill>
                <a:latin typeface="黑体" pitchFamily="49" charset="-122"/>
                <a:ea typeface="黑体" pitchFamily="49" charset="-122"/>
              </a:rPr>
              <a:t>28.6</a:t>
            </a:r>
            <a:r>
              <a:rPr lang="zh-CN" altLang="en-US" sz="1600" smtClean="0">
                <a:solidFill>
                  <a:schemeClr val="accent1"/>
                </a:solidFill>
                <a:latin typeface="黑体" pitchFamily="49" charset="-122"/>
                <a:ea typeface="黑体" pitchFamily="49" charset="-122"/>
              </a:rPr>
              <a:t>亿元。</a:t>
            </a:r>
          </a:p>
          <a:p>
            <a:pPr lvl="1" eaLnBrk="1" hangingPunct="1">
              <a:lnSpc>
                <a:spcPct val="110000"/>
              </a:lnSpc>
            </a:pPr>
            <a:r>
              <a:rPr lang="en-US" altLang="zh-CN" sz="1800" smtClean="0">
                <a:solidFill>
                  <a:schemeClr val="bg1"/>
                </a:solidFill>
                <a:latin typeface="黑体" pitchFamily="49" charset="-122"/>
                <a:ea typeface="黑体" pitchFamily="49" charset="-122"/>
              </a:rPr>
              <a:t>1999</a:t>
            </a:r>
            <a:r>
              <a:rPr lang="zh-CN" altLang="en-US" sz="1800" smtClean="0">
                <a:solidFill>
                  <a:schemeClr val="bg1"/>
                </a:solidFill>
                <a:latin typeface="黑体" pitchFamily="49" charset="-122"/>
                <a:ea typeface="黑体" pitchFamily="49" charset="-122"/>
              </a:rPr>
              <a:t>年摩托罗拉中国研究院在北京成立；</a:t>
            </a:r>
          </a:p>
          <a:p>
            <a:pPr lvl="1" eaLnBrk="1" hangingPunct="1">
              <a:lnSpc>
                <a:spcPct val="110000"/>
              </a:lnSpc>
            </a:pPr>
            <a:r>
              <a:rPr lang="en-US" altLang="zh-CN" sz="1800" smtClean="0">
                <a:solidFill>
                  <a:schemeClr val="bg1"/>
                </a:solidFill>
                <a:latin typeface="黑体" pitchFamily="49" charset="-122"/>
                <a:ea typeface="黑体" pitchFamily="49" charset="-122"/>
              </a:rPr>
              <a:t>2000</a:t>
            </a:r>
            <a:r>
              <a:rPr lang="zh-CN" altLang="en-US" sz="1800" smtClean="0">
                <a:solidFill>
                  <a:schemeClr val="bg1"/>
                </a:solidFill>
                <a:latin typeface="黑体" pitchFamily="49" charset="-122"/>
                <a:ea typeface="黑体" pitchFamily="49" charset="-122"/>
              </a:rPr>
              <a:t>年摩托罗拉中国研究中心在上海创立，成为总部下属的摩托罗拉实验室在中国的派出机构，也是全球第五个海外研究中心；</a:t>
            </a:r>
          </a:p>
          <a:p>
            <a:pPr lvl="1" eaLnBrk="1" hangingPunct="1">
              <a:lnSpc>
                <a:spcPct val="110000"/>
              </a:lnSpc>
            </a:pPr>
            <a:r>
              <a:rPr lang="en-US" altLang="zh-CN" sz="1800" smtClean="0">
                <a:solidFill>
                  <a:schemeClr val="bg1"/>
                </a:solidFill>
                <a:latin typeface="黑体" pitchFamily="49" charset="-122"/>
                <a:ea typeface="黑体" pitchFamily="49" charset="-122"/>
              </a:rPr>
              <a:t>2003</a:t>
            </a:r>
            <a:r>
              <a:rPr lang="zh-CN" altLang="en-US" sz="1800" smtClean="0">
                <a:solidFill>
                  <a:schemeClr val="bg1"/>
                </a:solidFill>
                <a:latin typeface="黑体" pitchFamily="49" charset="-122"/>
                <a:ea typeface="黑体" pitchFamily="49" charset="-122"/>
              </a:rPr>
              <a:t>年</a:t>
            </a:r>
            <a:r>
              <a:rPr lang="en-US" altLang="zh-CN" sz="1800" smtClean="0">
                <a:solidFill>
                  <a:schemeClr val="bg1"/>
                </a:solidFill>
                <a:latin typeface="黑体" pitchFamily="49" charset="-122"/>
                <a:ea typeface="黑体" pitchFamily="49" charset="-122"/>
              </a:rPr>
              <a:t>6</a:t>
            </a:r>
            <a:r>
              <a:rPr lang="zh-CN" altLang="en-US" sz="1800" smtClean="0">
                <a:solidFill>
                  <a:schemeClr val="bg1"/>
                </a:solidFill>
                <a:latin typeface="黑体" pitchFamily="49" charset="-122"/>
                <a:ea typeface="黑体" pitchFamily="49" charset="-122"/>
              </a:rPr>
              <a:t>月摩托罗拉北亚地区总部在北京成立，负责中国、日本、韩国等地区的业务，与欧洲、北美等区域总部平级。</a:t>
            </a:r>
          </a:p>
          <a:p>
            <a:pPr lvl="1" eaLnBrk="1" hangingPunct="1">
              <a:lnSpc>
                <a:spcPct val="110000"/>
              </a:lnSpc>
            </a:pPr>
            <a:r>
              <a:rPr lang="en-US" altLang="zh-CN" sz="1800" smtClean="0">
                <a:solidFill>
                  <a:schemeClr val="bg1"/>
                </a:solidFill>
                <a:latin typeface="黑体" pitchFamily="49" charset="-122"/>
                <a:ea typeface="黑体" pitchFamily="49" charset="-122"/>
              </a:rPr>
              <a:t>2004</a:t>
            </a:r>
            <a:r>
              <a:rPr lang="zh-CN" altLang="en-US" sz="1800" smtClean="0">
                <a:solidFill>
                  <a:schemeClr val="bg1"/>
                </a:solidFill>
                <a:latin typeface="黑体" pitchFamily="49" charset="-122"/>
                <a:ea typeface="黑体" pitchFamily="49" charset="-122"/>
              </a:rPr>
              <a:t>年，摩托罗拉在中国内地有</a:t>
            </a:r>
            <a:r>
              <a:rPr lang="en-US" altLang="zh-CN" sz="1800" smtClean="0">
                <a:solidFill>
                  <a:schemeClr val="bg1"/>
                </a:solidFill>
                <a:latin typeface="黑体" pitchFamily="49" charset="-122"/>
                <a:ea typeface="黑体" pitchFamily="49" charset="-122"/>
              </a:rPr>
              <a:t>1</a:t>
            </a:r>
            <a:r>
              <a:rPr lang="zh-CN" altLang="en-US" sz="1800" smtClean="0">
                <a:solidFill>
                  <a:schemeClr val="bg1"/>
                </a:solidFill>
                <a:latin typeface="黑体" pitchFamily="49" charset="-122"/>
                <a:ea typeface="黑体" pitchFamily="49" charset="-122"/>
              </a:rPr>
              <a:t>家独资企业，</a:t>
            </a:r>
            <a:r>
              <a:rPr lang="en-US" altLang="zh-CN" sz="1800" smtClean="0">
                <a:solidFill>
                  <a:schemeClr val="bg1"/>
                </a:solidFill>
                <a:latin typeface="黑体" pitchFamily="49" charset="-122"/>
                <a:ea typeface="黑体" pitchFamily="49" charset="-122"/>
              </a:rPr>
              <a:t>1</a:t>
            </a:r>
            <a:r>
              <a:rPr lang="zh-CN" altLang="en-US" sz="1800" smtClean="0">
                <a:solidFill>
                  <a:schemeClr val="bg1"/>
                </a:solidFill>
                <a:latin typeface="黑体" pitchFamily="49" charset="-122"/>
                <a:ea typeface="黑体" pitchFamily="49" charset="-122"/>
              </a:rPr>
              <a:t>家控股公司、</a:t>
            </a:r>
            <a:r>
              <a:rPr lang="en-US" altLang="zh-CN" sz="1800" smtClean="0">
                <a:solidFill>
                  <a:schemeClr val="bg1"/>
                </a:solidFill>
                <a:latin typeface="黑体" pitchFamily="49" charset="-122"/>
                <a:ea typeface="黑体" pitchFamily="49" charset="-122"/>
              </a:rPr>
              <a:t>9</a:t>
            </a:r>
            <a:r>
              <a:rPr lang="zh-CN" altLang="en-US" sz="1800" smtClean="0">
                <a:solidFill>
                  <a:schemeClr val="bg1"/>
                </a:solidFill>
                <a:latin typeface="黑体" pitchFamily="49" charset="-122"/>
                <a:ea typeface="黑体" pitchFamily="49" charset="-122"/>
              </a:rPr>
              <a:t>家合资企业和</a:t>
            </a:r>
            <a:r>
              <a:rPr lang="en-US" altLang="zh-CN" sz="1800" smtClean="0">
                <a:solidFill>
                  <a:schemeClr val="bg1"/>
                </a:solidFill>
                <a:latin typeface="黑体" pitchFamily="49" charset="-122"/>
                <a:ea typeface="黑体" pitchFamily="49" charset="-122"/>
              </a:rPr>
              <a:t>24</a:t>
            </a:r>
            <a:r>
              <a:rPr lang="zh-CN" altLang="en-US" sz="1800" smtClean="0">
                <a:solidFill>
                  <a:schemeClr val="bg1"/>
                </a:solidFill>
                <a:latin typeface="黑体" pitchFamily="49" charset="-122"/>
                <a:ea typeface="黑体" pitchFamily="49" charset="-122"/>
              </a:rPr>
              <a:t>家分公司，员工</a:t>
            </a:r>
            <a:r>
              <a:rPr lang="en-US" altLang="zh-CN" sz="1800" smtClean="0">
                <a:solidFill>
                  <a:schemeClr val="bg1"/>
                </a:solidFill>
                <a:latin typeface="黑体" pitchFamily="49" charset="-122"/>
                <a:ea typeface="黑体" pitchFamily="49" charset="-122"/>
              </a:rPr>
              <a:t>12000</a:t>
            </a:r>
            <a:r>
              <a:rPr lang="zh-CN" altLang="en-US" sz="1800" smtClean="0">
                <a:solidFill>
                  <a:schemeClr val="bg1"/>
                </a:solidFill>
                <a:latin typeface="黑体" pitchFamily="49" charset="-122"/>
                <a:ea typeface="黑体" pitchFamily="49" charset="-122"/>
              </a:rPr>
              <a:t>多人；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8675">
                                            <p:txEl>
                                              <p:pRg st="4" end="4"/>
                                            </p:txEl>
                                          </p:spTgt>
                                        </p:tgtEl>
                                        <p:attrNameLst>
                                          <p:attrName>style.visibility</p:attrName>
                                        </p:attrNameLst>
                                      </p:cBhvr>
                                      <p:to>
                                        <p:strVal val="visible"/>
                                      </p:to>
                                    </p:set>
                                    <p:anim calcmode="lin" valueType="num">
                                      <p:cBhvr additive="base">
                                        <p:cTn id="31"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 calcmode="lin" valueType="num">
                                      <p:cBhvr additive="base">
                                        <p:cTn id="37"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675">
                                            <p:txEl>
                                              <p:pRg st="6" end="6"/>
                                            </p:txEl>
                                          </p:spTgt>
                                        </p:tgtEl>
                                        <p:attrNameLst>
                                          <p:attrName>style.visibility</p:attrName>
                                        </p:attrNameLst>
                                      </p:cBhvr>
                                      <p:to>
                                        <p:strVal val="visible"/>
                                      </p:to>
                                    </p:set>
                                    <p:anim calcmode="lin" valueType="num">
                                      <p:cBhvr additive="base">
                                        <p:cTn id="43" dur="5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67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8675">
                                            <p:txEl>
                                              <p:pRg st="7" end="7"/>
                                            </p:txEl>
                                          </p:spTgt>
                                        </p:tgtEl>
                                        <p:attrNameLst>
                                          <p:attrName>style.visibility</p:attrName>
                                        </p:attrNameLst>
                                      </p:cBhvr>
                                      <p:to>
                                        <p:strVal val="visible"/>
                                      </p:to>
                                    </p:set>
                                    <p:anim calcmode="lin" valueType="num">
                                      <p:cBhvr additive="base">
                                        <p:cTn id="49" dur="500" fill="hold"/>
                                        <p:tgtEl>
                                          <p:spTgt spid="2867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867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468313" y="1916113"/>
            <a:ext cx="8229600" cy="4525962"/>
          </a:xfrm>
        </p:spPr>
        <p:txBody>
          <a:bodyPr/>
          <a:lstStyle/>
          <a:p>
            <a:pPr eaLnBrk="1" hangingPunct="1">
              <a:lnSpc>
                <a:spcPct val="140000"/>
              </a:lnSpc>
            </a:pPr>
            <a:r>
              <a:rPr lang="zh-CN" altLang="en-US" sz="2800" smtClean="0">
                <a:solidFill>
                  <a:schemeClr val="bg1"/>
                </a:solidFill>
                <a:latin typeface="黑体" pitchFamily="49" charset="-122"/>
                <a:ea typeface="黑体" pitchFamily="49" charset="-122"/>
              </a:rPr>
              <a:t>短短</a:t>
            </a:r>
            <a:r>
              <a:rPr lang="en-US" altLang="zh-CN" sz="2800" smtClean="0">
                <a:solidFill>
                  <a:schemeClr val="bg1"/>
                </a:solidFill>
                <a:latin typeface="黑体" pitchFamily="49" charset="-122"/>
                <a:ea typeface="黑体" pitchFamily="49" charset="-122"/>
              </a:rPr>
              <a:t>10</a:t>
            </a:r>
            <a:r>
              <a:rPr lang="zh-CN" altLang="en-US" sz="2800" smtClean="0">
                <a:solidFill>
                  <a:schemeClr val="bg1"/>
                </a:solidFill>
                <a:latin typeface="黑体" pitchFamily="49" charset="-122"/>
                <a:ea typeface="黑体" pitchFamily="49" charset="-122"/>
              </a:rPr>
              <a:t>余年</a:t>
            </a:r>
            <a:r>
              <a:rPr lang="en-US" altLang="zh-CN" sz="2800" smtClean="0">
                <a:solidFill>
                  <a:schemeClr val="bg1"/>
                </a:solidFill>
                <a:latin typeface="黑体" pitchFamily="49" charset="-122"/>
                <a:ea typeface="黑体" pitchFamily="49" charset="-122"/>
              </a:rPr>
              <a:t>,</a:t>
            </a:r>
            <a:r>
              <a:rPr lang="zh-CN" altLang="en-US" sz="2800" smtClean="0">
                <a:solidFill>
                  <a:schemeClr val="bg1"/>
                </a:solidFill>
                <a:latin typeface="黑体" pitchFamily="49" charset="-122"/>
                <a:ea typeface="黑体" pitchFamily="49" charset="-122"/>
              </a:rPr>
              <a:t>摩托罗拉产业链及其服务体系在中国市场的逐步完善过程：</a:t>
            </a:r>
          </a:p>
          <a:p>
            <a:pPr eaLnBrk="1" hangingPunct="1">
              <a:lnSpc>
                <a:spcPct val="140000"/>
              </a:lnSpc>
              <a:buFontTx/>
              <a:buNone/>
            </a:pPr>
            <a:r>
              <a:rPr lang="zh-CN" altLang="en-US" sz="2800" smtClean="0">
                <a:solidFill>
                  <a:schemeClr val="bg1"/>
                </a:solidFill>
                <a:latin typeface="黑体" pitchFamily="49" charset="-122"/>
                <a:ea typeface="黑体" pitchFamily="49" charset="-122"/>
              </a:rPr>
              <a:t>    </a:t>
            </a:r>
          </a:p>
          <a:p>
            <a:pPr eaLnBrk="1" hangingPunct="1">
              <a:lnSpc>
                <a:spcPct val="140000"/>
              </a:lnSpc>
              <a:buFontTx/>
              <a:buNone/>
            </a:pPr>
            <a:r>
              <a:rPr lang="zh-CN" altLang="en-US" sz="2800" smtClean="0">
                <a:solidFill>
                  <a:schemeClr val="bg1"/>
                </a:solidFill>
                <a:latin typeface="黑体" pitchFamily="49" charset="-122"/>
                <a:ea typeface="黑体" pitchFamily="49" charset="-122"/>
              </a:rPr>
              <a:t>   建立办事机构→制造基地→研发中心→地区总部的产业扩张和升级</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229600" cy="706437"/>
          </a:xfrm>
        </p:spPr>
        <p:txBody>
          <a:bodyPr/>
          <a:lstStyle/>
          <a:p>
            <a:pPr eaLnBrk="1" hangingPunct="1"/>
            <a:r>
              <a:rPr lang="zh-CN" altLang="en-US" sz="3200" smtClean="0">
                <a:solidFill>
                  <a:srgbClr val="FFFF00"/>
                </a:solidFill>
                <a:ea typeface="黑体" pitchFamily="49" charset="-122"/>
              </a:rPr>
              <a:t>最本土化的跨国公司：可口可乐</a:t>
            </a:r>
          </a:p>
        </p:txBody>
      </p:sp>
      <p:sp>
        <p:nvSpPr>
          <p:cNvPr id="30723" name="Rectangle 3"/>
          <p:cNvSpPr>
            <a:spLocks noGrp="1" noChangeArrowheads="1"/>
          </p:cNvSpPr>
          <p:nvPr>
            <p:ph type="body" idx="1"/>
          </p:nvPr>
        </p:nvSpPr>
        <p:spPr>
          <a:xfrm>
            <a:off x="468313" y="1052513"/>
            <a:ext cx="8229600" cy="5256212"/>
          </a:xfrm>
        </p:spPr>
        <p:txBody>
          <a:bodyPr/>
          <a:lstStyle/>
          <a:p>
            <a:pPr eaLnBrk="1" hangingPunct="1">
              <a:lnSpc>
                <a:spcPct val="155000"/>
              </a:lnSpc>
            </a:pPr>
            <a:r>
              <a:rPr lang="en-US" altLang="zh-CN" sz="2000" smtClean="0">
                <a:solidFill>
                  <a:schemeClr val="bg1"/>
                </a:solidFill>
                <a:latin typeface="黑体" pitchFamily="49" charset="-122"/>
                <a:ea typeface="黑体" pitchFamily="49" charset="-122"/>
              </a:rPr>
              <a:t>1927</a:t>
            </a:r>
            <a:r>
              <a:rPr lang="zh-CN" altLang="en-US" sz="2000" smtClean="0">
                <a:solidFill>
                  <a:schemeClr val="bg1"/>
                </a:solidFill>
                <a:latin typeface="黑体" pitchFamily="49" charset="-122"/>
                <a:ea typeface="黑体" pitchFamily="49" charset="-122"/>
              </a:rPr>
              <a:t>年可口可乐总裁罗伯特</a:t>
            </a:r>
            <a:r>
              <a:rPr lang="en-US" altLang="zh-CN" sz="2000" smtClean="0">
                <a:solidFill>
                  <a:schemeClr val="bg1"/>
                </a:solidFill>
                <a:latin typeface="黑体" pitchFamily="49" charset="-122"/>
                <a:ea typeface="黑体" pitchFamily="49" charset="-122"/>
              </a:rPr>
              <a:t>.</a:t>
            </a:r>
            <a:r>
              <a:rPr lang="zh-CN" altLang="en-US" sz="2000" smtClean="0">
                <a:solidFill>
                  <a:schemeClr val="bg1"/>
                </a:solidFill>
                <a:latin typeface="黑体" pitchFamily="49" charset="-122"/>
                <a:ea typeface="黑体" pitchFamily="49" charset="-122"/>
              </a:rPr>
              <a:t>伍德鲁在上海成立第一家装瓶厂后，短短的</a:t>
            </a:r>
            <a:r>
              <a:rPr lang="en-US" altLang="zh-CN" sz="2000" smtClean="0">
                <a:solidFill>
                  <a:schemeClr val="bg1"/>
                </a:solidFill>
                <a:latin typeface="黑体" pitchFamily="49" charset="-122"/>
                <a:ea typeface="黑体" pitchFamily="49" charset="-122"/>
              </a:rPr>
              <a:t>6</a:t>
            </a:r>
            <a:r>
              <a:rPr lang="zh-CN" altLang="en-US" sz="2000" smtClean="0">
                <a:solidFill>
                  <a:schemeClr val="bg1"/>
                </a:solidFill>
                <a:latin typeface="黑体" pitchFamily="49" charset="-122"/>
                <a:ea typeface="黑体" pitchFamily="49" charset="-122"/>
              </a:rPr>
              <a:t>年时间，上海成为美国境外最大的可口可乐厂；</a:t>
            </a:r>
          </a:p>
          <a:p>
            <a:pPr eaLnBrk="1" hangingPunct="1">
              <a:lnSpc>
                <a:spcPct val="155000"/>
              </a:lnSpc>
            </a:pPr>
            <a:r>
              <a:rPr lang="en-US" altLang="zh-CN" sz="2000" smtClean="0">
                <a:solidFill>
                  <a:schemeClr val="bg1"/>
                </a:solidFill>
                <a:latin typeface="黑体" pitchFamily="49" charset="-122"/>
                <a:ea typeface="黑体" pitchFamily="49" charset="-122"/>
              </a:rPr>
              <a:t>1948</a:t>
            </a:r>
            <a:r>
              <a:rPr lang="zh-CN" altLang="en-US" sz="2000" smtClean="0">
                <a:solidFill>
                  <a:schemeClr val="bg1"/>
                </a:solidFill>
                <a:latin typeface="黑体" pitchFamily="49" charset="-122"/>
                <a:ea typeface="黑体" pitchFamily="49" charset="-122"/>
              </a:rPr>
              <a:t>年成为美国境外第一家年产超过</a:t>
            </a:r>
            <a:r>
              <a:rPr lang="en-US" altLang="zh-CN" sz="2000" smtClean="0">
                <a:solidFill>
                  <a:schemeClr val="bg1"/>
                </a:solidFill>
                <a:latin typeface="黑体" pitchFamily="49" charset="-122"/>
                <a:ea typeface="黑体" pitchFamily="49" charset="-122"/>
              </a:rPr>
              <a:t>100</a:t>
            </a:r>
            <a:r>
              <a:rPr lang="zh-CN" altLang="en-US" sz="2000" smtClean="0">
                <a:solidFill>
                  <a:schemeClr val="bg1"/>
                </a:solidFill>
                <a:latin typeface="黑体" pitchFamily="49" charset="-122"/>
                <a:ea typeface="黑体" pitchFamily="49" charset="-122"/>
              </a:rPr>
              <a:t>万箱的装瓶厂；</a:t>
            </a:r>
            <a:r>
              <a:rPr lang="zh-CN" altLang="en-US" sz="2000" smtClean="0">
                <a:solidFill>
                  <a:srgbClr val="FFFF00"/>
                </a:solidFill>
                <a:latin typeface="黑体" pitchFamily="49" charset="-122"/>
                <a:ea typeface="黑体" pitchFamily="49" charset="-122"/>
              </a:rPr>
              <a:t>当时美国人均豪饮</a:t>
            </a:r>
            <a:r>
              <a:rPr lang="en-US" altLang="zh-CN" sz="2000" smtClean="0">
                <a:solidFill>
                  <a:srgbClr val="FFFF00"/>
                </a:solidFill>
                <a:latin typeface="黑体" pitchFamily="49" charset="-122"/>
                <a:ea typeface="黑体" pitchFamily="49" charset="-122"/>
              </a:rPr>
              <a:t>425</a:t>
            </a:r>
            <a:r>
              <a:rPr lang="zh-CN" altLang="en-US" sz="2000" smtClean="0">
                <a:solidFill>
                  <a:srgbClr val="FFFF00"/>
                </a:solidFill>
                <a:latin typeface="黑体" pitchFamily="49" charset="-122"/>
                <a:ea typeface="黑体" pitchFamily="49" charset="-122"/>
              </a:rPr>
              <a:t>瓶，中国人均消费</a:t>
            </a:r>
            <a:r>
              <a:rPr lang="en-US" altLang="zh-CN" sz="2000" smtClean="0">
                <a:solidFill>
                  <a:srgbClr val="FFFF00"/>
                </a:solidFill>
                <a:latin typeface="黑体" pitchFamily="49" charset="-122"/>
                <a:ea typeface="黑体" pitchFamily="49" charset="-122"/>
              </a:rPr>
              <a:t>7</a:t>
            </a:r>
            <a:r>
              <a:rPr lang="zh-CN" altLang="en-US" sz="2000" smtClean="0">
                <a:solidFill>
                  <a:srgbClr val="FFFF00"/>
                </a:solidFill>
                <a:latin typeface="黑体" pitchFamily="49" charset="-122"/>
                <a:ea typeface="黑体" pitchFamily="49" charset="-122"/>
              </a:rPr>
              <a:t>瓶，中国市场潜力的巨大可见一斑</a:t>
            </a:r>
            <a:r>
              <a:rPr lang="zh-CN" altLang="en-US" sz="2000" smtClean="0">
                <a:solidFill>
                  <a:schemeClr val="bg1"/>
                </a:solidFill>
                <a:latin typeface="黑体" pitchFamily="49" charset="-122"/>
                <a:ea typeface="黑体" pitchFamily="49" charset="-122"/>
              </a:rPr>
              <a:t>。</a:t>
            </a:r>
          </a:p>
          <a:p>
            <a:pPr eaLnBrk="1" hangingPunct="1">
              <a:lnSpc>
                <a:spcPct val="155000"/>
              </a:lnSpc>
            </a:pPr>
            <a:r>
              <a:rPr lang="en-US" altLang="zh-CN" sz="2000" smtClean="0">
                <a:solidFill>
                  <a:schemeClr val="bg1"/>
                </a:solidFill>
                <a:latin typeface="黑体" pitchFamily="49" charset="-122"/>
                <a:ea typeface="黑体" pitchFamily="49" charset="-122"/>
              </a:rPr>
              <a:t>1979</a:t>
            </a:r>
            <a:r>
              <a:rPr lang="zh-CN" altLang="en-US" sz="2000" smtClean="0">
                <a:solidFill>
                  <a:schemeClr val="bg1"/>
                </a:solidFill>
                <a:latin typeface="黑体" pitchFamily="49" charset="-122"/>
                <a:ea typeface="黑体" pitchFamily="49" charset="-122"/>
              </a:rPr>
              <a:t>年中美建交，</a:t>
            </a:r>
            <a:r>
              <a:rPr lang="en-US" altLang="zh-CN" sz="2000" smtClean="0">
                <a:solidFill>
                  <a:schemeClr val="bg1"/>
                </a:solidFill>
                <a:latin typeface="黑体" pitchFamily="49" charset="-122"/>
                <a:ea typeface="黑体" pitchFamily="49" charset="-122"/>
              </a:rPr>
              <a:t>3</a:t>
            </a:r>
            <a:r>
              <a:rPr lang="zh-CN" altLang="en-US" sz="2000" smtClean="0">
                <a:solidFill>
                  <a:schemeClr val="bg1"/>
                </a:solidFill>
                <a:latin typeface="黑体" pitchFamily="49" charset="-122"/>
                <a:ea typeface="黑体" pitchFamily="49" charset="-122"/>
              </a:rPr>
              <a:t>万箱可口可乐从香港辗转运往北京、上海和广州的大商场和宾馆；</a:t>
            </a:r>
          </a:p>
          <a:p>
            <a:pPr eaLnBrk="1" hangingPunct="1">
              <a:lnSpc>
                <a:spcPct val="155000"/>
              </a:lnSpc>
            </a:pPr>
            <a:r>
              <a:rPr lang="en-US" altLang="zh-CN" sz="2000" smtClean="0">
                <a:solidFill>
                  <a:schemeClr val="bg1"/>
                </a:solidFill>
                <a:latin typeface="黑体" pitchFamily="49" charset="-122"/>
                <a:ea typeface="黑体" pitchFamily="49" charset="-122"/>
              </a:rPr>
              <a:t>1981</a:t>
            </a:r>
            <a:r>
              <a:rPr lang="zh-CN" altLang="en-US" sz="2000" smtClean="0">
                <a:solidFill>
                  <a:schemeClr val="bg1"/>
                </a:solidFill>
                <a:latin typeface="黑体" pitchFamily="49" charset="-122"/>
                <a:ea typeface="黑体" pitchFamily="49" charset="-122"/>
              </a:rPr>
              <a:t>年由可口可乐公司提供设备的第一家灌装车间在北京丰台建成；</a:t>
            </a:r>
          </a:p>
          <a:p>
            <a:pPr eaLnBrk="1" hangingPunct="1">
              <a:lnSpc>
                <a:spcPct val="155000"/>
              </a:lnSpc>
            </a:pPr>
            <a:r>
              <a:rPr lang="en-US" altLang="zh-CN" sz="2000" smtClean="0">
                <a:solidFill>
                  <a:schemeClr val="bg1"/>
                </a:solidFill>
                <a:latin typeface="黑体" pitchFamily="49" charset="-122"/>
                <a:ea typeface="黑体" pitchFamily="49" charset="-122"/>
              </a:rPr>
              <a:t>1993</a:t>
            </a:r>
            <a:r>
              <a:rPr lang="zh-CN" altLang="en-US" sz="2000" smtClean="0">
                <a:solidFill>
                  <a:schemeClr val="bg1"/>
                </a:solidFill>
                <a:latin typeface="黑体" pitchFamily="49" charset="-122"/>
                <a:ea typeface="黑体" pitchFamily="49" charset="-122"/>
              </a:rPr>
              <a:t>年可口可乐公司与原轻工业部签署合作备忘录，计划在此后的</a:t>
            </a:r>
            <a:r>
              <a:rPr lang="en-US" altLang="zh-CN" sz="2000" smtClean="0">
                <a:solidFill>
                  <a:schemeClr val="bg1"/>
                </a:solidFill>
                <a:latin typeface="黑体" pitchFamily="49" charset="-122"/>
                <a:ea typeface="黑体" pitchFamily="49" charset="-122"/>
              </a:rPr>
              <a:t>2</a:t>
            </a:r>
            <a:r>
              <a:rPr lang="zh-CN" altLang="en-US" sz="2000" smtClean="0">
                <a:solidFill>
                  <a:schemeClr val="bg1"/>
                </a:solidFill>
                <a:latin typeface="黑体" pitchFamily="49" charset="-122"/>
                <a:ea typeface="黑体" pitchFamily="49" charset="-122"/>
              </a:rPr>
              <a:t>年里发展</a:t>
            </a:r>
            <a:r>
              <a:rPr lang="en-US" altLang="zh-CN" sz="2000" smtClean="0">
                <a:solidFill>
                  <a:schemeClr val="bg1"/>
                </a:solidFill>
                <a:latin typeface="黑体" pitchFamily="49" charset="-122"/>
                <a:ea typeface="黑体" pitchFamily="49" charset="-122"/>
              </a:rPr>
              <a:t>10</a:t>
            </a:r>
            <a:r>
              <a:rPr lang="zh-CN" altLang="en-US" sz="2000" smtClean="0">
                <a:solidFill>
                  <a:schemeClr val="bg1"/>
                </a:solidFill>
                <a:latin typeface="黑体" pitchFamily="49" charset="-122"/>
                <a:ea typeface="黑体" pitchFamily="49" charset="-122"/>
              </a:rPr>
              <a:t>家装瓶厂 ；</a:t>
            </a:r>
          </a:p>
          <a:p>
            <a:pPr eaLnBrk="1" hangingPunct="1">
              <a:lnSpc>
                <a:spcPct val="155000"/>
              </a:lnSpc>
            </a:pPr>
            <a:r>
              <a:rPr lang="zh-CN" altLang="en-US" sz="2000" smtClean="0">
                <a:solidFill>
                  <a:schemeClr val="bg1"/>
                </a:solidFill>
                <a:latin typeface="黑体" pitchFamily="49" charset="-122"/>
                <a:ea typeface="黑体" pitchFamily="49" charset="-122"/>
              </a:rPr>
              <a:t>目前中国有</a:t>
            </a:r>
            <a:r>
              <a:rPr lang="en-US" altLang="zh-CN" sz="2000" smtClean="0">
                <a:solidFill>
                  <a:schemeClr val="bg1"/>
                </a:solidFill>
                <a:latin typeface="黑体" pitchFamily="49" charset="-122"/>
                <a:ea typeface="黑体" pitchFamily="49" charset="-122"/>
              </a:rPr>
              <a:t>23</a:t>
            </a:r>
            <a:r>
              <a:rPr lang="zh-CN" altLang="en-US" sz="2000" smtClean="0">
                <a:solidFill>
                  <a:schemeClr val="bg1"/>
                </a:solidFill>
                <a:latin typeface="黑体" pitchFamily="49" charset="-122"/>
                <a:ea typeface="黑体" pitchFamily="49" charset="-122"/>
              </a:rPr>
              <a:t>个省份和城市遍布可口可乐</a:t>
            </a:r>
            <a:r>
              <a:rPr lang="en-US" altLang="zh-CN" sz="2000" smtClean="0">
                <a:solidFill>
                  <a:schemeClr val="bg1"/>
                </a:solidFill>
                <a:latin typeface="黑体" pitchFamily="49" charset="-122"/>
                <a:ea typeface="黑体" pitchFamily="49" charset="-122"/>
              </a:rPr>
              <a:t>24</a:t>
            </a:r>
            <a:r>
              <a:rPr lang="zh-CN" altLang="en-US" sz="2000" smtClean="0">
                <a:solidFill>
                  <a:schemeClr val="bg1"/>
                </a:solidFill>
                <a:latin typeface="黑体" pitchFamily="49" charset="-122"/>
                <a:ea typeface="黑体" pitchFamily="49" charset="-122"/>
              </a:rPr>
              <a:t>家装瓶厂和</a:t>
            </a:r>
            <a:r>
              <a:rPr lang="en-US" altLang="zh-CN" sz="2000" smtClean="0">
                <a:solidFill>
                  <a:schemeClr val="bg1"/>
                </a:solidFill>
                <a:latin typeface="黑体" pitchFamily="49" charset="-122"/>
                <a:ea typeface="黑体" pitchFamily="49" charset="-122"/>
              </a:rPr>
              <a:t>28</a:t>
            </a:r>
            <a:r>
              <a:rPr lang="zh-CN" altLang="en-US" sz="2000" smtClean="0">
                <a:solidFill>
                  <a:schemeClr val="bg1"/>
                </a:solidFill>
                <a:latin typeface="黑体" pitchFamily="49" charset="-122"/>
                <a:ea typeface="黑体" pitchFamily="49" charset="-122"/>
              </a:rPr>
              <a:t>家罐装厂；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additive="base">
                                        <p:cTn id="7" dur="5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23">
                                            <p:txEl>
                                              <p:pRg st="1" end="1"/>
                                            </p:txEl>
                                          </p:spTgt>
                                        </p:tgtEl>
                                        <p:attrNameLst>
                                          <p:attrName>style.visibility</p:attrName>
                                        </p:attrNameLst>
                                      </p:cBhvr>
                                      <p:to>
                                        <p:strVal val="visible"/>
                                      </p:to>
                                    </p:set>
                                    <p:anim calcmode="lin" valueType="num">
                                      <p:cBhvr additive="base">
                                        <p:cTn id="13"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23">
                                            <p:txEl>
                                              <p:pRg st="2" end="2"/>
                                            </p:txEl>
                                          </p:spTgt>
                                        </p:tgtEl>
                                        <p:attrNameLst>
                                          <p:attrName>style.visibility</p:attrName>
                                        </p:attrNameLst>
                                      </p:cBhvr>
                                      <p:to>
                                        <p:strVal val="visible"/>
                                      </p:to>
                                    </p:set>
                                    <p:anim calcmode="lin" valueType="num">
                                      <p:cBhvr additive="base">
                                        <p:cTn id="19"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23">
                                            <p:txEl>
                                              <p:pRg st="3" end="3"/>
                                            </p:txEl>
                                          </p:spTgt>
                                        </p:tgtEl>
                                        <p:attrNameLst>
                                          <p:attrName>style.visibility</p:attrName>
                                        </p:attrNameLst>
                                      </p:cBhvr>
                                      <p:to>
                                        <p:strVal val="visible"/>
                                      </p:to>
                                    </p:set>
                                    <p:anim calcmode="lin" valueType="num">
                                      <p:cBhvr additive="base">
                                        <p:cTn id="25" dur="500" fill="hold"/>
                                        <p:tgtEl>
                                          <p:spTgt spid="307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23">
                                            <p:txEl>
                                              <p:pRg st="4" end="4"/>
                                            </p:txEl>
                                          </p:spTgt>
                                        </p:tgtEl>
                                        <p:attrNameLst>
                                          <p:attrName>style.visibility</p:attrName>
                                        </p:attrNameLst>
                                      </p:cBhvr>
                                      <p:to>
                                        <p:strVal val="visible"/>
                                      </p:to>
                                    </p:set>
                                    <p:anim calcmode="lin" valueType="num">
                                      <p:cBhvr additive="base">
                                        <p:cTn id="31" dur="500" fill="hold"/>
                                        <p:tgtEl>
                                          <p:spTgt spid="307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723">
                                            <p:txEl>
                                              <p:pRg st="5" end="5"/>
                                            </p:txEl>
                                          </p:spTgt>
                                        </p:tgtEl>
                                        <p:attrNameLst>
                                          <p:attrName>style.visibility</p:attrName>
                                        </p:attrNameLst>
                                      </p:cBhvr>
                                      <p:to>
                                        <p:strVal val="visible"/>
                                      </p:to>
                                    </p:set>
                                    <p:anim calcmode="lin" valueType="num">
                                      <p:cBhvr additive="base">
                                        <p:cTn id="37" dur="500" fill="hold"/>
                                        <p:tgtEl>
                                          <p:spTgt spid="307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74638"/>
            <a:ext cx="8229600" cy="561975"/>
          </a:xfrm>
        </p:spPr>
        <p:txBody>
          <a:bodyPr/>
          <a:lstStyle/>
          <a:p>
            <a:pPr eaLnBrk="1" hangingPunct="1"/>
            <a:r>
              <a:rPr lang="zh-CN" altLang="en-US" sz="2800" smtClean="0">
                <a:solidFill>
                  <a:srgbClr val="FFFF00"/>
                </a:solidFill>
                <a:ea typeface="黑体" pitchFamily="49" charset="-122"/>
              </a:rPr>
              <a:t>最本土化的跨国公司：可口可乐</a:t>
            </a:r>
          </a:p>
        </p:txBody>
      </p:sp>
      <p:sp>
        <p:nvSpPr>
          <p:cNvPr id="31747" name="Rectangle 3"/>
          <p:cNvSpPr>
            <a:spLocks noGrp="1" noChangeArrowheads="1"/>
          </p:cNvSpPr>
          <p:nvPr>
            <p:ph type="body" idx="1"/>
          </p:nvPr>
        </p:nvSpPr>
        <p:spPr>
          <a:xfrm>
            <a:off x="457200" y="981075"/>
            <a:ext cx="8229600" cy="5616575"/>
          </a:xfrm>
        </p:spPr>
        <p:txBody>
          <a:bodyPr/>
          <a:lstStyle/>
          <a:p>
            <a:pPr eaLnBrk="1" hangingPunct="1">
              <a:lnSpc>
                <a:spcPct val="130000"/>
              </a:lnSpc>
            </a:pPr>
            <a:r>
              <a:rPr lang="en-US" altLang="zh-CN" sz="1600" smtClean="0">
                <a:solidFill>
                  <a:schemeClr val="bg1"/>
                </a:solidFill>
                <a:latin typeface="黑体" pitchFamily="49" charset="-122"/>
                <a:ea typeface="黑体" pitchFamily="49" charset="-122"/>
              </a:rPr>
              <a:t>90</a:t>
            </a:r>
            <a:r>
              <a:rPr lang="zh-CN" altLang="en-US" sz="1600" smtClean="0">
                <a:solidFill>
                  <a:schemeClr val="bg1"/>
                </a:solidFill>
                <a:latin typeface="黑体" pitchFamily="49" charset="-122"/>
                <a:ea typeface="黑体" pitchFamily="49" charset="-122"/>
              </a:rPr>
              <a:t>年代初</a:t>
            </a:r>
            <a:r>
              <a:rPr lang="en-US" altLang="zh-CN" sz="1600" smtClean="0">
                <a:solidFill>
                  <a:schemeClr val="bg1"/>
                </a:solidFill>
                <a:latin typeface="黑体" pitchFamily="49" charset="-122"/>
                <a:ea typeface="黑体" pitchFamily="49" charset="-122"/>
              </a:rPr>
              <a:t>,</a:t>
            </a:r>
            <a:r>
              <a:rPr lang="zh-CN" altLang="en-US" sz="1600" smtClean="0">
                <a:solidFill>
                  <a:schemeClr val="bg1"/>
                </a:solidFill>
                <a:latin typeface="黑体" pitchFamily="49" charset="-122"/>
                <a:ea typeface="黑体" pitchFamily="49" charset="-122"/>
              </a:rPr>
              <a:t>开始发展本土化产品：</a:t>
            </a:r>
          </a:p>
          <a:p>
            <a:pPr lvl="1" eaLnBrk="1" hangingPunct="1">
              <a:lnSpc>
                <a:spcPct val="130000"/>
              </a:lnSpc>
            </a:pPr>
            <a:r>
              <a:rPr lang="zh-CN" altLang="en-US" sz="1600" smtClean="0">
                <a:solidFill>
                  <a:schemeClr val="bg1"/>
                </a:solidFill>
                <a:latin typeface="黑体" pitchFamily="49" charset="-122"/>
                <a:ea typeface="黑体" pitchFamily="49" charset="-122"/>
              </a:rPr>
              <a:t> </a:t>
            </a:r>
            <a:r>
              <a:rPr lang="en-US" altLang="zh-CN" sz="1600" smtClean="0">
                <a:solidFill>
                  <a:schemeClr val="bg1"/>
                </a:solidFill>
                <a:latin typeface="黑体" pitchFamily="49" charset="-122"/>
                <a:ea typeface="黑体" pitchFamily="49" charset="-122"/>
              </a:rPr>
              <a:t>90</a:t>
            </a:r>
            <a:r>
              <a:rPr lang="zh-CN" altLang="en-US" sz="1600" smtClean="0">
                <a:solidFill>
                  <a:schemeClr val="bg1"/>
                </a:solidFill>
                <a:latin typeface="黑体" pitchFamily="49" charset="-122"/>
                <a:ea typeface="黑体" pitchFamily="49" charset="-122"/>
              </a:rPr>
              <a:t>年代初</a:t>
            </a:r>
            <a:r>
              <a:rPr lang="en-US" altLang="zh-CN" sz="1600" smtClean="0">
                <a:solidFill>
                  <a:schemeClr val="bg1"/>
                </a:solidFill>
                <a:latin typeface="黑体" pitchFamily="49" charset="-122"/>
                <a:ea typeface="黑体" pitchFamily="49" charset="-122"/>
              </a:rPr>
              <a:t>,</a:t>
            </a:r>
            <a:r>
              <a:rPr lang="zh-CN" altLang="en-US" sz="1600" smtClean="0">
                <a:solidFill>
                  <a:schemeClr val="bg1"/>
                </a:solidFill>
                <a:latin typeface="黑体" pitchFamily="49" charset="-122"/>
                <a:ea typeface="黑体" pitchFamily="49" charset="-122"/>
              </a:rPr>
              <a:t>天津的</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津美乐</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和上海的</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雪菲力</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汽水，是最在打下可口可乐系列饮料本地化烙印的品牌；</a:t>
            </a:r>
          </a:p>
          <a:p>
            <a:pPr lvl="1" eaLnBrk="1" hangingPunct="1">
              <a:lnSpc>
                <a:spcPct val="130000"/>
              </a:lnSpc>
            </a:pPr>
            <a:r>
              <a:rPr lang="en-US" altLang="zh-CN" sz="1600" smtClean="0">
                <a:solidFill>
                  <a:schemeClr val="bg1"/>
                </a:solidFill>
                <a:latin typeface="黑体" pitchFamily="49" charset="-122"/>
                <a:ea typeface="黑体" pitchFamily="49" charset="-122"/>
              </a:rPr>
              <a:t>1996</a:t>
            </a:r>
            <a:r>
              <a:rPr lang="zh-CN" altLang="en-US" sz="1600" smtClean="0">
                <a:solidFill>
                  <a:schemeClr val="bg1"/>
                </a:solidFill>
                <a:latin typeface="黑体" pitchFamily="49" charset="-122"/>
                <a:ea typeface="黑体" pitchFamily="49" charset="-122"/>
              </a:rPr>
              <a:t>年，面对中国非碳酸饮料的市场，推出</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天与地</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果汁和矿物质水品牌；</a:t>
            </a:r>
          </a:p>
          <a:p>
            <a:pPr lvl="1" eaLnBrk="1" hangingPunct="1">
              <a:lnSpc>
                <a:spcPct val="130000"/>
              </a:lnSpc>
            </a:pPr>
            <a:r>
              <a:rPr lang="en-US" altLang="zh-CN" sz="1600" smtClean="0">
                <a:solidFill>
                  <a:schemeClr val="bg1"/>
                </a:solidFill>
                <a:latin typeface="黑体" pitchFamily="49" charset="-122"/>
                <a:ea typeface="黑体" pitchFamily="49" charset="-122"/>
              </a:rPr>
              <a:t>1997</a:t>
            </a:r>
            <a:r>
              <a:rPr lang="zh-CN" altLang="en-US" sz="1600" smtClean="0">
                <a:solidFill>
                  <a:schemeClr val="bg1"/>
                </a:solidFill>
                <a:latin typeface="黑体" pitchFamily="49" charset="-122"/>
                <a:ea typeface="黑体" pitchFamily="49" charset="-122"/>
              </a:rPr>
              <a:t>年</a:t>
            </a:r>
            <a:r>
              <a:rPr lang="en-US" altLang="zh-CN" sz="1600" smtClean="0">
                <a:solidFill>
                  <a:schemeClr val="bg1"/>
                </a:solidFill>
                <a:latin typeface="黑体" pitchFamily="49" charset="-122"/>
                <a:ea typeface="黑体" pitchFamily="49" charset="-122"/>
              </a:rPr>
              <a:t>8</a:t>
            </a:r>
            <a:r>
              <a:rPr lang="zh-CN" altLang="en-US" sz="1600" smtClean="0">
                <a:solidFill>
                  <a:schemeClr val="bg1"/>
                </a:solidFill>
                <a:latin typeface="黑体" pitchFamily="49" charset="-122"/>
                <a:ea typeface="黑体" pitchFamily="49" charset="-122"/>
              </a:rPr>
              <a:t>月针对中国市场的果碳酸饮料品牌</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醒目</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问世，</a:t>
            </a:r>
            <a:r>
              <a:rPr lang="en-US" altLang="zh-CN" sz="1600" smtClean="0">
                <a:solidFill>
                  <a:schemeClr val="bg1"/>
                </a:solidFill>
                <a:latin typeface="黑体" pitchFamily="49" charset="-122"/>
                <a:ea typeface="黑体" pitchFamily="49" charset="-122"/>
              </a:rPr>
              <a:t>2000</a:t>
            </a:r>
            <a:r>
              <a:rPr lang="zh-CN" altLang="en-US" sz="1600" smtClean="0">
                <a:solidFill>
                  <a:schemeClr val="bg1"/>
                </a:solidFill>
                <a:latin typeface="黑体" pitchFamily="49" charset="-122"/>
                <a:ea typeface="黑体" pitchFamily="49" charset="-122"/>
              </a:rPr>
              <a:t>年销量跃居第五位；</a:t>
            </a:r>
          </a:p>
          <a:p>
            <a:pPr lvl="1" eaLnBrk="1" hangingPunct="1">
              <a:lnSpc>
                <a:spcPct val="130000"/>
              </a:lnSpc>
            </a:pPr>
            <a:r>
              <a:rPr lang="en-US" altLang="zh-CN" sz="1600" smtClean="0">
                <a:solidFill>
                  <a:schemeClr val="bg1"/>
                </a:solidFill>
                <a:latin typeface="黑体" pitchFamily="49" charset="-122"/>
                <a:ea typeface="黑体" pitchFamily="49" charset="-122"/>
              </a:rPr>
              <a:t>1998</a:t>
            </a:r>
            <a:r>
              <a:rPr lang="zh-CN" altLang="en-US" sz="1600" smtClean="0">
                <a:solidFill>
                  <a:schemeClr val="bg1"/>
                </a:solidFill>
                <a:latin typeface="黑体" pitchFamily="49" charset="-122"/>
                <a:ea typeface="黑体" pitchFamily="49" charset="-122"/>
              </a:rPr>
              <a:t>年推出</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天与地</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茶产品；</a:t>
            </a:r>
          </a:p>
          <a:p>
            <a:pPr lvl="1" eaLnBrk="1" hangingPunct="1">
              <a:lnSpc>
                <a:spcPct val="130000"/>
              </a:lnSpc>
            </a:pPr>
            <a:r>
              <a:rPr lang="zh-CN" altLang="en-US" sz="1600" smtClean="0">
                <a:solidFill>
                  <a:schemeClr val="bg1"/>
                </a:solidFill>
                <a:latin typeface="黑体" pitchFamily="49" charset="-122"/>
                <a:ea typeface="黑体" pitchFamily="49" charset="-122"/>
              </a:rPr>
              <a:t>可口可乐产品包装越来越走向</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国粹</a:t>
            </a:r>
            <a:r>
              <a:rPr lang="zh-CN" altLang="en-US" sz="1600" smtClean="0">
                <a:solidFill>
                  <a:schemeClr val="bg1"/>
                </a:solidFill>
                <a:ea typeface="黑体" pitchFamily="49" charset="-122"/>
              </a:rPr>
              <a:t>”</a:t>
            </a:r>
            <a:r>
              <a:rPr lang="en-US" altLang="zh-CN"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从喜洋洋的</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大阿福</a:t>
            </a:r>
            <a:r>
              <a:rPr lang="zh-CN" altLang="en-US" sz="1600" smtClean="0">
                <a:solidFill>
                  <a:schemeClr val="bg1"/>
                </a:solidFill>
                <a:ea typeface="黑体" pitchFamily="49" charset="-122"/>
              </a:rPr>
              <a:t>”</a:t>
            </a:r>
            <a:r>
              <a:rPr lang="zh-CN" altLang="en-US" sz="1600" smtClean="0">
                <a:solidFill>
                  <a:schemeClr val="bg1"/>
                </a:solidFill>
                <a:latin typeface="黑体" pitchFamily="49" charset="-122"/>
                <a:ea typeface="黑体" pitchFamily="49" charset="-122"/>
              </a:rPr>
              <a:t>、</a:t>
            </a:r>
            <a:r>
              <a:rPr lang="en-US" altLang="zh-CN" sz="1600" smtClean="0">
                <a:solidFill>
                  <a:schemeClr val="bg1"/>
                </a:solidFill>
                <a:latin typeface="黑体" pitchFamily="49" charset="-122"/>
                <a:ea typeface="黑体" pitchFamily="49" charset="-122"/>
              </a:rPr>
              <a:t>12</a:t>
            </a:r>
            <a:r>
              <a:rPr lang="zh-CN" altLang="en-US" sz="1600" smtClean="0">
                <a:solidFill>
                  <a:schemeClr val="bg1"/>
                </a:solidFill>
                <a:latin typeface="黑体" pitchFamily="49" charset="-122"/>
                <a:ea typeface="黑体" pitchFamily="49" charset="-122"/>
              </a:rPr>
              <a:t>生肖卡通灌，到茶饮料系列。（调查显示，北京人对可口可乐的认可已高居榜首，人均饮用</a:t>
            </a:r>
            <a:r>
              <a:rPr lang="en-US" altLang="zh-CN" sz="1600" smtClean="0">
                <a:solidFill>
                  <a:schemeClr val="bg1"/>
                </a:solidFill>
                <a:latin typeface="黑体" pitchFamily="49" charset="-122"/>
                <a:ea typeface="黑体" pitchFamily="49" charset="-122"/>
              </a:rPr>
              <a:t>66</a:t>
            </a:r>
            <a:r>
              <a:rPr lang="zh-CN" altLang="en-US" sz="1600" smtClean="0">
                <a:solidFill>
                  <a:schemeClr val="bg1"/>
                </a:solidFill>
                <a:latin typeface="黑体" pitchFamily="49" charset="-122"/>
                <a:ea typeface="黑体" pitchFamily="49" charset="-122"/>
              </a:rPr>
              <a:t>瓶）</a:t>
            </a:r>
          </a:p>
          <a:p>
            <a:pPr lvl="1" eaLnBrk="1" hangingPunct="1">
              <a:lnSpc>
                <a:spcPct val="130000"/>
              </a:lnSpc>
            </a:pPr>
            <a:r>
              <a:rPr lang="zh-CN" altLang="en-US" sz="1600" smtClean="0">
                <a:solidFill>
                  <a:schemeClr val="bg1"/>
                </a:solidFill>
                <a:latin typeface="黑体" pitchFamily="49" charset="-122"/>
                <a:ea typeface="黑体" pitchFamily="49" charset="-122"/>
              </a:rPr>
              <a:t>现在国人痛饮的可口可乐已经是彻头彻尾的中国造。可口可乐公司全年的原材料采购总额已达到</a:t>
            </a:r>
            <a:r>
              <a:rPr lang="en-US" altLang="zh-CN" sz="1600" smtClean="0">
                <a:solidFill>
                  <a:schemeClr val="bg1"/>
                </a:solidFill>
                <a:latin typeface="黑体" pitchFamily="49" charset="-122"/>
                <a:ea typeface="黑体" pitchFamily="49" charset="-122"/>
              </a:rPr>
              <a:t>70</a:t>
            </a:r>
            <a:r>
              <a:rPr lang="zh-CN" altLang="en-US" sz="1600" smtClean="0">
                <a:solidFill>
                  <a:schemeClr val="bg1"/>
                </a:solidFill>
                <a:latin typeface="黑体" pitchFamily="49" charset="-122"/>
                <a:ea typeface="黑体" pitchFamily="49" charset="-122"/>
              </a:rPr>
              <a:t>亿元人民币</a:t>
            </a:r>
            <a:r>
              <a:rPr lang="en-US" altLang="zh-CN" sz="1600" smtClean="0">
                <a:solidFill>
                  <a:schemeClr val="bg1"/>
                </a:solidFill>
                <a:latin typeface="黑体" pitchFamily="49" charset="-122"/>
                <a:ea typeface="黑体" pitchFamily="49" charset="-122"/>
              </a:rPr>
              <a:t>,</a:t>
            </a:r>
            <a:r>
              <a:rPr lang="zh-CN" altLang="en-US" sz="1600" smtClean="0">
                <a:solidFill>
                  <a:schemeClr val="bg1"/>
                </a:solidFill>
                <a:latin typeface="黑体" pitchFamily="49" charset="-122"/>
                <a:ea typeface="黑体" pitchFamily="49" charset="-122"/>
              </a:rPr>
              <a:t>规模经营刺激了玻璃、塑料、铝灌、制糖、运输、冷藏业的发展，以及包装材料工业的崛起。可口可乐每购买</a:t>
            </a:r>
            <a:r>
              <a:rPr lang="en-US" altLang="zh-CN" sz="1600" smtClean="0">
                <a:solidFill>
                  <a:schemeClr val="bg1"/>
                </a:solidFill>
                <a:latin typeface="黑体" pitchFamily="49" charset="-122"/>
                <a:ea typeface="黑体" pitchFamily="49" charset="-122"/>
              </a:rPr>
              <a:t>1</a:t>
            </a:r>
            <a:r>
              <a:rPr lang="zh-CN" altLang="en-US" sz="1600" smtClean="0">
                <a:solidFill>
                  <a:schemeClr val="bg1"/>
                </a:solidFill>
                <a:latin typeface="黑体" pitchFamily="49" charset="-122"/>
                <a:ea typeface="黑体" pitchFamily="49" charset="-122"/>
              </a:rPr>
              <a:t>元钱的中间产品和投入品，就会给其他部门带来</a:t>
            </a:r>
            <a:r>
              <a:rPr lang="en-US" altLang="zh-CN" sz="1600" smtClean="0">
                <a:solidFill>
                  <a:schemeClr val="bg1"/>
                </a:solidFill>
                <a:latin typeface="黑体" pitchFamily="49" charset="-122"/>
                <a:ea typeface="黑体" pitchFamily="49" charset="-122"/>
              </a:rPr>
              <a:t>2.66</a:t>
            </a:r>
            <a:r>
              <a:rPr lang="zh-CN" altLang="en-US" sz="1600" smtClean="0">
                <a:solidFill>
                  <a:schemeClr val="bg1"/>
                </a:solidFill>
                <a:latin typeface="黑体" pitchFamily="49" charset="-122"/>
                <a:ea typeface="黑体" pitchFamily="49" charset="-122"/>
              </a:rPr>
              <a:t>元的最终需求。这意味着可口可乐每年使中央和地方税收部门直接或间接的增加利税</a:t>
            </a:r>
            <a:r>
              <a:rPr lang="en-US" altLang="zh-CN" sz="1600" smtClean="0">
                <a:solidFill>
                  <a:schemeClr val="bg1"/>
                </a:solidFill>
                <a:latin typeface="黑体" pitchFamily="49" charset="-122"/>
                <a:ea typeface="黑体" pitchFamily="49" charset="-122"/>
              </a:rPr>
              <a:t>16</a:t>
            </a:r>
            <a:r>
              <a:rPr lang="zh-CN" altLang="en-US" sz="1600" smtClean="0">
                <a:solidFill>
                  <a:schemeClr val="bg1"/>
                </a:solidFill>
                <a:latin typeface="黑体" pitchFamily="49" charset="-122"/>
                <a:ea typeface="黑体" pitchFamily="49" charset="-122"/>
              </a:rPr>
              <a:t>亿元</a:t>
            </a:r>
            <a:r>
              <a:rPr lang="en-US" altLang="zh-CN" sz="1600" smtClean="0">
                <a:solidFill>
                  <a:schemeClr val="bg1"/>
                </a:solidFill>
                <a:latin typeface="黑体" pitchFamily="49" charset="-122"/>
                <a:ea typeface="黑体" pitchFamily="49" charset="-122"/>
              </a:rPr>
              <a:t>,</a:t>
            </a:r>
            <a:r>
              <a:rPr lang="zh-CN" altLang="en-US" sz="1600" smtClean="0">
                <a:solidFill>
                  <a:schemeClr val="bg1"/>
                </a:solidFill>
                <a:latin typeface="黑体" pitchFamily="49" charset="-122"/>
                <a:ea typeface="黑体" pitchFamily="49" charset="-122"/>
              </a:rPr>
              <a:t>同时通过乘数效应使中国经济增加</a:t>
            </a:r>
            <a:r>
              <a:rPr lang="en-US" altLang="zh-CN" sz="1600" smtClean="0">
                <a:solidFill>
                  <a:schemeClr val="bg1"/>
                </a:solidFill>
                <a:latin typeface="黑体" pitchFamily="49" charset="-122"/>
                <a:ea typeface="黑体" pitchFamily="49" charset="-122"/>
              </a:rPr>
              <a:t>300</a:t>
            </a:r>
            <a:r>
              <a:rPr lang="zh-CN" altLang="en-US" sz="1600" smtClean="0">
                <a:solidFill>
                  <a:schemeClr val="bg1"/>
                </a:solidFill>
                <a:latin typeface="黑体" pitchFamily="49" charset="-122"/>
                <a:ea typeface="黑体" pitchFamily="49" charset="-122"/>
              </a:rPr>
              <a:t>亿元人民币的产值。提供直接或间接就业岗位</a:t>
            </a:r>
            <a:r>
              <a:rPr lang="en-US" altLang="zh-CN" sz="1600" smtClean="0">
                <a:solidFill>
                  <a:schemeClr val="bg1"/>
                </a:solidFill>
                <a:latin typeface="黑体" pitchFamily="49" charset="-122"/>
                <a:ea typeface="黑体" pitchFamily="49" charset="-122"/>
              </a:rPr>
              <a:t>414000</a:t>
            </a:r>
            <a:r>
              <a:rPr lang="zh-CN" altLang="en-US" sz="1600" smtClean="0">
                <a:solidFill>
                  <a:schemeClr val="bg1"/>
                </a:solidFill>
                <a:latin typeface="黑体" pitchFamily="49" charset="-122"/>
                <a:ea typeface="黑体" pitchFamily="49" charset="-122"/>
              </a:rPr>
              <a:t>个，这一数字是其灌装系统直接就业人数的</a:t>
            </a:r>
            <a:r>
              <a:rPr lang="en-US" altLang="zh-CN" sz="1600" smtClean="0">
                <a:solidFill>
                  <a:schemeClr val="bg1"/>
                </a:solidFill>
                <a:latin typeface="黑体" pitchFamily="49" charset="-122"/>
                <a:ea typeface="黑体" pitchFamily="49" charset="-122"/>
              </a:rPr>
              <a:t>30</a:t>
            </a:r>
            <a:r>
              <a:rPr lang="zh-CN" altLang="en-US" sz="1600" smtClean="0">
                <a:solidFill>
                  <a:schemeClr val="bg1"/>
                </a:solidFill>
                <a:latin typeface="黑体" pitchFamily="49" charset="-122"/>
                <a:ea typeface="黑体" pitchFamily="49" charset="-122"/>
              </a:rPr>
              <a:t>倍，即可口可乐每在中国投入</a:t>
            </a:r>
            <a:r>
              <a:rPr lang="en-US" altLang="zh-CN" sz="1600" smtClean="0">
                <a:solidFill>
                  <a:schemeClr val="bg1"/>
                </a:solidFill>
                <a:latin typeface="黑体" pitchFamily="49" charset="-122"/>
                <a:ea typeface="黑体" pitchFamily="49" charset="-122"/>
              </a:rPr>
              <a:t>10</a:t>
            </a:r>
            <a:r>
              <a:rPr lang="zh-CN" altLang="en-US" sz="1600" smtClean="0">
                <a:solidFill>
                  <a:schemeClr val="bg1"/>
                </a:solidFill>
                <a:latin typeface="黑体" pitchFamily="49" charset="-122"/>
                <a:ea typeface="黑体" pitchFamily="49" charset="-122"/>
              </a:rPr>
              <a:t>万元人民币，就会创造</a:t>
            </a:r>
            <a:r>
              <a:rPr lang="en-US" altLang="zh-CN" sz="1600" smtClean="0">
                <a:solidFill>
                  <a:schemeClr val="bg1"/>
                </a:solidFill>
                <a:latin typeface="黑体" pitchFamily="49" charset="-122"/>
                <a:ea typeface="黑体" pitchFamily="49" charset="-122"/>
              </a:rPr>
              <a:t>6</a:t>
            </a:r>
            <a:r>
              <a:rPr lang="zh-CN" altLang="en-US" sz="1600" smtClean="0">
                <a:solidFill>
                  <a:schemeClr val="bg1"/>
                </a:solidFill>
                <a:latin typeface="黑体" pitchFamily="49" charset="-122"/>
                <a:ea typeface="黑体" pitchFamily="49" charset="-122"/>
              </a:rPr>
              <a:t>个就业机会</a:t>
            </a:r>
            <a:r>
              <a:rPr lang="zh-CN" altLang="en-US" sz="2000" smtClean="0">
                <a:solidFill>
                  <a:schemeClr val="bg1"/>
                </a:solidFill>
                <a:latin typeface="黑体" pitchFamily="49" charset="-122"/>
                <a:ea typeface="黑体" pitchFamily="49" charset="-122"/>
              </a:rPr>
              <a:t>。</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 calcmode="lin" valueType="num">
                                      <p:cBhvr additive="base">
                                        <p:cTn id="7"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anim calcmode="lin" valueType="num">
                                      <p:cBhvr additive="base">
                                        <p:cTn id="13"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747">
                                            <p:txEl>
                                              <p:pRg st="3" end="3"/>
                                            </p:txEl>
                                          </p:spTgt>
                                        </p:tgtEl>
                                        <p:attrNameLst>
                                          <p:attrName>style.visibility</p:attrName>
                                        </p:attrNameLst>
                                      </p:cBhvr>
                                      <p:to>
                                        <p:strVal val="visible"/>
                                      </p:to>
                                    </p:set>
                                    <p:anim calcmode="lin" valueType="num">
                                      <p:cBhvr additive="base">
                                        <p:cTn id="19"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 calcmode="lin" valueType="num">
                                      <p:cBhvr additive="base">
                                        <p:cTn id="25" dur="5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7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747">
                                            <p:txEl>
                                              <p:pRg st="5" end="5"/>
                                            </p:txEl>
                                          </p:spTgt>
                                        </p:tgtEl>
                                        <p:attrNameLst>
                                          <p:attrName>style.visibility</p:attrName>
                                        </p:attrNameLst>
                                      </p:cBhvr>
                                      <p:to>
                                        <p:strVal val="visible"/>
                                      </p:to>
                                    </p:set>
                                    <p:anim calcmode="lin" valueType="num">
                                      <p:cBhvr additive="base">
                                        <p:cTn id="31" dur="5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7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1747">
                                            <p:txEl>
                                              <p:pRg st="6" end="6"/>
                                            </p:txEl>
                                          </p:spTgt>
                                        </p:tgtEl>
                                        <p:attrNameLst>
                                          <p:attrName>style.visibility</p:attrName>
                                        </p:attrNameLst>
                                      </p:cBhvr>
                                      <p:to>
                                        <p:strVal val="visible"/>
                                      </p:to>
                                    </p:set>
                                    <p:anim calcmode="lin" valueType="num">
                                      <p:cBhvr additive="base">
                                        <p:cTn id="37" dur="5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7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468313" y="1484313"/>
            <a:ext cx="8229600" cy="4321175"/>
          </a:xfrm>
        </p:spPr>
        <p:txBody>
          <a:bodyPr/>
          <a:lstStyle/>
          <a:p>
            <a:pPr eaLnBrk="1" hangingPunct="1">
              <a:lnSpc>
                <a:spcPct val="130000"/>
              </a:lnSpc>
            </a:pPr>
            <a:r>
              <a:rPr lang="en-US" altLang="zh-CN" sz="2800" smtClean="0">
                <a:solidFill>
                  <a:schemeClr val="bg1"/>
                </a:solidFill>
                <a:latin typeface="黑体" pitchFamily="49" charset="-122"/>
                <a:ea typeface="黑体" pitchFamily="49" charset="-122"/>
              </a:rPr>
              <a:t>2009.3.6</a:t>
            </a:r>
            <a:r>
              <a:rPr lang="zh-CN" altLang="en-US" sz="2800" smtClean="0">
                <a:solidFill>
                  <a:schemeClr val="bg1"/>
                </a:solidFill>
                <a:latin typeface="黑体" pitchFamily="49" charset="-122"/>
                <a:ea typeface="黑体" pitchFamily="49" charset="-122"/>
              </a:rPr>
              <a:t>在上海揭幕投资</a:t>
            </a:r>
            <a:r>
              <a:rPr lang="en-US" altLang="zh-CN" sz="2800" smtClean="0">
                <a:solidFill>
                  <a:schemeClr val="bg1"/>
                </a:solidFill>
                <a:latin typeface="黑体" pitchFamily="49" charset="-122"/>
                <a:ea typeface="黑体" pitchFamily="49" charset="-122"/>
              </a:rPr>
              <a:t>9000</a:t>
            </a:r>
            <a:r>
              <a:rPr lang="zh-CN" altLang="en-US" sz="2800" smtClean="0">
                <a:solidFill>
                  <a:schemeClr val="bg1"/>
                </a:solidFill>
                <a:latin typeface="黑体" pitchFamily="49" charset="-122"/>
                <a:ea typeface="黑体" pitchFamily="49" charset="-122"/>
              </a:rPr>
              <a:t>万美元的可口可乐全球创新与技术中心，这是该公司在美国以外地区建立的惟一一座研创中心</a:t>
            </a:r>
          </a:p>
          <a:p>
            <a:pPr eaLnBrk="1" hangingPunct="1">
              <a:lnSpc>
                <a:spcPct val="130000"/>
              </a:lnSpc>
            </a:pPr>
            <a:endParaRPr lang="zh-CN" altLang="en-US" sz="2800" smtClean="0">
              <a:solidFill>
                <a:schemeClr val="bg1"/>
              </a:solidFill>
              <a:latin typeface="黑体" pitchFamily="49" charset="-122"/>
              <a:ea typeface="黑体" pitchFamily="49" charset="-122"/>
            </a:endParaRPr>
          </a:p>
          <a:p>
            <a:pPr eaLnBrk="1" hangingPunct="1">
              <a:lnSpc>
                <a:spcPct val="130000"/>
              </a:lnSpc>
            </a:pPr>
            <a:r>
              <a:rPr lang="zh-CN" altLang="en-US" sz="2800" smtClean="0">
                <a:solidFill>
                  <a:schemeClr val="bg1"/>
                </a:solidFill>
                <a:latin typeface="黑体" pitchFamily="49" charset="-122"/>
                <a:ea typeface="黑体" pitchFamily="49" charset="-122"/>
              </a:rPr>
              <a:t>提出未来</a:t>
            </a:r>
            <a:r>
              <a:rPr lang="en-US" altLang="zh-CN" sz="2800" smtClean="0">
                <a:solidFill>
                  <a:schemeClr val="bg1"/>
                </a:solidFill>
                <a:latin typeface="黑体" pitchFamily="49" charset="-122"/>
                <a:ea typeface="黑体" pitchFamily="49" charset="-122"/>
              </a:rPr>
              <a:t>3</a:t>
            </a:r>
            <a:r>
              <a:rPr lang="zh-CN" altLang="en-US" sz="2800" smtClean="0">
                <a:solidFill>
                  <a:schemeClr val="bg1"/>
                </a:solidFill>
                <a:latin typeface="黑体" pitchFamily="49" charset="-122"/>
                <a:ea typeface="黑体" pitchFamily="49" charset="-122"/>
              </a:rPr>
              <a:t>年在中国的直接投资超过</a:t>
            </a:r>
            <a:r>
              <a:rPr lang="en-US" altLang="zh-CN" sz="2800" smtClean="0">
                <a:solidFill>
                  <a:schemeClr val="bg1"/>
                </a:solidFill>
                <a:latin typeface="黑体" pitchFamily="49" charset="-122"/>
                <a:ea typeface="黑体" pitchFamily="49" charset="-122"/>
              </a:rPr>
              <a:t>20</a:t>
            </a:r>
            <a:r>
              <a:rPr lang="zh-CN" altLang="en-US" sz="2800" smtClean="0">
                <a:solidFill>
                  <a:schemeClr val="bg1"/>
                </a:solidFill>
                <a:latin typeface="黑体" pitchFamily="49" charset="-122"/>
                <a:ea typeface="黑体" pitchFamily="49" charset="-122"/>
              </a:rPr>
              <a:t>亿美元，超过过去</a:t>
            </a:r>
            <a:r>
              <a:rPr lang="en-US" altLang="zh-CN" sz="2800" smtClean="0">
                <a:solidFill>
                  <a:schemeClr val="bg1"/>
                </a:solidFill>
                <a:latin typeface="黑体" pitchFamily="49" charset="-122"/>
                <a:ea typeface="黑体" pitchFamily="49" charset="-122"/>
              </a:rPr>
              <a:t>30</a:t>
            </a:r>
            <a:r>
              <a:rPr lang="zh-CN" altLang="en-US" sz="2800" smtClean="0">
                <a:solidFill>
                  <a:schemeClr val="bg1"/>
                </a:solidFill>
                <a:latin typeface="黑体" pitchFamily="49" charset="-122"/>
                <a:ea typeface="黑体" pitchFamily="49" charset="-122"/>
              </a:rPr>
              <a:t>年</a:t>
            </a:r>
            <a:r>
              <a:rPr lang="en-US" altLang="zh-CN" sz="2800" smtClean="0">
                <a:solidFill>
                  <a:schemeClr val="bg1"/>
                </a:solidFill>
                <a:latin typeface="黑体" pitchFamily="49" charset="-122"/>
                <a:ea typeface="黑体" pitchFamily="49" charset="-122"/>
              </a:rPr>
              <a:t>16</a:t>
            </a:r>
            <a:r>
              <a:rPr lang="zh-CN" altLang="en-US" sz="2800" smtClean="0">
                <a:solidFill>
                  <a:schemeClr val="bg1"/>
                </a:solidFill>
                <a:latin typeface="黑体" pitchFamily="49" charset="-122"/>
                <a:ea typeface="黑体" pitchFamily="49" charset="-122"/>
              </a:rPr>
              <a:t>亿美元的投资总和</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79388" y="0"/>
            <a:ext cx="8229600" cy="1143000"/>
          </a:xfrm>
        </p:spPr>
        <p:txBody>
          <a:bodyPr/>
          <a:lstStyle/>
          <a:p>
            <a:pPr algn="l" eaLnBrk="1" hangingPunct="1"/>
            <a:r>
              <a:rPr lang="zh-CN" altLang="en-US" sz="2400" smtClean="0">
                <a:solidFill>
                  <a:srgbClr val="FFFF00"/>
                </a:solidFill>
                <a:ea typeface="黑体" pitchFamily="49" charset="-122"/>
              </a:rPr>
              <a:t>跨国零售企业在中国的空间战略：以沃尔玛和家乐福为例</a:t>
            </a:r>
            <a:r>
              <a:rPr lang="zh-CN" altLang="en-US" sz="4000" smtClean="0"/>
              <a:t> </a:t>
            </a:r>
          </a:p>
        </p:txBody>
      </p:sp>
      <p:graphicFrame>
        <p:nvGraphicFramePr>
          <p:cNvPr id="35897" name="Group 57"/>
          <p:cNvGraphicFramePr>
            <a:graphicFrameLocks noGrp="1"/>
          </p:cNvGraphicFramePr>
          <p:nvPr>
            <p:ph type="tbl" idx="1"/>
          </p:nvPr>
        </p:nvGraphicFramePr>
        <p:xfrm>
          <a:off x="539750" y="1773238"/>
          <a:ext cx="8229600" cy="4525962"/>
        </p:xfrm>
        <a:graphic>
          <a:graphicData uri="http://schemas.openxmlformats.org/drawingml/2006/table">
            <a:tbl>
              <a:tblPr/>
              <a:tblGrid>
                <a:gridCol w="1841500"/>
                <a:gridCol w="6388100"/>
              </a:tblGrid>
              <a:tr h="11953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开放试点（</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1992</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-1995</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港澳台及海外华资背景为主。因为这些投资方在地理距离、心理距离和文化距离上都与中国比较接近。符合渐进式国际化扩张模型</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主营业态为百货店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3.</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在中国零售市场政策为严苛的情况下，多数投资者持谨慎观望态度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573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逐步放宽（</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1996</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-2000</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欧美企业加快进入</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超市业态开始进入中国市场</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3.</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部分外资企业采取变通方式，违反国家政策，大肆扩张，擅自开店，中央政府出台了相关的清理整顿政策</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4.</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政策鼓励外资零售业在西部地区投资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7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半完全开放（</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2001</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-2004</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世界零售</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50</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强的三分之一合法进入中国</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中国政府制定了零售业加入</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WTO</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后的对外开放时间表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953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完全开放（</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2004</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年至今）</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1.2004</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年</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12</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月</a:t>
                      </a: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11</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日，中国取消了对外资零售企业在地域、股权和数量等方面的限制，零售业完全开放</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2.</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外资零售业加大向中西部和二、三线城市转移</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3.</a:t>
                      </a:r>
                      <a:r>
                        <a:rPr kumimoji="0" lang="zh-CN" altLang="en-US" sz="1600" b="0" i="0" u="none" strike="noStrike" cap="none" normalizeH="0" baseline="0" smtClean="0">
                          <a:ln>
                            <a:noFill/>
                          </a:ln>
                          <a:solidFill>
                            <a:schemeClr val="bg1"/>
                          </a:solidFill>
                          <a:effectLst/>
                          <a:latin typeface="黑体" pitchFamily="2" charset="-122"/>
                          <a:ea typeface="黑体" pitchFamily="2" charset="-122"/>
                          <a:cs typeface="Times New Roman" pitchFamily="18" charset="0"/>
                        </a:rPr>
                        <a:t>相关政策为外资零售业在地方的扩张提供了便利。</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4596" name="Text Box 58"/>
          <p:cNvSpPr txBox="1">
            <a:spLocks noChangeArrowheads="1"/>
          </p:cNvSpPr>
          <p:nvPr/>
        </p:nvSpPr>
        <p:spPr bwMode="auto">
          <a:xfrm>
            <a:off x="3203575" y="1169988"/>
            <a:ext cx="3041650" cy="396875"/>
          </a:xfrm>
          <a:prstGeom prst="rect">
            <a:avLst/>
          </a:prstGeom>
          <a:noFill/>
          <a:ln w="9525">
            <a:noFill/>
            <a:miter lim="800000"/>
            <a:headEnd/>
            <a:tailEnd/>
          </a:ln>
        </p:spPr>
        <p:txBody>
          <a:bodyPr wrap="none">
            <a:spAutoFit/>
          </a:bodyPr>
          <a:lstStyle/>
          <a:p>
            <a:r>
              <a:rPr lang="zh-CN" altLang="en-US" sz="2000">
                <a:solidFill>
                  <a:schemeClr val="bg1"/>
                </a:solidFill>
                <a:ea typeface="黑体" pitchFamily="49" charset="-122"/>
              </a:rPr>
              <a:t>外资零售业在华发展阶段</a:t>
            </a:r>
            <a:r>
              <a:rPr lang="zh-CN" altLang="en-US"/>
              <a:t>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z="2800" smtClean="0">
                <a:solidFill>
                  <a:srgbClr val="FFFF00"/>
                </a:solidFill>
                <a:ea typeface="黑体" pitchFamily="49" charset="-122"/>
              </a:rPr>
              <a:t>中国大型综合超市市场占有率前十位企业</a:t>
            </a:r>
            <a:r>
              <a:rPr lang="zh-CN" altLang="en-US" smtClean="0"/>
              <a:t> </a:t>
            </a:r>
          </a:p>
        </p:txBody>
      </p:sp>
      <p:graphicFrame>
        <p:nvGraphicFramePr>
          <p:cNvPr id="38254" name="Group 366"/>
          <p:cNvGraphicFramePr>
            <a:graphicFrameLocks noGrp="1"/>
          </p:cNvGraphicFramePr>
          <p:nvPr>
            <p:ph type="tbl" idx="1"/>
          </p:nvPr>
        </p:nvGraphicFramePr>
        <p:xfrm>
          <a:off x="457200" y="1600200"/>
          <a:ext cx="8229600" cy="4525963"/>
        </p:xfrm>
        <a:graphic>
          <a:graphicData uri="http://schemas.openxmlformats.org/drawingml/2006/table">
            <a:tbl>
              <a:tblPr/>
              <a:tblGrid>
                <a:gridCol w="1811338"/>
                <a:gridCol w="1481137"/>
                <a:gridCol w="1644650"/>
                <a:gridCol w="977900"/>
                <a:gridCol w="2314575"/>
              </a:tblGrid>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企业名称</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2005</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2006</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2007</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投资方地区来源</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家乐福</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8.8</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9.4</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10.3</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法国</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沃尔玛</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5.3</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5.3</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9.7</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美国</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欧尚</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8.5</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9.0</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9.1</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法国</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华润</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5.9</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6.2</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7.0</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中国（香港）</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新一佳</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5.8</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5.4</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5.6</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中国（广东）</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正大集团</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5.0</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5.1</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5.4</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泰国</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华辰</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4.4</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4.0</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3.6</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中国（黑龙江）</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乐购</a:t>
                      </a: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TESCO</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3.2</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3.0</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2.9</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英国</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人人乐</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3.2</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2.7</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2.6</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中国（广东）</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中百</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2.4</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2.3</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2.1</a:t>
                      </a:r>
                      <a:endParaRPr kumimoji="0" lang="en-US" altLang="zh-CN"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中国（湖北）</a:t>
                      </a:r>
                      <a:endParaRPr kumimoji="0" lang="zh-CN" altLang="en-US" sz="20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457200" y="274638"/>
            <a:ext cx="8229600" cy="850900"/>
          </a:xfrm>
        </p:spPr>
        <p:txBody>
          <a:bodyPr/>
          <a:lstStyle/>
          <a:p>
            <a:pPr eaLnBrk="1" hangingPunct="1"/>
            <a:r>
              <a:rPr lang="zh-CN" altLang="en-US" sz="2800" smtClean="0">
                <a:solidFill>
                  <a:srgbClr val="FFFF00"/>
                </a:solidFill>
                <a:ea typeface="黑体" pitchFamily="49" charset="-122"/>
              </a:rPr>
              <a:t>主要外资零售企业在中国的布局</a:t>
            </a:r>
          </a:p>
        </p:txBody>
      </p:sp>
      <p:graphicFrame>
        <p:nvGraphicFramePr>
          <p:cNvPr id="40784" name="Group 848"/>
          <p:cNvGraphicFramePr>
            <a:graphicFrameLocks noGrp="1"/>
          </p:cNvGraphicFramePr>
          <p:nvPr>
            <p:ph type="tbl" idx="1"/>
          </p:nvPr>
        </p:nvGraphicFramePr>
        <p:xfrm>
          <a:off x="395288" y="1412875"/>
          <a:ext cx="8435975" cy="5267325"/>
        </p:xfrm>
        <a:graphic>
          <a:graphicData uri="http://schemas.openxmlformats.org/drawingml/2006/table">
            <a:tbl>
              <a:tblPr/>
              <a:tblGrid>
                <a:gridCol w="1190625"/>
                <a:gridCol w="1330325"/>
                <a:gridCol w="971550"/>
                <a:gridCol w="712787"/>
                <a:gridCol w="712788"/>
                <a:gridCol w="712787"/>
                <a:gridCol w="712788"/>
                <a:gridCol w="711200"/>
                <a:gridCol w="712787"/>
                <a:gridCol w="668338"/>
              </a:tblGrid>
              <a:tr h="273050">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超市名称</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2009</a:t>
                      </a: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年新开门店个数</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现有门店个数</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全国布局</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4132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华东</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华北</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华南</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华中</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东北</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西南</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西北</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沃尔玛</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55</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178</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38</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18</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53</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21</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17</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27</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家乐福</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25</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157</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49</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25</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16</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21</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18</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大润发</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19</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123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64</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17</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19</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6</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15</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13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Tesco</a:t>
                      </a: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乐购</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20</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77</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43</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12</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8</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13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乐天玛特</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76</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65</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11</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97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卜蜂莲花</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73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38</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9</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14</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6</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麦德龙</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42</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19</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7</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欧尚</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35</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29</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易买得</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5</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23</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17</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6</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永旺</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22</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6</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16</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78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每家玛</a:t>
                      </a:r>
                      <a:endParaRPr kumimoji="0" lang="zh-CN" altLang="en-US"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1</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FFFF00"/>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rgbClr val="FFFF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smtClean="0">
                        <a:ln>
                          <a:noFill/>
                        </a:ln>
                        <a:solidFill>
                          <a:schemeClr val="bg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title"/>
          </p:nvPr>
        </p:nvSpPr>
        <p:spPr>
          <a:xfrm>
            <a:off x="395288" y="260350"/>
            <a:ext cx="4835525" cy="850900"/>
          </a:xfrm>
        </p:spPr>
        <p:txBody>
          <a:bodyPr/>
          <a:lstStyle/>
          <a:p>
            <a:pPr eaLnBrk="1" hangingPunct="1"/>
            <a:r>
              <a:rPr lang="zh-CN" altLang="en-US" sz="2400" smtClean="0">
                <a:solidFill>
                  <a:srgbClr val="FFFF00"/>
                </a:solidFill>
                <a:latin typeface="黑体" pitchFamily="49" charset="-122"/>
                <a:ea typeface="黑体" pitchFamily="49" charset="-122"/>
              </a:rPr>
              <a:t>国际化进程：沃尔玛</a:t>
            </a:r>
            <a:r>
              <a:rPr lang="en-US" altLang="zh-CN" sz="2400" smtClean="0">
                <a:solidFill>
                  <a:srgbClr val="FFFF00"/>
                </a:solidFill>
                <a:latin typeface="黑体" pitchFamily="49" charset="-122"/>
                <a:ea typeface="黑体" pitchFamily="49" charset="-122"/>
              </a:rPr>
              <a:t>VS.</a:t>
            </a:r>
            <a:r>
              <a:rPr lang="zh-CN" altLang="en-US" sz="2400" smtClean="0">
                <a:solidFill>
                  <a:srgbClr val="FFFF00"/>
                </a:solidFill>
                <a:latin typeface="黑体" pitchFamily="49" charset="-122"/>
                <a:ea typeface="黑体" pitchFamily="49" charset="-122"/>
              </a:rPr>
              <a:t>家乐福</a:t>
            </a:r>
          </a:p>
        </p:txBody>
      </p:sp>
      <p:pic>
        <p:nvPicPr>
          <p:cNvPr id="27651" name="Picture 9" descr="国际化进程：沃尔玛 VS"/>
          <p:cNvPicPr>
            <a:picLocks noChangeAspect="1" noChangeArrowheads="1"/>
          </p:cNvPicPr>
          <p:nvPr>
            <p:ph idx="1"/>
          </p:nvPr>
        </p:nvPicPr>
        <p:blipFill>
          <a:blip r:embed="rId2" cstate="print"/>
          <a:srcRect/>
          <a:stretch>
            <a:fillRect/>
          </a:stretch>
        </p:blipFill>
        <p:spPr>
          <a:xfrm>
            <a:off x="323850" y="1011238"/>
            <a:ext cx="8496300" cy="5702300"/>
          </a:xfr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a:xfrm>
            <a:off x="457200" y="274638"/>
            <a:ext cx="8229600" cy="706437"/>
          </a:xfrm>
        </p:spPr>
        <p:txBody>
          <a:bodyPr/>
          <a:lstStyle/>
          <a:p>
            <a:pPr algn="l" eaLnBrk="1" hangingPunct="1"/>
            <a:r>
              <a:rPr lang="zh-CN" altLang="en-US" sz="2400" smtClean="0">
                <a:solidFill>
                  <a:srgbClr val="FFFF00"/>
                </a:solidFill>
                <a:ea typeface="黑体" pitchFamily="49" charset="-122"/>
              </a:rPr>
              <a:t>沃尔玛和家乐福进入中国</a:t>
            </a:r>
          </a:p>
        </p:txBody>
      </p:sp>
      <p:pic>
        <p:nvPicPr>
          <p:cNvPr id="28675" name="Picture 6" descr="沃尔玛和家乐福进入中国"/>
          <p:cNvPicPr>
            <a:picLocks noChangeAspect="1" noChangeArrowheads="1"/>
          </p:cNvPicPr>
          <p:nvPr>
            <p:ph idx="1"/>
          </p:nvPr>
        </p:nvPicPr>
        <p:blipFill>
          <a:blip r:embed="rId2" cstate="print"/>
          <a:srcRect/>
          <a:stretch>
            <a:fillRect/>
          </a:stretch>
        </p:blipFill>
        <p:spPr>
          <a:xfrm>
            <a:off x="250825" y="1100138"/>
            <a:ext cx="8569325" cy="5757862"/>
          </a:xfr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a:xfrm>
            <a:off x="457200" y="260350"/>
            <a:ext cx="4762500" cy="6264275"/>
          </a:xfrm>
        </p:spPr>
        <p:txBody>
          <a:bodyPr/>
          <a:lstStyle/>
          <a:p>
            <a:pPr eaLnBrk="1" hangingPunct="1">
              <a:lnSpc>
                <a:spcPct val="105000"/>
              </a:lnSpc>
            </a:pPr>
            <a:r>
              <a:rPr lang="zh-CN" altLang="en-US" sz="1800" smtClean="0">
                <a:solidFill>
                  <a:srgbClr val="FFFF00"/>
                </a:solidFill>
                <a:latin typeface="黑体" pitchFamily="49" charset="-122"/>
                <a:ea typeface="黑体" pitchFamily="49" charset="-122"/>
              </a:rPr>
              <a:t>沃尔玛在中国的分布</a:t>
            </a:r>
          </a:p>
          <a:p>
            <a:pPr eaLnBrk="1" hangingPunct="1">
              <a:lnSpc>
                <a:spcPct val="105000"/>
              </a:lnSpc>
            </a:pPr>
            <a:r>
              <a:rPr lang="zh-CN" altLang="en-US" sz="1800" smtClean="0">
                <a:solidFill>
                  <a:schemeClr val="bg1"/>
                </a:solidFill>
                <a:latin typeface="黑体" pitchFamily="49" charset="-122"/>
                <a:ea typeface="黑体" pitchFamily="49" charset="-122"/>
              </a:rPr>
              <a:t>沃尔玛初入中国时，曾经考虑将上海选为总部所在地，却因为与投资合作者谈判失败，退而选择广东深圳作为中国总部。</a:t>
            </a:r>
          </a:p>
          <a:p>
            <a:pPr eaLnBrk="1" hangingPunct="1">
              <a:lnSpc>
                <a:spcPct val="105000"/>
              </a:lnSpc>
            </a:pPr>
            <a:r>
              <a:rPr lang="en-US" altLang="zh-CN" sz="1800" smtClean="0">
                <a:solidFill>
                  <a:schemeClr val="bg1"/>
                </a:solidFill>
                <a:latin typeface="黑体" pitchFamily="49" charset="-122"/>
                <a:ea typeface="黑体" pitchFamily="49" charset="-122"/>
              </a:rPr>
              <a:t>1996-2004</a:t>
            </a:r>
            <a:r>
              <a:rPr lang="zh-CN" altLang="en-US" sz="1800" smtClean="0">
                <a:solidFill>
                  <a:schemeClr val="bg1"/>
                </a:solidFill>
                <a:latin typeface="黑体" pitchFamily="49" charset="-122"/>
                <a:ea typeface="黑体" pitchFamily="49" charset="-122"/>
              </a:rPr>
              <a:t>年间</a:t>
            </a:r>
            <a:r>
              <a:rPr lang="en-US" altLang="zh-CN" sz="1800" smtClean="0">
                <a:solidFill>
                  <a:schemeClr val="bg1"/>
                </a:solidFill>
                <a:latin typeface="黑体" pitchFamily="49" charset="-122"/>
                <a:ea typeface="黑体" pitchFamily="49" charset="-122"/>
              </a:rPr>
              <a:t>,</a:t>
            </a:r>
            <a:r>
              <a:rPr lang="zh-CN" altLang="en-US" sz="1800" smtClean="0">
                <a:solidFill>
                  <a:schemeClr val="bg1"/>
                </a:solidFill>
                <a:latin typeface="黑体" pitchFamily="49" charset="-122"/>
                <a:ea typeface="黑体" pitchFamily="49" charset="-122"/>
              </a:rPr>
              <a:t>沃尔玛主要着力以广东为中心向华南地区扩散发展，以辽宁为入手点在东北及渤海湾地区进行散点式布局，基本处于试水阶段。截至到</a:t>
            </a:r>
            <a:r>
              <a:rPr lang="en-US" altLang="zh-CN" sz="1800" smtClean="0">
                <a:solidFill>
                  <a:schemeClr val="bg1"/>
                </a:solidFill>
                <a:latin typeface="黑体" pitchFamily="49" charset="-122"/>
                <a:ea typeface="黑体" pitchFamily="49" charset="-122"/>
              </a:rPr>
              <a:t>2004</a:t>
            </a:r>
            <a:r>
              <a:rPr lang="zh-CN" altLang="en-US" sz="1800" smtClean="0">
                <a:solidFill>
                  <a:schemeClr val="bg1"/>
                </a:solidFill>
                <a:latin typeface="黑体" pitchFamily="49" charset="-122"/>
                <a:ea typeface="黑体" pitchFamily="49" charset="-122"/>
              </a:rPr>
              <a:t>年为止，共进入</a:t>
            </a:r>
            <a:r>
              <a:rPr lang="en-US" altLang="zh-CN" sz="1800" smtClean="0">
                <a:solidFill>
                  <a:schemeClr val="bg1"/>
                </a:solidFill>
                <a:latin typeface="黑体" pitchFamily="49" charset="-122"/>
                <a:ea typeface="黑体" pitchFamily="49" charset="-122"/>
              </a:rPr>
              <a:t>14</a:t>
            </a:r>
            <a:r>
              <a:rPr lang="zh-CN" altLang="en-US" sz="1800" smtClean="0">
                <a:solidFill>
                  <a:schemeClr val="bg1"/>
                </a:solidFill>
                <a:latin typeface="黑体" pitchFamily="49" charset="-122"/>
                <a:ea typeface="黑体" pitchFamily="49" charset="-122"/>
              </a:rPr>
              <a:t>个省，包括广东接壤的各省，东北三省及渤海湾各经济发达省份。</a:t>
            </a:r>
          </a:p>
          <a:p>
            <a:pPr eaLnBrk="1" hangingPunct="1">
              <a:lnSpc>
                <a:spcPct val="105000"/>
              </a:lnSpc>
            </a:pPr>
            <a:r>
              <a:rPr lang="zh-CN" altLang="en-US" sz="1800" smtClean="0">
                <a:solidFill>
                  <a:schemeClr val="bg1"/>
                </a:solidFill>
                <a:latin typeface="黑体" pitchFamily="49" charset="-122"/>
                <a:ea typeface="黑体" pitchFamily="49" charset="-122"/>
              </a:rPr>
              <a:t>但是门店主要集中在华南地区，企业在全国范围内影响力不足。并未能进入上海、北京这两个巨大的零售市场。</a:t>
            </a:r>
          </a:p>
          <a:p>
            <a:pPr eaLnBrk="1" hangingPunct="1">
              <a:lnSpc>
                <a:spcPct val="105000"/>
              </a:lnSpc>
            </a:pPr>
            <a:r>
              <a:rPr lang="zh-CN" altLang="en-US" sz="1800" smtClean="0">
                <a:solidFill>
                  <a:schemeClr val="bg1"/>
                </a:solidFill>
                <a:latin typeface="黑体" pitchFamily="49" charset="-122"/>
                <a:ea typeface="黑体" pitchFamily="49" charset="-122"/>
              </a:rPr>
              <a:t>截至</a:t>
            </a:r>
            <a:r>
              <a:rPr lang="en-US" altLang="zh-CN" sz="1800" smtClean="0">
                <a:solidFill>
                  <a:schemeClr val="bg1"/>
                </a:solidFill>
                <a:latin typeface="黑体" pitchFamily="49" charset="-122"/>
                <a:ea typeface="黑体" pitchFamily="49" charset="-122"/>
              </a:rPr>
              <a:t>2009</a:t>
            </a:r>
            <a:r>
              <a:rPr lang="zh-CN" altLang="en-US" sz="1800" smtClean="0">
                <a:solidFill>
                  <a:schemeClr val="bg1"/>
                </a:solidFill>
                <a:latin typeface="黑体" pitchFamily="49" charset="-122"/>
                <a:ea typeface="黑体" pitchFamily="49" charset="-122"/>
              </a:rPr>
              <a:t>年底</a:t>
            </a:r>
            <a:r>
              <a:rPr lang="en-US" altLang="zh-CN" sz="1800" smtClean="0">
                <a:solidFill>
                  <a:schemeClr val="bg1"/>
                </a:solidFill>
                <a:latin typeface="黑体" pitchFamily="49" charset="-122"/>
                <a:ea typeface="黑体" pitchFamily="49" charset="-122"/>
              </a:rPr>
              <a:t>,</a:t>
            </a:r>
            <a:r>
              <a:rPr lang="zh-CN" altLang="en-US" sz="1800" smtClean="0">
                <a:solidFill>
                  <a:schemeClr val="bg1"/>
                </a:solidFill>
                <a:latin typeface="黑体" pitchFamily="49" charset="-122"/>
                <a:ea typeface="黑体" pitchFamily="49" charset="-122"/>
              </a:rPr>
              <a:t>在门店数量的分布上，沃尔玛门店数量基本从东南沿海向内地依次递减，西北地区仍然未有涉及。从总部所在地深圳向外，随距离递减。</a:t>
            </a:r>
          </a:p>
          <a:p>
            <a:pPr eaLnBrk="1" hangingPunct="1">
              <a:lnSpc>
                <a:spcPct val="105000"/>
              </a:lnSpc>
            </a:pPr>
            <a:r>
              <a:rPr lang="zh-CN" altLang="en-US" sz="1800" smtClean="0">
                <a:solidFill>
                  <a:schemeClr val="bg1"/>
                </a:solidFill>
                <a:latin typeface="黑体" pitchFamily="49" charset="-122"/>
                <a:ea typeface="黑体" pitchFamily="49" charset="-122"/>
              </a:rPr>
              <a:t>沃尔玛的省区分布比家乐福更为平均，进驻了全国东南地区的所有省份。沃尔玛目前的分布格局符合瑷珲</a:t>
            </a:r>
            <a:r>
              <a:rPr lang="en-US" altLang="zh-CN" sz="1800" smtClean="0">
                <a:solidFill>
                  <a:schemeClr val="bg1"/>
                </a:solidFill>
                <a:latin typeface="黑体" pitchFamily="49" charset="-122"/>
                <a:ea typeface="黑体" pitchFamily="49" charset="-122"/>
              </a:rPr>
              <a:t>-</a:t>
            </a:r>
            <a:r>
              <a:rPr lang="zh-CN" altLang="en-US" sz="1800" smtClean="0">
                <a:solidFill>
                  <a:schemeClr val="bg1"/>
                </a:solidFill>
                <a:latin typeface="黑体" pitchFamily="49" charset="-122"/>
                <a:ea typeface="黑体" pitchFamily="49" charset="-122"/>
              </a:rPr>
              <a:t>腾冲一线的划分。 </a:t>
            </a:r>
          </a:p>
        </p:txBody>
      </p:sp>
      <p:pic>
        <p:nvPicPr>
          <p:cNvPr id="29699" name="Picture 4" descr="2004年沃尔玛各门店在中国的分布"/>
          <p:cNvPicPr>
            <a:picLocks noChangeAspect="1" noChangeArrowheads="1"/>
          </p:cNvPicPr>
          <p:nvPr/>
        </p:nvPicPr>
        <p:blipFill>
          <a:blip r:embed="rId2" cstate="print"/>
          <a:srcRect/>
          <a:stretch>
            <a:fillRect/>
          </a:stretch>
        </p:blipFill>
        <p:spPr bwMode="auto">
          <a:xfrm>
            <a:off x="5435600" y="90488"/>
            <a:ext cx="3708400" cy="3230562"/>
          </a:xfrm>
          <a:prstGeom prst="rect">
            <a:avLst/>
          </a:prstGeom>
          <a:noFill/>
          <a:ln w="9525">
            <a:noFill/>
            <a:miter lim="800000"/>
            <a:headEnd/>
            <a:tailEnd/>
          </a:ln>
        </p:spPr>
      </p:pic>
      <p:pic>
        <p:nvPicPr>
          <p:cNvPr id="29700" name="Picture 5" descr="2009年沃尔玛各门店在中国的分布"/>
          <p:cNvPicPr>
            <a:picLocks noChangeAspect="1" noChangeArrowheads="1"/>
          </p:cNvPicPr>
          <p:nvPr/>
        </p:nvPicPr>
        <p:blipFill>
          <a:blip r:embed="rId3" cstate="print"/>
          <a:srcRect/>
          <a:stretch>
            <a:fillRect/>
          </a:stretch>
        </p:blipFill>
        <p:spPr bwMode="auto">
          <a:xfrm>
            <a:off x="5292725" y="3284538"/>
            <a:ext cx="3851275" cy="33543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type="body" idx="1"/>
          </p:nvPr>
        </p:nvSpPr>
        <p:spPr>
          <a:xfrm>
            <a:off x="457200" y="404813"/>
            <a:ext cx="4619625" cy="5976937"/>
          </a:xfrm>
        </p:spPr>
        <p:txBody>
          <a:bodyPr/>
          <a:lstStyle/>
          <a:p>
            <a:pPr eaLnBrk="1" hangingPunct="1">
              <a:lnSpc>
                <a:spcPct val="105000"/>
              </a:lnSpc>
            </a:pPr>
            <a:r>
              <a:rPr lang="zh-CN" altLang="en-US" sz="2000" smtClean="0">
                <a:solidFill>
                  <a:srgbClr val="FFFF00"/>
                </a:solidFill>
                <a:latin typeface="黑体" pitchFamily="49" charset="-122"/>
                <a:ea typeface="黑体" pitchFamily="49" charset="-122"/>
              </a:rPr>
              <a:t>家乐福在中国的分布</a:t>
            </a:r>
          </a:p>
          <a:p>
            <a:pPr eaLnBrk="1" hangingPunct="1">
              <a:lnSpc>
                <a:spcPct val="105000"/>
              </a:lnSpc>
            </a:pPr>
            <a:r>
              <a:rPr lang="zh-CN" altLang="en-US" sz="2000" smtClean="0">
                <a:solidFill>
                  <a:schemeClr val="bg1"/>
                </a:solidFill>
                <a:latin typeface="黑体" pitchFamily="49" charset="-122"/>
                <a:ea typeface="黑体" pitchFamily="49" charset="-122"/>
              </a:rPr>
              <a:t>以上海作为总部</a:t>
            </a:r>
          </a:p>
          <a:p>
            <a:pPr eaLnBrk="1" hangingPunct="1">
              <a:lnSpc>
                <a:spcPct val="105000"/>
              </a:lnSpc>
            </a:pPr>
            <a:r>
              <a:rPr lang="en-US" altLang="zh-CN" sz="2000" smtClean="0">
                <a:solidFill>
                  <a:schemeClr val="bg1"/>
                </a:solidFill>
                <a:latin typeface="黑体" pitchFamily="49" charset="-122"/>
                <a:ea typeface="黑体" pitchFamily="49" charset="-122"/>
              </a:rPr>
              <a:t>1995-2004</a:t>
            </a:r>
            <a:r>
              <a:rPr lang="zh-CN" altLang="en-US" sz="2000" smtClean="0">
                <a:solidFill>
                  <a:schemeClr val="bg1"/>
                </a:solidFill>
                <a:latin typeface="黑体" pitchFamily="49" charset="-122"/>
                <a:ea typeface="黑体" pitchFamily="49" charset="-122"/>
              </a:rPr>
              <a:t>年间</a:t>
            </a:r>
            <a:r>
              <a:rPr lang="en-US" altLang="zh-CN" sz="2000" smtClean="0">
                <a:solidFill>
                  <a:schemeClr val="bg1"/>
                </a:solidFill>
                <a:latin typeface="黑体" pitchFamily="49" charset="-122"/>
                <a:ea typeface="黑体" pitchFamily="49" charset="-122"/>
              </a:rPr>
              <a:t>,</a:t>
            </a:r>
            <a:r>
              <a:rPr lang="zh-CN" altLang="en-US" sz="2000" smtClean="0">
                <a:solidFill>
                  <a:schemeClr val="bg1"/>
                </a:solidFill>
                <a:latin typeface="黑体" pitchFamily="49" charset="-122"/>
                <a:ea typeface="黑体" pitchFamily="49" charset="-122"/>
              </a:rPr>
              <a:t>家乐福的门店遍布东部沿海、长江沿线的重要发达经济省份。截止到</a:t>
            </a:r>
            <a:r>
              <a:rPr lang="en-US" altLang="zh-CN" sz="2000" smtClean="0">
                <a:solidFill>
                  <a:schemeClr val="bg1"/>
                </a:solidFill>
                <a:latin typeface="黑体" pitchFamily="49" charset="-122"/>
                <a:ea typeface="黑体" pitchFamily="49" charset="-122"/>
              </a:rPr>
              <a:t>2004</a:t>
            </a:r>
            <a:r>
              <a:rPr lang="zh-CN" altLang="en-US" sz="2000" smtClean="0">
                <a:solidFill>
                  <a:schemeClr val="bg1"/>
                </a:solidFill>
                <a:latin typeface="黑体" pitchFamily="49" charset="-122"/>
                <a:ea typeface="黑体" pitchFamily="49" charset="-122"/>
              </a:rPr>
              <a:t>年底</a:t>
            </a:r>
            <a:r>
              <a:rPr lang="en-US" altLang="zh-CN" sz="2000" smtClean="0">
                <a:solidFill>
                  <a:schemeClr val="bg1"/>
                </a:solidFill>
                <a:latin typeface="黑体" pitchFamily="49" charset="-122"/>
                <a:ea typeface="黑体" pitchFamily="49" charset="-122"/>
              </a:rPr>
              <a:t>,</a:t>
            </a:r>
            <a:r>
              <a:rPr lang="zh-CN" altLang="en-US" sz="2000" smtClean="0">
                <a:solidFill>
                  <a:schemeClr val="bg1"/>
                </a:solidFill>
                <a:latin typeface="黑体" pitchFamily="49" charset="-122"/>
                <a:ea typeface="黑体" pitchFamily="49" charset="-122"/>
              </a:rPr>
              <a:t>共进入了</a:t>
            </a:r>
            <a:r>
              <a:rPr lang="en-US" altLang="zh-CN" sz="2000" smtClean="0">
                <a:solidFill>
                  <a:schemeClr val="bg1"/>
                </a:solidFill>
                <a:latin typeface="黑体" pitchFamily="49" charset="-122"/>
                <a:ea typeface="黑体" pitchFamily="49" charset="-122"/>
              </a:rPr>
              <a:t>16</a:t>
            </a:r>
            <a:r>
              <a:rPr lang="zh-CN" altLang="en-US" sz="2000" smtClean="0">
                <a:solidFill>
                  <a:schemeClr val="bg1"/>
                </a:solidFill>
                <a:latin typeface="黑体" pitchFamily="49" charset="-122"/>
                <a:ea typeface="黑体" pitchFamily="49" charset="-122"/>
              </a:rPr>
              <a:t>个省份，包括新疆、四川等西部内陆省份。</a:t>
            </a:r>
          </a:p>
          <a:p>
            <a:pPr eaLnBrk="1" hangingPunct="1">
              <a:lnSpc>
                <a:spcPct val="105000"/>
              </a:lnSpc>
            </a:pPr>
            <a:r>
              <a:rPr lang="zh-CN" altLang="en-US" sz="2000" smtClean="0">
                <a:solidFill>
                  <a:schemeClr val="bg1"/>
                </a:solidFill>
                <a:latin typeface="黑体" pitchFamily="49" charset="-122"/>
                <a:ea typeface="黑体" pitchFamily="49" charset="-122"/>
              </a:rPr>
              <a:t>当然，首先进入一些</a:t>
            </a:r>
            <a:r>
              <a:rPr lang="zh-CN" altLang="en-US" sz="2000" smtClean="0">
                <a:solidFill>
                  <a:schemeClr val="bg1"/>
                </a:solidFill>
                <a:ea typeface="黑体" pitchFamily="49" charset="-122"/>
              </a:rPr>
              <a:t>“</a:t>
            </a:r>
            <a:r>
              <a:rPr lang="zh-CN" altLang="en-US" sz="2000" smtClean="0">
                <a:solidFill>
                  <a:schemeClr val="bg1"/>
                </a:solidFill>
                <a:latin typeface="黑体" pitchFamily="49" charset="-122"/>
                <a:ea typeface="黑体" pitchFamily="49" charset="-122"/>
              </a:rPr>
              <a:t>未开发</a:t>
            </a:r>
            <a:r>
              <a:rPr lang="zh-CN" altLang="en-US" sz="2000" smtClean="0">
                <a:solidFill>
                  <a:schemeClr val="bg1"/>
                </a:solidFill>
                <a:ea typeface="黑体" pitchFamily="49" charset="-122"/>
              </a:rPr>
              <a:t>”</a:t>
            </a:r>
            <a:r>
              <a:rPr lang="zh-CN" altLang="en-US" sz="2000" smtClean="0">
                <a:solidFill>
                  <a:schemeClr val="bg1"/>
                </a:solidFill>
                <a:latin typeface="黑体" pitchFamily="49" charset="-122"/>
                <a:ea typeface="黑体" pitchFamily="49" charset="-122"/>
              </a:rPr>
              <a:t>地区，有利于后续发挥其先行者优势，对于占有市场和树立企业的地方形象也很有好处。</a:t>
            </a:r>
          </a:p>
          <a:p>
            <a:pPr eaLnBrk="1" hangingPunct="1">
              <a:lnSpc>
                <a:spcPct val="105000"/>
              </a:lnSpc>
            </a:pPr>
            <a:r>
              <a:rPr lang="zh-CN" altLang="en-US" sz="2000" smtClean="0">
                <a:solidFill>
                  <a:schemeClr val="bg1"/>
                </a:solidFill>
                <a:latin typeface="黑体" pitchFamily="49" charset="-122"/>
                <a:ea typeface="黑体" pitchFamily="49" charset="-122"/>
              </a:rPr>
              <a:t>家乐福继开辟新疆市场之后，又在</a:t>
            </a:r>
            <a:r>
              <a:rPr lang="en-US" altLang="zh-CN" sz="2000" smtClean="0">
                <a:solidFill>
                  <a:schemeClr val="bg1"/>
                </a:solidFill>
                <a:latin typeface="黑体" pitchFamily="49" charset="-122"/>
                <a:ea typeface="黑体" pitchFamily="49" charset="-122"/>
              </a:rPr>
              <a:t>2006</a:t>
            </a:r>
            <a:r>
              <a:rPr lang="zh-CN" altLang="en-US" sz="2000" smtClean="0">
                <a:solidFill>
                  <a:schemeClr val="bg1"/>
                </a:solidFill>
                <a:latin typeface="黑体" pitchFamily="49" charset="-122"/>
                <a:ea typeface="黑体" pitchFamily="49" charset="-122"/>
              </a:rPr>
              <a:t>年进驻海南市场。但其省级分布依然主要集中在京津冀、长三角和珠三角三个中国经济增长极，其次集中在长江沿线三省安徽、湖北和四川，其他省份零星分布。</a:t>
            </a:r>
            <a:r>
              <a:rPr lang="zh-CN" altLang="en-US" sz="2800" smtClean="0"/>
              <a:t> </a:t>
            </a:r>
          </a:p>
        </p:txBody>
      </p:sp>
      <p:pic>
        <p:nvPicPr>
          <p:cNvPr id="30723" name="Picture 4" descr="2004年家乐福各门店在中国的分布"/>
          <p:cNvPicPr>
            <a:picLocks noChangeAspect="1" noChangeArrowheads="1"/>
          </p:cNvPicPr>
          <p:nvPr/>
        </p:nvPicPr>
        <p:blipFill>
          <a:blip r:embed="rId2" cstate="print"/>
          <a:srcRect/>
          <a:stretch>
            <a:fillRect/>
          </a:stretch>
        </p:blipFill>
        <p:spPr bwMode="auto">
          <a:xfrm>
            <a:off x="5435600" y="188913"/>
            <a:ext cx="3529013" cy="3206750"/>
          </a:xfrm>
          <a:prstGeom prst="rect">
            <a:avLst/>
          </a:prstGeom>
          <a:noFill/>
          <a:ln w="9525">
            <a:noFill/>
            <a:miter lim="800000"/>
            <a:headEnd/>
            <a:tailEnd/>
          </a:ln>
        </p:spPr>
      </p:pic>
      <p:pic>
        <p:nvPicPr>
          <p:cNvPr id="30724" name="Picture 5" descr="2009年家乐福各门店在中国的分布"/>
          <p:cNvPicPr>
            <a:picLocks noChangeAspect="1" noChangeArrowheads="1"/>
          </p:cNvPicPr>
          <p:nvPr/>
        </p:nvPicPr>
        <p:blipFill>
          <a:blip r:embed="rId3" cstate="print"/>
          <a:srcRect/>
          <a:stretch>
            <a:fillRect/>
          </a:stretch>
        </p:blipFill>
        <p:spPr bwMode="auto">
          <a:xfrm>
            <a:off x="5292725" y="3409950"/>
            <a:ext cx="3671888" cy="3227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68313" y="765175"/>
            <a:ext cx="8229600" cy="1143000"/>
          </a:xfrm>
        </p:spPr>
        <p:txBody>
          <a:bodyPr/>
          <a:lstStyle/>
          <a:p>
            <a:pPr algn="l" eaLnBrk="1" hangingPunct="1"/>
            <a:r>
              <a:rPr lang="zh-CN" altLang="en-US" sz="4000" smtClean="0">
                <a:solidFill>
                  <a:schemeClr val="bg1"/>
                </a:solidFill>
                <a:ea typeface="黑体" pitchFamily="49" charset="-122"/>
              </a:rPr>
              <a:t>三、公司生产单位的区位特征</a:t>
            </a:r>
          </a:p>
        </p:txBody>
      </p:sp>
      <p:sp>
        <p:nvSpPr>
          <p:cNvPr id="31747" name="Rectangle 3"/>
          <p:cNvSpPr>
            <a:spLocks noGrp="1" noChangeArrowheads="1"/>
          </p:cNvSpPr>
          <p:nvPr>
            <p:ph type="body" idx="1"/>
          </p:nvPr>
        </p:nvSpPr>
        <p:spPr>
          <a:xfrm>
            <a:off x="395288" y="2420938"/>
            <a:ext cx="8229600" cy="3916362"/>
          </a:xfrm>
        </p:spPr>
        <p:txBody>
          <a:bodyPr/>
          <a:lstStyle/>
          <a:p>
            <a:pPr eaLnBrk="1" hangingPunct="1">
              <a:lnSpc>
                <a:spcPct val="125000"/>
              </a:lnSpc>
              <a:buFontTx/>
              <a:buNone/>
            </a:pPr>
            <a:r>
              <a:rPr lang="zh-CN" altLang="en-US" smtClean="0">
                <a:solidFill>
                  <a:schemeClr val="bg1"/>
                </a:solidFill>
                <a:ea typeface="黑体" pitchFamily="49" charset="-122"/>
              </a:rPr>
              <a:t>（一）全球集中生产型</a:t>
            </a:r>
          </a:p>
          <a:p>
            <a:pPr eaLnBrk="1" hangingPunct="1">
              <a:lnSpc>
                <a:spcPct val="125000"/>
              </a:lnSpc>
              <a:buFontTx/>
              <a:buNone/>
            </a:pPr>
            <a:r>
              <a:rPr lang="zh-CN" altLang="en-US" smtClean="0">
                <a:solidFill>
                  <a:schemeClr val="bg1"/>
                </a:solidFill>
                <a:ea typeface="黑体" pitchFamily="49" charset="-122"/>
              </a:rPr>
              <a:t>（二）市场地生产型</a:t>
            </a:r>
          </a:p>
          <a:p>
            <a:pPr eaLnBrk="1" hangingPunct="1">
              <a:lnSpc>
                <a:spcPct val="125000"/>
              </a:lnSpc>
              <a:buFontTx/>
              <a:buNone/>
            </a:pPr>
            <a:r>
              <a:rPr lang="zh-CN" altLang="en-US" smtClean="0">
                <a:solidFill>
                  <a:schemeClr val="bg1"/>
                </a:solidFill>
                <a:ea typeface="黑体" pitchFamily="49" charset="-122"/>
              </a:rPr>
              <a:t>（三）专业化生产型</a:t>
            </a:r>
          </a:p>
          <a:p>
            <a:pPr eaLnBrk="1" hangingPunct="1">
              <a:lnSpc>
                <a:spcPct val="125000"/>
              </a:lnSpc>
              <a:buFontTx/>
              <a:buNone/>
            </a:pPr>
            <a:r>
              <a:rPr lang="zh-CN" altLang="en-US" smtClean="0">
                <a:solidFill>
                  <a:schemeClr val="bg1"/>
                </a:solidFill>
                <a:ea typeface="黑体" pitchFamily="49" charset="-122"/>
              </a:rPr>
              <a:t>（四）跨国横向一体化生产型</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a:xfrm>
            <a:off x="395288" y="5949950"/>
            <a:ext cx="8229600" cy="566738"/>
          </a:xfrm>
        </p:spPr>
        <p:txBody>
          <a:bodyPr/>
          <a:lstStyle/>
          <a:p>
            <a:pPr eaLnBrk="1" hangingPunct="1"/>
            <a:r>
              <a:rPr lang="zh-CN" altLang="en-US" sz="2800" smtClean="0">
                <a:solidFill>
                  <a:schemeClr val="bg1"/>
                </a:solidFill>
                <a:ea typeface="华文细黑" pitchFamily="2" charset="-122"/>
              </a:rPr>
              <a:t>跨国生产单位的集中组织形式</a:t>
            </a:r>
          </a:p>
        </p:txBody>
      </p:sp>
      <p:pic>
        <p:nvPicPr>
          <p:cNvPr id="32771" name="Picture 6" descr="跨国生产单位的几种组织形式"/>
          <p:cNvPicPr>
            <a:picLocks noChangeAspect="1" noChangeArrowheads="1"/>
          </p:cNvPicPr>
          <p:nvPr>
            <p:ph idx="1"/>
          </p:nvPr>
        </p:nvPicPr>
        <p:blipFill>
          <a:blip r:embed="rId2" cstate="print"/>
          <a:srcRect/>
          <a:stretch>
            <a:fillRect/>
          </a:stretch>
        </p:blipFill>
        <p:spPr>
          <a:xfrm>
            <a:off x="395288" y="260350"/>
            <a:ext cx="8569325" cy="5616575"/>
          </a:xfr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cstate="print"/>
          <a:srcRect/>
          <a:stretch>
            <a:fillRect/>
          </a:stretch>
        </p:blipFill>
        <p:spPr bwMode="auto">
          <a:xfrm>
            <a:off x="179388" y="188913"/>
            <a:ext cx="5400675" cy="3384550"/>
          </a:xfrm>
          <a:prstGeom prst="rect">
            <a:avLst/>
          </a:prstGeom>
          <a:noFill/>
          <a:ln w="9525">
            <a:noFill/>
            <a:miter lim="800000"/>
            <a:headEnd/>
            <a:tailEnd/>
          </a:ln>
        </p:spPr>
      </p:pic>
      <p:pic>
        <p:nvPicPr>
          <p:cNvPr id="33795" name="Picture 3"/>
          <p:cNvPicPr>
            <a:picLocks noChangeAspect="1" noChangeArrowheads="1"/>
          </p:cNvPicPr>
          <p:nvPr/>
        </p:nvPicPr>
        <p:blipFill>
          <a:blip r:embed="rId3" cstate="print"/>
          <a:srcRect/>
          <a:stretch>
            <a:fillRect/>
          </a:stretch>
        </p:blipFill>
        <p:spPr bwMode="auto">
          <a:xfrm>
            <a:off x="3635375" y="3573463"/>
            <a:ext cx="5192713" cy="3168650"/>
          </a:xfrm>
          <a:prstGeom prst="rect">
            <a:avLst/>
          </a:prstGeom>
          <a:noFill/>
          <a:ln w="9525">
            <a:noFill/>
            <a:miter lim="800000"/>
            <a:headEnd/>
            <a:tailEnd/>
          </a:ln>
        </p:spPr>
      </p:pic>
      <p:sp>
        <p:nvSpPr>
          <p:cNvPr id="33796" name="TextBox 3"/>
          <p:cNvSpPr txBox="1">
            <a:spLocks noChangeArrowheads="1"/>
          </p:cNvSpPr>
          <p:nvPr/>
        </p:nvSpPr>
        <p:spPr bwMode="auto">
          <a:xfrm>
            <a:off x="6011863" y="1557338"/>
            <a:ext cx="2032000" cy="368300"/>
          </a:xfrm>
          <a:prstGeom prst="rect">
            <a:avLst/>
          </a:prstGeom>
          <a:noFill/>
          <a:ln w="9525">
            <a:noFill/>
            <a:miter lim="800000"/>
            <a:headEnd/>
            <a:tailEnd/>
          </a:ln>
        </p:spPr>
        <p:txBody>
          <a:bodyPr wrap="none">
            <a:spAutoFit/>
          </a:bodyPr>
          <a:lstStyle/>
          <a:p>
            <a:r>
              <a:rPr lang="zh-CN" altLang="en-US">
                <a:solidFill>
                  <a:srgbClr val="FFC000"/>
                </a:solidFill>
              </a:rPr>
              <a:t>中国对外直接投资</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250825" y="115888"/>
            <a:ext cx="5057775" cy="3097212"/>
          </a:xfrm>
          <a:prstGeom prst="rect">
            <a:avLst/>
          </a:prstGeom>
          <a:noFill/>
          <a:ln w="9525">
            <a:noFill/>
            <a:miter lim="800000"/>
            <a:headEnd/>
            <a:tailEnd/>
          </a:ln>
        </p:spPr>
      </p:pic>
      <p:pic>
        <p:nvPicPr>
          <p:cNvPr id="34819" name="Picture 3"/>
          <p:cNvPicPr>
            <a:picLocks noChangeAspect="1" noChangeArrowheads="1"/>
          </p:cNvPicPr>
          <p:nvPr/>
        </p:nvPicPr>
        <p:blipFill>
          <a:blip r:embed="rId3" cstate="print"/>
          <a:srcRect/>
          <a:stretch>
            <a:fillRect/>
          </a:stretch>
        </p:blipFill>
        <p:spPr bwMode="auto">
          <a:xfrm>
            <a:off x="3276600" y="3213100"/>
            <a:ext cx="5084763" cy="3455988"/>
          </a:xfrm>
          <a:prstGeom prst="rect">
            <a:avLst/>
          </a:prstGeom>
          <a:noFill/>
          <a:ln w="9525">
            <a:noFill/>
            <a:miter lim="800000"/>
            <a:headEnd/>
            <a:tailEnd/>
          </a:ln>
        </p:spPr>
      </p:pic>
      <p:sp>
        <p:nvSpPr>
          <p:cNvPr id="34820" name="TextBox 3"/>
          <p:cNvSpPr txBox="1">
            <a:spLocks noChangeArrowheads="1"/>
          </p:cNvSpPr>
          <p:nvPr/>
        </p:nvSpPr>
        <p:spPr bwMode="auto">
          <a:xfrm>
            <a:off x="6011863" y="1557338"/>
            <a:ext cx="2032000" cy="368300"/>
          </a:xfrm>
          <a:prstGeom prst="rect">
            <a:avLst/>
          </a:prstGeom>
          <a:noFill/>
          <a:ln w="9525">
            <a:noFill/>
            <a:miter lim="800000"/>
            <a:headEnd/>
            <a:tailEnd/>
          </a:ln>
        </p:spPr>
        <p:txBody>
          <a:bodyPr wrap="none">
            <a:spAutoFit/>
          </a:bodyPr>
          <a:lstStyle/>
          <a:p>
            <a:r>
              <a:rPr lang="zh-CN" altLang="en-US">
                <a:solidFill>
                  <a:srgbClr val="FFC000"/>
                </a:solidFill>
              </a:rPr>
              <a:t>中国对外直接投资</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395288" y="188913"/>
            <a:ext cx="5040312" cy="3095625"/>
          </a:xfrm>
          <a:prstGeom prst="rect">
            <a:avLst/>
          </a:prstGeom>
          <a:noFill/>
          <a:ln w="9525">
            <a:noFill/>
            <a:miter lim="800000"/>
            <a:headEnd/>
            <a:tailEnd/>
          </a:ln>
        </p:spPr>
      </p:pic>
      <p:pic>
        <p:nvPicPr>
          <p:cNvPr id="61443" name="Picture 3"/>
          <p:cNvPicPr>
            <a:picLocks noChangeAspect="1" noChangeArrowheads="1"/>
          </p:cNvPicPr>
          <p:nvPr/>
        </p:nvPicPr>
        <p:blipFill>
          <a:blip r:embed="rId3" cstate="print"/>
          <a:srcRect/>
          <a:stretch>
            <a:fillRect/>
          </a:stretch>
        </p:blipFill>
        <p:spPr bwMode="auto">
          <a:xfrm>
            <a:off x="4140200" y="3429000"/>
            <a:ext cx="4895850" cy="3097213"/>
          </a:xfrm>
          <a:prstGeom prst="rect">
            <a:avLst/>
          </a:prstGeom>
          <a:noFill/>
          <a:ln w="9525">
            <a:noFill/>
            <a:miter lim="800000"/>
            <a:headEnd/>
            <a:tailEnd/>
          </a:ln>
        </p:spPr>
      </p:pic>
      <p:sp>
        <p:nvSpPr>
          <p:cNvPr id="4" name="TextBox 3"/>
          <p:cNvSpPr txBox="1">
            <a:spLocks noChangeArrowheads="1"/>
          </p:cNvSpPr>
          <p:nvPr/>
        </p:nvSpPr>
        <p:spPr bwMode="auto">
          <a:xfrm>
            <a:off x="1403350" y="1557338"/>
            <a:ext cx="6769100" cy="3351212"/>
          </a:xfrm>
          <a:prstGeom prst="rect">
            <a:avLst/>
          </a:prstGeom>
          <a:solidFill>
            <a:srgbClr val="FFFF00"/>
          </a:solidFill>
          <a:ln w="9525">
            <a:noFill/>
            <a:miter lim="800000"/>
            <a:headEnd/>
            <a:tailEnd/>
          </a:ln>
        </p:spPr>
        <p:txBody>
          <a:bodyPr>
            <a:spAutoFit/>
          </a:bodyPr>
          <a:lstStyle/>
          <a:p>
            <a:pPr>
              <a:lnSpc>
                <a:spcPct val="150000"/>
              </a:lnSpc>
            </a:pPr>
            <a:r>
              <a:rPr lang="en-US" altLang="zh-CN">
                <a:latin typeface="黑体" pitchFamily="49" charset="-122"/>
                <a:ea typeface="黑体" pitchFamily="49" charset="-122"/>
              </a:rPr>
              <a:t>2015</a:t>
            </a:r>
            <a:r>
              <a:rPr lang="zh-CN" altLang="zh-CN">
                <a:latin typeface="黑体" pitchFamily="49" charset="-122"/>
                <a:ea typeface="黑体" pitchFamily="49" charset="-122"/>
              </a:rPr>
              <a:t>年，福建省境外投资企业及分支机构累计达</a:t>
            </a:r>
            <a:r>
              <a:rPr lang="en-US" altLang="zh-CN">
                <a:latin typeface="黑体" pitchFamily="49" charset="-122"/>
                <a:ea typeface="黑体" pitchFamily="49" charset="-122"/>
              </a:rPr>
              <a:t>1423</a:t>
            </a:r>
            <a:r>
              <a:rPr lang="zh-CN" altLang="zh-CN">
                <a:latin typeface="黑体" pitchFamily="49" charset="-122"/>
                <a:ea typeface="黑体" pitchFamily="49" charset="-122"/>
              </a:rPr>
              <a:t>家，亚洲所占比重高达</a:t>
            </a:r>
            <a:r>
              <a:rPr lang="en-US" altLang="zh-CN">
                <a:latin typeface="黑体" pitchFamily="49" charset="-122"/>
                <a:ea typeface="黑体" pitchFamily="49" charset="-122"/>
              </a:rPr>
              <a:t>68.73%</a:t>
            </a:r>
            <a:r>
              <a:rPr lang="zh-CN" altLang="zh-CN">
                <a:latin typeface="黑体" pitchFamily="49" charset="-122"/>
                <a:ea typeface="黑体" pitchFamily="49" charset="-122"/>
              </a:rPr>
              <a:t>，其后依次为北美洲（</a:t>
            </a:r>
            <a:r>
              <a:rPr lang="en-US" altLang="zh-CN">
                <a:latin typeface="黑体" pitchFamily="49" charset="-122"/>
                <a:ea typeface="黑体" pitchFamily="49" charset="-122"/>
              </a:rPr>
              <a:t>12.72%</a:t>
            </a:r>
            <a:r>
              <a:rPr lang="zh-CN" altLang="zh-CN">
                <a:latin typeface="黑体" pitchFamily="49" charset="-122"/>
                <a:ea typeface="黑体" pitchFamily="49" charset="-122"/>
              </a:rPr>
              <a:t>）、欧洲（</a:t>
            </a:r>
            <a:r>
              <a:rPr lang="en-US" altLang="zh-CN">
                <a:latin typeface="黑体" pitchFamily="49" charset="-122"/>
                <a:ea typeface="黑体" pitchFamily="49" charset="-122"/>
              </a:rPr>
              <a:t>8.50%</a:t>
            </a:r>
            <a:r>
              <a:rPr lang="zh-CN" altLang="zh-CN">
                <a:latin typeface="黑体" pitchFamily="49" charset="-122"/>
                <a:ea typeface="黑体" pitchFamily="49" charset="-122"/>
              </a:rPr>
              <a:t>）、非洲（</a:t>
            </a:r>
            <a:r>
              <a:rPr lang="en-US" altLang="zh-CN">
                <a:latin typeface="黑体" pitchFamily="49" charset="-122"/>
                <a:ea typeface="黑体" pitchFamily="49" charset="-122"/>
              </a:rPr>
              <a:t>5.62%)</a:t>
            </a:r>
            <a:r>
              <a:rPr lang="zh-CN" altLang="zh-CN">
                <a:latin typeface="黑体" pitchFamily="49" charset="-122"/>
                <a:ea typeface="黑体" pitchFamily="49" charset="-122"/>
              </a:rPr>
              <a:t>、大洋洲（</a:t>
            </a:r>
            <a:r>
              <a:rPr lang="en-US" altLang="zh-CN">
                <a:latin typeface="黑体" pitchFamily="49" charset="-122"/>
                <a:ea typeface="黑体" pitchFamily="49" charset="-122"/>
              </a:rPr>
              <a:t>2.95%</a:t>
            </a:r>
            <a:r>
              <a:rPr lang="zh-CN" altLang="zh-CN">
                <a:latin typeface="黑体" pitchFamily="49" charset="-122"/>
                <a:ea typeface="黑体" pitchFamily="49" charset="-122"/>
              </a:rPr>
              <a:t>）和拉丁美洲（</a:t>
            </a:r>
            <a:r>
              <a:rPr lang="en-US" altLang="zh-CN">
                <a:latin typeface="黑体" pitchFamily="49" charset="-122"/>
                <a:ea typeface="黑体" pitchFamily="49" charset="-122"/>
              </a:rPr>
              <a:t>1.48%</a:t>
            </a:r>
            <a:r>
              <a:rPr lang="zh-CN" altLang="zh-CN">
                <a:latin typeface="黑体" pitchFamily="49" charset="-122"/>
                <a:ea typeface="黑体" pitchFamily="49" charset="-122"/>
              </a:rPr>
              <a:t>）。在国别（地区）尺度上高度集中于香港（</a:t>
            </a:r>
            <a:r>
              <a:rPr lang="en-US" altLang="zh-CN">
                <a:latin typeface="黑体" pitchFamily="49" charset="-122"/>
                <a:ea typeface="黑体" pitchFamily="49" charset="-122"/>
              </a:rPr>
              <a:t>44.27%</a:t>
            </a:r>
            <a:r>
              <a:rPr lang="zh-CN" altLang="zh-CN">
                <a:latin typeface="黑体" pitchFamily="49" charset="-122"/>
                <a:ea typeface="黑体" pitchFamily="49" charset="-122"/>
              </a:rPr>
              <a:t>），其次是美国（</a:t>
            </a:r>
            <a:r>
              <a:rPr lang="en-US" altLang="zh-CN">
                <a:latin typeface="黑体" pitchFamily="49" charset="-122"/>
                <a:ea typeface="黑体" pitchFamily="49" charset="-122"/>
              </a:rPr>
              <a:t>9.84%</a:t>
            </a:r>
            <a:r>
              <a:rPr lang="zh-CN" altLang="zh-CN">
                <a:latin typeface="黑体" pitchFamily="49" charset="-122"/>
                <a:ea typeface="黑体" pitchFamily="49" charset="-122"/>
              </a:rPr>
              <a:t>），在其他国家和地区投资分布比较分散，比重在</a:t>
            </a:r>
            <a:r>
              <a:rPr lang="en-US" altLang="zh-CN">
                <a:latin typeface="黑体" pitchFamily="49" charset="-122"/>
                <a:ea typeface="黑体" pitchFamily="49" charset="-122"/>
              </a:rPr>
              <a:t>1%</a:t>
            </a:r>
            <a:r>
              <a:rPr lang="zh-CN" altLang="zh-CN">
                <a:latin typeface="黑体" pitchFamily="49" charset="-122"/>
                <a:ea typeface="黑体" pitchFamily="49" charset="-122"/>
              </a:rPr>
              <a:t>之上的国家（地区）依次有：台湾</a:t>
            </a:r>
            <a:r>
              <a:rPr lang="zh-CN" altLang="en-US">
                <a:latin typeface="黑体" pitchFamily="49" charset="-122"/>
                <a:ea typeface="黑体" pitchFamily="49" charset="-122"/>
              </a:rPr>
              <a:t>、</a:t>
            </a:r>
            <a:r>
              <a:rPr lang="zh-CN" altLang="zh-CN">
                <a:latin typeface="黑体" pitchFamily="49" charset="-122"/>
                <a:ea typeface="黑体" pitchFamily="49" charset="-122"/>
              </a:rPr>
              <a:t>印度尼西亚</a:t>
            </a:r>
            <a:r>
              <a:rPr lang="zh-CN" altLang="en-US">
                <a:latin typeface="黑体" pitchFamily="49" charset="-122"/>
                <a:ea typeface="黑体" pitchFamily="49" charset="-122"/>
              </a:rPr>
              <a:t>、</a:t>
            </a:r>
            <a:r>
              <a:rPr lang="zh-CN" altLang="zh-CN">
                <a:latin typeface="黑体" pitchFamily="49" charset="-122"/>
                <a:ea typeface="黑体" pitchFamily="49" charset="-122"/>
              </a:rPr>
              <a:t>新加坡</a:t>
            </a:r>
            <a:r>
              <a:rPr lang="zh-CN" altLang="en-US">
                <a:latin typeface="黑体" pitchFamily="49" charset="-122"/>
                <a:ea typeface="黑体" pitchFamily="49" charset="-122"/>
              </a:rPr>
              <a:t>、</a:t>
            </a:r>
            <a:r>
              <a:rPr lang="zh-CN" altLang="zh-CN">
                <a:latin typeface="黑体" pitchFamily="49" charset="-122"/>
                <a:ea typeface="黑体" pitchFamily="49" charset="-122"/>
              </a:rPr>
              <a:t>澳大利亚</a:t>
            </a:r>
            <a:r>
              <a:rPr lang="zh-CN" altLang="en-US">
                <a:latin typeface="黑体" pitchFamily="49" charset="-122"/>
                <a:ea typeface="黑体" pitchFamily="49" charset="-122"/>
              </a:rPr>
              <a:t>、</a:t>
            </a:r>
            <a:r>
              <a:rPr lang="zh-CN" altLang="zh-CN">
                <a:latin typeface="黑体" pitchFamily="49" charset="-122"/>
                <a:ea typeface="黑体" pitchFamily="49" charset="-122"/>
              </a:rPr>
              <a:t>英属维尔京群岛、日本、德国、阿拉伯联合酋长国、越南、俄罗斯、马来西亚、荷兰以及意大利</a:t>
            </a:r>
            <a:endParaRPr lang="zh-CN" altLang="en-US">
              <a:latin typeface="黑体" pitchFamily="49" charset="-122"/>
              <a:ea typeface="黑体" pitchFamily="49" charset="-122"/>
            </a:endParaRPr>
          </a:p>
        </p:txBody>
      </p:sp>
      <p:pic>
        <p:nvPicPr>
          <p:cNvPr id="61444" name="Picture 4"/>
          <p:cNvPicPr>
            <a:picLocks noChangeAspect="1" noChangeArrowheads="1"/>
          </p:cNvPicPr>
          <p:nvPr/>
        </p:nvPicPr>
        <p:blipFill>
          <a:blip r:embed="rId4" cstate="print"/>
          <a:srcRect/>
          <a:stretch>
            <a:fillRect/>
          </a:stretch>
        </p:blipFill>
        <p:spPr bwMode="auto">
          <a:xfrm>
            <a:off x="107950" y="1557338"/>
            <a:ext cx="9032875" cy="37004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box(in)">
                                      <p:cBhvr>
                                        <p:cTn id="7" dur="500"/>
                                        <p:tgtEl>
                                          <p:spTgt spid="6144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61444"/>
                                        </p:tgtEl>
                                        <p:attrNameLst>
                                          <p:attrName>style.visibility</p:attrName>
                                        </p:attrNameLst>
                                      </p:cBhvr>
                                      <p:to>
                                        <p:strVal val="visible"/>
                                      </p:to>
                                    </p:set>
                                    <p:animEffect transition="in" filter="diamond(in)">
                                      <p:cBhvr>
                                        <p:cTn id="17" dur="20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684213" y="2781300"/>
            <a:ext cx="7772400" cy="1143000"/>
          </a:xfrm>
        </p:spPr>
        <p:txBody>
          <a:bodyPr/>
          <a:lstStyle/>
          <a:p>
            <a:pPr eaLnBrk="1" hangingPunct="1">
              <a:lnSpc>
                <a:spcPct val="140000"/>
              </a:lnSpc>
            </a:pPr>
            <a:r>
              <a:rPr lang="zh-CN" altLang="en-US" sz="4000" smtClean="0">
                <a:solidFill>
                  <a:schemeClr val="bg1"/>
                </a:solidFill>
                <a:latin typeface="黑体" pitchFamily="49" charset="-122"/>
                <a:ea typeface="黑体" pitchFamily="49" charset="-122"/>
              </a:rPr>
              <a:t>第三节  跨国公司对投资区经济发展的影响</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1"/>
          </p:nvPr>
        </p:nvSpPr>
        <p:spPr>
          <a:xfrm>
            <a:off x="457200" y="620713"/>
            <a:ext cx="8229600" cy="5832475"/>
          </a:xfrm>
        </p:spPr>
        <p:txBody>
          <a:bodyPr/>
          <a:lstStyle/>
          <a:p>
            <a:pPr eaLnBrk="1" hangingPunct="1">
              <a:lnSpc>
                <a:spcPct val="105000"/>
              </a:lnSpc>
              <a:defRPr/>
            </a:pPr>
            <a:r>
              <a:rPr lang="zh-CN" altLang="en-US" dirty="0" smtClean="0">
                <a:solidFill>
                  <a:schemeClr val="bg1"/>
                </a:solidFill>
                <a:latin typeface="黑体" pitchFamily="49" charset="-122"/>
                <a:ea typeface="黑体" pitchFamily="49" charset="-122"/>
              </a:rPr>
              <a:t>跨国公司与投资地联系的理论分析</a:t>
            </a:r>
          </a:p>
          <a:p>
            <a:pPr lvl="1" eaLnBrk="1" hangingPunct="1">
              <a:lnSpc>
                <a:spcPct val="105000"/>
              </a:lnSpc>
              <a:defRPr/>
            </a:pPr>
            <a:r>
              <a:rPr lang="zh-CN" altLang="en-US" dirty="0" smtClean="0">
                <a:solidFill>
                  <a:schemeClr val="bg1"/>
                </a:solidFill>
                <a:latin typeface="黑体" pitchFamily="49" charset="-122"/>
                <a:ea typeface="黑体" pitchFamily="49" charset="-122"/>
                <a:hlinkClick r:id="rId2" action="ppaction://hlinksldjump"/>
              </a:rPr>
              <a:t>跨国投资的联系系统</a:t>
            </a:r>
            <a:endParaRPr lang="zh-CN" altLang="en-US" dirty="0" smtClean="0">
              <a:solidFill>
                <a:schemeClr val="bg1"/>
              </a:solidFill>
              <a:latin typeface="黑体" pitchFamily="49" charset="-122"/>
              <a:ea typeface="黑体" pitchFamily="49" charset="-122"/>
            </a:endParaRPr>
          </a:p>
          <a:p>
            <a:pPr lvl="1" eaLnBrk="1" hangingPunct="1">
              <a:lnSpc>
                <a:spcPct val="105000"/>
              </a:lnSpc>
              <a:defRPr/>
            </a:pPr>
            <a:r>
              <a:rPr lang="zh-CN" altLang="en-US" dirty="0" smtClean="0">
                <a:solidFill>
                  <a:schemeClr val="bg1"/>
                </a:solidFill>
                <a:latin typeface="黑体" pitchFamily="49" charset="-122"/>
                <a:ea typeface="黑体" pitchFamily="49" charset="-122"/>
                <a:hlinkClick r:id="rId3" action="ppaction://hlinksldjump"/>
              </a:rPr>
              <a:t>区域等级关系</a:t>
            </a:r>
            <a:endParaRPr lang="zh-CN" altLang="en-US" dirty="0" smtClean="0">
              <a:solidFill>
                <a:schemeClr val="bg1"/>
              </a:solidFill>
              <a:latin typeface="黑体" pitchFamily="49" charset="-122"/>
              <a:ea typeface="黑体" pitchFamily="49" charset="-122"/>
            </a:endParaRPr>
          </a:p>
          <a:p>
            <a:pPr lvl="1" eaLnBrk="1" hangingPunct="1">
              <a:lnSpc>
                <a:spcPct val="105000"/>
              </a:lnSpc>
              <a:defRPr/>
            </a:pPr>
            <a:r>
              <a:rPr lang="zh-CN" altLang="en-US" dirty="0" smtClean="0">
                <a:solidFill>
                  <a:schemeClr val="bg1"/>
                </a:solidFill>
                <a:latin typeface="黑体" pitchFamily="49" charset="-122"/>
                <a:ea typeface="黑体" pitchFamily="49" charset="-122"/>
              </a:rPr>
              <a:t>跨国公司</a:t>
            </a:r>
            <a:r>
              <a:rPr lang="en-US" altLang="zh-CN" dirty="0" smtClean="0">
                <a:solidFill>
                  <a:schemeClr val="bg1"/>
                </a:solidFill>
                <a:latin typeface="黑体" pitchFamily="49" charset="-122"/>
                <a:ea typeface="黑体" pitchFamily="49" charset="-122"/>
              </a:rPr>
              <a:t>-</a:t>
            </a:r>
            <a:r>
              <a:rPr lang="zh-CN" altLang="en-US" dirty="0" smtClean="0">
                <a:solidFill>
                  <a:schemeClr val="bg1"/>
                </a:solidFill>
                <a:latin typeface="黑体" pitchFamily="49" charset="-122"/>
                <a:ea typeface="黑体" pitchFamily="49" charset="-122"/>
              </a:rPr>
              <a:t>区域综合联系</a:t>
            </a:r>
          </a:p>
          <a:p>
            <a:pPr eaLnBrk="1" hangingPunct="1">
              <a:lnSpc>
                <a:spcPct val="105000"/>
              </a:lnSpc>
              <a:defRPr/>
            </a:pPr>
            <a:r>
              <a:rPr lang="zh-CN" altLang="en-US" dirty="0" smtClean="0">
                <a:solidFill>
                  <a:schemeClr val="bg1"/>
                </a:solidFill>
                <a:latin typeface="黑体" pitchFamily="49" charset="-122"/>
                <a:ea typeface="黑体" pitchFamily="49" charset="-122"/>
              </a:rPr>
              <a:t>跨国公司对投资地经济发展的影响特点</a:t>
            </a:r>
          </a:p>
          <a:p>
            <a:pPr lvl="1" eaLnBrk="1" hangingPunct="1">
              <a:lnSpc>
                <a:spcPct val="105000"/>
              </a:lnSpc>
              <a:defRPr/>
            </a:pPr>
            <a:r>
              <a:rPr lang="zh-CN" altLang="en-US" dirty="0" smtClean="0">
                <a:solidFill>
                  <a:schemeClr val="bg1"/>
                </a:solidFill>
                <a:latin typeface="黑体" pitchFamily="49" charset="-122"/>
                <a:ea typeface="黑体" pitchFamily="49" charset="-122"/>
              </a:rPr>
              <a:t>广泛性、层次性、区域性、多面性、差异性、时间性</a:t>
            </a:r>
          </a:p>
          <a:p>
            <a:pPr eaLnBrk="1" hangingPunct="1">
              <a:lnSpc>
                <a:spcPct val="105000"/>
              </a:lnSpc>
              <a:defRPr/>
            </a:pPr>
            <a:r>
              <a:rPr lang="zh-CN" altLang="en-US" dirty="0" smtClean="0">
                <a:solidFill>
                  <a:schemeClr val="bg1"/>
                </a:solidFill>
                <a:latin typeface="黑体" pitchFamily="49" charset="-122"/>
                <a:ea typeface="黑体" pitchFamily="49" charset="-122"/>
              </a:rPr>
              <a:t>跨国公司与投资地的相互作用关系</a:t>
            </a:r>
          </a:p>
          <a:p>
            <a:pPr lvl="1" eaLnBrk="1" hangingPunct="1">
              <a:lnSpc>
                <a:spcPct val="105000"/>
              </a:lnSpc>
              <a:defRPr/>
            </a:pPr>
            <a:r>
              <a:rPr lang="zh-CN" altLang="en-US" dirty="0" smtClean="0">
                <a:solidFill>
                  <a:schemeClr val="bg1"/>
                </a:solidFill>
                <a:latin typeface="黑体" pitchFamily="49" charset="-122"/>
                <a:ea typeface="黑体" pitchFamily="49" charset="-122"/>
              </a:rPr>
              <a:t>跨国公司与投资地关系特点 </a:t>
            </a:r>
            <a:r>
              <a:rPr lang="zh-CN" altLang="en-US" sz="1600" dirty="0" smtClean="0">
                <a:solidFill>
                  <a:schemeClr val="accent1">
                    <a:lumMod val="75000"/>
                  </a:schemeClr>
                </a:solidFill>
                <a:latin typeface="黑体" pitchFamily="49" charset="-122"/>
                <a:ea typeface="黑体" pitchFamily="49" charset="-122"/>
              </a:rPr>
              <a:t>互补性、竞争性、变化性</a:t>
            </a:r>
          </a:p>
          <a:p>
            <a:pPr lvl="1" eaLnBrk="1" hangingPunct="1">
              <a:lnSpc>
                <a:spcPct val="105000"/>
              </a:lnSpc>
              <a:defRPr/>
            </a:pPr>
            <a:r>
              <a:rPr lang="zh-CN" altLang="en-US" dirty="0" smtClean="0">
                <a:solidFill>
                  <a:schemeClr val="bg1"/>
                </a:solidFill>
                <a:latin typeface="黑体" pitchFamily="49" charset="-122"/>
                <a:ea typeface="黑体" pitchFamily="49" charset="-122"/>
              </a:rPr>
              <a:t>影响跨国公司与投资地关系的主要因素</a:t>
            </a:r>
          </a:p>
          <a:p>
            <a:pPr lvl="2" eaLnBrk="1" hangingPunct="1">
              <a:defRPr/>
            </a:pPr>
            <a:r>
              <a:rPr lang="zh-CN" altLang="en-US" sz="1600" dirty="0" smtClean="0">
                <a:solidFill>
                  <a:schemeClr val="accent1">
                    <a:lumMod val="75000"/>
                  </a:schemeClr>
                </a:solidFill>
                <a:latin typeface="黑体" pitchFamily="49" charset="-122"/>
                <a:ea typeface="黑体" pitchFamily="49" charset="-122"/>
              </a:rPr>
              <a:t>社会政治背景、结构状况、相对地位</a:t>
            </a:r>
            <a:endParaRPr lang="en-US" altLang="zh-CN" sz="1600" dirty="0" smtClean="0">
              <a:solidFill>
                <a:schemeClr val="accent1">
                  <a:lumMod val="75000"/>
                </a:schemeClr>
              </a:solidFill>
              <a:latin typeface="黑体" pitchFamily="49" charset="-122"/>
              <a:ea typeface="黑体" pitchFamily="49" charset="-122"/>
            </a:endParaRPr>
          </a:p>
        </p:txBody>
      </p:sp>
      <p:sp>
        <p:nvSpPr>
          <p:cNvPr id="37891" name="AutoShape 4">
            <a:hlinkClick r:id="rId4" action="ppaction://hlinksldjump"/>
          </p:cNvPr>
          <p:cNvSpPr>
            <a:spLocks noChangeArrowheads="1"/>
          </p:cNvSpPr>
          <p:nvPr/>
        </p:nvSpPr>
        <p:spPr bwMode="auto">
          <a:xfrm>
            <a:off x="8172450" y="5734050"/>
            <a:ext cx="287338" cy="2159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4" descr="跨国投资企业的三种联系系统"/>
          <p:cNvPicPr>
            <a:picLocks noChangeAspect="1" noChangeArrowheads="1"/>
          </p:cNvPicPr>
          <p:nvPr/>
        </p:nvPicPr>
        <p:blipFill>
          <a:blip r:embed="rId2" cstate="print"/>
          <a:srcRect/>
          <a:stretch>
            <a:fillRect/>
          </a:stretch>
        </p:blipFill>
        <p:spPr bwMode="auto">
          <a:xfrm>
            <a:off x="250825" y="1052513"/>
            <a:ext cx="4137025" cy="4321175"/>
          </a:xfrm>
          <a:prstGeom prst="rect">
            <a:avLst/>
          </a:prstGeom>
          <a:noFill/>
          <a:ln w="9525">
            <a:noFill/>
            <a:miter lim="800000"/>
            <a:headEnd/>
            <a:tailEnd/>
          </a:ln>
        </p:spPr>
      </p:pic>
      <p:sp>
        <p:nvSpPr>
          <p:cNvPr id="38915" name="Text Box 5"/>
          <p:cNvSpPr txBox="1">
            <a:spLocks noChangeArrowheads="1"/>
          </p:cNvSpPr>
          <p:nvPr/>
        </p:nvSpPr>
        <p:spPr bwMode="auto">
          <a:xfrm>
            <a:off x="4551363" y="327025"/>
            <a:ext cx="4800600" cy="6032500"/>
          </a:xfrm>
          <a:prstGeom prst="rect">
            <a:avLst/>
          </a:prstGeom>
          <a:noFill/>
          <a:ln w="9525">
            <a:noFill/>
            <a:miter lim="800000"/>
            <a:headEnd/>
            <a:tailEnd/>
          </a:ln>
        </p:spPr>
        <p:txBody>
          <a:bodyPr wrap="none">
            <a:spAutoFit/>
          </a:bodyPr>
          <a:lstStyle/>
          <a:p>
            <a:pPr>
              <a:lnSpc>
                <a:spcPct val="135000"/>
              </a:lnSpc>
            </a:pPr>
            <a:r>
              <a:rPr lang="zh-CN" altLang="en-US">
                <a:solidFill>
                  <a:schemeClr val="bg1"/>
                </a:solidFill>
                <a:ea typeface="黑体" pitchFamily="49" charset="-122"/>
                <a:hlinkClick r:id="rId3" action="ppaction://hlinksldjump"/>
              </a:rPr>
              <a:t>生产链</a:t>
            </a:r>
            <a:r>
              <a:rPr lang="zh-CN" altLang="en-US">
                <a:solidFill>
                  <a:schemeClr val="bg1"/>
                </a:solidFill>
                <a:ea typeface="黑体" pitchFamily="49" charset="-122"/>
              </a:rPr>
              <a:t>：跨国投资是跨国公司生产活动的</a:t>
            </a:r>
          </a:p>
          <a:p>
            <a:pPr>
              <a:lnSpc>
                <a:spcPct val="135000"/>
              </a:lnSpc>
            </a:pPr>
            <a:r>
              <a:rPr lang="zh-CN" altLang="en-US">
                <a:solidFill>
                  <a:schemeClr val="bg1"/>
                </a:solidFill>
                <a:ea typeface="黑体" pitchFamily="49" charset="-122"/>
              </a:rPr>
              <a:t>一部分，每一个生产环节与地区区位要素</a:t>
            </a:r>
          </a:p>
          <a:p>
            <a:pPr>
              <a:lnSpc>
                <a:spcPct val="135000"/>
              </a:lnSpc>
            </a:pPr>
            <a:r>
              <a:rPr lang="zh-CN" altLang="en-US">
                <a:solidFill>
                  <a:schemeClr val="bg1"/>
                </a:solidFill>
                <a:ea typeface="黑体" pitchFamily="49" charset="-122"/>
              </a:rPr>
              <a:t>优势相配合，获得最大效益。投资企业与</a:t>
            </a:r>
          </a:p>
          <a:p>
            <a:pPr>
              <a:lnSpc>
                <a:spcPct val="135000"/>
              </a:lnSpc>
            </a:pPr>
            <a:r>
              <a:rPr lang="zh-CN" altLang="en-US">
                <a:solidFill>
                  <a:schemeClr val="bg1"/>
                </a:solidFill>
                <a:ea typeface="黑体" pitchFamily="49" charset="-122"/>
              </a:rPr>
              <a:t>当地企业的生产联系状况，可作为跨国公</a:t>
            </a:r>
          </a:p>
          <a:p>
            <a:pPr>
              <a:lnSpc>
                <a:spcPct val="135000"/>
              </a:lnSpc>
            </a:pPr>
            <a:r>
              <a:rPr lang="zh-CN" altLang="en-US">
                <a:solidFill>
                  <a:schemeClr val="bg1"/>
                </a:solidFill>
                <a:ea typeface="黑体" pitchFamily="49" charset="-122"/>
              </a:rPr>
              <a:t>司对投资地影响的重要标志之一</a:t>
            </a:r>
          </a:p>
          <a:p>
            <a:pPr>
              <a:lnSpc>
                <a:spcPct val="135000"/>
              </a:lnSpc>
            </a:pPr>
            <a:endParaRPr lang="zh-CN" altLang="en-US">
              <a:solidFill>
                <a:schemeClr val="bg1"/>
              </a:solidFill>
              <a:ea typeface="黑体" pitchFamily="49" charset="-122"/>
            </a:endParaRPr>
          </a:p>
          <a:p>
            <a:pPr>
              <a:lnSpc>
                <a:spcPct val="135000"/>
              </a:lnSpc>
            </a:pPr>
            <a:r>
              <a:rPr lang="zh-CN" altLang="en-US">
                <a:solidFill>
                  <a:schemeClr val="bg1"/>
                </a:solidFill>
                <a:ea typeface="黑体" pitchFamily="49" charset="-122"/>
              </a:rPr>
              <a:t>所有权关系系统：资金投入状况决定着跨</a:t>
            </a:r>
          </a:p>
          <a:p>
            <a:pPr>
              <a:lnSpc>
                <a:spcPct val="135000"/>
              </a:lnSpc>
            </a:pPr>
            <a:r>
              <a:rPr lang="zh-CN" altLang="en-US">
                <a:solidFill>
                  <a:schemeClr val="bg1"/>
                </a:solidFill>
                <a:ea typeface="黑体" pitchFamily="49" charset="-122"/>
              </a:rPr>
              <a:t>国投资的拥有关系。空间化社会关系，实</a:t>
            </a:r>
          </a:p>
          <a:p>
            <a:pPr>
              <a:lnSpc>
                <a:spcPct val="135000"/>
              </a:lnSpc>
            </a:pPr>
            <a:r>
              <a:rPr lang="zh-CN" altLang="en-US">
                <a:solidFill>
                  <a:schemeClr val="bg1"/>
                </a:solidFill>
                <a:ea typeface="黑体" pitchFamily="49" charset="-122"/>
              </a:rPr>
              <a:t>际上是权力关系地理、控制与被控制地理、</a:t>
            </a:r>
          </a:p>
          <a:p>
            <a:pPr>
              <a:lnSpc>
                <a:spcPct val="135000"/>
              </a:lnSpc>
            </a:pPr>
            <a:r>
              <a:rPr lang="zh-CN" altLang="en-US">
                <a:solidFill>
                  <a:schemeClr val="bg1"/>
                </a:solidFill>
                <a:ea typeface="黑体" pitchFamily="49" charset="-122"/>
              </a:rPr>
              <a:t>影响与被影响地理</a:t>
            </a:r>
          </a:p>
          <a:p>
            <a:pPr>
              <a:lnSpc>
                <a:spcPct val="135000"/>
              </a:lnSpc>
            </a:pPr>
            <a:endParaRPr lang="zh-CN" altLang="en-US">
              <a:solidFill>
                <a:schemeClr val="bg1"/>
              </a:solidFill>
              <a:ea typeface="黑体" pitchFamily="49" charset="-122"/>
            </a:endParaRPr>
          </a:p>
          <a:p>
            <a:pPr>
              <a:lnSpc>
                <a:spcPct val="135000"/>
              </a:lnSpc>
            </a:pPr>
            <a:r>
              <a:rPr lang="zh-CN" altLang="en-US">
                <a:solidFill>
                  <a:schemeClr val="bg1"/>
                </a:solidFill>
                <a:ea typeface="黑体" pitchFamily="49" charset="-122"/>
              </a:rPr>
              <a:t>组织链：跨国投资建立的机构，是跨国公司</a:t>
            </a:r>
          </a:p>
          <a:p>
            <a:pPr>
              <a:lnSpc>
                <a:spcPct val="135000"/>
              </a:lnSpc>
            </a:pPr>
            <a:r>
              <a:rPr lang="zh-CN" altLang="en-US">
                <a:solidFill>
                  <a:schemeClr val="bg1"/>
                </a:solidFill>
                <a:ea typeface="黑体" pitchFamily="49" charset="-122"/>
              </a:rPr>
              <a:t>组织的一部分。跨国公司内部机构之间的联</a:t>
            </a:r>
          </a:p>
          <a:p>
            <a:pPr>
              <a:lnSpc>
                <a:spcPct val="135000"/>
              </a:lnSpc>
            </a:pPr>
            <a:r>
              <a:rPr lang="zh-CN" altLang="en-US">
                <a:solidFill>
                  <a:schemeClr val="bg1"/>
                </a:solidFill>
                <a:ea typeface="黑体" pitchFamily="49" charset="-122"/>
              </a:rPr>
              <a:t>系，决定其在跨国公网络中的地位。技术是</a:t>
            </a:r>
          </a:p>
          <a:p>
            <a:pPr>
              <a:lnSpc>
                <a:spcPct val="135000"/>
              </a:lnSpc>
            </a:pPr>
            <a:r>
              <a:rPr lang="zh-CN" altLang="en-US">
                <a:solidFill>
                  <a:schemeClr val="bg1"/>
                </a:solidFill>
                <a:ea typeface="黑体" pitchFamily="49" charset="-122"/>
              </a:rPr>
              <a:t>“势力”重要标志之一，投资企业所掌握的技</a:t>
            </a:r>
          </a:p>
          <a:p>
            <a:pPr>
              <a:lnSpc>
                <a:spcPct val="135000"/>
              </a:lnSpc>
            </a:pPr>
            <a:r>
              <a:rPr lang="zh-CN" altLang="en-US">
                <a:solidFill>
                  <a:schemeClr val="bg1"/>
                </a:solidFill>
                <a:ea typeface="黑体" pitchFamily="49" charset="-122"/>
              </a:rPr>
              <a:t>术状况成为其在公司中地位的决定因素</a:t>
            </a:r>
          </a:p>
        </p:txBody>
      </p:sp>
      <p:sp>
        <p:nvSpPr>
          <p:cNvPr id="38916" name="AutoShape 6">
            <a:hlinkClick r:id="rId4" action="ppaction://hlinksldjump"/>
          </p:cNvPr>
          <p:cNvSpPr>
            <a:spLocks noChangeArrowheads="1"/>
          </p:cNvSpPr>
          <p:nvPr/>
        </p:nvSpPr>
        <p:spPr bwMode="auto">
          <a:xfrm>
            <a:off x="827088" y="6021388"/>
            <a:ext cx="288925" cy="2159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500063" y="928688"/>
            <a:ext cx="8229600" cy="785812"/>
          </a:xfrm>
        </p:spPr>
        <p:txBody>
          <a:bodyPr/>
          <a:lstStyle/>
          <a:p>
            <a:r>
              <a:rPr lang="zh-CN" altLang="en-US" sz="3200" smtClean="0">
                <a:solidFill>
                  <a:srgbClr val="FFC000"/>
                </a:solidFill>
                <a:latin typeface="黑体" pitchFamily="49" charset="-122"/>
                <a:ea typeface="黑体" pitchFamily="49" charset="-122"/>
              </a:rPr>
              <a:t>商品链和生产网络</a:t>
            </a:r>
            <a:r>
              <a:rPr lang="en-US" altLang="zh-CN" sz="3200" smtClean="0">
                <a:solidFill>
                  <a:srgbClr val="FFC000"/>
                </a:solidFill>
                <a:latin typeface="黑体" pitchFamily="49" charset="-122"/>
                <a:ea typeface="黑体" pitchFamily="49" charset="-122"/>
              </a:rPr>
              <a:t>——</a:t>
            </a:r>
            <a:r>
              <a:rPr lang="zh-CN" altLang="en-US" sz="3200" smtClean="0">
                <a:solidFill>
                  <a:srgbClr val="FFC000"/>
                </a:solidFill>
                <a:latin typeface="黑体" pitchFamily="49" charset="-122"/>
                <a:ea typeface="黑体" pitchFamily="49" charset="-122"/>
              </a:rPr>
              <a:t>跨国公司构建基石</a:t>
            </a:r>
            <a:r>
              <a:rPr lang="en-US" altLang="zh-CN" smtClean="0"/>
              <a:t/>
            </a:r>
            <a:br>
              <a:rPr lang="en-US" altLang="zh-CN" smtClean="0"/>
            </a:br>
            <a:endParaRPr lang="zh-CN" altLang="en-US" smtClean="0"/>
          </a:p>
        </p:txBody>
      </p:sp>
      <p:sp>
        <p:nvSpPr>
          <p:cNvPr id="3" name="内容占位符 2"/>
          <p:cNvSpPr>
            <a:spLocks noGrp="1"/>
          </p:cNvSpPr>
          <p:nvPr>
            <p:ph idx="1"/>
          </p:nvPr>
        </p:nvSpPr>
        <p:spPr>
          <a:xfrm>
            <a:off x="428625" y="1500188"/>
            <a:ext cx="8429625" cy="4643437"/>
          </a:xfrm>
        </p:spPr>
        <p:txBody>
          <a:bodyPr/>
          <a:lstStyle/>
          <a:p>
            <a:pPr>
              <a:lnSpc>
                <a:spcPts val="3800"/>
              </a:lnSpc>
              <a:spcBef>
                <a:spcPct val="0"/>
              </a:spcBef>
            </a:pPr>
            <a:r>
              <a:rPr lang="zh-CN" altLang="en-US" sz="2800" smtClean="0">
                <a:solidFill>
                  <a:schemeClr val="bg1"/>
                </a:solidFill>
                <a:latin typeface="黑体" pitchFamily="49" charset="-122"/>
                <a:ea typeface="黑体" pitchFamily="49" charset="-122"/>
              </a:rPr>
              <a:t>对商品生产链进行全球组织和协调</a:t>
            </a:r>
            <a:endParaRPr lang="en-US" altLang="zh-CN" sz="2800" smtClean="0">
              <a:solidFill>
                <a:schemeClr val="bg1"/>
              </a:solidFill>
              <a:latin typeface="黑体" pitchFamily="49" charset="-122"/>
              <a:ea typeface="黑体" pitchFamily="49" charset="-122"/>
            </a:endParaRPr>
          </a:p>
          <a:p>
            <a:pPr lvl="1">
              <a:lnSpc>
                <a:spcPts val="3800"/>
              </a:lnSpc>
              <a:spcBef>
                <a:spcPct val="0"/>
              </a:spcBef>
            </a:pPr>
            <a:r>
              <a:rPr lang="zh-CN" altLang="en-US" sz="2400" smtClean="0">
                <a:solidFill>
                  <a:schemeClr val="bg1"/>
                </a:solidFill>
                <a:latin typeface="黑体" pitchFamily="49" charset="-122"/>
                <a:ea typeface="黑体" pitchFamily="49" charset="-122"/>
              </a:rPr>
              <a:t>构造生产链：决定生产链中各增值活动所在地布局的过程</a:t>
            </a:r>
            <a:endParaRPr lang="en-US" altLang="zh-CN" sz="2400" smtClean="0">
              <a:solidFill>
                <a:schemeClr val="bg1"/>
              </a:solidFill>
              <a:latin typeface="黑体" pitchFamily="49" charset="-122"/>
              <a:ea typeface="黑体" pitchFamily="49" charset="-122"/>
            </a:endParaRPr>
          </a:p>
          <a:p>
            <a:pPr lvl="1">
              <a:lnSpc>
                <a:spcPts val="3800"/>
              </a:lnSpc>
              <a:spcBef>
                <a:spcPct val="0"/>
              </a:spcBef>
            </a:pPr>
            <a:r>
              <a:rPr lang="zh-CN" altLang="en-US" sz="2400" smtClean="0">
                <a:solidFill>
                  <a:schemeClr val="bg1"/>
                </a:solidFill>
                <a:latin typeface="黑体" pitchFamily="49" charset="-122"/>
                <a:ea typeface="黑体" pitchFamily="49" charset="-122"/>
              </a:rPr>
              <a:t>生产链的协调及商品链治理的组织</a:t>
            </a:r>
            <a:endParaRPr lang="en-US" altLang="zh-CN" sz="2400" smtClean="0">
              <a:solidFill>
                <a:schemeClr val="bg1"/>
              </a:solidFill>
              <a:latin typeface="黑体" pitchFamily="49" charset="-122"/>
              <a:ea typeface="黑体" pitchFamily="49" charset="-122"/>
            </a:endParaRPr>
          </a:p>
          <a:p>
            <a:pPr>
              <a:lnSpc>
                <a:spcPts val="3800"/>
              </a:lnSpc>
              <a:spcBef>
                <a:spcPct val="0"/>
              </a:spcBef>
            </a:pPr>
            <a:r>
              <a:rPr lang="zh-CN" altLang="en-US" sz="2800" smtClean="0">
                <a:solidFill>
                  <a:schemeClr val="bg1"/>
                </a:solidFill>
                <a:latin typeface="黑体" pitchFamily="49" charset="-122"/>
                <a:ea typeface="黑体" pitchFamily="49" charset="-122"/>
              </a:rPr>
              <a:t>生产链中的两种不同类型交易</a:t>
            </a:r>
            <a:endParaRPr lang="en-US" altLang="zh-CN" sz="2800" smtClean="0">
              <a:solidFill>
                <a:schemeClr val="bg1"/>
              </a:solidFill>
              <a:latin typeface="黑体" pitchFamily="49" charset="-122"/>
              <a:ea typeface="黑体" pitchFamily="49" charset="-122"/>
            </a:endParaRPr>
          </a:p>
          <a:p>
            <a:pPr lvl="1">
              <a:lnSpc>
                <a:spcPts val="3800"/>
              </a:lnSpc>
              <a:spcBef>
                <a:spcPct val="0"/>
              </a:spcBef>
            </a:pPr>
            <a:r>
              <a:rPr lang="zh-CN" altLang="en-US" sz="2400" smtClean="0">
                <a:solidFill>
                  <a:schemeClr val="bg1"/>
                </a:solidFill>
                <a:latin typeface="黑体" pitchFamily="49" charset="-122"/>
                <a:ea typeface="黑体" pitchFamily="49" charset="-122"/>
              </a:rPr>
              <a:t>内部化交易</a:t>
            </a:r>
            <a:endParaRPr lang="en-US" altLang="zh-CN" sz="2400" smtClean="0">
              <a:solidFill>
                <a:schemeClr val="bg1"/>
              </a:solidFill>
              <a:latin typeface="黑体" pitchFamily="49" charset="-122"/>
              <a:ea typeface="黑体" pitchFamily="49" charset="-122"/>
            </a:endParaRPr>
          </a:p>
          <a:p>
            <a:pPr lvl="1">
              <a:lnSpc>
                <a:spcPts val="3800"/>
              </a:lnSpc>
              <a:spcBef>
                <a:spcPct val="0"/>
              </a:spcBef>
            </a:pPr>
            <a:r>
              <a:rPr lang="zh-CN" altLang="en-US" sz="2400" smtClean="0">
                <a:solidFill>
                  <a:schemeClr val="bg1"/>
                </a:solidFill>
                <a:latin typeface="黑体" pitchFamily="49" charset="-122"/>
                <a:ea typeface="黑体" pitchFamily="49" charset="-122"/>
              </a:rPr>
              <a:t>外部化交易</a:t>
            </a:r>
            <a:endParaRPr lang="en-US" altLang="zh-CN" sz="2400" smtClean="0">
              <a:solidFill>
                <a:schemeClr val="bg1"/>
              </a:solidFill>
              <a:latin typeface="黑体" pitchFamily="49" charset="-122"/>
              <a:ea typeface="黑体" pitchFamily="49" charset="-122"/>
            </a:endParaRPr>
          </a:p>
          <a:p>
            <a:pPr>
              <a:lnSpc>
                <a:spcPts val="3800"/>
              </a:lnSpc>
              <a:spcBef>
                <a:spcPct val="0"/>
              </a:spcBef>
            </a:pPr>
            <a:r>
              <a:rPr lang="zh-CN" altLang="en-US" sz="2800" smtClean="0">
                <a:solidFill>
                  <a:schemeClr val="bg1"/>
                </a:solidFill>
                <a:latin typeface="黑体" pitchFamily="49" charset="-122"/>
                <a:ea typeface="黑体" pitchFamily="49" charset="-122"/>
              </a:rPr>
              <a:t>一个特定产品或服务的生产链组织形式多种多样，形成网络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amond(in)">
                                      <p:cBhvr>
                                        <p:cTn id="7" dur="2000"/>
                                        <p:tgtEl>
                                          <p:spTgt spid="3">
                                            <p:txEl>
                                              <p:pRg st="3" end="3"/>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diamond(in)">
                                      <p:cBhvr>
                                        <p:cTn id="10" dur="2000"/>
                                        <p:tgtEl>
                                          <p:spTgt spid="3">
                                            <p:txEl>
                                              <p:pRg st="4" end="4"/>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diamond(in)">
                                      <p:cBhvr>
                                        <p:cTn id="13" dur="20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checkerboard(across)">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Grp="1" noChangeAspect="1" noChangeArrowheads="1"/>
          </p:cNvPicPr>
          <p:nvPr>
            <p:ph idx="1"/>
          </p:nvPr>
        </p:nvPicPr>
        <p:blipFill>
          <a:blip r:embed="rId2" cstate="print"/>
          <a:srcRect/>
          <a:stretch>
            <a:fillRect/>
          </a:stretch>
        </p:blipFill>
        <p:spPr>
          <a:xfrm>
            <a:off x="519113" y="285750"/>
            <a:ext cx="8091487" cy="6143625"/>
          </a:xfr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500063" y="285750"/>
            <a:ext cx="8229600" cy="714375"/>
          </a:xfrm>
        </p:spPr>
        <p:txBody>
          <a:bodyPr/>
          <a:lstStyle/>
          <a:p>
            <a:r>
              <a:rPr lang="zh-CN" altLang="en-US" sz="3200" smtClean="0">
                <a:solidFill>
                  <a:srgbClr val="FFC000"/>
                </a:solidFill>
                <a:latin typeface="黑体" pitchFamily="49" charset="-122"/>
                <a:ea typeface="黑体" pitchFamily="49" charset="-122"/>
              </a:rPr>
              <a:t>组织跨国经济活动</a:t>
            </a:r>
          </a:p>
        </p:txBody>
      </p:sp>
      <p:sp>
        <p:nvSpPr>
          <p:cNvPr id="9219" name="内容占位符 2"/>
          <p:cNvSpPr>
            <a:spLocks noGrp="1"/>
          </p:cNvSpPr>
          <p:nvPr>
            <p:ph idx="1"/>
          </p:nvPr>
        </p:nvSpPr>
        <p:spPr>
          <a:xfrm>
            <a:off x="457200" y="1000125"/>
            <a:ext cx="8229600" cy="5126038"/>
          </a:xfrm>
        </p:spPr>
        <p:txBody>
          <a:bodyPr/>
          <a:lstStyle/>
          <a:p>
            <a:r>
              <a:rPr lang="zh-CN" altLang="en-US" sz="2400" smtClean="0">
                <a:solidFill>
                  <a:schemeClr val="bg1"/>
                </a:solidFill>
                <a:latin typeface="黑体" pitchFamily="49" charset="-122"/>
                <a:ea typeface="黑体" pitchFamily="49" charset="-122"/>
              </a:rPr>
              <a:t>企业内联系</a:t>
            </a:r>
            <a:endParaRPr lang="en-US" altLang="zh-CN" sz="2400" smtClean="0">
              <a:solidFill>
                <a:schemeClr val="bg1"/>
              </a:solidFill>
              <a:latin typeface="黑体" pitchFamily="49" charset="-122"/>
              <a:ea typeface="黑体" pitchFamily="49" charset="-122"/>
            </a:endParaRPr>
          </a:p>
          <a:p>
            <a:pPr lvl="1"/>
            <a:r>
              <a:rPr lang="zh-CN" altLang="en-US" sz="2000" smtClean="0">
                <a:solidFill>
                  <a:schemeClr val="bg1"/>
                </a:solidFill>
                <a:latin typeface="黑体" pitchFamily="49" charset="-122"/>
                <a:ea typeface="黑体" pitchFamily="49" charset="-122"/>
              </a:rPr>
              <a:t>总部与地区总部：一般设在城市</a:t>
            </a:r>
            <a:endParaRPr lang="en-US" altLang="zh-CN" sz="2000" smtClean="0">
              <a:solidFill>
                <a:schemeClr val="bg1"/>
              </a:solidFill>
              <a:latin typeface="黑体" pitchFamily="49" charset="-122"/>
              <a:ea typeface="黑体" pitchFamily="49" charset="-122"/>
            </a:endParaRPr>
          </a:p>
          <a:p>
            <a:pPr lvl="1"/>
            <a:r>
              <a:rPr lang="zh-CN" altLang="en-US" sz="2000" smtClean="0">
                <a:solidFill>
                  <a:schemeClr val="bg1"/>
                </a:solidFill>
                <a:latin typeface="黑体" pitchFamily="49" charset="-122"/>
                <a:ea typeface="黑体" pitchFamily="49" charset="-122"/>
              </a:rPr>
              <a:t>研发机构：一般在母国，根据不同类型研发活动的地理区位需求不同</a:t>
            </a:r>
            <a:endParaRPr lang="en-US" altLang="zh-CN" sz="2000" smtClean="0">
              <a:solidFill>
                <a:schemeClr val="bg1"/>
              </a:solidFill>
              <a:latin typeface="黑体" pitchFamily="49" charset="-122"/>
              <a:ea typeface="黑体" pitchFamily="49" charset="-122"/>
            </a:endParaRPr>
          </a:p>
          <a:p>
            <a:pPr lvl="1"/>
            <a:r>
              <a:rPr lang="zh-CN" altLang="en-US" sz="2000" smtClean="0">
                <a:solidFill>
                  <a:schemeClr val="bg1"/>
                </a:solidFill>
                <a:latin typeface="黑体" pitchFamily="49" charset="-122"/>
                <a:ea typeface="黑体" pitchFamily="49" charset="-122"/>
              </a:rPr>
              <a:t>生产运营单元：</a:t>
            </a:r>
            <a:r>
              <a:rPr lang="en-US" altLang="zh-CN" sz="2000" smtClean="0">
                <a:solidFill>
                  <a:schemeClr val="bg1"/>
                </a:solidFill>
                <a:latin typeface="黑体" pitchFamily="49" charset="-122"/>
                <a:ea typeface="黑体" pitchFamily="49" charset="-122"/>
              </a:rPr>
              <a:t>4</a:t>
            </a:r>
            <a:r>
              <a:rPr lang="zh-CN" altLang="en-US" sz="2000" smtClean="0">
                <a:solidFill>
                  <a:schemeClr val="bg1"/>
                </a:solidFill>
                <a:latin typeface="黑体" pitchFamily="49" charset="-122"/>
                <a:ea typeface="黑体" pitchFamily="49" charset="-122"/>
              </a:rPr>
              <a:t>种空间形式</a:t>
            </a:r>
            <a:endParaRPr lang="en-US" altLang="zh-CN" sz="2000" smtClean="0">
              <a:solidFill>
                <a:schemeClr val="bg1"/>
              </a:solidFill>
              <a:latin typeface="黑体" pitchFamily="49" charset="-122"/>
              <a:ea typeface="黑体" pitchFamily="49" charset="-122"/>
            </a:endParaRPr>
          </a:p>
          <a:p>
            <a:r>
              <a:rPr lang="zh-CN" altLang="en-US" sz="2400" smtClean="0">
                <a:solidFill>
                  <a:schemeClr val="bg1"/>
                </a:solidFill>
                <a:latin typeface="黑体" pitchFamily="49" charset="-122"/>
                <a:ea typeface="黑体" pitchFamily="49" charset="-122"/>
              </a:rPr>
              <a:t>企业间联系</a:t>
            </a:r>
            <a:endParaRPr lang="en-US" altLang="zh-CN" sz="2400" smtClean="0">
              <a:solidFill>
                <a:schemeClr val="bg1"/>
              </a:solidFill>
              <a:latin typeface="黑体" pitchFamily="49" charset="-122"/>
              <a:ea typeface="黑体" pitchFamily="49" charset="-122"/>
            </a:endParaRPr>
          </a:p>
          <a:p>
            <a:pPr lvl="1"/>
            <a:r>
              <a:rPr lang="zh-CN" altLang="en-US" sz="2000" smtClean="0">
                <a:solidFill>
                  <a:schemeClr val="bg1"/>
                </a:solidFill>
                <a:latin typeface="黑体" pitchFamily="49" charset="-122"/>
                <a:ea typeface="黑体" pitchFamily="49" charset="-122"/>
              </a:rPr>
              <a:t>国际转包：独立企业通过合约为核心企业生产特定产品。商业转包</a:t>
            </a:r>
            <a:r>
              <a:rPr lang="en-US" altLang="zh-CN" sz="2000" smtClean="0">
                <a:solidFill>
                  <a:schemeClr val="bg1"/>
                </a:solidFill>
                <a:latin typeface="黑体" pitchFamily="49" charset="-122"/>
                <a:ea typeface="黑体" pitchFamily="49" charset="-122"/>
              </a:rPr>
              <a:t>(OEM,</a:t>
            </a:r>
            <a:r>
              <a:rPr lang="en-US" altLang="zh-CN" sz="2000" smtClean="0">
                <a:solidFill>
                  <a:schemeClr val="bg1"/>
                </a:solidFill>
                <a:latin typeface="黑体" pitchFamily="49" charset="-122"/>
                <a:ea typeface="黑体" pitchFamily="49" charset="-122"/>
                <a:hlinkClick r:id="rId2" action="ppaction://hlinksldjump"/>
              </a:rPr>
              <a:t>ODM</a:t>
            </a:r>
            <a:r>
              <a:rPr lang="en-US" altLang="zh-CN" sz="2000" smtClean="0">
                <a:solidFill>
                  <a:schemeClr val="bg1"/>
                </a:solidFill>
                <a:latin typeface="黑体" pitchFamily="49" charset="-122"/>
                <a:ea typeface="黑体" pitchFamily="49" charset="-122"/>
              </a:rPr>
              <a:t>)</a:t>
            </a:r>
            <a:r>
              <a:rPr lang="zh-CN" altLang="en-US" sz="2000" smtClean="0">
                <a:solidFill>
                  <a:schemeClr val="bg1"/>
                </a:solidFill>
                <a:latin typeface="黑体" pitchFamily="49" charset="-122"/>
                <a:ea typeface="黑体" pitchFamily="49" charset="-122"/>
              </a:rPr>
              <a:t>和产业转包；</a:t>
            </a:r>
            <a:r>
              <a:rPr lang="zh-CN" altLang="en-US" sz="2000" smtClean="0">
                <a:solidFill>
                  <a:schemeClr val="bg1"/>
                </a:solidFill>
                <a:latin typeface="黑体" pitchFamily="49" charset="-122"/>
                <a:ea typeface="黑体" pitchFamily="49" charset="-122"/>
                <a:hlinkClick r:id="rId3" action="ppaction://hlinksldjump"/>
              </a:rPr>
              <a:t>影响</a:t>
            </a:r>
            <a:endParaRPr lang="en-US" altLang="zh-CN" sz="2000" smtClean="0">
              <a:solidFill>
                <a:schemeClr val="bg1"/>
              </a:solidFill>
              <a:latin typeface="黑体" pitchFamily="49" charset="-122"/>
              <a:ea typeface="黑体" pitchFamily="49" charset="-122"/>
            </a:endParaRPr>
          </a:p>
          <a:p>
            <a:pPr lvl="1"/>
            <a:r>
              <a:rPr lang="zh-CN" altLang="en-US" sz="2000" smtClean="0">
                <a:solidFill>
                  <a:schemeClr val="bg1"/>
                </a:solidFill>
                <a:latin typeface="黑体" pitchFamily="49" charset="-122"/>
                <a:ea typeface="黑体" pitchFamily="49" charset="-122"/>
              </a:rPr>
              <a:t>战略联盟和合资：</a:t>
            </a:r>
            <a:r>
              <a:rPr lang="zh-CN" altLang="en-US" sz="1800" smtClean="0">
                <a:solidFill>
                  <a:schemeClr val="bg1"/>
                </a:solidFill>
                <a:latin typeface="黑体" pitchFamily="49" charset="-122"/>
                <a:ea typeface="黑体" pitchFamily="49" charset="-122"/>
              </a:rPr>
              <a:t>不需要进行所有权转变，半导体、制药、服务业</a:t>
            </a:r>
            <a:endParaRPr lang="en-US" altLang="zh-CN" sz="1800" smtClean="0">
              <a:solidFill>
                <a:schemeClr val="bg1"/>
              </a:solidFill>
              <a:latin typeface="黑体" pitchFamily="49" charset="-122"/>
              <a:ea typeface="黑体" pitchFamily="49" charset="-122"/>
            </a:endParaRPr>
          </a:p>
          <a:p>
            <a:pPr lvl="1"/>
            <a:r>
              <a:rPr lang="zh-CN" altLang="en-US" sz="2000" smtClean="0">
                <a:solidFill>
                  <a:schemeClr val="bg1"/>
                </a:solidFill>
                <a:latin typeface="黑体" pitchFamily="49" charset="-122"/>
                <a:ea typeface="黑体" pitchFamily="49" charset="-122"/>
              </a:rPr>
              <a:t>特许经营和合作协议</a:t>
            </a:r>
            <a:endParaRPr lang="en-US" altLang="zh-CN" sz="2000" smtClean="0">
              <a:solidFill>
                <a:schemeClr val="bg1"/>
              </a:solidFill>
              <a:latin typeface="黑体" pitchFamily="49" charset="-122"/>
              <a:ea typeface="黑体" pitchFamily="49" charset="-122"/>
            </a:endParaRPr>
          </a:p>
          <a:p>
            <a:pPr lvl="2"/>
            <a:r>
              <a:rPr lang="zh-CN" altLang="en-US" sz="1800" smtClean="0">
                <a:solidFill>
                  <a:schemeClr val="bg1"/>
                </a:solidFill>
                <a:latin typeface="黑体" pitchFamily="49" charset="-122"/>
                <a:ea typeface="黑体" pitchFamily="49" charset="-122"/>
              </a:rPr>
              <a:t>特许经营是一种商业组织形式，即拥有注册商标或知识产权的跨国公司同意让一个特许经销商在遵循其指导原则和要求的情况下使用该商标或产权。</a:t>
            </a:r>
            <a:endParaRPr lang="en-US" altLang="zh-CN" sz="1800" smtClean="0">
              <a:solidFill>
                <a:schemeClr val="bg1"/>
              </a:solidFill>
              <a:latin typeface="黑体" pitchFamily="49" charset="-122"/>
              <a:ea typeface="黑体" pitchFamily="49" charset="-122"/>
            </a:endParaRPr>
          </a:p>
          <a:p>
            <a:r>
              <a:rPr lang="zh-CN" altLang="en-US" sz="2400" smtClean="0">
                <a:latin typeface="黑体" pitchFamily="49" charset="-122"/>
                <a:ea typeface="黑体" pitchFamily="49" charset="-122"/>
                <a:hlinkClick r:id="rId4" action="ppaction://hlinksldjump"/>
              </a:rPr>
              <a:t>全球扩张的限制</a:t>
            </a:r>
            <a:endParaRPr lang="zh-CN" altLang="en-US" sz="2400" smtClean="0">
              <a:latin typeface="黑体" pitchFamily="49" charset="-122"/>
              <a:ea typeface="黑体" pitchFamily="49" charset="-122"/>
            </a:endParaRPr>
          </a:p>
        </p:txBody>
      </p:sp>
      <p:sp>
        <p:nvSpPr>
          <p:cNvPr id="5" name="上箭头 4">
            <a:hlinkClick r:id="rId5" action="ppaction://hlinksldjump"/>
          </p:cNvPr>
          <p:cNvSpPr/>
          <p:nvPr/>
        </p:nvSpPr>
        <p:spPr>
          <a:xfrm>
            <a:off x="8215313" y="6357938"/>
            <a:ext cx="142875" cy="1428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右箭头 5">
            <a:hlinkClick r:id="rId6" action="ppaction://hlinksldjump"/>
          </p:cNvPr>
          <p:cNvSpPr/>
          <p:nvPr/>
        </p:nvSpPr>
        <p:spPr>
          <a:xfrm>
            <a:off x="3071813" y="5357813"/>
            <a:ext cx="142875" cy="1428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ox(in)">
                                      <p:cBhvr>
                                        <p:cTn id="7" dur="500"/>
                                        <p:tgtEl>
                                          <p:spTgt spid="921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ox(in)">
                                      <p:cBhvr>
                                        <p:cTn id="10" dur="500"/>
                                        <p:tgtEl>
                                          <p:spTgt spid="9219">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ox(in)">
                                      <p:cBhvr>
                                        <p:cTn id="13" dur="500"/>
                                        <p:tgtEl>
                                          <p:spTgt spid="9219">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9219">
                                            <p:txEl>
                                              <p:pRg st="3" end="3"/>
                                            </p:txEl>
                                          </p:spTgt>
                                        </p:tgtEl>
                                        <p:attrNameLst>
                                          <p:attrName>style.visibility</p:attrName>
                                        </p:attrNameLst>
                                      </p:cBhvr>
                                      <p:to>
                                        <p:strVal val="visible"/>
                                      </p:to>
                                    </p:set>
                                    <p:animEffect transition="in" filter="box(in)">
                                      <p:cBhvr>
                                        <p:cTn id="16" dur="500"/>
                                        <p:tgtEl>
                                          <p:spTgt spid="921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9219">
                                            <p:txEl>
                                              <p:pRg st="4" end="4"/>
                                            </p:txEl>
                                          </p:spTgt>
                                        </p:tgtEl>
                                        <p:attrNameLst>
                                          <p:attrName>style.visibility</p:attrName>
                                        </p:attrNameLst>
                                      </p:cBhvr>
                                      <p:to>
                                        <p:strVal val="visible"/>
                                      </p:to>
                                    </p:set>
                                    <p:animEffect transition="in" filter="checkerboard(across)">
                                      <p:cBhvr>
                                        <p:cTn id="21" dur="500"/>
                                        <p:tgtEl>
                                          <p:spTgt spid="9219">
                                            <p:txEl>
                                              <p:pRg st="4" end="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9219">
                                            <p:txEl>
                                              <p:pRg st="5" end="5"/>
                                            </p:txEl>
                                          </p:spTgt>
                                        </p:tgtEl>
                                        <p:attrNameLst>
                                          <p:attrName>style.visibility</p:attrName>
                                        </p:attrNameLst>
                                      </p:cBhvr>
                                      <p:to>
                                        <p:strVal val="visible"/>
                                      </p:to>
                                    </p:set>
                                    <p:animEffect transition="in" filter="checkerboard(across)">
                                      <p:cBhvr>
                                        <p:cTn id="24" dur="500"/>
                                        <p:tgtEl>
                                          <p:spTgt spid="9219">
                                            <p:txEl>
                                              <p:pRg st="5" end="5"/>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9219">
                                            <p:txEl>
                                              <p:pRg st="6" end="6"/>
                                            </p:txEl>
                                          </p:spTgt>
                                        </p:tgtEl>
                                        <p:attrNameLst>
                                          <p:attrName>style.visibility</p:attrName>
                                        </p:attrNameLst>
                                      </p:cBhvr>
                                      <p:to>
                                        <p:strVal val="visible"/>
                                      </p:to>
                                    </p:set>
                                    <p:animEffect transition="in" filter="checkerboard(across)">
                                      <p:cBhvr>
                                        <p:cTn id="27" dur="500"/>
                                        <p:tgtEl>
                                          <p:spTgt spid="9219">
                                            <p:txEl>
                                              <p:pRg st="6" end="6"/>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9219">
                                            <p:txEl>
                                              <p:pRg st="7" end="7"/>
                                            </p:txEl>
                                          </p:spTgt>
                                        </p:tgtEl>
                                        <p:attrNameLst>
                                          <p:attrName>style.visibility</p:attrName>
                                        </p:attrNameLst>
                                      </p:cBhvr>
                                      <p:to>
                                        <p:strVal val="visible"/>
                                      </p:to>
                                    </p:set>
                                    <p:animEffect transition="in" filter="checkerboard(across)">
                                      <p:cBhvr>
                                        <p:cTn id="30" dur="500"/>
                                        <p:tgtEl>
                                          <p:spTgt spid="9219">
                                            <p:txEl>
                                              <p:pRg st="7" end="7"/>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9219">
                                            <p:txEl>
                                              <p:pRg st="8" end="8"/>
                                            </p:txEl>
                                          </p:spTgt>
                                        </p:tgtEl>
                                        <p:attrNameLst>
                                          <p:attrName>style.visibility</p:attrName>
                                        </p:attrNameLst>
                                      </p:cBhvr>
                                      <p:to>
                                        <p:strVal val="visible"/>
                                      </p:to>
                                    </p:set>
                                    <p:animEffect transition="in" filter="checkerboard(across)">
                                      <p:cBhvr>
                                        <p:cTn id="33" dur="500"/>
                                        <p:tgtEl>
                                          <p:spTgt spid="9219">
                                            <p:txEl>
                                              <p:pRg st="8" end="8"/>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9219">
                                            <p:txEl>
                                              <p:pRg st="9" end="9"/>
                                            </p:txEl>
                                          </p:spTgt>
                                        </p:tgtEl>
                                        <p:attrNameLst>
                                          <p:attrName>style.visibility</p:attrName>
                                        </p:attrNameLst>
                                      </p:cBhvr>
                                      <p:to>
                                        <p:strVal val="visible"/>
                                      </p:to>
                                    </p:set>
                                    <p:animEffect transition="in" filter="checkerboard(across)">
                                      <p:cBhvr>
                                        <p:cTn id="36" dur="500"/>
                                        <p:tgtEl>
                                          <p:spTgt spid="9219">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9219">
                                            <p:txEl>
                                              <p:pRg st="9" end="9"/>
                                            </p:txEl>
                                          </p:spTgt>
                                        </p:tgtEl>
                                        <p:attrNameLst>
                                          <p:attrName>style.visibility</p:attrName>
                                        </p:attrNameLst>
                                      </p:cBhvr>
                                      <p:to>
                                        <p:strVal val="visible"/>
                                      </p:to>
                                    </p:set>
                                    <p:animEffect transition="in" filter="box(in)">
                                      <p:cBhvr>
                                        <p:cTn id="41" dur="5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cstate="print"/>
          <a:srcRect/>
          <a:stretch>
            <a:fillRect/>
          </a:stretch>
        </p:blipFill>
        <p:spPr bwMode="auto">
          <a:xfrm>
            <a:off x="254000" y="979488"/>
            <a:ext cx="8675688" cy="4735512"/>
          </a:xfrm>
          <a:prstGeom prst="rect">
            <a:avLst/>
          </a:prstGeom>
          <a:noFill/>
          <a:ln w="9525">
            <a:noFill/>
            <a:miter lim="800000"/>
            <a:headEnd/>
            <a:tailEnd/>
          </a:ln>
        </p:spPr>
      </p:pic>
      <p:sp>
        <p:nvSpPr>
          <p:cNvPr id="3" name="上箭头 2">
            <a:hlinkClick r:id="rId3" action="ppaction://hlinksldjump"/>
          </p:cNvPr>
          <p:cNvSpPr/>
          <p:nvPr/>
        </p:nvSpPr>
        <p:spPr>
          <a:xfrm>
            <a:off x="8215313" y="6072188"/>
            <a:ext cx="142875" cy="1428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endParaRPr lang="zh-CN" altLang="en-US" smtClean="0"/>
          </a:p>
        </p:txBody>
      </p:sp>
      <p:sp>
        <p:nvSpPr>
          <p:cNvPr id="44035" name="内容占位符 2"/>
          <p:cNvSpPr>
            <a:spLocks noGrp="1"/>
          </p:cNvSpPr>
          <p:nvPr>
            <p:ph idx="1"/>
          </p:nvPr>
        </p:nvSpPr>
        <p:spPr>
          <a:xfrm>
            <a:off x="500063" y="1857375"/>
            <a:ext cx="8229600" cy="3686175"/>
          </a:xfrm>
        </p:spPr>
        <p:txBody>
          <a:bodyPr/>
          <a:lstStyle/>
          <a:p>
            <a:pPr>
              <a:lnSpc>
                <a:spcPct val="150000"/>
              </a:lnSpc>
            </a:pPr>
            <a:r>
              <a:rPr lang="zh-CN" altLang="en-US" sz="2800" smtClean="0">
                <a:solidFill>
                  <a:schemeClr val="bg1"/>
                </a:solidFill>
                <a:latin typeface="黑体" pitchFamily="49" charset="-122"/>
                <a:ea typeface="黑体" pitchFamily="49" charset="-122"/>
              </a:rPr>
              <a:t>可能导致发达国家高度本地化集聚的形成</a:t>
            </a:r>
            <a:endParaRPr lang="en-US" altLang="zh-CN" sz="2800" smtClean="0">
              <a:solidFill>
                <a:schemeClr val="bg1"/>
              </a:solidFill>
              <a:latin typeface="黑体" pitchFamily="49" charset="-122"/>
              <a:ea typeface="黑体" pitchFamily="49" charset="-122"/>
            </a:endParaRPr>
          </a:p>
          <a:p>
            <a:pPr>
              <a:lnSpc>
                <a:spcPct val="150000"/>
              </a:lnSpc>
            </a:pPr>
            <a:r>
              <a:rPr lang="zh-CN" altLang="en-US" sz="2800" smtClean="0">
                <a:solidFill>
                  <a:schemeClr val="bg1"/>
                </a:solidFill>
                <a:latin typeface="黑体" pitchFamily="49" charset="-122"/>
                <a:ea typeface="黑体" pitchFamily="49" charset="-122"/>
              </a:rPr>
              <a:t>导致发展中国家出口导向型生产飞地的发展</a:t>
            </a:r>
            <a:endParaRPr lang="en-US" altLang="zh-CN" sz="2800" smtClean="0">
              <a:solidFill>
                <a:schemeClr val="bg1"/>
              </a:solidFill>
              <a:latin typeface="黑体" pitchFamily="49" charset="-122"/>
              <a:ea typeface="黑体" pitchFamily="49" charset="-122"/>
            </a:endParaRPr>
          </a:p>
          <a:p>
            <a:pPr>
              <a:lnSpc>
                <a:spcPct val="150000"/>
              </a:lnSpc>
            </a:pPr>
            <a:r>
              <a:rPr lang="zh-CN" altLang="en-US" sz="2800" smtClean="0">
                <a:solidFill>
                  <a:schemeClr val="bg1"/>
                </a:solidFill>
                <a:latin typeface="黑体" pitchFamily="49" charset="-122"/>
                <a:ea typeface="黑体" pitchFamily="49" charset="-122"/>
              </a:rPr>
              <a:t>在同一地区的不同国家间发展，可能促进广泛的大区域一体化的形成</a:t>
            </a:r>
          </a:p>
        </p:txBody>
      </p:sp>
      <p:sp>
        <p:nvSpPr>
          <p:cNvPr id="4" name="上箭头 3">
            <a:hlinkClick r:id="rId2" action="ppaction://hlinksldjump"/>
          </p:cNvPr>
          <p:cNvSpPr/>
          <p:nvPr/>
        </p:nvSpPr>
        <p:spPr>
          <a:xfrm>
            <a:off x="8215313" y="6072188"/>
            <a:ext cx="142875" cy="1428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a:stretch>
            <a:fillRect/>
          </a:stretch>
        </p:blipFill>
        <p:spPr bwMode="auto">
          <a:xfrm>
            <a:off x="569913" y="214313"/>
            <a:ext cx="8093075" cy="6500812"/>
          </a:xfrm>
          <a:prstGeom prst="rect">
            <a:avLst/>
          </a:prstGeom>
          <a:noFill/>
          <a:ln w="9525">
            <a:noFill/>
            <a:miter lim="800000"/>
            <a:headEnd/>
            <a:tailEnd/>
          </a:ln>
        </p:spPr>
      </p:pic>
      <p:sp>
        <p:nvSpPr>
          <p:cNvPr id="3" name="上箭头 2">
            <a:hlinkClick r:id="rId3" action="ppaction://hlinksldjump"/>
          </p:cNvPr>
          <p:cNvSpPr/>
          <p:nvPr/>
        </p:nvSpPr>
        <p:spPr>
          <a:xfrm>
            <a:off x="8215313" y="6072188"/>
            <a:ext cx="142875" cy="1428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endParaRPr lang="zh-CN" altLang="en-US" smtClean="0"/>
          </a:p>
        </p:txBody>
      </p:sp>
      <p:sp>
        <p:nvSpPr>
          <p:cNvPr id="46083" name="内容占位符 2"/>
          <p:cNvSpPr>
            <a:spLocks noGrp="1"/>
          </p:cNvSpPr>
          <p:nvPr>
            <p:ph idx="1"/>
          </p:nvPr>
        </p:nvSpPr>
        <p:spPr>
          <a:xfrm>
            <a:off x="714375" y="1785938"/>
            <a:ext cx="7786688" cy="3471862"/>
          </a:xfrm>
        </p:spPr>
        <p:txBody>
          <a:bodyPr/>
          <a:lstStyle/>
          <a:p>
            <a:pPr>
              <a:lnSpc>
                <a:spcPct val="200000"/>
              </a:lnSpc>
            </a:pPr>
            <a:r>
              <a:rPr lang="zh-CN" altLang="en-US" sz="2800" smtClean="0">
                <a:solidFill>
                  <a:schemeClr val="bg1"/>
                </a:solidFill>
                <a:latin typeface="黑体" pitchFamily="49" charset="-122"/>
                <a:ea typeface="黑体" pitchFamily="49" charset="-122"/>
              </a:rPr>
              <a:t>全球竞争加剧导致了时间和空间的“压缩”</a:t>
            </a:r>
            <a:endParaRPr lang="en-US" altLang="zh-CN" sz="2800" smtClean="0">
              <a:solidFill>
                <a:schemeClr val="bg1"/>
              </a:solidFill>
              <a:latin typeface="黑体" pitchFamily="49" charset="-122"/>
              <a:ea typeface="黑体" pitchFamily="49" charset="-122"/>
            </a:endParaRPr>
          </a:p>
          <a:p>
            <a:pPr>
              <a:lnSpc>
                <a:spcPct val="200000"/>
              </a:lnSpc>
            </a:pPr>
            <a:r>
              <a:rPr lang="zh-CN" altLang="en-US" sz="2800" smtClean="0">
                <a:solidFill>
                  <a:schemeClr val="bg1"/>
                </a:solidFill>
                <a:latin typeface="黑体" pitchFamily="49" charset="-122"/>
                <a:ea typeface="黑体" pitchFamily="49" charset="-122"/>
              </a:rPr>
              <a:t>面临也来也严重的有组织的抵抗</a:t>
            </a:r>
            <a:endParaRPr lang="en-US" altLang="zh-CN" sz="2800" smtClean="0">
              <a:solidFill>
                <a:schemeClr val="bg1"/>
              </a:solidFill>
              <a:latin typeface="黑体" pitchFamily="49" charset="-122"/>
              <a:ea typeface="黑体" pitchFamily="49" charset="-122"/>
            </a:endParaRPr>
          </a:p>
          <a:p>
            <a:pPr>
              <a:lnSpc>
                <a:spcPct val="200000"/>
              </a:lnSpc>
            </a:pPr>
            <a:r>
              <a:rPr lang="zh-CN" altLang="en-US" sz="2800" smtClean="0">
                <a:solidFill>
                  <a:schemeClr val="bg1"/>
                </a:solidFill>
                <a:latin typeface="黑体" pitchFamily="49" charset="-122"/>
                <a:ea typeface="黑体" pitchFamily="49" charset="-122"/>
              </a:rPr>
              <a:t>社会和文化障碍依然很显著</a:t>
            </a:r>
          </a:p>
        </p:txBody>
      </p:sp>
      <p:sp>
        <p:nvSpPr>
          <p:cNvPr id="4" name="上箭头 3">
            <a:hlinkClick r:id="rId2" action="ppaction://hlinksldjump"/>
          </p:cNvPr>
          <p:cNvSpPr/>
          <p:nvPr/>
        </p:nvSpPr>
        <p:spPr>
          <a:xfrm>
            <a:off x="8143875" y="5786438"/>
            <a:ext cx="142875" cy="1428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468313" y="765175"/>
            <a:ext cx="8229600" cy="5073650"/>
          </a:xfrm>
        </p:spPr>
        <p:txBody>
          <a:bodyPr/>
          <a:lstStyle/>
          <a:p>
            <a:pPr eaLnBrk="1" hangingPunct="1">
              <a:lnSpc>
                <a:spcPct val="130000"/>
              </a:lnSpc>
            </a:pPr>
            <a:r>
              <a:rPr lang="zh-CN" altLang="en-US" sz="2800" smtClean="0">
                <a:solidFill>
                  <a:schemeClr val="bg1"/>
                </a:solidFill>
                <a:ea typeface="黑体" pitchFamily="49" charset="-122"/>
              </a:rPr>
              <a:t>跨国企业所在地在该国家中的地位，以及该国在世界经济中的地位，均影响跨国公司与投资地的关系</a:t>
            </a:r>
          </a:p>
          <a:p>
            <a:pPr eaLnBrk="1" hangingPunct="1">
              <a:lnSpc>
                <a:spcPct val="130000"/>
              </a:lnSpc>
            </a:pPr>
            <a:r>
              <a:rPr lang="zh-CN" altLang="en-US" sz="2800" smtClean="0">
                <a:solidFill>
                  <a:schemeClr val="bg1"/>
                </a:solidFill>
                <a:ea typeface="黑体" pitchFamily="49" charset="-122"/>
              </a:rPr>
              <a:t>克氏理论认为，以中心地为代表的区域之间存在着功能等级差别</a:t>
            </a:r>
          </a:p>
          <a:p>
            <a:pPr eaLnBrk="1" hangingPunct="1">
              <a:lnSpc>
                <a:spcPct val="130000"/>
              </a:lnSpc>
            </a:pPr>
            <a:r>
              <a:rPr lang="zh-CN" altLang="en-US" sz="2800" smtClean="0">
                <a:solidFill>
                  <a:schemeClr val="bg1"/>
                </a:solidFill>
                <a:ea typeface="黑体" pitchFamily="49" charset="-122"/>
              </a:rPr>
              <a:t>马西强调区域之间的生产关系联系</a:t>
            </a:r>
          </a:p>
          <a:p>
            <a:pPr eaLnBrk="1" hangingPunct="1">
              <a:lnSpc>
                <a:spcPct val="130000"/>
              </a:lnSpc>
            </a:pPr>
            <a:r>
              <a:rPr lang="zh-CN" altLang="en-US" sz="2800" smtClean="0">
                <a:solidFill>
                  <a:schemeClr val="bg1"/>
                </a:solidFill>
                <a:ea typeface="黑体" pitchFamily="49" charset="-122"/>
              </a:rPr>
              <a:t>采用政治、经济和社会关系三维坐标系讨论区域之间的关系</a:t>
            </a:r>
          </a:p>
        </p:txBody>
      </p:sp>
      <p:sp>
        <p:nvSpPr>
          <p:cNvPr id="47107" name="AutoShape 4">
            <a:hlinkClick r:id="rId2" action="ppaction://hlinksldjump"/>
          </p:cNvPr>
          <p:cNvSpPr>
            <a:spLocks noChangeArrowheads="1"/>
          </p:cNvSpPr>
          <p:nvPr/>
        </p:nvSpPr>
        <p:spPr bwMode="auto">
          <a:xfrm>
            <a:off x="7740650" y="5876925"/>
            <a:ext cx="288925" cy="2159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p:txBody>
          <a:bodyPr/>
          <a:lstStyle/>
          <a:p>
            <a:pPr eaLnBrk="1" hangingPunct="1"/>
            <a:endParaRPr lang="zh-CN" altLang="zh-CN" smtClean="0"/>
          </a:p>
        </p:txBody>
      </p:sp>
      <p:pic>
        <p:nvPicPr>
          <p:cNvPr id="48131" name="Picture 4" descr="外资逃离"/>
          <p:cNvPicPr>
            <a:picLocks noChangeAspect="1" noChangeArrowheads="1"/>
          </p:cNvPicPr>
          <p:nvPr/>
        </p:nvPicPr>
        <p:blipFill>
          <a:blip r:embed="rId2" cstate="print"/>
          <a:srcRect/>
          <a:stretch>
            <a:fillRect/>
          </a:stretch>
        </p:blipFill>
        <p:spPr bwMode="auto">
          <a:xfrm>
            <a:off x="47625" y="188913"/>
            <a:ext cx="9048750" cy="61928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900113" y="1989138"/>
            <a:ext cx="7632700" cy="2981325"/>
          </a:xfrm>
        </p:spPr>
        <p:txBody>
          <a:bodyPr/>
          <a:lstStyle/>
          <a:p>
            <a:pPr eaLnBrk="1" hangingPunct="1">
              <a:lnSpc>
                <a:spcPct val="160000"/>
              </a:lnSpc>
            </a:pPr>
            <a:r>
              <a:rPr lang="zh-CN" altLang="en-US" smtClean="0">
                <a:solidFill>
                  <a:schemeClr val="bg1"/>
                </a:solidFill>
                <a:ea typeface="黑体" pitchFamily="49" charset="-122"/>
              </a:rPr>
              <a:t>讨论题目：</a:t>
            </a:r>
          </a:p>
          <a:p>
            <a:pPr lvl="1" eaLnBrk="1" hangingPunct="1">
              <a:lnSpc>
                <a:spcPct val="160000"/>
              </a:lnSpc>
            </a:pPr>
            <a:r>
              <a:rPr lang="zh-CN" altLang="en-US" smtClean="0">
                <a:solidFill>
                  <a:schemeClr val="bg1"/>
                </a:solidFill>
                <a:ea typeface="黑体" pitchFamily="49" charset="-122"/>
              </a:rPr>
              <a:t>外资（或台资）对福建（或中国）经济发展的影响</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703</TotalTime>
  <Words>5003</Words>
  <Application>Microsoft Office PowerPoint</Application>
  <PresentationFormat>全屏显示(4:3)</PresentationFormat>
  <Paragraphs>359</Paragraphs>
  <Slides>47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Arial</vt:lpstr>
      <vt:lpstr>宋体</vt:lpstr>
      <vt:lpstr>Calibri</vt:lpstr>
      <vt:lpstr>黑体</vt:lpstr>
      <vt:lpstr>Wingdings</vt:lpstr>
      <vt:lpstr>Times New Roman</vt:lpstr>
      <vt:lpstr>华文细黑</vt:lpstr>
      <vt:lpstr>默认设计模板</vt:lpstr>
      <vt:lpstr>第5章  跨国公司区位 第1节 跨国直接投资区位选择  </vt:lpstr>
      <vt:lpstr>幻灯片 2</vt:lpstr>
      <vt:lpstr>一、跨国直接投资原因</vt:lpstr>
      <vt:lpstr>产品周期理论 </vt:lpstr>
      <vt:lpstr>幻灯片 5</vt:lpstr>
      <vt:lpstr>例子：瑞典工业空间结构</vt:lpstr>
      <vt:lpstr>折衷理论</vt:lpstr>
      <vt:lpstr>二、跨国公司投资的国别选择</vt:lpstr>
      <vt:lpstr>三、跨国公司的微观区位选择</vt:lpstr>
      <vt:lpstr>第二节  跨国公司不同组分的 区位选择</vt:lpstr>
      <vt:lpstr>幻灯片 11</vt:lpstr>
      <vt:lpstr>一、公司总部的区位特征</vt:lpstr>
      <vt:lpstr>幻灯片 13</vt:lpstr>
      <vt:lpstr>幻灯片 14</vt:lpstr>
      <vt:lpstr>二、公司研究与开发机构的区位特征</vt:lpstr>
      <vt:lpstr>幻灯片 16</vt:lpstr>
      <vt:lpstr>幻灯片 17</vt:lpstr>
      <vt:lpstr>摩托罗拉全面进入中国：从制造基地到地区总部</vt:lpstr>
      <vt:lpstr>幻灯片 19</vt:lpstr>
      <vt:lpstr>最本土化的跨国公司：可口可乐</vt:lpstr>
      <vt:lpstr>最本土化的跨国公司：可口可乐</vt:lpstr>
      <vt:lpstr>幻灯片 22</vt:lpstr>
      <vt:lpstr>跨国零售企业在中国的空间战略：以沃尔玛和家乐福为例 </vt:lpstr>
      <vt:lpstr>中国大型综合超市市场占有率前十位企业 </vt:lpstr>
      <vt:lpstr>主要外资零售企业在中国的布局</vt:lpstr>
      <vt:lpstr>国际化进程：沃尔玛VS.家乐福</vt:lpstr>
      <vt:lpstr>沃尔玛和家乐福进入中国</vt:lpstr>
      <vt:lpstr>幻灯片 28</vt:lpstr>
      <vt:lpstr>幻灯片 29</vt:lpstr>
      <vt:lpstr>三、公司生产单位的区位特征</vt:lpstr>
      <vt:lpstr>跨国生产单位的集中组织形式</vt:lpstr>
      <vt:lpstr>幻灯片 32</vt:lpstr>
      <vt:lpstr>幻灯片 33</vt:lpstr>
      <vt:lpstr>幻灯片 34</vt:lpstr>
      <vt:lpstr>第三节  跨国公司对投资区经济发展的影响</vt:lpstr>
      <vt:lpstr>幻灯片 36</vt:lpstr>
      <vt:lpstr>幻灯片 37</vt:lpstr>
      <vt:lpstr>商品链和生产网络——跨国公司构建基石 </vt:lpstr>
      <vt:lpstr>幻灯片 39</vt:lpstr>
      <vt:lpstr>组织跨国经济活动</vt:lpstr>
      <vt:lpstr>幻灯片 41</vt:lpstr>
      <vt:lpstr>幻灯片 42</vt:lpstr>
      <vt:lpstr>幻灯片 43</vt:lpstr>
      <vt:lpstr>幻灯片 44</vt:lpstr>
      <vt:lpstr>幻灯片 45</vt:lpstr>
      <vt:lpstr>幻灯片 46</vt:lpstr>
      <vt:lpstr>幻灯片 47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第5节  交通及其对经济活动区位的一般影响</dc:title>
  <dc:creator>asd</dc:creator>
  <cp:lastModifiedBy>xbany</cp:lastModifiedBy>
  <cp:revision>85</cp:revision>
  <dcterms:created xsi:type="dcterms:W3CDTF">2004-06-12T14:48:10Z</dcterms:created>
  <dcterms:modified xsi:type="dcterms:W3CDTF">2020-02-11T13:46:54Z</dcterms:modified>
</cp:coreProperties>
</file>