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4"/>
  </p:notesMasterIdLst>
  <p:sldIdLst>
    <p:sldId id="256" r:id="rId2"/>
    <p:sldId id="257" r:id="rId3"/>
    <p:sldId id="324" r:id="rId4"/>
    <p:sldId id="298" r:id="rId5"/>
    <p:sldId id="294" r:id="rId6"/>
    <p:sldId id="295" r:id="rId7"/>
    <p:sldId id="306" r:id="rId8"/>
    <p:sldId id="307" r:id="rId9"/>
    <p:sldId id="308" r:id="rId10"/>
    <p:sldId id="313" r:id="rId11"/>
    <p:sldId id="314" r:id="rId12"/>
    <p:sldId id="315" r:id="rId13"/>
    <p:sldId id="316" r:id="rId14"/>
    <p:sldId id="317" r:id="rId15"/>
    <p:sldId id="318" r:id="rId16"/>
    <p:sldId id="319" r:id="rId17"/>
    <p:sldId id="288" r:id="rId18"/>
    <p:sldId id="312" r:id="rId19"/>
    <p:sldId id="320" r:id="rId20"/>
    <p:sldId id="321" r:id="rId21"/>
    <p:sldId id="322" r:id="rId22"/>
    <p:sldId id="289" r:id="rId23"/>
    <p:sldId id="311" r:id="rId24"/>
    <p:sldId id="323" r:id="rId25"/>
    <p:sldId id="299" r:id="rId26"/>
    <p:sldId id="300" r:id="rId27"/>
    <p:sldId id="301" r:id="rId28"/>
    <p:sldId id="302" r:id="rId29"/>
    <p:sldId id="303" r:id="rId30"/>
    <p:sldId id="304" r:id="rId31"/>
    <p:sldId id="305" r:id="rId32"/>
    <p:sldId id="276" r:id="rId3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CC"/>
    <a:srgbClr val="323232"/>
    <a:srgbClr val="000099"/>
    <a:srgbClr val="66FFFF"/>
    <a:srgbClr val="99CCFF"/>
    <a:srgbClr val="FFFF00"/>
    <a:srgbClr val="FF33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1018" y="-33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892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fld id="{A05DD023-6B65-45D8-B6ED-00842432BC4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6413"/>
            <a:chOff x="0" y="0"/>
            <a:chExt cx="5760" cy="4319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0" y="12"/>
              <a:ext cx="5758" cy="3273"/>
            </a:xfrm>
            <a:custGeom>
              <a:avLst/>
              <a:gdLst/>
              <a:ahLst/>
              <a:cxnLst>
                <a:cxn ang="0">
                  <a:pos x="3193" y="1816"/>
                </a:cxn>
                <a:cxn ang="0">
                  <a:pos x="0" y="0"/>
                </a:cxn>
                <a:cxn ang="0">
                  <a:pos x="0" y="522"/>
                </a:cxn>
                <a:cxn ang="0">
                  <a:pos x="3037" y="1978"/>
                </a:cxn>
                <a:cxn ang="0">
                  <a:pos x="5740" y="3273"/>
                </a:cxn>
                <a:cxn ang="0">
                  <a:pos x="5740" y="3267"/>
                </a:cxn>
                <a:cxn ang="0">
                  <a:pos x="3193" y="1816"/>
                </a:cxn>
                <a:cxn ang="0">
                  <a:pos x="3193" y="1816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149" y="0"/>
              <a:ext cx="5609" cy="3243"/>
            </a:xfrm>
            <a:custGeom>
              <a:avLst/>
              <a:gdLst/>
              <a:ahLst/>
              <a:cxnLst>
                <a:cxn ang="0">
                  <a:pos x="3163" y="1714"/>
                </a:cxn>
                <a:cxn ang="0">
                  <a:pos x="431" y="0"/>
                </a:cxn>
                <a:cxn ang="0">
                  <a:pos x="0" y="0"/>
                </a:cxn>
                <a:cxn ang="0">
                  <a:pos x="3086" y="1786"/>
                </a:cxn>
                <a:cxn ang="0">
                  <a:pos x="5591" y="3243"/>
                </a:cxn>
                <a:cxn ang="0">
                  <a:pos x="5591" y="3237"/>
                </a:cxn>
                <a:cxn ang="0">
                  <a:pos x="3163" y="1714"/>
                </a:cxn>
                <a:cxn ang="0">
                  <a:pos x="3163" y="1714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0" y="3433"/>
              <a:ext cx="4038" cy="191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4042" y="192"/>
                </a:cxn>
                <a:cxn ang="0">
                  <a:pos x="4042" y="144"/>
                </a:cxn>
                <a:cxn ang="0">
                  <a:pos x="0" y="0"/>
                </a:cxn>
                <a:cxn ang="0">
                  <a:pos x="0" y="156"/>
                </a:cxn>
                <a:cxn ang="0">
                  <a:pos x="0" y="156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hidden">
            <a:xfrm>
              <a:off x="4038" y="3577"/>
              <a:ext cx="1720" cy="65"/>
            </a:xfrm>
            <a:custGeom>
              <a:avLst/>
              <a:gdLst/>
              <a:ahLst/>
              <a:cxnLst>
                <a:cxn ang="0">
                  <a:pos x="1722" y="66"/>
                </a:cxn>
                <a:cxn ang="0">
                  <a:pos x="1722" y="60"/>
                </a:cxn>
                <a:cxn ang="0">
                  <a:pos x="0" y="0"/>
                </a:cxn>
                <a:cxn ang="0">
                  <a:pos x="0" y="48"/>
                </a:cxn>
                <a:cxn ang="0">
                  <a:pos x="1722" y="66"/>
                </a:cxn>
                <a:cxn ang="0">
                  <a:pos x="1722" y="66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hidden">
            <a:xfrm>
              <a:off x="0" y="3726"/>
              <a:ext cx="4784" cy="329"/>
            </a:xfrm>
            <a:custGeom>
              <a:avLst/>
              <a:gdLst/>
              <a:ahLst/>
              <a:cxnLst>
                <a:cxn ang="0">
                  <a:pos x="0" y="329"/>
                </a:cxn>
                <a:cxn ang="0">
                  <a:pos x="4789" y="77"/>
                </a:cxn>
                <a:cxn ang="0">
                  <a:pos x="4789" y="0"/>
                </a:cxn>
                <a:cxn ang="0">
                  <a:pos x="0" y="107"/>
                </a:cxn>
                <a:cxn ang="0">
                  <a:pos x="0" y="329"/>
                </a:cxn>
                <a:cxn ang="0">
                  <a:pos x="0" y="329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hidden">
            <a:xfrm>
              <a:off x="4784" y="3702"/>
              <a:ext cx="974" cy="101"/>
            </a:xfrm>
            <a:custGeom>
              <a:avLst/>
              <a:gdLst/>
              <a:ahLst/>
              <a:cxnLst>
                <a:cxn ang="0">
                  <a:pos x="975" y="48"/>
                </a:cxn>
                <a:cxn ang="0">
                  <a:pos x="975" y="0"/>
                </a:cxn>
                <a:cxn ang="0">
                  <a:pos x="0" y="24"/>
                </a:cxn>
                <a:cxn ang="0">
                  <a:pos x="0" y="101"/>
                </a:cxn>
                <a:cxn ang="0">
                  <a:pos x="975" y="48"/>
                </a:cxn>
                <a:cxn ang="0">
                  <a:pos x="975" y="48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1" name="Freeform 9"/>
            <p:cNvSpPr>
              <a:spLocks/>
            </p:cNvSpPr>
            <p:nvPr/>
          </p:nvSpPr>
          <p:spPr bwMode="hidden">
            <a:xfrm>
              <a:off x="3619" y="3815"/>
              <a:ext cx="2139" cy="198"/>
            </a:xfrm>
            <a:custGeom>
              <a:avLst/>
              <a:gdLst/>
              <a:ahLst/>
              <a:cxnLst>
                <a:cxn ang="0">
                  <a:pos x="2141" y="0"/>
                </a:cxn>
                <a:cxn ang="0">
                  <a:pos x="0" y="156"/>
                </a:cxn>
                <a:cxn ang="0">
                  <a:pos x="0" y="198"/>
                </a:cxn>
                <a:cxn ang="0">
                  <a:pos x="2141" y="0"/>
                </a:cxn>
                <a:cxn ang="0">
                  <a:pos x="2141" y="0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hidden">
            <a:xfrm>
              <a:off x="0" y="3971"/>
              <a:ext cx="3619" cy="348"/>
            </a:xfrm>
            <a:custGeom>
              <a:avLst/>
              <a:gdLst/>
              <a:ahLst/>
              <a:cxnLst>
                <a:cxn ang="0">
                  <a:pos x="0" y="348"/>
                </a:cxn>
                <a:cxn ang="0">
                  <a:pos x="311" y="348"/>
                </a:cxn>
                <a:cxn ang="0">
                  <a:pos x="3623" y="42"/>
                </a:cxn>
                <a:cxn ang="0">
                  <a:pos x="3623" y="0"/>
                </a:cxn>
                <a:cxn ang="0">
                  <a:pos x="0" y="264"/>
                </a:cxn>
                <a:cxn ang="0">
                  <a:pos x="0" y="348"/>
                </a:cxn>
                <a:cxn ang="0">
                  <a:pos x="0" y="348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hidden">
            <a:xfrm>
              <a:off x="2097" y="4043"/>
              <a:ext cx="2514" cy="276"/>
            </a:xfrm>
            <a:custGeom>
              <a:avLst/>
              <a:gdLst/>
              <a:ahLst/>
              <a:cxnLst>
                <a:cxn ang="0">
                  <a:pos x="2182" y="276"/>
                </a:cxn>
                <a:cxn ang="0">
                  <a:pos x="2517" y="204"/>
                </a:cxn>
                <a:cxn ang="0">
                  <a:pos x="2260" y="0"/>
                </a:cxn>
                <a:cxn ang="0">
                  <a:pos x="0" y="276"/>
                </a:cxn>
                <a:cxn ang="0">
                  <a:pos x="2182" y="276"/>
                </a:cxn>
                <a:cxn ang="0">
                  <a:pos x="2182" y="276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hidden">
            <a:xfrm>
              <a:off x="4354" y="3869"/>
              <a:ext cx="1404" cy="378"/>
            </a:xfrm>
            <a:custGeom>
              <a:avLst/>
              <a:gdLst/>
              <a:ahLst/>
              <a:cxnLst>
                <a:cxn ang="0">
                  <a:pos x="1405" y="126"/>
                </a:cxn>
                <a:cxn ang="0">
                  <a:pos x="1405" y="0"/>
                </a:cxn>
                <a:cxn ang="0">
                  <a:pos x="0" y="174"/>
                </a:cxn>
                <a:cxn ang="0">
                  <a:pos x="257" y="378"/>
                </a:cxn>
                <a:cxn ang="0">
                  <a:pos x="1405" y="126"/>
                </a:cxn>
                <a:cxn ang="0">
                  <a:pos x="1405" y="126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hidden">
            <a:xfrm>
              <a:off x="5030" y="3151"/>
              <a:ext cx="728" cy="240"/>
            </a:xfrm>
            <a:custGeom>
              <a:avLst/>
              <a:gdLst/>
              <a:ahLst/>
              <a:cxnLst>
                <a:cxn ang="0">
                  <a:pos x="729" y="240"/>
                </a:cxn>
                <a:cxn ang="0">
                  <a:pos x="0" y="0"/>
                </a:cxn>
                <a:cxn ang="0">
                  <a:pos x="0" y="6"/>
                </a:cxn>
                <a:cxn ang="0">
                  <a:pos x="729" y="240"/>
                </a:cxn>
                <a:cxn ang="0">
                  <a:pos x="729" y="240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0" y="1486"/>
              <a:ext cx="5030" cy="1671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5035" y="1672"/>
                </a:cxn>
                <a:cxn ang="0">
                  <a:pos x="5035" y="1666"/>
                </a:cxn>
                <a:cxn ang="0">
                  <a:pos x="0" y="0"/>
                </a:cxn>
                <a:cxn ang="0">
                  <a:pos x="0" y="72"/>
                </a:cxn>
                <a:cxn ang="0">
                  <a:pos x="0" y="72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hidden">
            <a:xfrm>
              <a:off x="5030" y="3049"/>
              <a:ext cx="728" cy="318"/>
            </a:xfrm>
            <a:custGeom>
              <a:avLst/>
              <a:gdLst/>
              <a:ahLst/>
              <a:cxnLst>
                <a:cxn ang="0">
                  <a:pos x="729" y="318"/>
                </a:cxn>
                <a:cxn ang="0">
                  <a:pos x="729" y="312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729" y="318"/>
                </a:cxn>
                <a:cxn ang="0">
                  <a:pos x="729" y="318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hidden">
            <a:xfrm>
              <a:off x="0" y="916"/>
              <a:ext cx="5030" cy="2187"/>
            </a:xfrm>
            <a:custGeom>
              <a:avLst/>
              <a:gdLst/>
              <a:ahLst/>
              <a:cxnLst>
                <a:cxn ang="0">
                  <a:pos x="0" y="396"/>
                </a:cxn>
                <a:cxn ang="0">
                  <a:pos x="5035" y="2188"/>
                </a:cxn>
                <a:cxn ang="0">
                  <a:pos x="5035" y="2134"/>
                </a:cxn>
                <a:cxn ang="0">
                  <a:pos x="0" y="0"/>
                </a:cxn>
                <a:cxn ang="0">
                  <a:pos x="0" y="396"/>
                </a:cxn>
                <a:cxn ang="0">
                  <a:pos x="0" y="396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hidden">
            <a:xfrm>
              <a:off x="2294" y="0"/>
              <a:ext cx="3159" cy="27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145" y="2727"/>
                </a:cxn>
                <a:cxn ang="0">
                  <a:pos x="3163" y="2704"/>
                </a:cxn>
                <a:cxn ang="0">
                  <a:pos x="10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hidden">
            <a:xfrm>
              <a:off x="5435" y="2702"/>
              <a:ext cx="323" cy="299"/>
            </a:xfrm>
            <a:custGeom>
              <a:avLst/>
              <a:gdLst/>
              <a:ahLst/>
              <a:cxnLst>
                <a:cxn ang="0">
                  <a:pos x="323" y="299"/>
                </a:cxn>
                <a:cxn ang="0">
                  <a:pos x="323" y="263"/>
                </a:cxn>
                <a:cxn ang="0">
                  <a:pos x="18" y="0"/>
                </a:cxn>
                <a:cxn ang="0">
                  <a:pos x="0" y="23"/>
                </a:cxn>
                <a:cxn ang="0">
                  <a:pos x="323" y="299"/>
                </a:cxn>
                <a:cxn ang="0">
                  <a:pos x="323" y="299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hidden">
            <a:xfrm>
              <a:off x="5477" y="2588"/>
              <a:ext cx="281" cy="335"/>
            </a:xfrm>
            <a:custGeom>
              <a:avLst/>
              <a:gdLst/>
              <a:ahLst/>
              <a:cxnLst>
                <a:cxn ang="0">
                  <a:pos x="281" y="335"/>
                </a:cxn>
                <a:cxn ang="0">
                  <a:pos x="281" y="173"/>
                </a:cxn>
                <a:cxn ang="0">
                  <a:pos x="96" y="0"/>
                </a:cxn>
                <a:cxn ang="0">
                  <a:pos x="0" y="90"/>
                </a:cxn>
                <a:cxn ang="0">
                  <a:pos x="281" y="335"/>
                </a:cxn>
                <a:cxn ang="0">
                  <a:pos x="281" y="335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hidden">
            <a:xfrm>
              <a:off x="2454" y="0"/>
              <a:ext cx="3119" cy="267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26" y="2680"/>
                </a:cxn>
                <a:cxn ang="0">
                  <a:pos x="3122" y="2590"/>
                </a:cxn>
                <a:cxn ang="0">
                  <a:pos x="383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hidden">
            <a:xfrm>
              <a:off x="5626" y="2534"/>
              <a:ext cx="132" cy="132"/>
            </a:xfrm>
            <a:custGeom>
              <a:avLst/>
              <a:gdLst/>
              <a:ahLst/>
              <a:cxnLst>
                <a:cxn ang="0">
                  <a:pos x="132" y="13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32" y="132"/>
                </a:cxn>
                <a:cxn ang="0">
                  <a:pos x="132" y="132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hidden">
            <a:xfrm>
              <a:off x="3112" y="0"/>
              <a:ext cx="2514" cy="25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17" y="2536"/>
                </a:cxn>
                <a:cxn ang="0">
                  <a:pos x="2517" y="2536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hidden">
            <a:xfrm>
              <a:off x="3488" y="0"/>
              <a:ext cx="2198" cy="24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88" y="2482"/>
                </a:cxn>
                <a:cxn ang="0">
                  <a:pos x="2200" y="2476"/>
                </a:cxn>
                <a:cxn ang="0">
                  <a:pos x="317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6" name="Freeform 24"/>
            <p:cNvSpPr>
              <a:spLocks/>
            </p:cNvSpPr>
            <p:nvPr/>
          </p:nvSpPr>
          <p:spPr bwMode="hidden">
            <a:xfrm>
              <a:off x="5674" y="2474"/>
              <a:ext cx="84" cy="96"/>
            </a:xfrm>
            <a:custGeom>
              <a:avLst/>
              <a:gdLst/>
              <a:ahLst/>
              <a:cxnLst>
                <a:cxn ang="0">
                  <a:pos x="84" y="96"/>
                </a:cxn>
                <a:cxn ang="0">
                  <a:pos x="84" y="90"/>
                </a:cxn>
                <a:cxn ang="0">
                  <a:pos x="12" y="0"/>
                </a:cxn>
                <a:cxn ang="0">
                  <a:pos x="0" y="6"/>
                </a:cxn>
                <a:cxn ang="0">
                  <a:pos x="84" y="96"/>
                </a:cxn>
                <a:cxn ang="0">
                  <a:pos x="84" y="96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7" name="Freeform 25"/>
            <p:cNvSpPr>
              <a:spLocks/>
            </p:cNvSpPr>
            <p:nvPr/>
          </p:nvSpPr>
          <p:spPr bwMode="hidden">
            <a:xfrm>
              <a:off x="5603" y="850"/>
              <a:ext cx="155" cy="516"/>
            </a:xfrm>
            <a:custGeom>
              <a:avLst/>
              <a:gdLst/>
              <a:ahLst/>
              <a:cxnLst>
                <a:cxn ang="0">
                  <a:pos x="155" y="516"/>
                </a:cxn>
                <a:cxn ang="0">
                  <a:pos x="155" y="204"/>
                </a:cxn>
                <a:cxn ang="0">
                  <a:pos x="77" y="0"/>
                </a:cxn>
                <a:cxn ang="0">
                  <a:pos x="0" y="192"/>
                </a:cxn>
                <a:cxn ang="0">
                  <a:pos x="155" y="516"/>
                </a:cxn>
                <a:cxn ang="0">
                  <a:pos x="155" y="516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5107" y="0"/>
              <a:ext cx="573" cy="10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97" y="1043"/>
                </a:cxn>
                <a:cxn ang="0">
                  <a:pos x="574" y="851"/>
                </a:cxn>
                <a:cxn ang="0">
                  <a:pos x="25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9" name="Freeform 27"/>
            <p:cNvSpPr>
              <a:spLocks/>
            </p:cNvSpPr>
            <p:nvPr/>
          </p:nvSpPr>
          <p:spPr bwMode="hidden">
            <a:xfrm>
              <a:off x="5411" y="0"/>
              <a:ext cx="341" cy="796"/>
            </a:xfrm>
            <a:custGeom>
              <a:avLst/>
              <a:gdLst/>
              <a:ahLst/>
              <a:cxnLst>
                <a:cxn ang="0">
                  <a:pos x="144" y="0"/>
                </a:cxn>
                <a:cxn ang="0">
                  <a:pos x="0" y="0"/>
                </a:cxn>
                <a:cxn ang="0">
                  <a:pos x="287" y="797"/>
                </a:cxn>
                <a:cxn ang="0">
                  <a:pos x="341" y="653"/>
                </a:cxn>
                <a:cxn ang="0">
                  <a:pos x="144" y="0"/>
                </a:cxn>
                <a:cxn ang="0">
                  <a:pos x="144" y="0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0" name="Freeform 28"/>
            <p:cNvSpPr>
              <a:spLocks/>
            </p:cNvSpPr>
            <p:nvPr/>
          </p:nvSpPr>
          <p:spPr bwMode="hidden">
            <a:xfrm>
              <a:off x="5698" y="653"/>
              <a:ext cx="60" cy="311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60" y="312"/>
                </a:cxn>
                <a:cxn ang="0">
                  <a:pos x="60" y="6"/>
                </a:cxn>
                <a:cxn ang="0">
                  <a:pos x="54" y="0"/>
                </a:cxn>
                <a:cxn ang="0">
                  <a:pos x="0" y="144"/>
                </a:cxn>
                <a:cxn ang="0">
                  <a:pos x="0" y="144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1" name="Freeform 29"/>
            <p:cNvSpPr>
              <a:spLocks/>
            </p:cNvSpPr>
            <p:nvPr/>
          </p:nvSpPr>
          <p:spPr bwMode="hidden">
            <a:xfrm>
              <a:off x="2" y="1601"/>
              <a:ext cx="5752" cy="1864"/>
            </a:xfrm>
            <a:custGeom>
              <a:avLst/>
              <a:gdLst/>
              <a:ahLst/>
              <a:cxnLst>
                <a:cxn ang="0">
                  <a:pos x="0" y="371"/>
                </a:cxn>
                <a:cxn ang="0">
                  <a:pos x="5740" y="1864"/>
                </a:cxn>
                <a:cxn ang="0">
                  <a:pos x="5740" y="1834"/>
                </a:cxn>
                <a:cxn ang="0">
                  <a:pos x="0" y="0"/>
                </a:cxn>
                <a:cxn ang="0">
                  <a:pos x="0" y="371"/>
                </a:cxn>
                <a:cxn ang="0">
                  <a:pos x="0" y="37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2" name="Freeform 30"/>
            <p:cNvSpPr>
              <a:spLocks/>
            </p:cNvSpPr>
            <p:nvPr/>
          </p:nvSpPr>
          <p:spPr bwMode="hidden">
            <a:xfrm>
              <a:off x="5754" y="3483"/>
              <a:ext cx="6" cy="6"/>
            </a:xfrm>
            <a:custGeom>
              <a:avLst/>
              <a:gdLst/>
              <a:ahLst/>
              <a:cxnLst>
                <a:cxn ang="0">
                  <a:pos x="6" y="6"/>
                </a:cxn>
                <a:cxn ang="0">
                  <a:pos x="0" y="0"/>
                </a:cxn>
                <a:cxn ang="0">
                  <a:pos x="0" y="6"/>
                </a:cxn>
                <a:cxn ang="0">
                  <a:pos x="6" y="6"/>
                </a:cxn>
                <a:cxn ang="0">
                  <a:pos x="6" y="6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3" name="Freeform 31"/>
            <p:cNvSpPr>
              <a:spLocks/>
            </p:cNvSpPr>
            <p:nvPr/>
          </p:nvSpPr>
          <p:spPr bwMode="hidden">
            <a:xfrm>
              <a:off x="2" y="2152"/>
              <a:ext cx="5752" cy="1337"/>
            </a:xfrm>
            <a:custGeom>
              <a:avLst/>
              <a:gdLst/>
              <a:ahLst/>
              <a:cxnLst>
                <a:cxn ang="0">
                  <a:pos x="0" y="366"/>
                </a:cxn>
                <a:cxn ang="0">
                  <a:pos x="5740" y="1337"/>
                </a:cxn>
                <a:cxn ang="0">
                  <a:pos x="5740" y="1331"/>
                </a:cxn>
                <a:cxn ang="0">
                  <a:pos x="0" y="0"/>
                </a:cxn>
                <a:cxn ang="0">
                  <a:pos x="0" y="366"/>
                </a:cxn>
                <a:cxn ang="0">
                  <a:pos x="0" y="366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4" name="Freeform 32"/>
            <p:cNvSpPr>
              <a:spLocks/>
            </p:cNvSpPr>
            <p:nvPr/>
          </p:nvSpPr>
          <p:spPr bwMode="hidden">
            <a:xfrm>
              <a:off x="2" y="3177"/>
              <a:ext cx="5752" cy="414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5740" y="414"/>
                </a:cxn>
                <a:cxn ang="0">
                  <a:pos x="5740" y="402"/>
                </a:cxn>
                <a:cxn ang="0">
                  <a:pos x="0" y="0"/>
                </a:cxn>
                <a:cxn ang="0">
                  <a:pos x="0" y="48"/>
                </a:cxn>
                <a:cxn ang="0">
                  <a:pos x="0" y="48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5" name="Freeform 33"/>
            <p:cNvSpPr>
              <a:spLocks/>
            </p:cNvSpPr>
            <p:nvPr/>
          </p:nvSpPr>
          <p:spPr bwMode="hidden">
            <a:xfrm>
              <a:off x="1297" y="0"/>
              <a:ext cx="4457" cy="31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48" y="3177"/>
                </a:cxn>
                <a:cxn ang="0">
                  <a:pos x="4448" y="3153"/>
                </a:cxn>
                <a:cxn ang="0">
                  <a:pos x="125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6" name="Freeform 34"/>
            <p:cNvSpPr>
              <a:spLocks/>
            </p:cNvSpPr>
            <p:nvPr/>
          </p:nvSpPr>
          <p:spPr bwMode="hidden">
            <a:xfrm>
              <a:off x="3321" y="0"/>
              <a:ext cx="2433" cy="26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28" y="2614"/>
                </a:cxn>
                <a:cxn ang="0">
                  <a:pos x="2428" y="2608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7" name="Freeform 35"/>
            <p:cNvSpPr>
              <a:spLocks/>
            </p:cNvSpPr>
            <p:nvPr/>
          </p:nvSpPr>
          <p:spPr bwMode="hidden">
            <a:xfrm>
              <a:off x="3950" y="0"/>
              <a:ext cx="1804" cy="2464"/>
            </a:xfrm>
            <a:custGeom>
              <a:avLst/>
              <a:gdLst/>
              <a:ahLst/>
              <a:cxnLst>
                <a:cxn ang="0">
                  <a:pos x="485" y="0"/>
                </a:cxn>
                <a:cxn ang="0">
                  <a:pos x="0" y="0"/>
                </a:cxn>
                <a:cxn ang="0">
                  <a:pos x="1800" y="2464"/>
                </a:cxn>
                <a:cxn ang="0">
                  <a:pos x="1800" y="2248"/>
                </a:cxn>
                <a:cxn ang="0">
                  <a:pos x="1794" y="2248"/>
                </a:cxn>
                <a:cxn ang="0">
                  <a:pos x="485" y="0"/>
                </a:cxn>
                <a:cxn ang="0">
                  <a:pos x="485" y="0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8" name="Freeform 36"/>
            <p:cNvSpPr>
              <a:spLocks/>
            </p:cNvSpPr>
            <p:nvPr/>
          </p:nvSpPr>
          <p:spPr bwMode="hidden">
            <a:xfrm>
              <a:off x="4519" y="0"/>
              <a:ext cx="1235" cy="207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32" y="2074"/>
                </a:cxn>
                <a:cxn ang="0">
                  <a:pos x="1232" y="2038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39" name="Freeform 37"/>
            <p:cNvSpPr>
              <a:spLocks/>
            </p:cNvSpPr>
            <p:nvPr/>
          </p:nvSpPr>
          <p:spPr bwMode="hidden">
            <a:xfrm>
              <a:off x="4694" y="0"/>
              <a:ext cx="1060" cy="19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58" y="1936"/>
                </a:cxn>
                <a:cxn ang="0">
                  <a:pos x="1058" y="1930"/>
                </a:cxn>
                <a:cxn ang="0">
                  <a:pos x="54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40" name="Freeform 38"/>
            <p:cNvSpPr>
              <a:spLocks/>
            </p:cNvSpPr>
            <p:nvPr/>
          </p:nvSpPr>
          <p:spPr bwMode="hidden">
            <a:xfrm>
              <a:off x="4981" y="0"/>
              <a:ext cx="773" cy="1487"/>
            </a:xfrm>
            <a:custGeom>
              <a:avLst/>
              <a:gdLst/>
              <a:ahLst/>
              <a:cxnLst>
                <a:cxn ang="0">
                  <a:pos x="771" y="1433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771" y="1487"/>
                </a:cxn>
                <a:cxn ang="0">
                  <a:pos x="771" y="1433"/>
                </a:cxn>
                <a:cxn ang="0">
                  <a:pos x="771" y="1433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grpSp>
          <p:nvGrpSpPr>
            <p:cNvPr id="41" name="Group 39"/>
            <p:cNvGrpSpPr>
              <a:grpSpLocks/>
            </p:cNvGrpSpPr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42" name="Freeform 40"/>
              <p:cNvSpPr>
                <a:spLocks/>
              </p:cNvSpPr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66"/>
                  </a:cxn>
                  <a:cxn ang="0">
                    <a:pos x="3635" y="1313"/>
                  </a:cxn>
                  <a:cxn ang="0">
                    <a:pos x="3647" y="1235"/>
                  </a:cxn>
                  <a:cxn ang="0">
                    <a:pos x="3659" y="1163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43" name="Freeform 41"/>
              <p:cNvSpPr>
                <a:spLocks/>
              </p:cNvSpPr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/>
                <a:ahLst/>
                <a:cxnLst>
                  <a:cxn ang="0">
                    <a:pos x="2105" y="665"/>
                  </a:cxn>
                  <a:cxn ang="0">
                    <a:pos x="24" y="0"/>
                  </a:cxn>
                  <a:cxn ang="0">
                    <a:pos x="12" y="72"/>
                  </a:cxn>
                  <a:cxn ang="0">
                    <a:pos x="0" y="150"/>
                  </a:cxn>
                  <a:cxn ang="0">
                    <a:pos x="2105" y="695"/>
                  </a:cxn>
                  <a:cxn ang="0">
                    <a:pos x="2105" y="665"/>
                  </a:cxn>
                  <a:cxn ang="0">
                    <a:pos x="2105" y="665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</p:grpSp>
      <p:sp>
        <p:nvSpPr>
          <p:cNvPr id="14378" name="Rectangle 42"/>
          <p:cNvSpPr>
            <a:spLocks noGrp="1" noChangeArrowheads="1"/>
          </p:cNvSpPr>
          <p:nvPr>
            <p:ph type="ctrTitle" sz="quarter"/>
          </p:nvPr>
        </p:nvSpPr>
        <p:spPr>
          <a:xfrm>
            <a:off x="457200" y="1600200"/>
            <a:ext cx="8229600" cy="1828800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4379" name="Rectangle 4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6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4" name="Rectangle 44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5" name="Rectangle 4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" name="Rectangle 4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1503733-5B00-42D6-862B-B59EFC5F21E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30C3BB-B363-4E6B-ACC7-E2334B1803E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3DEED5-4237-466E-A509-5736C3439A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B26746-F3F1-463E-81A9-ACDB4EFAFC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76AA0-AD6E-4BB7-B197-EDCA75CE3D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01A043-A3B8-4252-B44C-18453A83903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40DD24-9D37-4864-AB8D-7F4452481BC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B5187D-A219-40E7-9AE3-05F1723A13E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3F1D40-39AB-4E30-A863-167959DF6A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5F4E75-3992-4519-BA98-2E36A1C5A9E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B93E56-5E37-427F-A947-0731CC68579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7813"/>
            <a:ext cx="8229600" cy="585311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4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931A30-526B-4208-A24A-E59095DF3F2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9144000" cy="6856413"/>
            <a:chOff x="0" y="0"/>
            <a:chExt cx="5760" cy="4319"/>
          </a:xfrm>
        </p:grpSpPr>
        <p:sp>
          <p:nvSpPr>
            <p:cNvPr id="13315" name="Freeform 3"/>
            <p:cNvSpPr>
              <a:spLocks/>
            </p:cNvSpPr>
            <p:nvPr/>
          </p:nvSpPr>
          <p:spPr bwMode="hidden">
            <a:xfrm>
              <a:off x="0" y="12"/>
              <a:ext cx="5758" cy="3273"/>
            </a:xfrm>
            <a:custGeom>
              <a:avLst/>
              <a:gdLst/>
              <a:ahLst/>
              <a:cxnLst>
                <a:cxn ang="0">
                  <a:pos x="3193" y="1816"/>
                </a:cxn>
                <a:cxn ang="0">
                  <a:pos x="0" y="0"/>
                </a:cxn>
                <a:cxn ang="0">
                  <a:pos x="0" y="522"/>
                </a:cxn>
                <a:cxn ang="0">
                  <a:pos x="3037" y="1978"/>
                </a:cxn>
                <a:cxn ang="0">
                  <a:pos x="5740" y="3273"/>
                </a:cxn>
                <a:cxn ang="0">
                  <a:pos x="5740" y="3267"/>
                </a:cxn>
                <a:cxn ang="0">
                  <a:pos x="3193" y="1816"/>
                </a:cxn>
                <a:cxn ang="0">
                  <a:pos x="3193" y="1816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3316" name="Freeform 4"/>
            <p:cNvSpPr>
              <a:spLocks/>
            </p:cNvSpPr>
            <p:nvPr/>
          </p:nvSpPr>
          <p:spPr bwMode="hidden">
            <a:xfrm>
              <a:off x="149" y="0"/>
              <a:ext cx="5609" cy="3243"/>
            </a:xfrm>
            <a:custGeom>
              <a:avLst/>
              <a:gdLst/>
              <a:ahLst/>
              <a:cxnLst>
                <a:cxn ang="0">
                  <a:pos x="3163" y="1714"/>
                </a:cxn>
                <a:cxn ang="0">
                  <a:pos x="431" y="0"/>
                </a:cxn>
                <a:cxn ang="0">
                  <a:pos x="0" y="0"/>
                </a:cxn>
                <a:cxn ang="0">
                  <a:pos x="3086" y="1786"/>
                </a:cxn>
                <a:cxn ang="0">
                  <a:pos x="5591" y="3243"/>
                </a:cxn>
                <a:cxn ang="0">
                  <a:pos x="5591" y="3237"/>
                </a:cxn>
                <a:cxn ang="0">
                  <a:pos x="3163" y="1714"/>
                </a:cxn>
                <a:cxn ang="0">
                  <a:pos x="3163" y="1714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3317" name="Freeform 5"/>
            <p:cNvSpPr>
              <a:spLocks/>
            </p:cNvSpPr>
            <p:nvPr/>
          </p:nvSpPr>
          <p:spPr bwMode="hidden">
            <a:xfrm>
              <a:off x="0" y="3433"/>
              <a:ext cx="4038" cy="191"/>
            </a:xfrm>
            <a:custGeom>
              <a:avLst/>
              <a:gdLst/>
              <a:ahLst/>
              <a:cxnLst>
                <a:cxn ang="0">
                  <a:pos x="0" y="156"/>
                </a:cxn>
                <a:cxn ang="0">
                  <a:pos x="4042" y="192"/>
                </a:cxn>
                <a:cxn ang="0">
                  <a:pos x="4042" y="144"/>
                </a:cxn>
                <a:cxn ang="0">
                  <a:pos x="0" y="0"/>
                </a:cxn>
                <a:cxn ang="0">
                  <a:pos x="0" y="156"/>
                </a:cxn>
                <a:cxn ang="0">
                  <a:pos x="0" y="156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3318" name="Freeform 6"/>
            <p:cNvSpPr>
              <a:spLocks/>
            </p:cNvSpPr>
            <p:nvPr/>
          </p:nvSpPr>
          <p:spPr bwMode="hidden">
            <a:xfrm>
              <a:off x="4038" y="3577"/>
              <a:ext cx="1720" cy="65"/>
            </a:xfrm>
            <a:custGeom>
              <a:avLst/>
              <a:gdLst/>
              <a:ahLst/>
              <a:cxnLst>
                <a:cxn ang="0">
                  <a:pos x="1722" y="66"/>
                </a:cxn>
                <a:cxn ang="0">
                  <a:pos x="1722" y="60"/>
                </a:cxn>
                <a:cxn ang="0">
                  <a:pos x="0" y="0"/>
                </a:cxn>
                <a:cxn ang="0">
                  <a:pos x="0" y="48"/>
                </a:cxn>
                <a:cxn ang="0">
                  <a:pos x="1722" y="66"/>
                </a:cxn>
                <a:cxn ang="0">
                  <a:pos x="1722" y="66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3319" name="Freeform 7"/>
            <p:cNvSpPr>
              <a:spLocks/>
            </p:cNvSpPr>
            <p:nvPr/>
          </p:nvSpPr>
          <p:spPr bwMode="hidden">
            <a:xfrm>
              <a:off x="0" y="3726"/>
              <a:ext cx="4784" cy="329"/>
            </a:xfrm>
            <a:custGeom>
              <a:avLst/>
              <a:gdLst/>
              <a:ahLst/>
              <a:cxnLst>
                <a:cxn ang="0">
                  <a:pos x="0" y="329"/>
                </a:cxn>
                <a:cxn ang="0">
                  <a:pos x="4789" y="77"/>
                </a:cxn>
                <a:cxn ang="0">
                  <a:pos x="4789" y="0"/>
                </a:cxn>
                <a:cxn ang="0">
                  <a:pos x="0" y="107"/>
                </a:cxn>
                <a:cxn ang="0">
                  <a:pos x="0" y="329"/>
                </a:cxn>
                <a:cxn ang="0">
                  <a:pos x="0" y="329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3320" name="Freeform 8"/>
            <p:cNvSpPr>
              <a:spLocks/>
            </p:cNvSpPr>
            <p:nvPr/>
          </p:nvSpPr>
          <p:spPr bwMode="hidden">
            <a:xfrm>
              <a:off x="4784" y="3702"/>
              <a:ext cx="974" cy="101"/>
            </a:xfrm>
            <a:custGeom>
              <a:avLst/>
              <a:gdLst/>
              <a:ahLst/>
              <a:cxnLst>
                <a:cxn ang="0">
                  <a:pos x="975" y="48"/>
                </a:cxn>
                <a:cxn ang="0">
                  <a:pos x="975" y="0"/>
                </a:cxn>
                <a:cxn ang="0">
                  <a:pos x="0" y="24"/>
                </a:cxn>
                <a:cxn ang="0">
                  <a:pos x="0" y="101"/>
                </a:cxn>
                <a:cxn ang="0">
                  <a:pos x="975" y="48"/>
                </a:cxn>
                <a:cxn ang="0">
                  <a:pos x="975" y="48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3321" name="Freeform 9"/>
            <p:cNvSpPr>
              <a:spLocks/>
            </p:cNvSpPr>
            <p:nvPr/>
          </p:nvSpPr>
          <p:spPr bwMode="hidden">
            <a:xfrm>
              <a:off x="3619" y="3815"/>
              <a:ext cx="2139" cy="198"/>
            </a:xfrm>
            <a:custGeom>
              <a:avLst/>
              <a:gdLst/>
              <a:ahLst/>
              <a:cxnLst>
                <a:cxn ang="0">
                  <a:pos x="2141" y="0"/>
                </a:cxn>
                <a:cxn ang="0">
                  <a:pos x="0" y="156"/>
                </a:cxn>
                <a:cxn ang="0">
                  <a:pos x="0" y="198"/>
                </a:cxn>
                <a:cxn ang="0">
                  <a:pos x="2141" y="0"/>
                </a:cxn>
                <a:cxn ang="0">
                  <a:pos x="2141" y="0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3322" name="Freeform 10"/>
            <p:cNvSpPr>
              <a:spLocks/>
            </p:cNvSpPr>
            <p:nvPr/>
          </p:nvSpPr>
          <p:spPr bwMode="hidden">
            <a:xfrm>
              <a:off x="0" y="3971"/>
              <a:ext cx="3619" cy="348"/>
            </a:xfrm>
            <a:custGeom>
              <a:avLst/>
              <a:gdLst/>
              <a:ahLst/>
              <a:cxnLst>
                <a:cxn ang="0">
                  <a:pos x="0" y="348"/>
                </a:cxn>
                <a:cxn ang="0">
                  <a:pos x="311" y="348"/>
                </a:cxn>
                <a:cxn ang="0">
                  <a:pos x="3623" y="42"/>
                </a:cxn>
                <a:cxn ang="0">
                  <a:pos x="3623" y="0"/>
                </a:cxn>
                <a:cxn ang="0">
                  <a:pos x="0" y="264"/>
                </a:cxn>
                <a:cxn ang="0">
                  <a:pos x="0" y="348"/>
                </a:cxn>
                <a:cxn ang="0">
                  <a:pos x="0" y="348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3323" name="Freeform 11"/>
            <p:cNvSpPr>
              <a:spLocks/>
            </p:cNvSpPr>
            <p:nvPr/>
          </p:nvSpPr>
          <p:spPr bwMode="hidden">
            <a:xfrm>
              <a:off x="2097" y="4043"/>
              <a:ext cx="2514" cy="276"/>
            </a:xfrm>
            <a:custGeom>
              <a:avLst/>
              <a:gdLst/>
              <a:ahLst/>
              <a:cxnLst>
                <a:cxn ang="0">
                  <a:pos x="2182" y="276"/>
                </a:cxn>
                <a:cxn ang="0">
                  <a:pos x="2517" y="204"/>
                </a:cxn>
                <a:cxn ang="0">
                  <a:pos x="2260" y="0"/>
                </a:cxn>
                <a:cxn ang="0">
                  <a:pos x="0" y="276"/>
                </a:cxn>
                <a:cxn ang="0">
                  <a:pos x="2182" y="276"/>
                </a:cxn>
                <a:cxn ang="0">
                  <a:pos x="2182" y="276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3324" name="Freeform 12"/>
            <p:cNvSpPr>
              <a:spLocks/>
            </p:cNvSpPr>
            <p:nvPr/>
          </p:nvSpPr>
          <p:spPr bwMode="hidden">
            <a:xfrm>
              <a:off x="4354" y="3869"/>
              <a:ext cx="1404" cy="378"/>
            </a:xfrm>
            <a:custGeom>
              <a:avLst/>
              <a:gdLst/>
              <a:ahLst/>
              <a:cxnLst>
                <a:cxn ang="0">
                  <a:pos x="1405" y="126"/>
                </a:cxn>
                <a:cxn ang="0">
                  <a:pos x="1405" y="0"/>
                </a:cxn>
                <a:cxn ang="0">
                  <a:pos x="0" y="174"/>
                </a:cxn>
                <a:cxn ang="0">
                  <a:pos x="257" y="378"/>
                </a:cxn>
                <a:cxn ang="0">
                  <a:pos x="1405" y="126"/>
                </a:cxn>
                <a:cxn ang="0">
                  <a:pos x="1405" y="126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3325" name="Freeform 13"/>
            <p:cNvSpPr>
              <a:spLocks/>
            </p:cNvSpPr>
            <p:nvPr/>
          </p:nvSpPr>
          <p:spPr bwMode="hidden">
            <a:xfrm>
              <a:off x="5030" y="3151"/>
              <a:ext cx="728" cy="240"/>
            </a:xfrm>
            <a:custGeom>
              <a:avLst/>
              <a:gdLst/>
              <a:ahLst/>
              <a:cxnLst>
                <a:cxn ang="0">
                  <a:pos x="729" y="240"/>
                </a:cxn>
                <a:cxn ang="0">
                  <a:pos x="0" y="0"/>
                </a:cxn>
                <a:cxn ang="0">
                  <a:pos x="0" y="6"/>
                </a:cxn>
                <a:cxn ang="0">
                  <a:pos x="729" y="240"/>
                </a:cxn>
                <a:cxn ang="0">
                  <a:pos x="729" y="240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3326" name="Freeform 14"/>
            <p:cNvSpPr>
              <a:spLocks/>
            </p:cNvSpPr>
            <p:nvPr/>
          </p:nvSpPr>
          <p:spPr bwMode="hidden">
            <a:xfrm>
              <a:off x="0" y="1486"/>
              <a:ext cx="5030" cy="1671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5035" y="1672"/>
                </a:cxn>
                <a:cxn ang="0">
                  <a:pos x="5035" y="1666"/>
                </a:cxn>
                <a:cxn ang="0">
                  <a:pos x="0" y="0"/>
                </a:cxn>
                <a:cxn ang="0">
                  <a:pos x="0" y="72"/>
                </a:cxn>
                <a:cxn ang="0">
                  <a:pos x="0" y="72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3327" name="Freeform 15"/>
            <p:cNvSpPr>
              <a:spLocks/>
            </p:cNvSpPr>
            <p:nvPr/>
          </p:nvSpPr>
          <p:spPr bwMode="hidden">
            <a:xfrm>
              <a:off x="5030" y="3049"/>
              <a:ext cx="728" cy="318"/>
            </a:xfrm>
            <a:custGeom>
              <a:avLst/>
              <a:gdLst/>
              <a:ahLst/>
              <a:cxnLst>
                <a:cxn ang="0">
                  <a:pos x="729" y="318"/>
                </a:cxn>
                <a:cxn ang="0">
                  <a:pos x="729" y="312"/>
                </a:cxn>
                <a:cxn ang="0">
                  <a:pos x="0" y="0"/>
                </a:cxn>
                <a:cxn ang="0">
                  <a:pos x="0" y="54"/>
                </a:cxn>
                <a:cxn ang="0">
                  <a:pos x="729" y="318"/>
                </a:cxn>
                <a:cxn ang="0">
                  <a:pos x="729" y="318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3328" name="Freeform 16"/>
            <p:cNvSpPr>
              <a:spLocks/>
            </p:cNvSpPr>
            <p:nvPr/>
          </p:nvSpPr>
          <p:spPr bwMode="hidden">
            <a:xfrm>
              <a:off x="0" y="916"/>
              <a:ext cx="5030" cy="2187"/>
            </a:xfrm>
            <a:custGeom>
              <a:avLst/>
              <a:gdLst/>
              <a:ahLst/>
              <a:cxnLst>
                <a:cxn ang="0">
                  <a:pos x="0" y="396"/>
                </a:cxn>
                <a:cxn ang="0">
                  <a:pos x="5035" y="2188"/>
                </a:cxn>
                <a:cxn ang="0">
                  <a:pos x="5035" y="2134"/>
                </a:cxn>
                <a:cxn ang="0">
                  <a:pos x="0" y="0"/>
                </a:cxn>
                <a:cxn ang="0">
                  <a:pos x="0" y="396"/>
                </a:cxn>
                <a:cxn ang="0">
                  <a:pos x="0" y="396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3329" name="Freeform 17"/>
            <p:cNvSpPr>
              <a:spLocks/>
            </p:cNvSpPr>
            <p:nvPr/>
          </p:nvSpPr>
          <p:spPr bwMode="hidden">
            <a:xfrm>
              <a:off x="2294" y="0"/>
              <a:ext cx="3159" cy="27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145" y="2727"/>
                </a:cxn>
                <a:cxn ang="0">
                  <a:pos x="3163" y="2704"/>
                </a:cxn>
                <a:cxn ang="0">
                  <a:pos x="10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3330" name="Freeform 18"/>
            <p:cNvSpPr>
              <a:spLocks/>
            </p:cNvSpPr>
            <p:nvPr/>
          </p:nvSpPr>
          <p:spPr bwMode="hidden">
            <a:xfrm>
              <a:off x="5435" y="2702"/>
              <a:ext cx="323" cy="299"/>
            </a:xfrm>
            <a:custGeom>
              <a:avLst/>
              <a:gdLst/>
              <a:ahLst/>
              <a:cxnLst>
                <a:cxn ang="0">
                  <a:pos x="323" y="299"/>
                </a:cxn>
                <a:cxn ang="0">
                  <a:pos x="323" y="263"/>
                </a:cxn>
                <a:cxn ang="0">
                  <a:pos x="18" y="0"/>
                </a:cxn>
                <a:cxn ang="0">
                  <a:pos x="0" y="23"/>
                </a:cxn>
                <a:cxn ang="0">
                  <a:pos x="323" y="299"/>
                </a:cxn>
                <a:cxn ang="0">
                  <a:pos x="323" y="299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3331" name="Freeform 19"/>
            <p:cNvSpPr>
              <a:spLocks/>
            </p:cNvSpPr>
            <p:nvPr/>
          </p:nvSpPr>
          <p:spPr bwMode="hidden">
            <a:xfrm>
              <a:off x="5477" y="2588"/>
              <a:ext cx="281" cy="335"/>
            </a:xfrm>
            <a:custGeom>
              <a:avLst/>
              <a:gdLst/>
              <a:ahLst/>
              <a:cxnLst>
                <a:cxn ang="0">
                  <a:pos x="281" y="335"/>
                </a:cxn>
                <a:cxn ang="0">
                  <a:pos x="281" y="173"/>
                </a:cxn>
                <a:cxn ang="0">
                  <a:pos x="96" y="0"/>
                </a:cxn>
                <a:cxn ang="0">
                  <a:pos x="0" y="90"/>
                </a:cxn>
                <a:cxn ang="0">
                  <a:pos x="281" y="335"/>
                </a:cxn>
                <a:cxn ang="0">
                  <a:pos x="281" y="335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3332" name="Freeform 20"/>
            <p:cNvSpPr>
              <a:spLocks/>
            </p:cNvSpPr>
            <p:nvPr/>
          </p:nvSpPr>
          <p:spPr bwMode="hidden">
            <a:xfrm>
              <a:off x="2454" y="0"/>
              <a:ext cx="3119" cy="267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026" y="2680"/>
                </a:cxn>
                <a:cxn ang="0">
                  <a:pos x="3122" y="2590"/>
                </a:cxn>
                <a:cxn ang="0">
                  <a:pos x="383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3333" name="Freeform 21"/>
            <p:cNvSpPr>
              <a:spLocks/>
            </p:cNvSpPr>
            <p:nvPr/>
          </p:nvSpPr>
          <p:spPr bwMode="hidden">
            <a:xfrm>
              <a:off x="5626" y="2534"/>
              <a:ext cx="132" cy="132"/>
            </a:xfrm>
            <a:custGeom>
              <a:avLst/>
              <a:gdLst/>
              <a:ahLst/>
              <a:cxnLst>
                <a:cxn ang="0">
                  <a:pos x="132" y="13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132" y="132"/>
                </a:cxn>
                <a:cxn ang="0">
                  <a:pos x="132" y="132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3334" name="Freeform 22"/>
            <p:cNvSpPr>
              <a:spLocks/>
            </p:cNvSpPr>
            <p:nvPr/>
          </p:nvSpPr>
          <p:spPr bwMode="hidden">
            <a:xfrm>
              <a:off x="3112" y="0"/>
              <a:ext cx="2514" cy="25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517" y="2536"/>
                </a:cxn>
                <a:cxn ang="0">
                  <a:pos x="2517" y="2536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3335" name="Freeform 23"/>
            <p:cNvSpPr>
              <a:spLocks/>
            </p:cNvSpPr>
            <p:nvPr/>
          </p:nvSpPr>
          <p:spPr bwMode="hidden">
            <a:xfrm>
              <a:off x="3488" y="0"/>
              <a:ext cx="2198" cy="248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188" y="2482"/>
                </a:cxn>
                <a:cxn ang="0">
                  <a:pos x="2200" y="2476"/>
                </a:cxn>
                <a:cxn ang="0">
                  <a:pos x="317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3336" name="Freeform 24"/>
            <p:cNvSpPr>
              <a:spLocks/>
            </p:cNvSpPr>
            <p:nvPr/>
          </p:nvSpPr>
          <p:spPr bwMode="hidden">
            <a:xfrm>
              <a:off x="5674" y="2474"/>
              <a:ext cx="84" cy="96"/>
            </a:xfrm>
            <a:custGeom>
              <a:avLst/>
              <a:gdLst/>
              <a:ahLst/>
              <a:cxnLst>
                <a:cxn ang="0">
                  <a:pos x="84" y="96"/>
                </a:cxn>
                <a:cxn ang="0">
                  <a:pos x="84" y="90"/>
                </a:cxn>
                <a:cxn ang="0">
                  <a:pos x="12" y="0"/>
                </a:cxn>
                <a:cxn ang="0">
                  <a:pos x="0" y="6"/>
                </a:cxn>
                <a:cxn ang="0">
                  <a:pos x="84" y="96"/>
                </a:cxn>
                <a:cxn ang="0">
                  <a:pos x="84" y="96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3337" name="Freeform 25"/>
            <p:cNvSpPr>
              <a:spLocks/>
            </p:cNvSpPr>
            <p:nvPr/>
          </p:nvSpPr>
          <p:spPr bwMode="hidden">
            <a:xfrm>
              <a:off x="5603" y="850"/>
              <a:ext cx="155" cy="516"/>
            </a:xfrm>
            <a:custGeom>
              <a:avLst/>
              <a:gdLst/>
              <a:ahLst/>
              <a:cxnLst>
                <a:cxn ang="0">
                  <a:pos x="155" y="516"/>
                </a:cxn>
                <a:cxn ang="0">
                  <a:pos x="155" y="204"/>
                </a:cxn>
                <a:cxn ang="0">
                  <a:pos x="77" y="0"/>
                </a:cxn>
                <a:cxn ang="0">
                  <a:pos x="0" y="192"/>
                </a:cxn>
                <a:cxn ang="0">
                  <a:pos x="155" y="516"/>
                </a:cxn>
                <a:cxn ang="0">
                  <a:pos x="155" y="516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3338" name="Freeform 26"/>
            <p:cNvSpPr>
              <a:spLocks/>
            </p:cNvSpPr>
            <p:nvPr/>
          </p:nvSpPr>
          <p:spPr bwMode="hidden">
            <a:xfrm>
              <a:off x="5107" y="0"/>
              <a:ext cx="573" cy="10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97" y="1043"/>
                </a:cxn>
                <a:cxn ang="0">
                  <a:pos x="574" y="851"/>
                </a:cxn>
                <a:cxn ang="0">
                  <a:pos x="25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3339" name="Freeform 27"/>
            <p:cNvSpPr>
              <a:spLocks/>
            </p:cNvSpPr>
            <p:nvPr/>
          </p:nvSpPr>
          <p:spPr bwMode="hidden">
            <a:xfrm>
              <a:off x="5411" y="0"/>
              <a:ext cx="341" cy="796"/>
            </a:xfrm>
            <a:custGeom>
              <a:avLst/>
              <a:gdLst/>
              <a:ahLst/>
              <a:cxnLst>
                <a:cxn ang="0">
                  <a:pos x="144" y="0"/>
                </a:cxn>
                <a:cxn ang="0">
                  <a:pos x="0" y="0"/>
                </a:cxn>
                <a:cxn ang="0">
                  <a:pos x="287" y="797"/>
                </a:cxn>
                <a:cxn ang="0">
                  <a:pos x="341" y="653"/>
                </a:cxn>
                <a:cxn ang="0">
                  <a:pos x="144" y="0"/>
                </a:cxn>
                <a:cxn ang="0">
                  <a:pos x="144" y="0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3340" name="Freeform 28"/>
            <p:cNvSpPr>
              <a:spLocks/>
            </p:cNvSpPr>
            <p:nvPr/>
          </p:nvSpPr>
          <p:spPr bwMode="hidden">
            <a:xfrm>
              <a:off x="5698" y="653"/>
              <a:ext cx="60" cy="311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60" y="312"/>
                </a:cxn>
                <a:cxn ang="0">
                  <a:pos x="60" y="6"/>
                </a:cxn>
                <a:cxn ang="0">
                  <a:pos x="54" y="0"/>
                </a:cxn>
                <a:cxn ang="0">
                  <a:pos x="0" y="144"/>
                </a:cxn>
                <a:cxn ang="0">
                  <a:pos x="0" y="144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3341" name="Freeform 29"/>
            <p:cNvSpPr>
              <a:spLocks/>
            </p:cNvSpPr>
            <p:nvPr/>
          </p:nvSpPr>
          <p:spPr bwMode="hidden">
            <a:xfrm>
              <a:off x="2" y="1601"/>
              <a:ext cx="5752" cy="1864"/>
            </a:xfrm>
            <a:custGeom>
              <a:avLst/>
              <a:gdLst/>
              <a:ahLst/>
              <a:cxnLst>
                <a:cxn ang="0">
                  <a:pos x="0" y="371"/>
                </a:cxn>
                <a:cxn ang="0">
                  <a:pos x="5740" y="1864"/>
                </a:cxn>
                <a:cxn ang="0">
                  <a:pos x="5740" y="1834"/>
                </a:cxn>
                <a:cxn ang="0">
                  <a:pos x="0" y="0"/>
                </a:cxn>
                <a:cxn ang="0">
                  <a:pos x="0" y="371"/>
                </a:cxn>
                <a:cxn ang="0">
                  <a:pos x="0" y="37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3342" name="Freeform 30"/>
            <p:cNvSpPr>
              <a:spLocks/>
            </p:cNvSpPr>
            <p:nvPr/>
          </p:nvSpPr>
          <p:spPr bwMode="hidden">
            <a:xfrm>
              <a:off x="5754" y="3483"/>
              <a:ext cx="6" cy="6"/>
            </a:xfrm>
            <a:custGeom>
              <a:avLst/>
              <a:gdLst/>
              <a:ahLst/>
              <a:cxnLst>
                <a:cxn ang="0">
                  <a:pos x="6" y="6"/>
                </a:cxn>
                <a:cxn ang="0">
                  <a:pos x="0" y="0"/>
                </a:cxn>
                <a:cxn ang="0">
                  <a:pos x="0" y="6"/>
                </a:cxn>
                <a:cxn ang="0">
                  <a:pos x="6" y="6"/>
                </a:cxn>
                <a:cxn ang="0">
                  <a:pos x="6" y="6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3343" name="Freeform 31"/>
            <p:cNvSpPr>
              <a:spLocks/>
            </p:cNvSpPr>
            <p:nvPr/>
          </p:nvSpPr>
          <p:spPr bwMode="hidden">
            <a:xfrm>
              <a:off x="2" y="2152"/>
              <a:ext cx="5752" cy="1337"/>
            </a:xfrm>
            <a:custGeom>
              <a:avLst/>
              <a:gdLst/>
              <a:ahLst/>
              <a:cxnLst>
                <a:cxn ang="0">
                  <a:pos x="0" y="366"/>
                </a:cxn>
                <a:cxn ang="0">
                  <a:pos x="5740" y="1337"/>
                </a:cxn>
                <a:cxn ang="0">
                  <a:pos x="5740" y="1331"/>
                </a:cxn>
                <a:cxn ang="0">
                  <a:pos x="0" y="0"/>
                </a:cxn>
                <a:cxn ang="0">
                  <a:pos x="0" y="366"/>
                </a:cxn>
                <a:cxn ang="0">
                  <a:pos x="0" y="366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3344" name="Freeform 32"/>
            <p:cNvSpPr>
              <a:spLocks/>
            </p:cNvSpPr>
            <p:nvPr/>
          </p:nvSpPr>
          <p:spPr bwMode="hidden">
            <a:xfrm>
              <a:off x="2" y="3177"/>
              <a:ext cx="5752" cy="414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5740" y="414"/>
                </a:cxn>
                <a:cxn ang="0">
                  <a:pos x="5740" y="402"/>
                </a:cxn>
                <a:cxn ang="0">
                  <a:pos x="0" y="0"/>
                </a:cxn>
                <a:cxn ang="0">
                  <a:pos x="0" y="48"/>
                </a:cxn>
                <a:cxn ang="0">
                  <a:pos x="0" y="48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3345" name="Freeform 33"/>
            <p:cNvSpPr>
              <a:spLocks/>
            </p:cNvSpPr>
            <p:nvPr/>
          </p:nvSpPr>
          <p:spPr bwMode="hidden">
            <a:xfrm>
              <a:off x="1297" y="0"/>
              <a:ext cx="4457" cy="31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48" y="3177"/>
                </a:cxn>
                <a:cxn ang="0">
                  <a:pos x="4448" y="3153"/>
                </a:cxn>
                <a:cxn ang="0">
                  <a:pos x="125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3346" name="Freeform 34"/>
            <p:cNvSpPr>
              <a:spLocks/>
            </p:cNvSpPr>
            <p:nvPr/>
          </p:nvSpPr>
          <p:spPr bwMode="hidden">
            <a:xfrm>
              <a:off x="3321" y="0"/>
              <a:ext cx="2433" cy="261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28" y="2614"/>
                </a:cxn>
                <a:cxn ang="0">
                  <a:pos x="2428" y="2608"/>
                </a:cxn>
                <a:cxn ang="0">
                  <a:pos x="66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3347" name="Freeform 35"/>
            <p:cNvSpPr>
              <a:spLocks/>
            </p:cNvSpPr>
            <p:nvPr/>
          </p:nvSpPr>
          <p:spPr bwMode="hidden">
            <a:xfrm>
              <a:off x="3950" y="0"/>
              <a:ext cx="1804" cy="2464"/>
            </a:xfrm>
            <a:custGeom>
              <a:avLst/>
              <a:gdLst/>
              <a:ahLst/>
              <a:cxnLst>
                <a:cxn ang="0">
                  <a:pos x="485" y="0"/>
                </a:cxn>
                <a:cxn ang="0">
                  <a:pos x="0" y="0"/>
                </a:cxn>
                <a:cxn ang="0">
                  <a:pos x="1800" y="2464"/>
                </a:cxn>
                <a:cxn ang="0">
                  <a:pos x="1800" y="2248"/>
                </a:cxn>
                <a:cxn ang="0">
                  <a:pos x="1794" y="2248"/>
                </a:cxn>
                <a:cxn ang="0">
                  <a:pos x="485" y="0"/>
                </a:cxn>
                <a:cxn ang="0">
                  <a:pos x="485" y="0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3348" name="Freeform 36"/>
            <p:cNvSpPr>
              <a:spLocks/>
            </p:cNvSpPr>
            <p:nvPr/>
          </p:nvSpPr>
          <p:spPr bwMode="hidden">
            <a:xfrm>
              <a:off x="4519" y="0"/>
              <a:ext cx="1235" cy="207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32" y="2074"/>
                </a:cxn>
                <a:cxn ang="0">
                  <a:pos x="1232" y="2038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3349" name="Freeform 37"/>
            <p:cNvSpPr>
              <a:spLocks/>
            </p:cNvSpPr>
            <p:nvPr/>
          </p:nvSpPr>
          <p:spPr bwMode="hidden">
            <a:xfrm>
              <a:off x="4694" y="0"/>
              <a:ext cx="1060" cy="19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58" y="1936"/>
                </a:cxn>
                <a:cxn ang="0">
                  <a:pos x="1058" y="1930"/>
                </a:cxn>
                <a:cxn ang="0">
                  <a:pos x="54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13350" name="Freeform 38"/>
            <p:cNvSpPr>
              <a:spLocks/>
            </p:cNvSpPr>
            <p:nvPr/>
          </p:nvSpPr>
          <p:spPr bwMode="hidden">
            <a:xfrm>
              <a:off x="4981" y="0"/>
              <a:ext cx="773" cy="1487"/>
            </a:xfrm>
            <a:custGeom>
              <a:avLst/>
              <a:gdLst/>
              <a:ahLst/>
              <a:cxnLst>
                <a:cxn ang="0">
                  <a:pos x="771" y="1433"/>
                </a:cxn>
                <a:cxn ang="0">
                  <a:pos x="42" y="0"/>
                </a:cxn>
                <a:cxn ang="0">
                  <a:pos x="0" y="0"/>
                </a:cxn>
                <a:cxn ang="0">
                  <a:pos x="771" y="1487"/>
                </a:cxn>
                <a:cxn ang="0">
                  <a:pos x="771" y="1433"/>
                </a:cxn>
                <a:cxn ang="0">
                  <a:pos x="771" y="1433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grpSp>
          <p:nvGrpSpPr>
            <p:cNvPr id="1068" name="Group 39"/>
            <p:cNvGrpSpPr>
              <a:grpSpLocks/>
            </p:cNvGrpSpPr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3352" name="Freeform 40"/>
              <p:cNvSpPr>
                <a:spLocks/>
              </p:cNvSpPr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66"/>
                  </a:cxn>
                  <a:cxn ang="0">
                    <a:pos x="3635" y="1313"/>
                  </a:cxn>
                  <a:cxn ang="0">
                    <a:pos x="3647" y="1235"/>
                  </a:cxn>
                  <a:cxn ang="0">
                    <a:pos x="3659" y="1163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13353" name="Freeform 41"/>
              <p:cNvSpPr>
                <a:spLocks/>
              </p:cNvSpPr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/>
                <a:ahLst/>
                <a:cxnLst>
                  <a:cxn ang="0">
                    <a:pos x="2105" y="665"/>
                  </a:cxn>
                  <a:cxn ang="0">
                    <a:pos x="24" y="0"/>
                  </a:cxn>
                  <a:cxn ang="0">
                    <a:pos x="12" y="72"/>
                  </a:cxn>
                  <a:cxn ang="0">
                    <a:pos x="0" y="150"/>
                  </a:cxn>
                  <a:cxn ang="0">
                    <a:pos x="2105" y="695"/>
                  </a:cxn>
                  <a:cxn ang="0">
                    <a:pos x="2105" y="665"/>
                  </a:cxn>
                  <a:cxn ang="0">
                    <a:pos x="2105" y="665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</p:grpSp>
      <p:sp>
        <p:nvSpPr>
          <p:cNvPr id="13354" name="Rectangle 4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3355" name="Rectangle 4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3356" name="Rectangle 4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57" name="Rectangle 4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58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fld id="{C9A8EB18-4060-41E5-8885-CF205511616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8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itchFamily="2" charset="2"/>
        <a:buBlip>
          <a:blip r:embed="rId14"/>
        </a:buBlip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itchFamily="2" charset="2"/>
        <a:buBlip>
          <a:blip r:embed="rId15"/>
        </a:buBlip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itchFamily="2" charset="2"/>
        <a:buBlip>
          <a:blip r:embed="rId16"/>
        </a:buBlip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3850" y="1196975"/>
            <a:ext cx="8820150" cy="2808288"/>
          </a:xfrm>
        </p:spPr>
        <p:txBody>
          <a:bodyPr/>
          <a:lstStyle/>
          <a:p>
            <a:pPr eaLnBrk="1" hangingPunct="1">
              <a:lnSpc>
                <a:spcPct val="200000"/>
              </a:lnSpc>
              <a:defRPr/>
            </a:pPr>
            <a:r>
              <a:rPr lang="zh-CN" altLang="en-US" sz="4000" smtClean="0">
                <a:latin typeface="黑体" pitchFamily="2" charset="-122"/>
                <a:ea typeface="黑体" pitchFamily="2" charset="-122"/>
              </a:rPr>
              <a:t>第</a:t>
            </a:r>
            <a:r>
              <a:rPr lang="en-US" altLang="zh-CN" sz="4000" smtClean="0">
                <a:latin typeface="黑体" pitchFamily="2" charset="-122"/>
                <a:ea typeface="黑体" pitchFamily="2" charset="-122"/>
              </a:rPr>
              <a:t>1</a:t>
            </a:r>
            <a:r>
              <a:rPr lang="zh-CN" altLang="en-US" sz="4000" smtClean="0">
                <a:latin typeface="黑体" pitchFamily="2" charset="-122"/>
                <a:ea typeface="黑体" pitchFamily="2" charset="-122"/>
              </a:rPr>
              <a:t>章  第</a:t>
            </a:r>
            <a:r>
              <a:rPr lang="en-US" altLang="zh-CN" sz="4000" smtClean="0">
                <a:latin typeface="黑体" pitchFamily="2" charset="-122"/>
                <a:ea typeface="黑体" pitchFamily="2" charset="-122"/>
              </a:rPr>
              <a:t>2</a:t>
            </a:r>
            <a:r>
              <a:rPr lang="zh-CN" altLang="en-US" sz="4000" smtClean="0">
                <a:latin typeface="黑体" pitchFamily="2" charset="-122"/>
                <a:ea typeface="黑体" pitchFamily="2" charset="-122"/>
              </a:rPr>
              <a:t>节</a:t>
            </a:r>
            <a:br>
              <a:rPr lang="zh-CN" altLang="en-US" sz="4000" smtClean="0">
                <a:latin typeface="黑体" pitchFamily="2" charset="-122"/>
                <a:ea typeface="黑体" pitchFamily="2" charset="-122"/>
              </a:rPr>
            </a:br>
            <a:r>
              <a:rPr lang="zh-CN" altLang="en-US" sz="4000" smtClean="0">
                <a:latin typeface="黑体" pitchFamily="2" charset="-122"/>
                <a:ea typeface="黑体" pitchFamily="2" charset="-122"/>
              </a:rPr>
              <a:t>经济地理学研究发展概述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6013" y="1052513"/>
            <a:ext cx="7786687" cy="4968875"/>
          </a:xfrm>
        </p:spPr>
        <p:txBody>
          <a:bodyPr/>
          <a:lstStyle/>
          <a:p>
            <a:pPr marL="609600" indent="-609600" eaLnBrk="1" hangingPunct="1">
              <a:lnSpc>
                <a:spcPct val="135000"/>
              </a:lnSpc>
              <a:buFont typeface="Wingdings" pitchFamily="2" charset="2"/>
              <a:buNone/>
              <a:defRPr/>
            </a:pPr>
            <a:r>
              <a:rPr lang="zh-CN" altLang="en-US" sz="2800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一、古代的经济地理</a:t>
            </a:r>
          </a:p>
          <a:p>
            <a:pPr marL="609600" indent="-609600" eaLnBrk="1" hangingPunct="1">
              <a:lnSpc>
                <a:spcPct val="135000"/>
              </a:lnSpc>
              <a:buFont typeface="Wingdings" pitchFamily="2" charset="2"/>
              <a:buNone/>
              <a:defRPr/>
            </a:pPr>
            <a:r>
              <a:rPr lang="zh-CN" altLang="en-US" sz="2800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二、二战之前的经济地理</a:t>
            </a:r>
          </a:p>
          <a:p>
            <a:pPr marL="609600" indent="-609600" eaLnBrk="1" hangingPunct="1">
              <a:lnSpc>
                <a:spcPct val="135000"/>
              </a:lnSpc>
              <a:buFont typeface="Wingdings" pitchFamily="2" charset="2"/>
              <a:buNone/>
              <a:defRPr/>
            </a:pPr>
            <a:r>
              <a:rPr lang="zh-CN" altLang="en-US" sz="2800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三、二战后繁荣期的经济地理学</a:t>
            </a:r>
          </a:p>
          <a:p>
            <a:pPr marL="609600" indent="-609600" eaLnBrk="1" hangingPunct="1">
              <a:lnSpc>
                <a:spcPct val="135000"/>
              </a:lnSpc>
              <a:buFont typeface="Wingdings" pitchFamily="2" charset="2"/>
              <a:buNone/>
              <a:defRPr/>
            </a:pPr>
            <a:r>
              <a:rPr lang="zh-CN" altLang="en-US" sz="2800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四、激进政治经济学派和</a:t>
            </a:r>
            <a:r>
              <a:rPr lang="zh-CN" altLang="en-US" sz="2800" smtClean="0">
                <a:solidFill>
                  <a:srgbClr val="FFFF00"/>
                </a:solidFill>
                <a:ea typeface="黑体" pitchFamily="2" charset="-122"/>
              </a:rPr>
              <a:t>“</a:t>
            </a:r>
            <a:r>
              <a:rPr lang="zh-CN" altLang="en-US" sz="2800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新区域主义</a:t>
            </a:r>
            <a:r>
              <a:rPr lang="zh-CN" altLang="en-US" sz="2800" smtClean="0">
                <a:solidFill>
                  <a:srgbClr val="FFFF00"/>
                </a:solidFill>
                <a:ea typeface="黑体" pitchFamily="2" charset="-122"/>
              </a:rPr>
              <a:t>”</a:t>
            </a:r>
            <a:r>
              <a:rPr lang="zh-CN" altLang="en-US" sz="2800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的兴起 </a:t>
            </a:r>
          </a:p>
          <a:p>
            <a:pPr marL="609600" indent="-609600" eaLnBrk="1" hangingPunct="1">
              <a:lnSpc>
                <a:spcPct val="135000"/>
              </a:lnSpc>
              <a:buFont typeface="Wingdings" pitchFamily="2" charset="2"/>
              <a:buNone/>
              <a:defRPr/>
            </a:pPr>
            <a:r>
              <a:rPr lang="zh-CN" altLang="en-US" sz="2800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五、</a:t>
            </a:r>
            <a:r>
              <a:rPr lang="zh-CN" altLang="en-US" sz="2800" smtClean="0">
                <a:solidFill>
                  <a:srgbClr val="FFFF00"/>
                </a:solidFill>
                <a:ea typeface="黑体" pitchFamily="2" charset="-122"/>
              </a:rPr>
              <a:t>“</a:t>
            </a:r>
            <a:r>
              <a:rPr lang="zh-CN" altLang="en-US" sz="2800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新</a:t>
            </a:r>
            <a:r>
              <a:rPr lang="zh-CN" altLang="en-US" sz="2800" smtClean="0">
                <a:solidFill>
                  <a:srgbClr val="FFFF00"/>
                </a:solidFill>
                <a:ea typeface="黑体" pitchFamily="2" charset="-122"/>
              </a:rPr>
              <a:t>”</a:t>
            </a:r>
            <a:r>
              <a:rPr lang="zh-CN" altLang="en-US" sz="2800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经济地理学的出现</a:t>
            </a:r>
          </a:p>
          <a:p>
            <a:pPr marL="609600" indent="-609600" eaLnBrk="1" hangingPunct="1">
              <a:lnSpc>
                <a:spcPct val="135000"/>
              </a:lnSpc>
              <a:buFont typeface="Wingdings" pitchFamily="2" charset="2"/>
              <a:buNone/>
              <a:defRPr/>
            </a:pPr>
            <a:r>
              <a:rPr lang="zh-CN" altLang="en-US" sz="2800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六、</a:t>
            </a:r>
            <a:r>
              <a:rPr lang="en-US" altLang="zh-CN" sz="2800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20</a:t>
            </a:r>
            <a:r>
              <a:rPr lang="zh-CN" altLang="en-US" sz="2800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世纪经济地理学发展特点</a:t>
            </a:r>
          </a:p>
          <a:p>
            <a:pPr marL="609600" indent="-609600" eaLnBrk="1" hangingPunct="1">
              <a:lnSpc>
                <a:spcPct val="135000"/>
              </a:lnSpc>
              <a:buFont typeface="Wingdings" pitchFamily="2" charset="2"/>
              <a:buNone/>
              <a:defRPr/>
            </a:pPr>
            <a:r>
              <a:rPr lang="zh-CN" altLang="en-US" sz="2800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七、近年来中国经济地理发展的特点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一、古代经济地理（</a:t>
            </a:r>
            <a:r>
              <a:rPr lang="en-US" altLang="zh-CN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20</a:t>
            </a:r>
            <a:r>
              <a:rPr lang="zh-CN" altLang="en-US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世纪前）</a:t>
            </a:r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2988" y="2133600"/>
            <a:ext cx="7618412" cy="2981325"/>
          </a:xfrm>
        </p:spPr>
        <p:txBody>
          <a:bodyPr/>
          <a:lstStyle/>
          <a:p>
            <a:pPr eaLnBrk="1" hangingPunct="1">
              <a:lnSpc>
                <a:spcPct val="135000"/>
              </a:lnSpc>
              <a:defRPr/>
            </a:pPr>
            <a:r>
              <a:rPr lang="zh-CN" altLang="en-US" sz="3600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史志描述</a:t>
            </a:r>
          </a:p>
          <a:p>
            <a:pPr eaLnBrk="1" hangingPunct="1">
              <a:lnSpc>
                <a:spcPct val="135000"/>
              </a:lnSpc>
              <a:defRPr/>
            </a:pPr>
            <a:r>
              <a:rPr lang="zh-CN" altLang="en-US" smtClean="0">
                <a:solidFill>
                  <a:srgbClr val="FFFF00"/>
                </a:solidFill>
                <a:ea typeface="黑体" pitchFamily="2" charset="-122"/>
              </a:rPr>
              <a:t>商业地理研究</a:t>
            </a:r>
          </a:p>
          <a:p>
            <a:pPr eaLnBrk="1" hangingPunct="1">
              <a:lnSpc>
                <a:spcPct val="135000"/>
              </a:lnSpc>
              <a:defRPr/>
            </a:pPr>
            <a:r>
              <a:rPr lang="zh-CN" altLang="en-US" smtClean="0">
                <a:solidFill>
                  <a:srgbClr val="FFFF00"/>
                </a:solidFill>
                <a:ea typeface="黑体" pitchFamily="2" charset="-122"/>
              </a:rPr>
              <a:t>经济地理学作为独立学科的重要事件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333375"/>
            <a:ext cx="8229600" cy="9906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一、古代经济地理（</a:t>
            </a:r>
            <a:r>
              <a:rPr lang="en-US" altLang="zh-CN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20</a:t>
            </a:r>
            <a:r>
              <a:rPr lang="zh-CN" altLang="en-US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世纪前）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484313"/>
            <a:ext cx="8002587" cy="493395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zh-CN" altLang="en-US" sz="2800" b="1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（一）史志描述</a:t>
            </a:r>
          </a:p>
          <a:p>
            <a:pPr eaLnBrk="1" hangingPunct="1"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en-US" altLang="zh-CN" sz="2800" b="1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1.</a:t>
            </a:r>
            <a:r>
              <a:rPr lang="zh-CN" altLang="en-US" sz="2800" b="1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中国古代地理学中的经济地理思想</a:t>
            </a:r>
          </a:p>
          <a:p>
            <a:pPr eaLnBrk="1" hangingPunct="1">
              <a:lnSpc>
                <a:spcPct val="125000"/>
              </a:lnSpc>
              <a:buSzPct val="45000"/>
              <a:buFont typeface="Wingdings" pitchFamily="2" charset="2"/>
              <a:buChar char="l"/>
              <a:defRPr/>
            </a:pPr>
            <a:r>
              <a:rPr lang="en-US" altLang="zh-CN" sz="2400" smtClean="0">
                <a:latin typeface="黑体" pitchFamily="2" charset="-122"/>
                <a:ea typeface="黑体" pitchFamily="2" charset="-122"/>
              </a:rPr>
              <a:t>《</a:t>
            </a:r>
            <a:r>
              <a:rPr lang="zh-CN" altLang="en-US" sz="2400" smtClean="0">
                <a:latin typeface="黑体" pitchFamily="2" charset="-122"/>
                <a:ea typeface="黑体" pitchFamily="2" charset="-122"/>
              </a:rPr>
              <a:t>礼记</a:t>
            </a:r>
            <a:r>
              <a:rPr lang="en-US" altLang="zh-CN" sz="2400" smtClean="0">
                <a:latin typeface="黑体" pitchFamily="2" charset="-122"/>
                <a:ea typeface="黑体" pitchFamily="2" charset="-122"/>
              </a:rPr>
              <a:t>.</a:t>
            </a:r>
            <a:r>
              <a:rPr lang="zh-CN" altLang="en-US" sz="2400" smtClean="0">
                <a:latin typeface="黑体" pitchFamily="2" charset="-122"/>
                <a:ea typeface="黑体" pitchFamily="2" charset="-122"/>
              </a:rPr>
              <a:t>王制</a:t>
            </a:r>
            <a:r>
              <a:rPr lang="en-US" altLang="zh-CN" sz="2400" smtClean="0">
                <a:latin typeface="黑体" pitchFamily="2" charset="-122"/>
                <a:ea typeface="黑体" pitchFamily="2" charset="-122"/>
              </a:rPr>
              <a:t>》</a:t>
            </a:r>
            <a:r>
              <a:rPr lang="zh-CN" altLang="en-US" sz="2400" smtClean="0">
                <a:latin typeface="黑体" pitchFamily="2" charset="-122"/>
                <a:ea typeface="黑体" pitchFamily="2" charset="-122"/>
              </a:rPr>
              <a:t>：</a:t>
            </a:r>
            <a:r>
              <a:rPr lang="zh-CN" altLang="en-US" sz="2400" smtClean="0">
                <a:latin typeface="华文细黑"/>
                <a:ea typeface="黑体" pitchFamily="2" charset="-122"/>
              </a:rPr>
              <a:t>“</a:t>
            </a:r>
            <a:r>
              <a:rPr lang="zh-CN" altLang="en-US" sz="2400" smtClean="0">
                <a:latin typeface="黑体" pitchFamily="2" charset="-122"/>
                <a:ea typeface="黑体" pitchFamily="2" charset="-122"/>
              </a:rPr>
              <a:t>广谷大川异制，民生其间者异俗</a:t>
            </a:r>
            <a:r>
              <a:rPr lang="zh-CN" altLang="en-US" sz="2400" smtClean="0">
                <a:latin typeface="华文细黑"/>
                <a:ea typeface="黑体" pitchFamily="2" charset="-122"/>
              </a:rPr>
              <a:t>”</a:t>
            </a:r>
            <a:endParaRPr lang="zh-CN" altLang="en-US" sz="240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lnSpc>
                <a:spcPct val="125000"/>
              </a:lnSpc>
              <a:buSzPct val="45000"/>
              <a:buFont typeface="Wingdings" pitchFamily="2" charset="2"/>
              <a:buChar char="l"/>
              <a:defRPr/>
            </a:pPr>
            <a:r>
              <a:rPr lang="en-US" altLang="zh-CN" sz="2400" smtClean="0">
                <a:latin typeface="黑体" pitchFamily="2" charset="-122"/>
                <a:ea typeface="黑体" pitchFamily="2" charset="-122"/>
              </a:rPr>
              <a:t>《</a:t>
            </a:r>
            <a:r>
              <a:rPr lang="zh-CN" altLang="en-US" sz="2400" smtClean="0">
                <a:latin typeface="黑体" pitchFamily="2" charset="-122"/>
                <a:ea typeface="黑体" pitchFamily="2" charset="-122"/>
              </a:rPr>
              <a:t>孟子</a:t>
            </a:r>
            <a:r>
              <a:rPr lang="en-US" altLang="zh-CN" sz="2400" smtClean="0">
                <a:latin typeface="黑体" pitchFamily="2" charset="-122"/>
                <a:ea typeface="黑体" pitchFamily="2" charset="-122"/>
              </a:rPr>
              <a:t>.</a:t>
            </a:r>
            <a:r>
              <a:rPr lang="zh-CN" altLang="en-US" sz="2400" smtClean="0">
                <a:latin typeface="黑体" pitchFamily="2" charset="-122"/>
                <a:ea typeface="黑体" pitchFamily="2" charset="-122"/>
              </a:rPr>
              <a:t>公孙丑下</a:t>
            </a:r>
            <a:r>
              <a:rPr lang="en-US" altLang="zh-CN" sz="2400" smtClean="0">
                <a:latin typeface="黑体" pitchFamily="2" charset="-122"/>
                <a:ea typeface="黑体" pitchFamily="2" charset="-122"/>
              </a:rPr>
              <a:t>》</a:t>
            </a:r>
            <a:r>
              <a:rPr lang="zh-CN" altLang="en-US" sz="2400" smtClean="0">
                <a:latin typeface="黑体" pitchFamily="2" charset="-122"/>
                <a:ea typeface="黑体" pitchFamily="2" charset="-122"/>
              </a:rPr>
              <a:t>：</a:t>
            </a:r>
            <a:r>
              <a:rPr lang="zh-CN" altLang="en-US" sz="2400" smtClean="0">
                <a:latin typeface="华文细黑"/>
                <a:ea typeface="黑体" pitchFamily="2" charset="-122"/>
              </a:rPr>
              <a:t>“</a:t>
            </a:r>
            <a:r>
              <a:rPr lang="zh-CN" altLang="en-US" sz="2400" smtClean="0">
                <a:latin typeface="黑体" pitchFamily="2" charset="-122"/>
                <a:ea typeface="黑体" pitchFamily="2" charset="-122"/>
              </a:rPr>
              <a:t>天时不如地利，地利不如人和</a:t>
            </a:r>
            <a:r>
              <a:rPr lang="zh-CN" altLang="en-US" sz="2400" smtClean="0">
                <a:latin typeface="华文细黑"/>
                <a:ea typeface="黑体" pitchFamily="2" charset="-122"/>
              </a:rPr>
              <a:t>”</a:t>
            </a:r>
            <a:endParaRPr lang="zh-CN" altLang="en-US" sz="240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lnSpc>
                <a:spcPct val="125000"/>
              </a:lnSpc>
              <a:buSzPct val="45000"/>
              <a:buFont typeface="Wingdings" pitchFamily="2" charset="2"/>
              <a:buChar char="l"/>
              <a:defRPr/>
            </a:pPr>
            <a:r>
              <a:rPr lang="zh-CN" altLang="en-US" sz="2400" smtClean="0">
                <a:latin typeface="黑体" pitchFamily="2" charset="-122"/>
                <a:ea typeface="黑体" pitchFamily="2" charset="-122"/>
              </a:rPr>
              <a:t>管仲</a:t>
            </a:r>
            <a:r>
              <a:rPr lang="en-US" altLang="zh-CN" sz="2400" smtClean="0">
                <a:latin typeface="黑体" pitchFamily="2" charset="-122"/>
                <a:ea typeface="黑体" pitchFamily="2" charset="-122"/>
              </a:rPr>
              <a:t>《</a:t>
            </a:r>
            <a:r>
              <a:rPr lang="zh-CN" altLang="en-US" sz="2400" smtClean="0">
                <a:latin typeface="黑体" pitchFamily="2" charset="-122"/>
                <a:ea typeface="黑体" pitchFamily="2" charset="-122"/>
              </a:rPr>
              <a:t>地员</a:t>
            </a:r>
            <a:r>
              <a:rPr lang="en-US" altLang="zh-CN" sz="2400" smtClean="0">
                <a:latin typeface="黑体" pitchFamily="2" charset="-122"/>
                <a:ea typeface="黑体" pitchFamily="2" charset="-122"/>
              </a:rPr>
              <a:t>》</a:t>
            </a:r>
            <a:r>
              <a:rPr lang="zh-CN" altLang="en-US" sz="2400" smtClean="0">
                <a:latin typeface="黑体" pitchFamily="2" charset="-122"/>
                <a:ea typeface="黑体" pitchFamily="2" charset="-122"/>
              </a:rPr>
              <a:t>：</a:t>
            </a:r>
            <a:r>
              <a:rPr lang="zh-CN" altLang="en-US" sz="2400" smtClean="0">
                <a:latin typeface="华文细黑"/>
                <a:ea typeface="黑体" pitchFamily="2" charset="-122"/>
              </a:rPr>
              <a:t>”</a:t>
            </a:r>
            <a:r>
              <a:rPr lang="zh-CN" altLang="en-US" sz="2400" smtClean="0">
                <a:latin typeface="黑体" pitchFamily="2" charset="-122"/>
                <a:ea typeface="黑体" pitchFamily="2" charset="-122"/>
              </a:rPr>
              <a:t>地者政之本也，辨于土而民可富</a:t>
            </a:r>
            <a:r>
              <a:rPr lang="zh-CN" altLang="en-US" sz="2400" smtClean="0">
                <a:latin typeface="华文细黑"/>
                <a:ea typeface="黑体" pitchFamily="2" charset="-122"/>
              </a:rPr>
              <a:t>”</a:t>
            </a:r>
            <a:endParaRPr lang="zh-CN" altLang="en-US" sz="240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lnSpc>
                <a:spcPct val="125000"/>
              </a:lnSpc>
              <a:buSzPct val="45000"/>
              <a:buFont typeface="Wingdings" pitchFamily="2" charset="2"/>
              <a:buChar char="l"/>
              <a:defRPr/>
            </a:pPr>
            <a:r>
              <a:rPr lang="zh-CN" altLang="en-US" sz="2400" smtClean="0">
                <a:latin typeface="黑体" pitchFamily="2" charset="-122"/>
                <a:ea typeface="黑体" pitchFamily="2" charset="-122"/>
              </a:rPr>
              <a:t>王充</a:t>
            </a:r>
            <a:r>
              <a:rPr lang="en-US" altLang="zh-CN" sz="2400" smtClean="0">
                <a:latin typeface="黑体" pitchFamily="2" charset="-122"/>
                <a:ea typeface="黑体" pitchFamily="2" charset="-122"/>
              </a:rPr>
              <a:t>《</a:t>
            </a:r>
            <a:r>
              <a:rPr lang="zh-CN" altLang="en-US" sz="2400" smtClean="0">
                <a:latin typeface="黑体" pitchFamily="2" charset="-122"/>
                <a:ea typeface="黑体" pitchFamily="2" charset="-122"/>
              </a:rPr>
              <a:t>论衡</a:t>
            </a:r>
            <a:r>
              <a:rPr lang="en-US" altLang="zh-CN" sz="2400" smtClean="0">
                <a:latin typeface="黑体" pitchFamily="2" charset="-122"/>
                <a:ea typeface="黑体" pitchFamily="2" charset="-122"/>
              </a:rPr>
              <a:t>》</a:t>
            </a:r>
            <a:r>
              <a:rPr lang="zh-CN" altLang="en-US" sz="2400" smtClean="0">
                <a:latin typeface="黑体" pitchFamily="2" charset="-122"/>
                <a:ea typeface="黑体" pitchFamily="2" charset="-122"/>
              </a:rPr>
              <a:t>：</a:t>
            </a:r>
            <a:r>
              <a:rPr lang="zh-CN" altLang="en-US" sz="2400" smtClean="0">
                <a:latin typeface="华文细黑"/>
                <a:ea typeface="黑体" pitchFamily="2" charset="-122"/>
              </a:rPr>
              <a:t>“</a:t>
            </a:r>
            <a:r>
              <a:rPr lang="zh-CN" altLang="en-US" sz="2400" smtClean="0">
                <a:latin typeface="黑体" pitchFamily="2" charset="-122"/>
                <a:ea typeface="黑体" pitchFamily="2" charset="-122"/>
              </a:rPr>
              <a:t>夫人不能以行感天，天亦不能随行而应人</a:t>
            </a:r>
            <a:r>
              <a:rPr lang="zh-CN" altLang="en-US" sz="2400" smtClean="0">
                <a:latin typeface="华文细黑"/>
                <a:ea typeface="黑体" pitchFamily="2" charset="-122"/>
              </a:rPr>
              <a:t>”</a:t>
            </a:r>
            <a:endParaRPr lang="zh-CN" altLang="en-US" sz="240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lnSpc>
                <a:spcPct val="125000"/>
              </a:lnSpc>
              <a:buSzPct val="45000"/>
              <a:buFont typeface="Wingdings" pitchFamily="2" charset="2"/>
              <a:buChar char="l"/>
              <a:defRPr/>
            </a:pPr>
            <a:r>
              <a:rPr lang="zh-CN" altLang="en-US" sz="2400" smtClean="0">
                <a:latin typeface="黑体" pitchFamily="2" charset="-122"/>
                <a:ea typeface="黑体" pitchFamily="2" charset="-122"/>
              </a:rPr>
              <a:t>北魏贾思勰</a:t>
            </a:r>
            <a:r>
              <a:rPr lang="en-US" altLang="zh-CN" sz="2400" smtClean="0">
                <a:latin typeface="黑体" pitchFamily="2" charset="-122"/>
                <a:ea typeface="黑体" pitchFamily="2" charset="-122"/>
              </a:rPr>
              <a:t>《</a:t>
            </a:r>
            <a:r>
              <a:rPr lang="zh-CN" altLang="en-US" sz="2400" smtClean="0">
                <a:latin typeface="黑体" pitchFamily="2" charset="-122"/>
                <a:ea typeface="黑体" pitchFamily="2" charset="-122"/>
              </a:rPr>
              <a:t>齐民要术</a:t>
            </a:r>
            <a:r>
              <a:rPr lang="en-US" altLang="zh-CN" sz="2400" smtClean="0">
                <a:latin typeface="黑体" pitchFamily="2" charset="-122"/>
                <a:ea typeface="黑体" pitchFamily="2" charset="-122"/>
              </a:rPr>
              <a:t>》</a:t>
            </a:r>
            <a:r>
              <a:rPr lang="zh-CN" altLang="en-US" sz="2400" smtClean="0">
                <a:latin typeface="黑体" pitchFamily="2" charset="-122"/>
                <a:ea typeface="黑体" pitchFamily="2" charset="-122"/>
              </a:rPr>
              <a:t>：</a:t>
            </a:r>
            <a:r>
              <a:rPr lang="zh-CN" altLang="en-US" sz="2400" smtClean="0">
                <a:latin typeface="华文细黑"/>
                <a:ea typeface="黑体" pitchFamily="2" charset="-122"/>
              </a:rPr>
              <a:t>“</a:t>
            </a:r>
            <a:r>
              <a:rPr lang="zh-CN" altLang="en-US" sz="2400" smtClean="0">
                <a:latin typeface="黑体" pitchFamily="2" charset="-122"/>
                <a:ea typeface="黑体" pitchFamily="2" charset="-122"/>
              </a:rPr>
              <a:t>顺天时，量地利，则用力少而成功多</a:t>
            </a:r>
            <a:r>
              <a:rPr lang="zh-CN" altLang="en-US" sz="2400" smtClean="0">
                <a:latin typeface="华文细黑"/>
                <a:ea typeface="黑体" pitchFamily="2" charset="-122"/>
              </a:rPr>
              <a:t>”</a:t>
            </a:r>
            <a:endParaRPr lang="zh-CN" altLang="en-US" sz="2400" smtClean="0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4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42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4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42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847725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mtClean="0">
                <a:latin typeface="黑体" pitchFamily="2" charset="-122"/>
                <a:ea typeface="黑体" pitchFamily="2" charset="-122"/>
              </a:rPr>
              <a:t>一、古代经济地理（</a:t>
            </a:r>
            <a:r>
              <a:rPr lang="en-US" altLang="zh-CN" smtClean="0">
                <a:latin typeface="黑体" pitchFamily="2" charset="-122"/>
                <a:ea typeface="黑体" pitchFamily="2" charset="-122"/>
              </a:rPr>
              <a:t>20</a:t>
            </a:r>
            <a:r>
              <a:rPr lang="zh-CN" altLang="en-US" smtClean="0">
                <a:latin typeface="黑体" pitchFamily="2" charset="-122"/>
                <a:ea typeface="黑体" pitchFamily="2" charset="-122"/>
              </a:rPr>
              <a:t>世纪前）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686800" cy="5256212"/>
          </a:xfrm>
        </p:spPr>
        <p:txBody>
          <a:bodyPr/>
          <a:lstStyle/>
          <a:p>
            <a:pPr marL="609600" indent="-609600" eaLnBrk="1" hangingPunct="1">
              <a:buFont typeface="Wingdings" pitchFamily="2" charset="2"/>
              <a:buNone/>
              <a:defRPr/>
            </a:pPr>
            <a:r>
              <a:rPr lang="en-US" altLang="zh-CN" sz="2800" b="1" smtClean="0">
                <a:latin typeface="黑体" pitchFamily="2" charset="-122"/>
                <a:ea typeface="黑体" pitchFamily="2" charset="-122"/>
              </a:rPr>
              <a:t>1.</a:t>
            </a:r>
            <a:r>
              <a:rPr lang="zh-CN" altLang="en-US" sz="2800" b="1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中国古代地理学中的经济地理思想</a:t>
            </a:r>
          </a:p>
          <a:p>
            <a:pPr marL="609600" indent="-609600" eaLnBrk="1" hangingPunct="1">
              <a:buFont typeface="Wingdings" pitchFamily="2" charset="2"/>
              <a:buNone/>
              <a:defRPr/>
            </a:pP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①</a:t>
            </a:r>
            <a:r>
              <a:rPr lang="en-US" altLang="zh-CN" sz="2800" smtClean="0">
                <a:latin typeface="黑体" pitchFamily="2" charset="-122"/>
                <a:ea typeface="黑体" pitchFamily="2" charset="-122"/>
              </a:rPr>
              <a:t>《</a:t>
            </a: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山海经</a:t>
            </a:r>
            <a:r>
              <a:rPr lang="en-US" altLang="zh-CN" sz="2800" smtClean="0">
                <a:latin typeface="黑体" pitchFamily="2" charset="-122"/>
                <a:ea typeface="黑体" pitchFamily="2" charset="-122"/>
              </a:rPr>
              <a:t>》</a:t>
            </a: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和</a:t>
            </a:r>
            <a:r>
              <a:rPr lang="en-US" altLang="zh-CN" sz="2800" smtClean="0">
                <a:latin typeface="黑体" pitchFamily="2" charset="-122"/>
                <a:ea typeface="黑体" pitchFamily="2" charset="-122"/>
              </a:rPr>
              <a:t>《</a:t>
            </a: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禹贡</a:t>
            </a:r>
            <a:r>
              <a:rPr lang="en-US" altLang="zh-CN" sz="2800" smtClean="0">
                <a:latin typeface="黑体" pitchFamily="2" charset="-122"/>
                <a:ea typeface="黑体" pitchFamily="2" charset="-122"/>
              </a:rPr>
              <a:t>》</a:t>
            </a:r>
          </a:p>
          <a:p>
            <a:pPr marL="609600" indent="-609600" eaLnBrk="1" hangingPunct="1">
              <a:buFont typeface="Wingdings" pitchFamily="2" charset="2"/>
              <a:buNone/>
              <a:defRPr/>
            </a:pPr>
            <a:r>
              <a:rPr lang="en-US" altLang="zh-CN" sz="2800" smtClean="0">
                <a:latin typeface="黑体" pitchFamily="2" charset="-122"/>
                <a:ea typeface="黑体" pitchFamily="2" charset="-122"/>
              </a:rPr>
              <a:t>②《</a:t>
            </a: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管子</a:t>
            </a:r>
            <a:r>
              <a:rPr lang="en-US" altLang="zh-CN" sz="2800" smtClean="0">
                <a:latin typeface="黑体" pitchFamily="2" charset="-122"/>
                <a:ea typeface="黑体" pitchFamily="2" charset="-122"/>
              </a:rPr>
              <a:t>》</a:t>
            </a: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的经济地理思想</a:t>
            </a:r>
          </a:p>
          <a:p>
            <a:pPr marL="609600" indent="-609600" eaLnBrk="1" hangingPunct="1">
              <a:buFont typeface="Wingdings" pitchFamily="2" charset="2"/>
              <a:buNone/>
              <a:defRPr/>
            </a:pP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   </a:t>
            </a:r>
            <a:r>
              <a:rPr lang="en-US" altLang="zh-CN" sz="2400" smtClean="0">
                <a:solidFill>
                  <a:srgbClr val="66FFFF"/>
                </a:solidFill>
                <a:latin typeface="黑体" pitchFamily="2" charset="-122"/>
                <a:ea typeface="黑体" pitchFamily="2" charset="-122"/>
              </a:rPr>
              <a:t>《</a:t>
            </a:r>
            <a:r>
              <a:rPr lang="zh-CN" altLang="en-US" sz="2400" smtClean="0">
                <a:solidFill>
                  <a:srgbClr val="66FFFF"/>
                </a:solidFill>
                <a:latin typeface="黑体" pitchFamily="2" charset="-122"/>
                <a:ea typeface="黑体" pitchFamily="2" charset="-122"/>
              </a:rPr>
              <a:t>地员</a:t>
            </a:r>
            <a:r>
              <a:rPr lang="en-US" altLang="zh-CN" sz="2400" smtClean="0">
                <a:solidFill>
                  <a:srgbClr val="66FFFF"/>
                </a:solidFill>
                <a:latin typeface="黑体" pitchFamily="2" charset="-122"/>
                <a:ea typeface="黑体" pitchFamily="2" charset="-122"/>
              </a:rPr>
              <a:t>》《</a:t>
            </a:r>
            <a:r>
              <a:rPr lang="zh-CN" altLang="en-US" sz="2400" smtClean="0">
                <a:solidFill>
                  <a:srgbClr val="66FFFF"/>
                </a:solidFill>
                <a:latin typeface="黑体" pitchFamily="2" charset="-122"/>
                <a:ea typeface="黑体" pitchFamily="2" charset="-122"/>
              </a:rPr>
              <a:t>度地</a:t>
            </a:r>
            <a:r>
              <a:rPr lang="en-US" altLang="zh-CN" sz="2400" smtClean="0">
                <a:solidFill>
                  <a:srgbClr val="66FFFF"/>
                </a:solidFill>
                <a:latin typeface="黑体" pitchFamily="2" charset="-122"/>
                <a:ea typeface="黑体" pitchFamily="2" charset="-122"/>
              </a:rPr>
              <a:t>》《</a:t>
            </a:r>
            <a:r>
              <a:rPr lang="zh-CN" altLang="en-US" sz="2400" smtClean="0">
                <a:solidFill>
                  <a:srgbClr val="66FFFF"/>
                </a:solidFill>
                <a:latin typeface="黑体" pitchFamily="2" charset="-122"/>
                <a:ea typeface="黑体" pitchFamily="2" charset="-122"/>
              </a:rPr>
              <a:t>地数</a:t>
            </a:r>
            <a:r>
              <a:rPr lang="en-US" altLang="zh-CN" sz="2400" smtClean="0">
                <a:solidFill>
                  <a:srgbClr val="66FFFF"/>
                </a:solidFill>
                <a:latin typeface="黑体" pitchFamily="2" charset="-122"/>
                <a:ea typeface="黑体" pitchFamily="2" charset="-122"/>
              </a:rPr>
              <a:t>》《</a:t>
            </a:r>
            <a:r>
              <a:rPr lang="zh-CN" altLang="en-US" sz="2400" smtClean="0">
                <a:solidFill>
                  <a:srgbClr val="66FFFF"/>
                </a:solidFill>
                <a:latin typeface="黑体" pitchFamily="2" charset="-122"/>
                <a:ea typeface="黑体" pitchFamily="2" charset="-122"/>
              </a:rPr>
              <a:t>地图</a:t>
            </a:r>
            <a:r>
              <a:rPr lang="en-US" altLang="zh-CN" sz="2400" smtClean="0">
                <a:solidFill>
                  <a:srgbClr val="66FFFF"/>
                </a:solidFill>
                <a:latin typeface="黑体" pitchFamily="2" charset="-122"/>
                <a:ea typeface="黑体" pitchFamily="2" charset="-122"/>
              </a:rPr>
              <a:t>》</a:t>
            </a:r>
          </a:p>
          <a:p>
            <a:pPr marL="609600" indent="-609600" eaLnBrk="1" hangingPunct="1">
              <a:buFont typeface="Wingdings" pitchFamily="2" charset="2"/>
              <a:buNone/>
              <a:defRPr/>
            </a:pPr>
            <a:r>
              <a:rPr lang="en-US" altLang="zh-CN" sz="2800" smtClean="0">
                <a:latin typeface="黑体" pitchFamily="2" charset="-122"/>
                <a:ea typeface="黑体" pitchFamily="2" charset="-122"/>
              </a:rPr>
              <a:t>③</a:t>
            </a: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古代历史著作中有关经济地理的思想与资料</a:t>
            </a:r>
          </a:p>
          <a:p>
            <a:pPr marL="609600" indent="-609600" eaLnBrk="1" hangingPunct="1">
              <a:buFont typeface="Wingdings" pitchFamily="2" charset="2"/>
              <a:buNone/>
              <a:defRPr/>
            </a:pP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     </a:t>
            </a:r>
            <a:r>
              <a:rPr lang="en-US" altLang="zh-CN" sz="2400" smtClean="0">
                <a:solidFill>
                  <a:srgbClr val="66FFFF"/>
                </a:solidFill>
                <a:latin typeface="黑体" pitchFamily="2" charset="-122"/>
                <a:ea typeface="黑体" pitchFamily="2" charset="-122"/>
              </a:rPr>
              <a:t>《</a:t>
            </a:r>
            <a:r>
              <a:rPr lang="zh-CN" altLang="en-US" sz="2400" smtClean="0">
                <a:solidFill>
                  <a:srgbClr val="66FFFF"/>
                </a:solidFill>
                <a:latin typeface="黑体" pitchFamily="2" charset="-122"/>
                <a:ea typeface="黑体" pitchFamily="2" charset="-122"/>
              </a:rPr>
              <a:t>史记</a:t>
            </a:r>
            <a:r>
              <a:rPr lang="en-US" altLang="zh-CN" sz="2400" smtClean="0">
                <a:solidFill>
                  <a:srgbClr val="66FFFF"/>
                </a:solidFill>
                <a:latin typeface="黑体" pitchFamily="2" charset="-122"/>
                <a:ea typeface="黑体" pitchFamily="2" charset="-122"/>
              </a:rPr>
              <a:t>》</a:t>
            </a:r>
            <a:r>
              <a:rPr lang="zh-CN" altLang="en-US" sz="2400" smtClean="0">
                <a:solidFill>
                  <a:srgbClr val="66FFFF"/>
                </a:solidFill>
                <a:latin typeface="黑体" pitchFamily="2" charset="-122"/>
                <a:ea typeface="黑体" pitchFamily="2" charset="-122"/>
              </a:rPr>
              <a:t>中的河渠书、平淮书及货殖列传；</a:t>
            </a:r>
            <a:r>
              <a:rPr lang="en-US" altLang="zh-CN" sz="2400" smtClean="0">
                <a:solidFill>
                  <a:srgbClr val="66FFFF"/>
                </a:solidFill>
                <a:latin typeface="黑体" pitchFamily="2" charset="-122"/>
                <a:ea typeface="黑体" pitchFamily="2" charset="-122"/>
              </a:rPr>
              <a:t>《</a:t>
            </a:r>
            <a:r>
              <a:rPr lang="zh-CN" altLang="en-US" sz="2400" smtClean="0">
                <a:solidFill>
                  <a:srgbClr val="66FFFF"/>
                </a:solidFill>
                <a:latin typeface="黑体" pitchFamily="2" charset="-122"/>
                <a:ea typeface="黑体" pitchFamily="2" charset="-122"/>
              </a:rPr>
              <a:t>汉书</a:t>
            </a:r>
            <a:r>
              <a:rPr lang="en-US" altLang="zh-CN" sz="2400" smtClean="0">
                <a:solidFill>
                  <a:srgbClr val="66FFFF"/>
                </a:solidFill>
                <a:latin typeface="黑体" pitchFamily="2" charset="-122"/>
                <a:ea typeface="黑体" pitchFamily="2" charset="-122"/>
              </a:rPr>
              <a:t>》</a:t>
            </a:r>
            <a:r>
              <a:rPr lang="zh-CN" altLang="en-US" sz="2400" smtClean="0">
                <a:solidFill>
                  <a:srgbClr val="66FFFF"/>
                </a:solidFill>
                <a:latin typeface="黑体" pitchFamily="2" charset="-122"/>
                <a:ea typeface="黑体" pitchFamily="2" charset="-122"/>
              </a:rPr>
              <a:t>中的地理志；人物列传等；</a:t>
            </a:r>
          </a:p>
          <a:p>
            <a:pPr marL="609600" indent="-609600" eaLnBrk="1" hangingPunct="1">
              <a:buFont typeface="Wingdings" pitchFamily="2" charset="2"/>
              <a:buNone/>
              <a:defRPr/>
            </a:pP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④地方志中有关经济地理资料</a:t>
            </a:r>
          </a:p>
          <a:p>
            <a:pPr marL="609600" indent="-609600" eaLnBrk="1" hangingPunct="1">
              <a:buFont typeface="Wingdings" pitchFamily="2" charset="2"/>
              <a:buNone/>
              <a:defRPr/>
            </a:pP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⑤主要探险家和旅行家对域外经济地理的描述</a:t>
            </a:r>
          </a:p>
          <a:p>
            <a:pPr marL="609600" indent="-609600" eaLnBrk="1" hangingPunct="1">
              <a:buFont typeface="Wingdings" pitchFamily="2" charset="2"/>
              <a:buNone/>
              <a:defRPr/>
            </a:pP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sz="2400" smtClean="0">
                <a:solidFill>
                  <a:srgbClr val="66FFFF"/>
                </a:solidFill>
                <a:latin typeface="黑体" pitchFamily="2" charset="-122"/>
                <a:ea typeface="黑体" pitchFamily="2" charset="-122"/>
              </a:rPr>
              <a:t>张骞、</a:t>
            </a:r>
            <a:r>
              <a:rPr lang="zh-CN" altLang="en-US" sz="2400" smtClean="0">
                <a:solidFill>
                  <a:srgbClr val="66FFFF"/>
                </a:solidFill>
                <a:latin typeface="黑体" pitchFamily="2" charset="-122"/>
                <a:ea typeface="黑体" pitchFamily="2" charset="-122"/>
                <a:hlinkClick r:id="rId2" action="ppaction://hlinksldjump"/>
              </a:rPr>
              <a:t>东晋高僧法显</a:t>
            </a:r>
            <a:r>
              <a:rPr lang="zh-CN" altLang="en-US" sz="2400" smtClean="0">
                <a:solidFill>
                  <a:srgbClr val="66FFFF"/>
                </a:solidFill>
                <a:latin typeface="黑体" pitchFamily="2" charset="-122"/>
                <a:ea typeface="黑体" pitchFamily="2" charset="-122"/>
              </a:rPr>
              <a:t>、</a:t>
            </a:r>
            <a:r>
              <a:rPr lang="zh-CN" altLang="en-US" sz="2400" smtClean="0">
                <a:solidFill>
                  <a:srgbClr val="66FFFF"/>
                </a:solidFill>
                <a:latin typeface="黑体" pitchFamily="2" charset="-122"/>
                <a:ea typeface="黑体" pitchFamily="2" charset="-122"/>
                <a:hlinkClick r:id="rId3" action="ppaction://hlinksldjump"/>
              </a:rPr>
              <a:t>唐玄奘</a:t>
            </a:r>
            <a:r>
              <a:rPr lang="zh-CN" altLang="en-US" sz="2400" smtClean="0">
                <a:solidFill>
                  <a:srgbClr val="66FFFF"/>
                </a:solidFill>
                <a:latin typeface="华文细黑"/>
                <a:ea typeface="黑体" pitchFamily="2" charset="-122"/>
                <a:hlinkClick r:id="rId3" action="ppaction://hlinksldjump"/>
              </a:rPr>
              <a:t>“</a:t>
            </a:r>
            <a:r>
              <a:rPr lang="zh-CN" altLang="en-US" sz="2400" smtClean="0">
                <a:solidFill>
                  <a:srgbClr val="66FFFF"/>
                </a:solidFill>
                <a:latin typeface="黑体" pitchFamily="2" charset="-122"/>
                <a:ea typeface="黑体" pitchFamily="2" charset="-122"/>
                <a:hlinkClick r:id="rId3" action="ppaction://hlinksldjump"/>
              </a:rPr>
              <a:t>西游</a:t>
            </a:r>
            <a:r>
              <a:rPr lang="zh-CN" altLang="en-US" sz="2400" smtClean="0">
                <a:solidFill>
                  <a:srgbClr val="66FFFF"/>
                </a:solidFill>
                <a:latin typeface="华文细黑"/>
                <a:ea typeface="黑体" pitchFamily="2" charset="-122"/>
                <a:hlinkClick r:id="rId3" action="ppaction://hlinksldjump"/>
              </a:rPr>
              <a:t>”</a:t>
            </a:r>
            <a:r>
              <a:rPr lang="zh-CN" altLang="en-US" sz="2400" smtClean="0">
                <a:solidFill>
                  <a:srgbClr val="66FFFF"/>
                </a:solidFill>
                <a:latin typeface="黑体" pitchFamily="2" charset="-122"/>
                <a:ea typeface="黑体" pitchFamily="2" charset="-122"/>
              </a:rPr>
              <a:t>、郑和下西洋等</a:t>
            </a:r>
          </a:p>
          <a:p>
            <a:pPr marL="609600" indent="-60960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sz="1000" smtClean="0"/>
              <a:t>       </a:t>
            </a:r>
          </a:p>
        </p:txBody>
      </p:sp>
      <p:sp>
        <p:nvSpPr>
          <p:cNvPr id="7172" name="AutoShape 4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8459788" y="6237288"/>
            <a:ext cx="288925" cy="360362"/>
          </a:xfrm>
          <a:prstGeom prst="downArrow">
            <a:avLst>
              <a:gd name="adj1" fmla="val 50000"/>
              <a:gd name="adj2" fmla="val 31181"/>
            </a:avLst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8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8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8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8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8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8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80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80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80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80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7747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一、古代经济地理（</a:t>
            </a:r>
            <a:r>
              <a:rPr lang="en-US" altLang="zh-CN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20</a:t>
            </a:r>
            <a:r>
              <a:rPr lang="zh-CN" altLang="en-US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世纪前）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557338"/>
            <a:ext cx="8218488" cy="4465637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r>
              <a:rPr lang="en-US" altLang="zh-CN" b="1" smtClean="0">
                <a:solidFill>
                  <a:srgbClr val="FFFF00"/>
                </a:solidFill>
                <a:ea typeface="黑体" pitchFamily="2" charset="-122"/>
              </a:rPr>
              <a:t>2.</a:t>
            </a:r>
            <a:r>
              <a:rPr lang="zh-CN" altLang="en-US" b="1" smtClean="0">
                <a:solidFill>
                  <a:srgbClr val="FFFF00"/>
                </a:solidFill>
                <a:ea typeface="黑体" pitchFamily="2" charset="-122"/>
              </a:rPr>
              <a:t>古代西方地理学中的经济地理思想</a:t>
            </a:r>
          </a:p>
          <a:p>
            <a:pPr eaLnBrk="1" hangingPunct="1">
              <a:lnSpc>
                <a:spcPct val="135000"/>
              </a:lnSpc>
              <a:buFont typeface="Wingdings" pitchFamily="2" charset="2"/>
              <a:buNone/>
              <a:defRPr/>
            </a:pP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①古希腊和罗马地理学中的经济地理思想</a:t>
            </a:r>
          </a:p>
          <a:p>
            <a:pPr eaLnBrk="1" hangingPunct="1">
              <a:lnSpc>
                <a:spcPct val="135000"/>
              </a:lnSpc>
              <a:buFont typeface="Wingdings" pitchFamily="2" charset="2"/>
              <a:buNone/>
              <a:defRPr/>
            </a:pP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   古希腊诗人荷马、赫卡泰、柏拉图、斯特拉波</a:t>
            </a:r>
          </a:p>
          <a:p>
            <a:pPr eaLnBrk="1" hangingPunct="1">
              <a:lnSpc>
                <a:spcPct val="135000"/>
              </a:lnSpc>
              <a:buFont typeface="Wingdings" pitchFamily="2" charset="2"/>
              <a:buNone/>
              <a:defRPr/>
            </a:pP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②中世纪阿拉伯地理学中的经济地理思想</a:t>
            </a:r>
          </a:p>
          <a:p>
            <a:pPr eaLnBrk="1" hangingPunct="1">
              <a:lnSpc>
                <a:spcPct val="135000"/>
              </a:lnSpc>
              <a:buFont typeface="Wingdings" pitchFamily="2" charset="2"/>
              <a:buNone/>
              <a:defRPr/>
            </a:pP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   伊本</a:t>
            </a:r>
            <a:r>
              <a:rPr lang="en-US" altLang="zh-CN" sz="2800" smtClean="0">
                <a:latin typeface="黑体" pitchFamily="2" charset="-122"/>
                <a:ea typeface="黑体" pitchFamily="2" charset="-122"/>
              </a:rPr>
              <a:t>.</a:t>
            </a: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卡尔敦</a:t>
            </a:r>
          </a:p>
          <a:p>
            <a:pPr eaLnBrk="1" hangingPunct="1">
              <a:lnSpc>
                <a:spcPct val="135000"/>
              </a:lnSpc>
              <a:buFont typeface="Wingdings" pitchFamily="2" charset="2"/>
              <a:buNone/>
              <a:defRPr/>
            </a:pP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③欧洲人的</a:t>
            </a:r>
            <a:r>
              <a:rPr lang="zh-CN" altLang="en-US" sz="2800" smtClean="0">
                <a:latin typeface="华文细黑"/>
                <a:ea typeface="黑体" pitchFamily="2" charset="-122"/>
              </a:rPr>
              <a:t>“</a:t>
            </a:r>
            <a:r>
              <a:rPr lang="zh-CN" altLang="en-US" sz="2800" smtClean="0">
                <a:latin typeface="黑体" pitchFamily="2" charset="-122"/>
                <a:ea typeface="黑体" pitchFamily="2" charset="-122"/>
                <a:hlinkClick r:id="rId2" action="ppaction://hlinksldjump"/>
              </a:rPr>
              <a:t>地理大发现</a:t>
            </a:r>
            <a:r>
              <a:rPr lang="zh-CN" altLang="en-US" sz="2800" smtClean="0">
                <a:latin typeface="华文细黑"/>
                <a:ea typeface="黑体" pitchFamily="2" charset="-122"/>
              </a:rPr>
              <a:t>”</a:t>
            </a: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对经济地理学的影响</a:t>
            </a:r>
          </a:p>
        </p:txBody>
      </p:sp>
      <p:sp>
        <p:nvSpPr>
          <p:cNvPr id="10244" name="AutoShape 4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8172450" y="6092825"/>
            <a:ext cx="360363" cy="2159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9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9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9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9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9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9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9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9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9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9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1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5" descr="地理大发现"/>
          <p:cNvPicPr>
            <a:picLocks noGrp="1"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684213" y="188913"/>
            <a:ext cx="7775575" cy="5967412"/>
          </a:xfrm>
        </p:spPr>
      </p:pic>
      <p:sp>
        <p:nvSpPr>
          <p:cNvPr id="11267" name="Text Box 6"/>
          <p:cNvSpPr txBox="1">
            <a:spLocks noChangeArrowheads="1"/>
          </p:cNvSpPr>
          <p:nvPr/>
        </p:nvSpPr>
        <p:spPr bwMode="auto">
          <a:xfrm>
            <a:off x="3995738" y="6165850"/>
            <a:ext cx="1708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>
                <a:ea typeface="黑体" pitchFamily="49" charset="-122"/>
              </a:rPr>
              <a:t>地理大发现</a:t>
            </a:r>
          </a:p>
        </p:txBody>
      </p:sp>
      <p:sp>
        <p:nvSpPr>
          <p:cNvPr id="11268" name="AutoShape 7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8532813" y="6237288"/>
            <a:ext cx="287337" cy="287337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00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2060575"/>
            <a:ext cx="8229600" cy="3844925"/>
          </a:xfrm>
        </p:spPr>
        <p:txBody>
          <a:bodyPr/>
          <a:lstStyle/>
          <a:p>
            <a:pPr eaLnBrk="1" hangingPunct="1">
              <a:lnSpc>
                <a:spcPct val="145000"/>
              </a:lnSpc>
              <a:buFont typeface="Wingdings" pitchFamily="2" charset="2"/>
              <a:buNone/>
              <a:defRPr/>
            </a:pPr>
            <a:r>
              <a:rPr lang="zh-CN" altLang="en-US" b="1" smtClean="0">
                <a:solidFill>
                  <a:srgbClr val="FFFF00"/>
                </a:solidFill>
                <a:ea typeface="黑体" pitchFamily="2" charset="-122"/>
              </a:rPr>
              <a:t>（二）商业地理研究（</a:t>
            </a:r>
            <a:r>
              <a:rPr lang="en-US" altLang="zh-CN" b="1" smtClean="0">
                <a:solidFill>
                  <a:srgbClr val="FFFF00"/>
                </a:solidFill>
                <a:ea typeface="黑体" pitchFamily="2" charset="-122"/>
              </a:rPr>
              <a:t>17</a:t>
            </a:r>
            <a:r>
              <a:rPr lang="zh-CN" altLang="en-US" b="1" smtClean="0">
                <a:solidFill>
                  <a:srgbClr val="FFFF00"/>
                </a:solidFill>
                <a:ea typeface="黑体" pitchFamily="2" charset="-122"/>
              </a:rPr>
              <a:t>世纪开始）</a:t>
            </a:r>
            <a:r>
              <a:rPr lang="zh-CN" altLang="en-US" smtClean="0"/>
              <a:t> </a:t>
            </a:r>
          </a:p>
          <a:p>
            <a:pPr lvl="1" eaLnBrk="1" hangingPunct="1">
              <a:lnSpc>
                <a:spcPct val="145000"/>
              </a:lnSpc>
              <a:defRPr/>
            </a:pPr>
            <a:r>
              <a:rPr lang="zh-CN" altLang="en-US" smtClean="0">
                <a:latin typeface="黑体" pitchFamily="2" charset="-122"/>
                <a:ea typeface="黑体" pitchFamily="2" charset="-122"/>
              </a:rPr>
              <a:t>地理学家瓦伦纽斯</a:t>
            </a:r>
            <a:r>
              <a:rPr lang="en-US" altLang="zh-CN" smtClean="0">
                <a:ea typeface="黑体" pitchFamily="2" charset="-122"/>
              </a:rPr>
              <a:t>——</a:t>
            </a:r>
            <a:r>
              <a:rPr lang="zh-CN" altLang="en-US" smtClean="0">
                <a:latin typeface="黑体" pitchFamily="2" charset="-122"/>
                <a:ea typeface="黑体" pitchFamily="2" charset="-122"/>
              </a:rPr>
              <a:t>商业地理教科书 </a:t>
            </a:r>
          </a:p>
          <a:p>
            <a:pPr lvl="1" eaLnBrk="1" hangingPunct="1">
              <a:lnSpc>
                <a:spcPct val="145000"/>
              </a:lnSpc>
              <a:defRPr/>
            </a:pPr>
            <a:r>
              <a:rPr lang="zh-CN" altLang="en-US" smtClean="0">
                <a:latin typeface="黑体" pitchFamily="2" charset="-122"/>
                <a:ea typeface="黑体" pitchFamily="2" charset="-122"/>
              </a:rPr>
              <a:t>苏格兰学者奇泽姆</a:t>
            </a:r>
            <a:r>
              <a:rPr lang="en-US" altLang="zh-CN" smtClean="0">
                <a:ea typeface="黑体" pitchFamily="2" charset="-122"/>
              </a:rPr>
              <a:t>——</a:t>
            </a:r>
            <a:r>
              <a:rPr lang="en-US" altLang="zh-CN" smtClean="0">
                <a:latin typeface="黑体" pitchFamily="2" charset="-122"/>
                <a:ea typeface="黑体" pitchFamily="2" charset="-122"/>
              </a:rPr>
              <a:t>《</a:t>
            </a:r>
            <a:r>
              <a:rPr lang="zh-CN" altLang="en-US" smtClean="0">
                <a:latin typeface="黑体" pitchFamily="2" charset="-122"/>
                <a:ea typeface="黑体" pitchFamily="2" charset="-122"/>
              </a:rPr>
              <a:t>商业地理手册</a:t>
            </a:r>
            <a:r>
              <a:rPr lang="en-US" altLang="zh-CN" smtClean="0">
                <a:latin typeface="黑体" pitchFamily="2" charset="-122"/>
                <a:ea typeface="黑体" pitchFamily="2" charset="-122"/>
              </a:rPr>
              <a:t>》</a:t>
            </a:r>
          </a:p>
          <a:p>
            <a:pPr lvl="2" eaLnBrk="1" hangingPunct="1">
              <a:lnSpc>
                <a:spcPct val="145000"/>
              </a:lnSpc>
              <a:defRPr/>
            </a:pPr>
            <a:r>
              <a:rPr lang="en-US" altLang="zh-CN" smtClean="0">
                <a:latin typeface="黑体" pitchFamily="2" charset="-122"/>
                <a:ea typeface="黑体" pitchFamily="2" charset="-122"/>
              </a:rPr>
              <a:t>1889-1975</a:t>
            </a:r>
            <a:r>
              <a:rPr lang="zh-CN" altLang="en-US" smtClean="0">
                <a:latin typeface="黑体" pitchFamily="2" charset="-122"/>
                <a:ea typeface="黑体" pitchFamily="2" charset="-122"/>
              </a:rPr>
              <a:t>年，再版到</a:t>
            </a:r>
            <a:r>
              <a:rPr lang="en-US" altLang="zh-CN" smtClean="0">
                <a:latin typeface="黑体" pitchFamily="2" charset="-122"/>
                <a:ea typeface="黑体" pitchFamily="2" charset="-122"/>
              </a:rPr>
              <a:t>19</a:t>
            </a:r>
            <a:r>
              <a:rPr lang="zh-CN" altLang="en-US" smtClean="0">
                <a:latin typeface="黑体" pitchFamily="2" charset="-122"/>
                <a:ea typeface="黑体" pitchFamily="2" charset="-122"/>
              </a:rPr>
              <a:t>版 </a:t>
            </a:r>
          </a:p>
        </p:txBody>
      </p:sp>
      <p:sp>
        <p:nvSpPr>
          <p:cNvPr id="105476" name="Rectangle 4"/>
          <p:cNvSpPr>
            <a:spLocks noChangeArrowheads="1"/>
          </p:cNvSpPr>
          <p:nvPr/>
        </p:nvSpPr>
        <p:spPr bwMode="auto">
          <a:xfrm>
            <a:off x="395288" y="692150"/>
            <a:ext cx="8229600" cy="77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zh-CN" altLang="en-US" sz="4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2" charset="-122"/>
                <a:ea typeface="黑体" pitchFamily="2" charset="-122"/>
              </a:rPr>
              <a:t>一、古代经济地理（</a:t>
            </a:r>
            <a:r>
              <a:rPr lang="en-US" altLang="zh-CN" sz="4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2" charset="-122"/>
                <a:ea typeface="黑体" pitchFamily="2" charset="-122"/>
              </a:rPr>
              <a:t>20</a:t>
            </a:r>
            <a:r>
              <a:rPr lang="zh-CN" altLang="en-US" sz="4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2" charset="-122"/>
                <a:ea typeface="黑体" pitchFamily="2" charset="-122"/>
              </a:rPr>
              <a:t>世纪前）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773238"/>
            <a:ext cx="8218487" cy="434975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buFont typeface="Wingdings" pitchFamily="2" charset="2"/>
              <a:buNone/>
              <a:defRPr/>
            </a:pPr>
            <a:r>
              <a:rPr lang="zh-CN" altLang="en-US" b="1" dirty="0" smtClean="0">
                <a:solidFill>
                  <a:srgbClr val="FFFF00"/>
                </a:solidFill>
                <a:ea typeface="黑体" pitchFamily="2" charset="-122"/>
              </a:rPr>
              <a:t>（三）经济地理学作为独立学科的重要事件</a:t>
            </a:r>
          </a:p>
          <a:p>
            <a:pPr lvl="1" eaLnBrk="1" hangingPunct="1">
              <a:lnSpc>
                <a:spcPct val="140000"/>
              </a:lnSpc>
              <a:defRPr/>
            </a:pP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经济地理学学科名称由来</a:t>
            </a:r>
            <a:r>
              <a:rPr lang="en-US" altLang="zh-CN" dirty="0" smtClean="0">
                <a:ea typeface="黑体" pitchFamily="2" charset="-122"/>
              </a:rPr>
              <a:t>——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1760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年俄国科学家罗蒙诺索夫，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《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地理考察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》</a:t>
            </a:r>
          </a:p>
          <a:p>
            <a:pPr lvl="1" eaLnBrk="1" hangingPunct="1">
              <a:lnSpc>
                <a:spcPct val="140000"/>
              </a:lnSpc>
              <a:defRPr/>
            </a:pP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经济地理学从地理学分化为一门独立科学的标志</a:t>
            </a:r>
            <a:r>
              <a:rPr lang="en-US" altLang="zh-CN" dirty="0" smtClean="0">
                <a:ea typeface="黑体" pitchFamily="2" charset="-122"/>
              </a:rPr>
              <a:t>——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1882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年德国地理学家葛茨在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《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柏林地理学会会志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》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上发表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《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经济地理学的任务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》</a:t>
            </a:r>
            <a:r>
              <a:rPr lang="en-US" altLang="zh-CN" dirty="0" smtClean="0"/>
              <a:t>   </a:t>
            </a:r>
          </a:p>
        </p:txBody>
      </p:sp>
      <p:sp>
        <p:nvSpPr>
          <p:cNvPr id="106500" name="Rectangle 4"/>
          <p:cNvSpPr>
            <a:spLocks noChangeArrowheads="1"/>
          </p:cNvSpPr>
          <p:nvPr/>
        </p:nvSpPr>
        <p:spPr bwMode="auto">
          <a:xfrm>
            <a:off x="395288" y="692150"/>
            <a:ext cx="8229600" cy="77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zh-CN" altLang="en-US" sz="4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2" charset="-122"/>
                <a:ea typeface="黑体" pitchFamily="2" charset="-122"/>
              </a:rPr>
              <a:t>一、古代经济地理（</a:t>
            </a:r>
            <a:r>
              <a:rPr lang="en-US" altLang="zh-CN" sz="4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2" charset="-122"/>
                <a:ea typeface="黑体" pitchFamily="2" charset="-122"/>
              </a:rPr>
              <a:t>20</a:t>
            </a:r>
            <a:r>
              <a:rPr lang="zh-CN" altLang="en-US" sz="44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黑体" pitchFamily="2" charset="-122"/>
                <a:ea typeface="黑体" pitchFamily="2" charset="-122"/>
              </a:rPr>
              <a:t>世纪前）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81075"/>
            <a:ext cx="8229600" cy="5149850"/>
          </a:xfrm>
        </p:spPr>
        <p:txBody>
          <a:bodyPr/>
          <a:lstStyle/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sz="2400" dirty="0" smtClean="0">
                <a:latin typeface="黑体" pitchFamily="2" charset="-122"/>
                <a:ea typeface="黑体" pitchFamily="2" charset="-122"/>
              </a:rPr>
              <a:t>1826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年杜能出版了至今仍为经典的</a:t>
            </a:r>
            <a:r>
              <a:rPr lang="en-US" altLang="zh-CN" sz="2400" dirty="0" smtClean="0">
                <a:latin typeface="黑体" pitchFamily="2" charset="-122"/>
                <a:ea typeface="黑体" pitchFamily="2" charset="-122"/>
              </a:rPr>
              <a:t>《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孤立国</a:t>
            </a:r>
            <a:r>
              <a:rPr lang="en-US" altLang="zh-CN" sz="2400" dirty="0" smtClean="0">
                <a:latin typeface="黑体" pitchFamily="2" charset="-122"/>
                <a:ea typeface="黑体" pitchFamily="2" charset="-122"/>
              </a:rPr>
              <a:t>》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sz="2400" dirty="0" smtClean="0">
                <a:latin typeface="黑体" pitchFamily="2" charset="-122"/>
                <a:ea typeface="黑体" pitchFamily="2" charset="-122"/>
              </a:rPr>
              <a:t>1893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年，美国康奈尔大学和宾夕法尼亚大学开始教授</a:t>
            </a:r>
            <a:r>
              <a:rPr lang="en-US" altLang="zh-CN" sz="2400" dirty="0" smtClean="0">
                <a:latin typeface="黑体" pitchFamily="2" charset="-122"/>
                <a:ea typeface="黑体" pitchFamily="2" charset="-122"/>
              </a:rPr>
              <a:t>《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经济地理学</a:t>
            </a:r>
            <a:r>
              <a:rPr lang="en-US" altLang="zh-CN" sz="2400" dirty="0" smtClean="0">
                <a:latin typeface="黑体" pitchFamily="2" charset="-122"/>
                <a:ea typeface="黑体" pitchFamily="2" charset="-122"/>
              </a:rPr>
              <a:t>》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课程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sz="2400" dirty="0" smtClean="0">
                <a:latin typeface="黑体" pitchFamily="2" charset="-122"/>
                <a:ea typeface="黑体" pitchFamily="2" charset="-122"/>
              </a:rPr>
              <a:t>1913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年，美国学者拉赛尔</a:t>
            </a:r>
            <a:r>
              <a:rPr lang="en-US" altLang="zh-CN" sz="2400" dirty="0" smtClean="0">
                <a:latin typeface="黑体" pitchFamily="2" charset="-122"/>
                <a:ea typeface="黑体" pitchFamily="2" charset="-122"/>
              </a:rPr>
              <a:t>.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史密斯（</a:t>
            </a:r>
            <a:r>
              <a:rPr lang="en-US" altLang="zh-CN" sz="2400" dirty="0" smtClean="0">
                <a:latin typeface="黑体" pitchFamily="2" charset="-122"/>
                <a:ea typeface="黑体" pitchFamily="2" charset="-122"/>
              </a:rPr>
              <a:t>Smith R.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）出版</a:t>
            </a:r>
            <a:r>
              <a:rPr lang="en-US" altLang="zh-CN" sz="2400" dirty="0" smtClean="0">
                <a:latin typeface="黑体" pitchFamily="2" charset="-122"/>
                <a:ea typeface="黑体" pitchFamily="2" charset="-122"/>
              </a:rPr>
              <a:t>《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工业和商业地理</a:t>
            </a:r>
            <a:r>
              <a:rPr lang="en-US" altLang="zh-CN" sz="2400" dirty="0" smtClean="0">
                <a:latin typeface="黑体" pitchFamily="2" charset="-122"/>
                <a:ea typeface="黑体" pitchFamily="2" charset="-122"/>
              </a:rPr>
              <a:t>》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sz="2400" dirty="0" smtClean="0">
                <a:latin typeface="黑体" pitchFamily="2" charset="-122"/>
                <a:ea typeface="黑体" pitchFamily="2" charset="-122"/>
              </a:rPr>
              <a:t>1925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年，克拉克大学出版了学术期刊</a:t>
            </a:r>
            <a:r>
              <a:rPr lang="en-US" altLang="zh-CN" sz="2400" dirty="0" smtClean="0">
                <a:latin typeface="黑体" pitchFamily="2" charset="-122"/>
                <a:ea typeface="黑体" pitchFamily="2" charset="-122"/>
              </a:rPr>
              <a:t>《</a:t>
            </a:r>
            <a:r>
              <a:rPr lang="zh-CN" altLang="en-US" sz="2400" dirty="0" smtClean="0">
                <a:latin typeface="黑体" pitchFamily="2" charset="-122"/>
                <a:ea typeface="黑体" pitchFamily="2" charset="-122"/>
              </a:rPr>
              <a:t>经济地理</a:t>
            </a:r>
            <a:r>
              <a:rPr lang="en-US" altLang="zh-CN" sz="2400" dirty="0" smtClean="0">
                <a:latin typeface="黑体" pitchFamily="2" charset="-122"/>
                <a:ea typeface="黑体" pitchFamily="2" charset="-122"/>
              </a:rPr>
              <a:t>》</a:t>
            </a:r>
          </a:p>
          <a:p>
            <a:pPr lvl="1" eaLnBrk="1" hangingPunct="1">
              <a:lnSpc>
                <a:spcPct val="120000"/>
              </a:lnSpc>
              <a:defRPr/>
            </a:pPr>
            <a:endParaRPr lang="en-US" altLang="zh-CN" sz="2400" dirty="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2800" dirty="0" smtClean="0">
                <a:latin typeface="黑体" pitchFamily="2" charset="-122"/>
                <a:ea typeface="黑体" pitchFamily="2" charset="-122"/>
              </a:rPr>
              <a:t>这些事件表明，至少在</a:t>
            </a:r>
            <a:r>
              <a:rPr lang="en-US" altLang="zh-CN" sz="2800" dirty="0" smtClean="0">
                <a:latin typeface="黑体" pitchFamily="2" charset="-122"/>
                <a:ea typeface="黑体" pitchFamily="2" charset="-122"/>
              </a:rPr>
              <a:t>19</a:t>
            </a:r>
            <a:r>
              <a:rPr lang="zh-CN" altLang="en-US" sz="2800" dirty="0" smtClean="0">
                <a:latin typeface="黑体" pitchFamily="2" charset="-122"/>
                <a:ea typeface="黑体" pitchFamily="2" charset="-122"/>
              </a:rPr>
              <a:t>世纪末和</a:t>
            </a:r>
            <a:r>
              <a:rPr lang="en-US" altLang="zh-CN" sz="2800" dirty="0" smtClean="0">
                <a:latin typeface="黑体" pitchFamily="2" charset="-122"/>
                <a:ea typeface="黑体" pitchFamily="2" charset="-122"/>
              </a:rPr>
              <a:t>20</a:t>
            </a:r>
            <a:r>
              <a:rPr lang="zh-CN" altLang="en-US" sz="2800" dirty="0" smtClean="0">
                <a:latin typeface="黑体" pitchFamily="2" charset="-122"/>
                <a:ea typeface="黑体" pitchFamily="2" charset="-122"/>
              </a:rPr>
              <a:t>世纪初，经济地理学已经作为独立的学科出现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>
              <a:defRPr/>
            </a:pPr>
            <a:r>
              <a:rPr lang="zh-CN" altLang="en-US" dirty="0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二、二战之前的经济地理</a:t>
            </a:r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844675"/>
            <a:ext cx="8229600" cy="3773488"/>
          </a:xfrm>
        </p:spPr>
        <p:txBody>
          <a:bodyPr/>
          <a:lstStyle/>
          <a:p>
            <a:pPr eaLnBrk="1" hangingPunct="1">
              <a:lnSpc>
                <a:spcPct val="135000"/>
              </a:lnSpc>
              <a:defRPr/>
            </a:pP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某种商品生产的地理分布和地理贸易研究</a:t>
            </a:r>
          </a:p>
          <a:p>
            <a:pPr eaLnBrk="1" hangingPunct="1">
              <a:lnSpc>
                <a:spcPct val="135000"/>
              </a:lnSpc>
              <a:defRPr/>
            </a:pPr>
            <a:r>
              <a:rPr lang="zh-CN" altLang="en-US" dirty="0" smtClean="0">
                <a:latin typeface="黑体" pitchFamily="2" charset="-122"/>
                <a:ea typeface="黑体" pitchFamily="2" charset="-122"/>
                <a:hlinkClick r:id="rId2" action="ppaction://hlinksldjump"/>
              </a:rPr>
              <a:t>区域主义的产生 </a:t>
            </a:r>
            <a:endParaRPr lang="zh-CN" altLang="en-US" dirty="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lnSpc>
                <a:spcPct val="135000"/>
              </a:lnSpc>
              <a:defRPr/>
            </a:pPr>
            <a:r>
              <a:rPr lang="zh-CN" altLang="en-US" dirty="0" smtClean="0">
                <a:latin typeface="黑体" pitchFamily="2" charset="-122"/>
                <a:ea typeface="黑体" pitchFamily="2" charset="-122"/>
                <a:hlinkClick r:id="rId3" action="ppaction://hlinksldjump"/>
              </a:rPr>
              <a:t>区位研究 </a:t>
            </a:r>
            <a:endParaRPr lang="zh-CN" altLang="en-US" dirty="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lnSpc>
                <a:spcPct val="135000"/>
              </a:lnSpc>
              <a:defRPr/>
            </a:pPr>
            <a:r>
              <a:rPr lang="zh-CN" altLang="en-US" dirty="0" smtClean="0">
                <a:latin typeface="黑体" pitchFamily="2" charset="-122"/>
                <a:ea typeface="黑体" pitchFamily="2" charset="-122"/>
                <a:hlinkClick r:id="rId4" action="ppaction://hlinksldjump"/>
              </a:rPr>
              <a:t>人地关系研究 </a:t>
            </a:r>
            <a:endParaRPr lang="zh-CN" altLang="en-US" dirty="0" smtClean="0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549275"/>
            <a:ext cx="8229600" cy="5903913"/>
          </a:xfrm>
        </p:spPr>
        <p:txBody>
          <a:bodyPr/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区域研究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主要代表人及观点</a:t>
            </a:r>
          </a:p>
          <a:p>
            <a:pPr lvl="2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瑞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.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惠特贝克（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Whitbeck R.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）和芬奇（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Finch V.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） </a:t>
            </a:r>
            <a:r>
              <a:rPr lang="en-US" altLang="zh-CN" dirty="0" smtClean="0">
                <a:ea typeface="黑体" pitchFamily="2" charset="-122"/>
              </a:rPr>
              <a:t>——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《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经济地理学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》 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，提出经济地理的核心组织思想是地域差异 </a:t>
            </a:r>
          </a:p>
          <a:p>
            <a:pPr lvl="2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理查德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.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哈特向（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Hartshorne R.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）的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《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地理学的性质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》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将区域研究视角系统化和正统化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特点</a:t>
            </a:r>
          </a:p>
          <a:p>
            <a:pPr lvl="2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重视野外调研 </a:t>
            </a:r>
          </a:p>
          <a:p>
            <a:pPr lvl="2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重视地方的综合（描述）研究 </a:t>
            </a:r>
          </a:p>
          <a:p>
            <a:pPr lvl="2" eaLnBrk="1" hangingPunct="1">
              <a:lnSpc>
                <a:spcPct val="120000"/>
              </a:lnSpc>
              <a:defRPr/>
            </a:pP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划分区域的拓扑学方法</a:t>
            </a:r>
            <a:r>
              <a:rPr lang="zh-CN" altLang="en-US" dirty="0" smtClean="0"/>
              <a:t>    </a:t>
            </a:r>
          </a:p>
        </p:txBody>
      </p:sp>
      <p:sp>
        <p:nvSpPr>
          <p:cNvPr id="16387" name="AutoShape 4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7812088" y="5949950"/>
            <a:ext cx="215900" cy="215900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115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1000"/>
                                        <p:tgtEl>
                                          <p:spTgt spid="115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1000"/>
                                        <p:tgtEl>
                                          <p:spTgt spid="115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1000"/>
                                        <p:tgtEl>
                                          <p:spTgt spid="1157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1000"/>
                                        <p:tgtEl>
                                          <p:spTgt spid="1157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1000"/>
                                        <p:tgtEl>
                                          <p:spTgt spid="1157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1000"/>
                                        <p:tgtEl>
                                          <p:spTgt spid="1157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1000"/>
                                        <p:tgtEl>
                                          <p:spTgt spid="1157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692150"/>
            <a:ext cx="8229600" cy="5759450"/>
          </a:xfrm>
        </p:spPr>
        <p:txBody>
          <a:bodyPr/>
          <a:lstStyle/>
          <a:p>
            <a:pPr eaLnBrk="1" hangingPunct="1">
              <a:lnSpc>
                <a:spcPct val="125000"/>
              </a:lnSpc>
              <a:defRPr/>
            </a:pP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区位研究</a:t>
            </a:r>
          </a:p>
          <a:p>
            <a:pPr lvl="1" eaLnBrk="1" hangingPunct="1">
              <a:lnSpc>
                <a:spcPct val="125000"/>
              </a:lnSpc>
              <a:defRPr/>
            </a:pP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代表人：</a:t>
            </a:r>
          </a:p>
          <a:p>
            <a:pPr lvl="2" eaLnBrk="1" hangingPunct="1">
              <a:lnSpc>
                <a:spcPct val="125000"/>
              </a:lnSpc>
              <a:defRPr/>
            </a:pP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杜能的农业区位论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1826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年、韦伯工业区位论（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1909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）、胡弗区位论（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1937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）、克里斯塔勒中心地理论（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1933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）和廖什的市场网络理论（</a:t>
            </a:r>
            <a:r>
              <a:rPr lang="en-US" altLang="zh-CN" dirty="0" smtClean="0">
                <a:latin typeface="黑体" pitchFamily="2" charset="-122"/>
                <a:ea typeface="黑体" pitchFamily="2" charset="-122"/>
              </a:rPr>
              <a:t>1940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）等</a:t>
            </a:r>
          </a:p>
          <a:p>
            <a:pPr lvl="1" eaLnBrk="1" hangingPunct="1">
              <a:lnSpc>
                <a:spcPct val="125000"/>
              </a:lnSpc>
              <a:defRPr/>
            </a:pP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共同点：</a:t>
            </a:r>
          </a:p>
          <a:p>
            <a:pPr lvl="2" eaLnBrk="1" hangingPunct="1">
              <a:lnSpc>
                <a:spcPct val="125000"/>
              </a:lnSpc>
              <a:defRPr/>
            </a:pP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研究抽象的世界，最基本的假设是</a:t>
            </a:r>
            <a:r>
              <a:rPr lang="zh-CN" altLang="en-US" dirty="0" smtClean="0">
                <a:ea typeface="黑体" pitchFamily="2" charset="-122"/>
              </a:rPr>
              <a:t>“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均质平原</a:t>
            </a:r>
            <a:r>
              <a:rPr lang="zh-CN" altLang="en-US" dirty="0" smtClean="0">
                <a:ea typeface="黑体" pitchFamily="2" charset="-122"/>
              </a:rPr>
              <a:t>”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和理性决策 </a:t>
            </a:r>
          </a:p>
          <a:p>
            <a:pPr lvl="2" eaLnBrk="1" hangingPunct="1">
              <a:lnSpc>
                <a:spcPct val="125000"/>
              </a:lnSpc>
              <a:defRPr/>
            </a:pP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核心思想是生产成本和运费成本的最低化，或者利润最大化     </a:t>
            </a:r>
          </a:p>
        </p:txBody>
      </p:sp>
      <p:sp>
        <p:nvSpPr>
          <p:cNvPr id="17411" name="AutoShape 4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7812088" y="5949950"/>
            <a:ext cx="215900" cy="215900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116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1000"/>
                                        <p:tgtEl>
                                          <p:spTgt spid="116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1000"/>
                                        <p:tgtEl>
                                          <p:spTgt spid="116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1000"/>
                                        <p:tgtEl>
                                          <p:spTgt spid="116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1000"/>
                                        <p:tgtEl>
                                          <p:spTgt spid="116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1000"/>
                                        <p:tgtEl>
                                          <p:spTgt spid="116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539750" y="333375"/>
            <a:ext cx="7920038" cy="6048375"/>
          </a:xfrm>
        </p:spPr>
        <p:txBody>
          <a:bodyPr/>
          <a:lstStyle/>
          <a:p>
            <a:pPr marL="609600" indent="-609600" eaLnBrk="1" hangingPunct="1">
              <a:lnSpc>
                <a:spcPct val="150000"/>
              </a:lnSpc>
              <a:defRPr/>
            </a:pPr>
            <a:r>
              <a:rPr lang="zh-CN" altLang="en-US" sz="2800" dirty="0" smtClean="0">
                <a:latin typeface="黑体" pitchFamily="2" charset="-122"/>
                <a:ea typeface="黑体" pitchFamily="2" charset="-122"/>
              </a:rPr>
              <a:t>人地关系研究</a:t>
            </a:r>
          </a:p>
          <a:p>
            <a:pPr marL="990600" lvl="1" indent="-533400" eaLnBrk="1" hangingPunct="1">
              <a:lnSpc>
                <a:spcPct val="150000"/>
              </a:lnSpc>
              <a:buFont typeface="Wingdings" pitchFamily="2" charset="2"/>
              <a:buAutoNum type="arabicPeriod"/>
              <a:defRPr/>
            </a:pPr>
            <a:r>
              <a:rPr lang="zh-CN" altLang="en-US" dirty="0" smtClean="0">
                <a:ea typeface="黑体" pitchFamily="2" charset="-122"/>
              </a:rPr>
              <a:t>地理环境决定论</a:t>
            </a:r>
          </a:p>
          <a:p>
            <a:pPr marL="1371600" lvl="2" indent="-457200" eaLnBrk="1" hangingPunct="1">
              <a:lnSpc>
                <a:spcPct val="150000"/>
              </a:lnSpc>
              <a:buClr>
                <a:srgbClr val="66FFFF"/>
              </a:buClr>
              <a:buFontTx/>
              <a:buChar char="•"/>
              <a:defRPr/>
            </a:pPr>
            <a:r>
              <a:rPr lang="zh-CN" altLang="en-US" sz="1800" dirty="0" smtClean="0">
                <a:solidFill>
                  <a:srgbClr val="99FFCC"/>
                </a:solidFill>
                <a:latin typeface="黑体" pitchFamily="2" charset="-122"/>
                <a:ea typeface="黑体" pitchFamily="2" charset="-122"/>
              </a:rPr>
              <a:t>孟德斯鸠、拉采尔（</a:t>
            </a:r>
            <a:r>
              <a:rPr lang="en-US" altLang="zh-CN" sz="1800" dirty="0" smtClean="0">
                <a:solidFill>
                  <a:srgbClr val="99FFCC"/>
                </a:solidFill>
                <a:latin typeface="黑体" pitchFamily="2" charset="-122"/>
                <a:ea typeface="黑体" pitchFamily="2" charset="-122"/>
              </a:rPr>
              <a:t>Friedrich Ratzel</a:t>
            </a:r>
            <a:r>
              <a:rPr lang="zh-CN" altLang="en-US" sz="1800" dirty="0" smtClean="0">
                <a:solidFill>
                  <a:srgbClr val="99FFCC"/>
                </a:solidFill>
                <a:latin typeface="黑体" pitchFamily="2" charset="-122"/>
                <a:ea typeface="黑体" pitchFamily="2" charset="-122"/>
              </a:rPr>
              <a:t>）、森普尔、亨丁顿等</a:t>
            </a:r>
            <a:endParaRPr lang="zh-CN" altLang="en-US" dirty="0" smtClean="0">
              <a:solidFill>
                <a:srgbClr val="99FFCC"/>
              </a:solidFill>
              <a:ea typeface="黑体" pitchFamily="2" charset="-122"/>
            </a:endParaRPr>
          </a:p>
          <a:p>
            <a:pPr marL="990600" lvl="1" indent="-533400" eaLnBrk="1" hangingPunct="1">
              <a:lnSpc>
                <a:spcPct val="150000"/>
              </a:lnSpc>
              <a:buFont typeface="Wingdings" pitchFamily="2" charset="2"/>
              <a:buAutoNum type="arabicPeriod"/>
              <a:defRPr/>
            </a:pPr>
            <a:r>
              <a:rPr lang="zh-CN" altLang="en-US" dirty="0" smtClean="0">
                <a:ea typeface="黑体" pitchFamily="2" charset="-122"/>
              </a:rPr>
              <a:t>地缘政治学</a:t>
            </a:r>
          </a:p>
          <a:p>
            <a:pPr marL="1371600" lvl="2" indent="-457200" eaLnBrk="1" hangingPunct="1">
              <a:lnSpc>
                <a:spcPct val="150000"/>
              </a:lnSpc>
              <a:buClr>
                <a:srgbClr val="66FFFF"/>
              </a:buClr>
              <a:buFontTx/>
              <a:buChar char="•"/>
              <a:defRPr/>
            </a:pPr>
            <a:r>
              <a:rPr lang="zh-CN" altLang="en-US" sz="2000" dirty="0" smtClean="0">
                <a:solidFill>
                  <a:srgbClr val="99FFCC"/>
                </a:solidFill>
                <a:latin typeface="黑体" pitchFamily="2" charset="-122"/>
                <a:ea typeface="黑体" pitchFamily="2" charset="-122"/>
              </a:rPr>
              <a:t>拉采尔、麦金德、豪斯霍菲尔等</a:t>
            </a:r>
            <a:endParaRPr lang="zh-CN" altLang="en-US" dirty="0" smtClean="0">
              <a:solidFill>
                <a:srgbClr val="99FFCC"/>
              </a:solidFill>
              <a:ea typeface="黑体" pitchFamily="2" charset="-122"/>
            </a:endParaRPr>
          </a:p>
          <a:p>
            <a:pPr marL="990600" lvl="1" indent="-533400" eaLnBrk="1" hangingPunct="1">
              <a:lnSpc>
                <a:spcPct val="150000"/>
              </a:lnSpc>
              <a:buFont typeface="Wingdings" pitchFamily="2" charset="2"/>
              <a:buAutoNum type="arabicPeriod"/>
              <a:defRPr/>
            </a:pPr>
            <a:r>
              <a:rPr lang="zh-CN" altLang="en-US" dirty="0" smtClean="0">
                <a:ea typeface="黑体" pitchFamily="2" charset="-122"/>
              </a:rPr>
              <a:t>人地相关论</a:t>
            </a:r>
          </a:p>
          <a:p>
            <a:pPr marL="1371600" lvl="2" indent="-457200" eaLnBrk="1" hangingPunct="1">
              <a:lnSpc>
                <a:spcPct val="150000"/>
              </a:lnSpc>
              <a:buFontTx/>
              <a:buChar char="•"/>
              <a:defRPr/>
            </a:pPr>
            <a:r>
              <a:rPr lang="zh-CN" altLang="en-US" sz="1800" dirty="0" smtClean="0">
                <a:solidFill>
                  <a:srgbClr val="99FFCC"/>
                </a:solidFill>
                <a:latin typeface="华文细黑"/>
                <a:ea typeface="黑体" pitchFamily="2" charset="-122"/>
              </a:rPr>
              <a:t>“</a:t>
            </a:r>
            <a:r>
              <a:rPr lang="zh-CN" altLang="en-US" sz="1800" dirty="0" smtClean="0">
                <a:solidFill>
                  <a:srgbClr val="99FFCC"/>
                </a:solidFill>
                <a:latin typeface="黑体" pitchFamily="2" charset="-122"/>
                <a:ea typeface="黑体" pitchFamily="2" charset="-122"/>
              </a:rPr>
              <a:t>或然论</a:t>
            </a:r>
            <a:r>
              <a:rPr lang="zh-CN" altLang="en-US" sz="1800" dirty="0" smtClean="0">
                <a:solidFill>
                  <a:srgbClr val="99FFCC"/>
                </a:solidFill>
                <a:latin typeface="华文细黑"/>
                <a:ea typeface="黑体" pitchFamily="2" charset="-122"/>
              </a:rPr>
              <a:t>”</a:t>
            </a:r>
            <a:r>
              <a:rPr lang="zh-CN" altLang="en-US" sz="1800" dirty="0" smtClean="0">
                <a:solidFill>
                  <a:srgbClr val="99FFCC"/>
                </a:solidFill>
                <a:latin typeface="黑体" pitchFamily="2" charset="-122"/>
                <a:ea typeface="黑体" pitchFamily="2" charset="-122"/>
              </a:rPr>
              <a:t>（以法国的白兰士和白吕纳为代表）</a:t>
            </a:r>
          </a:p>
          <a:p>
            <a:pPr marL="1371600" lvl="2" indent="-457200" eaLnBrk="1" hangingPunct="1">
              <a:lnSpc>
                <a:spcPct val="150000"/>
              </a:lnSpc>
              <a:buFontTx/>
              <a:buChar char="•"/>
              <a:defRPr/>
            </a:pPr>
            <a:r>
              <a:rPr lang="zh-CN" altLang="en-US" sz="1800" dirty="0" smtClean="0">
                <a:solidFill>
                  <a:srgbClr val="99FFCC"/>
                </a:solidFill>
                <a:latin typeface="黑体" pitchFamily="2" charset="-122"/>
                <a:ea typeface="黑体" pitchFamily="2" charset="-122"/>
              </a:rPr>
              <a:t>景观学派（以德国的赫特纳和巴沙格为代表） </a:t>
            </a:r>
          </a:p>
          <a:p>
            <a:pPr marL="1371600" lvl="2" indent="-457200" eaLnBrk="1" hangingPunct="1">
              <a:lnSpc>
                <a:spcPct val="150000"/>
              </a:lnSpc>
              <a:buFontTx/>
              <a:buChar char="•"/>
              <a:defRPr/>
            </a:pPr>
            <a:r>
              <a:rPr lang="zh-CN" altLang="en-US" sz="1800" dirty="0" smtClean="0">
                <a:solidFill>
                  <a:srgbClr val="99FFCC"/>
                </a:solidFill>
                <a:latin typeface="黑体" pitchFamily="2" charset="-122"/>
                <a:ea typeface="黑体" pitchFamily="2" charset="-122"/>
              </a:rPr>
              <a:t>文化景观学派（以美国的索尔为代表）</a:t>
            </a:r>
            <a:r>
              <a:rPr lang="zh-CN" altLang="en-US" sz="2000" dirty="0" smtClean="0">
                <a:solidFill>
                  <a:srgbClr val="99FFCC"/>
                </a:solidFill>
              </a:rPr>
              <a:t>  </a:t>
            </a:r>
            <a:endParaRPr lang="zh-CN" altLang="en-US" dirty="0" smtClean="0">
              <a:solidFill>
                <a:srgbClr val="99FFCC"/>
              </a:solidFill>
              <a:ea typeface="黑体" pitchFamily="2" charset="-122"/>
            </a:endParaRPr>
          </a:p>
          <a:p>
            <a:pPr marL="609600" indent="-609600" eaLnBrk="1" hangingPunct="1">
              <a:lnSpc>
                <a:spcPct val="135000"/>
              </a:lnSpc>
              <a:buFont typeface="Wingdings" pitchFamily="2" charset="2"/>
              <a:buNone/>
              <a:defRPr/>
            </a:pPr>
            <a:endParaRPr lang="en-US" altLang="zh-CN" sz="2800" dirty="0" smtClean="0">
              <a:solidFill>
                <a:srgbClr val="99FFCC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1177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1000"/>
                                        <p:tgtEl>
                                          <p:spTgt spid="1177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1000"/>
                                        <p:tgtEl>
                                          <p:spTgt spid="1177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1000"/>
                                        <p:tgtEl>
                                          <p:spTgt spid="1177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1000"/>
                                        <p:tgtEl>
                                          <p:spTgt spid="1177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1177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1000"/>
                                        <p:tgtEl>
                                          <p:spTgt spid="1177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1000"/>
                                        <p:tgtEl>
                                          <p:spTgt spid="1177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1000"/>
                                        <p:tgtEl>
                                          <p:spTgt spid="1177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三、二战后繁荣期的经济地理学</a:t>
            </a:r>
            <a:r>
              <a:rPr lang="zh-CN" altLang="en-US" dirty="0" smtClean="0"/>
              <a:t> 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76375" y="1628775"/>
            <a:ext cx="7488238" cy="4105275"/>
          </a:xfrm>
        </p:spPr>
        <p:txBody>
          <a:bodyPr/>
          <a:lstStyle/>
          <a:p>
            <a:pPr eaLnBrk="1" hangingPunct="1">
              <a:lnSpc>
                <a:spcPct val="175000"/>
              </a:lnSpc>
              <a:defRPr/>
            </a:pPr>
            <a:r>
              <a:rPr lang="zh-CN" altLang="en-US" sz="2800" b="1" dirty="0" smtClean="0">
                <a:latin typeface="Times New Roman" pitchFamily="18" charset="0"/>
                <a:ea typeface="黑体" pitchFamily="2" charset="-122"/>
                <a:hlinkClick r:id="rId2" action="ppaction://hlinksldjump"/>
              </a:rPr>
              <a:t>计量革命</a:t>
            </a:r>
            <a:r>
              <a:rPr lang="zh-CN" altLang="en-US" sz="2800" dirty="0" smtClean="0">
                <a:latin typeface="Times New Roman" pitchFamily="18" charset="0"/>
                <a:ea typeface="黑体" pitchFamily="2" charset="-122"/>
                <a:hlinkClick r:id="rId2" action="ppaction://hlinksldjump"/>
              </a:rPr>
              <a:t> </a:t>
            </a:r>
            <a:endParaRPr lang="zh-CN" altLang="en-US" sz="2800" dirty="0" smtClean="0">
              <a:latin typeface="Times New Roman" pitchFamily="18" charset="0"/>
              <a:ea typeface="黑体" pitchFamily="2" charset="-122"/>
            </a:endParaRPr>
          </a:p>
          <a:p>
            <a:pPr eaLnBrk="1" hangingPunct="1">
              <a:lnSpc>
                <a:spcPct val="175000"/>
              </a:lnSpc>
              <a:defRPr/>
            </a:pPr>
            <a:r>
              <a:rPr lang="zh-CN" altLang="en-US" sz="2800" b="1" dirty="0" smtClean="0">
                <a:latin typeface="Times New Roman" pitchFamily="18" charset="0"/>
                <a:ea typeface="黑体" pitchFamily="2" charset="-122"/>
              </a:rPr>
              <a:t>企业（公司）地理</a:t>
            </a:r>
          </a:p>
          <a:p>
            <a:pPr lvl="1" eaLnBrk="1" hangingPunct="1">
              <a:lnSpc>
                <a:spcPct val="175000"/>
              </a:lnSpc>
              <a:defRPr/>
            </a:pPr>
            <a:r>
              <a:rPr lang="zh-CN" altLang="en-US" sz="2400" dirty="0" smtClean="0">
                <a:latin typeface="Times New Roman" pitchFamily="18" charset="0"/>
                <a:ea typeface="黑体" pitchFamily="2" charset="-122"/>
              </a:rPr>
              <a:t>麦克尼（</a:t>
            </a:r>
            <a:r>
              <a:rPr lang="en-US" altLang="zh-CN" sz="2400" dirty="0" smtClean="0">
                <a:latin typeface="Times New Roman" pitchFamily="18" charset="0"/>
                <a:ea typeface="黑体" pitchFamily="2" charset="-122"/>
              </a:rPr>
              <a:t>McNee R</a:t>
            </a:r>
            <a:r>
              <a:rPr lang="zh-CN" altLang="en-US" sz="2400" dirty="0" smtClean="0">
                <a:latin typeface="Times New Roman" pitchFamily="18" charset="0"/>
                <a:ea typeface="黑体" pitchFamily="2" charset="-122"/>
              </a:rPr>
              <a:t>），公司地理（</a:t>
            </a:r>
            <a:r>
              <a:rPr lang="en-US" altLang="zh-CN" sz="2400" dirty="0" smtClean="0">
                <a:latin typeface="Times New Roman" pitchFamily="18" charset="0"/>
                <a:ea typeface="黑体" pitchFamily="2" charset="-122"/>
              </a:rPr>
              <a:t>Corporate Geography</a:t>
            </a:r>
            <a:r>
              <a:rPr lang="zh-CN" altLang="en-US" sz="2400" dirty="0" smtClean="0">
                <a:latin typeface="Times New Roman" pitchFamily="18" charset="0"/>
                <a:ea typeface="黑体" pitchFamily="2" charset="-122"/>
              </a:rPr>
              <a:t>）   </a:t>
            </a:r>
          </a:p>
          <a:p>
            <a:pPr eaLnBrk="1" hangingPunct="1">
              <a:lnSpc>
                <a:spcPct val="175000"/>
              </a:lnSpc>
              <a:defRPr/>
            </a:pPr>
            <a:r>
              <a:rPr lang="zh-CN" altLang="en-US" sz="2800" b="1" dirty="0" smtClean="0">
                <a:latin typeface="Times New Roman" pitchFamily="18" charset="0"/>
                <a:ea typeface="黑体" pitchFamily="2" charset="-122"/>
                <a:hlinkClick r:id="rId3" action="ppaction://hlinksldjump"/>
              </a:rPr>
              <a:t>行为地理学</a:t>
            </a:r>
            <a:r>
              <a:rPr lang="zh-CN" altLang="en-US" sz="2800" dirty="0" smtClean="0">
                <a:latin typeface="Times New Roman" pitchFamily="18" charset="0"/>
                <a:ea typeface="黑体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549275"/>
            <a:ext cx="8229600" cy="5832475"/>
          </a:xfrm>
        </p:spPr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sz="2800" b="1" dirty="0" smtClean="0">
                <a:latin typeface="Times New Roman" pitchFamily="18" charset="0"/>
                <a:ea typeface="黑体" pitchFamily="2" charset="-122"/>
              </a:rPr>
              <a:t>计量革命</a:t>
            </a:r>
            <a:endParaRPr lang="zh-CN" altLang="en-US" sz="2800" dirty="0" smtClean="0">
              <a:latin typeface="Times New Roman" pitchFamily="18" charset="0"/>
              <a:ea typeface="黑体" pitchFamily="2" charset="-122"/>
            </a:endParaRP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400" dirty="0" smtClean="0">
                <a:latin typeface="Times New Roman" pitchFamily="18" charset="0"/>
                <a:ea typeface="黑体" pitchFamily="2" charset="-122"/>
              </a:rPr>
              <a:t>背景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400" dirty="0" smtClean="0">
                <a:latin typeface="Times New Roman" pitchFamily="18" charset="0"/>
                <a:ea typeface="黑体" pitchFamily="2" charset="-122"/>
              </a:rPr>
              <a:t>主要代表人及观点</a:t>
            </a:r>
          </a:p>
          <a:p>
            <a:pPr lvl="2" eaLnBrk="1" hangingPunct="1">
              <a:lnSpc>
                <a:spcPct val="110000"/>
              </a:lnSpc>
              <a:defRPr/>
            </a:pPr>
            <a:r>
              <a:rPr lang="zh-CN" altLang="en-US" sz="2000" dirty="0" smtClean="0">
                <a:latin typeface="Times New Roman" pitchFamily="18" charset="0"/>
                <a:ea typeface="黑体" pitchFamily="2" charset="-122"/>
              </a:rPr>
              <a:t>弗雷德</a:t>
            </a:r>
            <a:r>
              <a:rPr lang="en-US" altLang="zh-CN" sz="2000" dirty="0" smtClean="0">
                <a:latin typeface="Times New Roman" pitchFamily="18" charset="0"/>
                <a:ea typeface="黑体" pitchFamily="2" charset="-122"/>
              </a:rPr>
              <a:t>.</a:t>
            </a:r>
            <a:r>
              <a:rPr lang="zh-CN" altLang="en-US" sz="2000" dirty="0" smtClean="0">
                <a:latin typeface="Times New Roman" pitchFamily="18" charset="0"/>
                <a:ea typeface="黑体" pitchFamily="2" charset="-122"/>
              </a:rPr>
              <a:t>谢弗（</a:t>
            </a:r>
            <a:r>
              <a:rPr lang="en-US" altLang="zh-CN" sz="2000" dirty="0" smtClean="0">
                <a:latin typeface="Times New Roman" pitchFamily="18" charset="0"/>
                <a:ea typeface="黑体" pitchFamily="2" charset="-122"/>
              </a:rPr>
              <a:t>Shaeffer F.K.</a:t>
            </a:r>
            <a:r>
              <a:rPr lang="zh-CN" altLang="en-US" sz="2000" dirty="0" smtClean="0">
                <a:latin typeface="Times New Roman" pitchFamily="18" charset="0"/>
                <a:ea typeface="黑体" pitchFamily="2" charset="-122"/>
              </a:rPr>
              <a:t>）， “地理学中的例外论” </a:t>
            </a:r>
            <a:r>
              <a:rPr lang="en-US" altLang="zh-CN" sz="2000" dirty="0" smtClean="0">
                <a:latin typeface="Times New Roman" pitchFamily="18" charset="0"/>
                <a:ea typeface="黑体" pitchFamily="2" charset="-122"/>
              </a:rPr>
              <a:t>——</a:t>
            </a:r>
            <a:r>
              <a:rPr lang="zh-CN" altLang="en-US" sz="2000" dirty="0" smtClean="0">
                <a:latin typeface="Times New Roman" pitchFamily="18" charset="0"/>
                <a:ea typeface="黑体" pitchFamily="2" charset="-122"/>
              </a:rPr>
              <a:t>空间科学</a:t>
            </a:r>
          </a:p>
          <a:p>
            <a:pPr lvl="2" eaLnBrk="1" hangingPunct="1">
              <a:lnSpc>
                <a:spcPct val="110000"/>
              </a:lnSpc>
              <a:defRPr/>
            </a:pPr>
            <a:r>
              <a:rPr lang="zh-CN" altLang="en-US" sz="2000" dirty="0" smtClean="0">
                <a:latin typeface="Times New Roman" pitchFamily="18" charset="0"/>
                <a:ea typeface="黑体" pitchFamily="2" charset="-122"/>
              </a:rPr>
              <a:t>爱德华</a:t>
            </a:r>
            <a:r>
              <a:rPr lang="en-US" altLang="zh-CN" sz="2000" dirty="0" smtClean="0">
                <a:latin typeface="Times New Roman" pitchFamily="18" charset="0"/>
                <a:ea typeface="黑体" pitchFamily="2" charset="-122"/>
              </a:rPr>
              <a:t>.</a:t>
            </a:r>
            <a:r>
              <a:rPr lang="zh-CN" altLang="en-US" sz="2000" dirty="0" smtClean="0">
                <a:latin typeface="Times New Roman" pitchFamily="18" charset="0"/>
                <a:ea typeface="黑体" pitchFamily="2" charset="-122"/>
              </a:rPr>
              <a:t>乌尔曼（</a:t>
            </a:r>
            <a:r>
              <a:rPr lang="en-US" altLang="zh-CN" sz="2000" dirty="0" smtClean="0">
                <a:latin typeface="Times New Roman" pitchFamily="18" charset="0"/>
                <a:ea typeface="黑体" pitchFamily="2" charset="-122"/>
              </a:rPr>
              <a:t>Edward Ullman</a:t>
            </a:r>
            <a:r>
              <a:rPr lang="zh-CN" altLang="en-US" sz="2000" dirty="0" smtClean="0">
                <a:latin typeface="Times New Roman" pitchFamily="18" charset="0"/>
                <a:ea typeface="黑体" pitchFamily="2" charset="-122"/>
              </a:rPr>
              <a:t>）和威廉</a:t>
            </a:r>
            <a:r>
              <a:rPr lang="en-US" altLang="zh-CN" sz="2000" dirty="0" smtClean="0">
                <a:latin typeface="Times New Roman" pitchFamily="18" charset="0"/>
                <a:ea typeface="黑体" pitchFamily="2" charset="-122"/>
              </a:rPr>
              <a:t>.</a:t>
            </a:r>
            <a:r>
              <a:rPr lang="zh-CN" altLang="en-US" sz="2000" dirty="0" smtClean="0">
                <a:latin typeface="Times New Roman" pitchFamily="18" charset="0"/>
                <a:ea typeface="黑体" pitchFamily="2" charset="-122"/>
              </a:rPr>
              <a:t>加里森（</a:t>
            </a:r>
            <a:r>
              <a:rPr lang="en-US" altLang="zh-CN" sz="2000" dirty="0" smtClean="0">
                <a:latin typeface="Times New Roman" pitchFamily="18" charset="0"/>
                <a:ea typeface="黑体" pitchFamily="2" charset="-122"/>
              </a:rPr>
              <a:t>William Garrison</a:t>
            </a:r>
            <a:r>
              <a:rPr lang="zh-CN" altLang="en-US" sz="2000" dirty="0" smtClean="0">
                <a:latin typeface="Times New Roman" pitchFamily="18" charset="0"/>
                <a:ea typeface="黑体" pitchFamily="2" charset="-122"/>
              </a:rPr>
              <a:t>），以及他们的后辈和学生布莱恩</a:t>
            </a:r>
            <a:r>
              <a:rPr lang="en-US" altLang="zh-CN" sz="2000" dirty="0" smtClean="0">
                <a:latin typeface="Times New Roman" pitchFamily="18" charset="0"/>
                <a:ea typeface="黑体" pitchFamily="2" charset="-122"/>
              </a:rPr>
              <a:t>.</a:t>
            </a:r>
            <a:r>
              <a:rPr lang="zh-CN" altLang="en-US" sz="2000" dirty="0" smtClean="0">
                <a:latin typeface="Times New Roman" pitchFamily="18" charset="0"/>
                <a:ea typeface="黑体" pitchFamily="2" charset="-122"/>
              </a:rPr>
              <a:t>贝里（</a:t>
            </a:r>
            <a:r>
              <a:rPr lang="en-US" altLang="zh-CN" sz="2000" dirty="0" smtClean="0">
                <a:latin typeface="Times New Roman" pitchFamily="18" charset="0"/>
                <a:ea typeface="黑体" pitchFamily="2" charset="-122"/>
              </a:rPr>
              <a:t>Brain Berry</a:t>
            </a:r>
            <a:r>
              <a:rPr lang="zh-CN" altLang="en-US" sz="2000" dirty="0" smtClean="0">
                <a:latin typeface="Times New Roman" pitchFamily="18" charset="0"/>
                <a:ea typeface="黑体" pitchFamily="2" charset="-122"/>
              </a:rPr>
              <a:t>）、杜南</a:t>
            </a:r>
            <a:r>
              <a:rPr lang="en-US" altLang="zh-CN" sz="2000" dirty="0" smtClean="0">
                <a:latin typeface="Times New Roman" pitchFamily="18" charset="0"/>
                <a:ea typeface="黑体" pitchFamily="2" charset="-122"/>
              </a:rPr>
              <a:t>.</a:t>
            </a:r>
            <a:r>
              <a:rPr lang="zh-CN" altLang="en-US" sz="2000" dirty="0" smtClean="0">
                <a:latin typeface="Times New Roman" pitchFamily="18" charset="0"/>
                <a:ea typeface="黑体" pitchFamily="2" charset="-122"/>
              </a:rPr>
              <a:t>马普（</a:t>
            </a:r>
            <a:r>
              <a:rPr lang="en-US" altLang="zh-CN" sz="2000" dirty="0" smtClean="0">
                <a:latin typeface="Times New Roman" pitchFamily="18" charset="0"/>
                <a:ea typeface="黑体" pitchFamily="2" charset="-122"/>
              </a:rPr>
              <a:t>Duane Marble</a:t>
            </a:r>
            <a:r>
              <a:rPr lang="zh-CN" altLang="en-US" sz="2000" dirty="0" smtClean="0">
                <a:latin typeface="Times New Roman" pitchFamily="18" charset="0"/>
                <a:ea typeface="黑体" pitchFamily="2" charset="-122"/>
              </a:rPr>
              <a:t>）、威廉</a:t>
            </a:r>
            <a:r>
              <a:rPr lang="en-US" altLang="zh-CN" sz="2000" dirty="0" smtClean="0">
                <a:latin typeface="Times New Roman" pitchFamily="18" charset="0"/>
                <a:ea typeface="黑体" pitchFamily="2" charset="-122"/>
              </a:rPr>
              <a:t>.</a:t>
            </a:r>
            <a:r>
              <a:rPr lang="zh-CN" altLang="en-US" sz="2000" dirty="0" smtClean="0">
                <a:latin typeface="Times New Roman" pitchFamily="18" charset="0"/>
                <a:ea typeface="黑体" pitchFamily="2" charset="-122"/>
              </a:rPr>
              <a:t>邦格（</a:t>
            </a:r>
            <a:r>
              <a:rPr lang="en-US" altLang="zh-CN" sz="2000" dirty="0" smtClean="0">
                <a:latin typeface="Times New Roman" pitchFamily="18" charset="0"/>
                <a:ea typeface="黑体" pitchFamily="2" charset="-122"/>
              </a:rPr>
              <a:t>William Bungee</a:t>
            </a:r>
            <a:r>
              <a:rPr lang="zh-CN" altLang="en-US" sz="2000" dirty="0" smtClean="0">
                <a:latin typeface="Times New Roman" pitchFamily="18" charset="0"/>
                <a:ea typeface="黑体" pitchFamily="2" charset="-122"/>
              </a:rPr>
              <a:t>）、瓦多</a:t>
            </a:r>
            <a:r>
              <a:rPr lang="en-US" altLang="zh-CN" sz="2000" dirty="0" smtClean="0">
                <a:latin typeface="Times New Roman" pitchFamily="18" charset="0"/>
                <a:ea typeface="黑体" pitchFamily="2" charset="-122"/>
              </a:rPr>
              <a:t>.</a:t>
            </a:r>
            <a:r>
              <a:rPr lang="zh-CN" altLang="en-US" sz="2000" dirty="0" smtClean="0">
                <a:latin typeface="Times New Roman" pitchFamily="18" charset="0"/>
                <a:ea typeface="黑体" pitchFamily="2" charset="-122"/>
              </a:rPr>
              <a:t>托布勒（</a:t>
            </a:r>
            <a:r>
              <a:rPr lang="en-US" altLang="zh-CN" sz="2000" dirty="0" smtClean="0">
                <a:latin typeface="Times New Roman" pitchFamily="18" charset="0"/>
                <a:ea typeface="黑体" pitchFamily="2" charset="-122"/>
              </a:rPr>
              <a:t>Waldo Tobler</a:t>
            </a:r>
            <a:r>
              <a:rPr lang="zh-CN" altLang="en-US" sz="2000" dirty="0" smtClean="0">
                <a:latin typeface="Times New Roman" pitchFamily="18" charset="0"/>
                <a:ea typeface="黑体" pitchFamily="2" charset="-122"/>
              </a:rPr>
              <a:t>）、爱德华</a:t>
            </a:r>
            <a:r>
              <a:rPr lang="en-US" altLang="zh-CN" sz="2000" dirty="0" smtClean="0">
                <a:latin typeface="Times New Roman" pitchFamily="18" charset="0"/>
                <a:ea typeface="黑体" pitchFamily="2" charset="-122"/>
              </a:rPr>
              <a:t>.</a:t>
            </a:r>
            <a:r>
              <a:rPr lang="zh-CN" altLang="en-US" sz="2000" dirty="0" smtClean="0">
                <a:latin typeface="Times New Roman" pitchFamily="18" charset="0"/>
                <a:ea typeface="黑体" pitchFamily="2" charset="-122"/>
              </a:rPr>
              <a:t>塔菲（</a:t>
            </a:r>
            <a:r>
              <a:rPr lang="en-US" altLang="zh-CN" sz="2000" dirty="0" smtClean="0">
                <a:latin typeface="Times New Roman" pitchFamily="18" charset="0"/>
                <a:ea typeface="黑体" pitchFamily="2" charset="-122"/>
              </a:rPr>
              <a:t>Edward Taafe</a:t>
            </a:r>
            <a:r>
              <a:rPr lang="zh-CN" altLang="en-US" sz="2000" dirty="0" smtClean="0">
                <a:latin typeface="Times New Roman" pitchFamily="18" charset="0"/>
                <a:ea typeface="黑体" pitchFamily="2" charset="-122"/>
              </a:rPr>
              <a:t>）等 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zh-CN" altLang="en-US" sz="2400" dirty="0" smtClean="0">
                <a:latin typeface="Times New Roman" pitchFamily="18" charset="0"/>
                <a:ea typeface="黑体" pitchFamily="2" charset="-122"/>
              </a:rPr>
              <a:t>作用</a:t>
            </a:r>
          </a:p>
          <a:p>
            <a:pPr lvl="2" eaLnBrk="1" hangingPunct="1">
              <a:lnSpc>
                <a:spcPct val="110000"/>
              </a:lnSpc>
              <a:defRPr/>
            </a:pPr>
            <a:r>
              <a:rPr lang="zh-CN" altLang="en-US" sz="2000" dirty="0" smtClean="0">
                <a:latin typeface="Times New Roman" pitchFamily="18" charset="0"/>
                <a:ea typeface="黑体" pitchFamily="2" charset="-122"/>
              </a:rPr>
              <a:t>学术地位提升</a:t>
            </a:r>
          </a:p>
          <a:p>
            <a:pPr lvl="2" eaLnBrk="1" hangingPunct="1">
              <a:lnSpc>
                <a:spcPct val="110000"/>
              </a:lnSpc>
              <a:defRPr/>
            </a:pPr>
            <a:r>
              <a:rPr lang="zh-CN" altLang="en-US" sz="2000" dirty="0" smtClean="0">
                <a:latin typeface="Times New Roman" pitchFamily="18" charset="0"/>
                <a:ea typeface="黑体" pitchFamily="2" charset="-122"/>
              </a:rPr>
              <a:t>使经济地理学从一个研究真实世界的学科转向研究抽象世界</a:t>
            </a:r>
          </a:p>
          <a:p>
            <a:pPr lvl="2" eaLnBrk="1" hangingPunct="1">
              <a:lnSpc>
                <a:spcPct val="110000"/>
              </a:lnSpc>
              <a:defRPr/>
            </a:pPr>
            <a:r>
              <a:rPr lang="en-US" altLang="zh-CN" sz="2000" dirty="0" smtClean="0">
                <a:latin typeface="Times New Roman" pitchFamily="18" charset="0"/>
                <a:ea typeface="黑体" pitchFamily="2" charset="-122"/>
              </a:rPr>
              <a:t>20</a:t>
            </a:r>
            <a:r>
              <a:rPr lang="zh-CN" altLang="en-US" sz="2000" dirty="0" smtClean="0">
                <a:latin typeface="Times New Roman" pitchFamily="18" charset="0"/>
                <a:ea typeface="黑体" pitchFamily="2" charset="-122"/>
              </a:rPr>
              <a:t>世纪</a:t>
            </a:r>
            <a:r>
              <a:rPr lang="en-US" altLang="zh-CN" sz="2000" dirty="0" smtClean="0">
                <a:latin typeface="Times New Roman" pitchFamily="18" charset="0"/>
                <a:ea typeface="黑体" pitchFamily="2" charset="-122"/>
              </a:rPr>
              <a:t>60</a:t>
            </a:r>
            <a:r>
              <a:rPr lang="zh-CN" altLang="en-US" sz="2000" dirty="0" smtClean="0">
                <a:latin typeface="Times New Roman" pitchFamily="18" charset="0"/>
                <a:ea typeface="黑体" pitchFamily="2" charset="-122"/>
              </a:rPr>
              <a:t>年代后期，计量革命的影响达到了顶峰    </a:t>
            </a:r>
          </a:p>
        </p:txBody>
      </p:sp>
      <p:sp>
        <p:nvSpPr>
          <p:cNvPr id="20483" name="AutoShape 4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8316913" y="6237288"/>
            <a:ext cx="215900" cy="215900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119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1000"/>
                                        <p:tgtEl>
                                          <p:spTgt spid="119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1000"/>
                                        <p:tgtEl>
                                          <p:spTgt spid="119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1000"/>
                                        <p:tgtEl>
                                          <p:spTgt spid="119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1000"/>
                                        <p:tgtEl>
                                          <p:spTgt spid="119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1000"/>
                                        <p:tgtEl>
                                          <p:spTgt spid="119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1000"/>
                                        <p:tgtEl>
                                          <p:spTgt spid="119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1000"/>
                                        <p:tgtEl>
                                          <p:spTgt spid="1198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198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990600"/>
          </a:xfrm>
        </p:spPr>
        <p:txBody>
          <a:bodyPr/>
          <a:lstStyle/>
          <a:p>
            <a:pPr algn="l" eaLnBrk="1" hangingPunct="1">
              <a:buClr>
                <a:srgbClr val="FF3300"/>
              </a:buClr>
              <a:buSzPct val="65000"/>
              <a:buFont typeface="Wingdings" pitchFamily="2" charset="2"/>
              <a:buChar char="n"/>
              <a:defRPr/>
            </a:pPr>
            <a:r>
              <a:rPr lang="zh-CN" altLang="en-US" sz="4000" smtClean="0">
                <a:solidFill>
                  <a:srgbClr val="FFFF00"/>
                </a:solidFill>
                <a:ea typeface="黑体" pitchFamily="2" charset="-122"/>
              </a:rPr>
              <a:t>行为与感应地理学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9613" y="1341438"/>
            <a:ext cx="6202362" cy="4818062"/>
          </a:xfrm>
        </p:spPr>
        <p:txBody>
          <a:bodyPr/>
          <a:lstStyle/>
          <a:p>
            <a:pPr marL="609600" indent="-609600" eaLnBrk="1" hangingPunct="1">
              <a:lnSpc>
                <a:spcPct val="125000"/>
              </a:lnSpc>
              <a:buFont typeface="Wingdings" pitchFamily="2" charset="2"/>
              <a:buChar char="Ø"/>
              <a:defRPr/>
            </a:pPr>
            <a:r>
              <a:rPr lang="zh-CN" altLang="en-US" sz="3600" dirty="0" smtClean="0">
                <a:latin typeface="黑体" pitchFamily="2" charset="-122"/>
                <a:ea typeface="黑体" pitchFamily="2" charset="-122"/>
              </a:rPr>
              <a:t>主要代表人</a:t>
            </a:r>
          </a:p>
          <a:p>
            <a:pPr marL="990600" lvl="1" indent="-533400" eaLnBrk="1" hangingPunct="1"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zh-CN" altLang="en-US" sz="2400" dirty="0" smtClean="0">
                <a:latin typeface="Times New Roman" pitchFamily="18" charset="0"/>
                <a:ea typeface="黑体" pitchFamily="2" charset="-122"/>
              </a:rPr>
              <a:t>彼得</a:t>
            </a:r>
            <a:r>
              <a:rPr lang="en-US" altLang="zh-CN" sz="2400" dirty="0" smtClean="0">
                <a:latin typeface="Times New Roman" pitchFamily="18" charset="0"/>
                <a:ea typeface="黑体" pitchFamily="2" charset="-122"/>
              </a:rPr>
              <a:t>.</a:t>
            </a:r>
            <a:r>
              <a:rPr lang="zh-CN" altLang="en-US" sz="2400" dirty="0" smtClean="0">
                <a:latin typeface="Times New Roman" pitchFamily="18" charset="0"/>
                <a:ea typeface="黑体" pitchFamily="2" charset="-122"/>
              </a:rPr>
              <a:t>古尔德（</a:t>
            </a:r>
            <a:r>
              <a:rPr lang="en-US" altLang="zh-CN" sz="2400" dirty="0" smtClean="0">
                <a:latin typeface="Times New Roman" pitchFamily="18" charset="0"/>
                <a:ea typeface="黑体" pitchFamily="2" charset="-122"/>
              </a:rPr>
              <a:t>Peter Gould</a:t>
            </a:r>
            <a:r>
              <a:rPr lang="zh-CN" altLang="en-US" sz="2400" dirty="0" smtClean="0">
                <a:latin typeface="Times New Roman" pitchFamily="18" charset="0"/>
                <a:ea typeface="黑体" pitchFamily="2" charset="-122"/>
              </a:rPr>
              <a:t>）</a:t>
            </a:r>
          </a:p>
          <a:p>
            <a:pPr marL="990600" lvl="1" indent="-533400" eaLnBrk="1" hangingPunct="1"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zh-CN" altLang="en-US" sz="2400" dirty="0" smtClean="0">
                <a:latin typeface="Times New Roman" pitchFamily="18" charset="0"/>
                <a:ea typeface="黑体" pitchFamily="2" charset="-122"/>
              </a:rPr>
              <a:t>普莱德（</a:t>
            </a:r>
            <a:r>
              <a:rPr lang="en-US" altLang="zh-CN" sz="2400" dirty="0" smtClean="0">
                <a:latin typeface="Times New Roman" pitchFamily="18" charset="0"/>
                <a:ea typeface="黑体" pitchFamily="2" charset="-122"/>
              </a:rPr>
              <a:t>Pred A.</a:t>
            </a:r>
            <a:r>
              <a:rPr lang="zh-CN" altLang="en-US" sz="2400" dirty="0" smtClean="0">
                <a:latin typeface="Times New Roman" pitchFamily="18" charset="0"/>
                <a:ea typeface="黑体" pitchFamily="2" charset="-122"/>
              </a:rPr>
              <a:t>）  </a:t>
            </a:r>
            <a:endParaRPr lang="zh-CN" altLang="en-US" sz="3200" dirty="0" smtClean="0">
              <a:latin typeface="Times New Roman" pitchFamily="18" charset="0"/>
              <a:ea typeface="黑体" pitchFamily="2" charset="-122"/>
            </a:endParaRPr>
          </a:p>
          <a:p>
            <a:pPr marL="609600" indent="-609600" eaLnBrk="1" hangingPunct="1">
              <a:lnSpc>
                <a:spcPct val="125000"/>
              </a:lnSpc>
              <a:buFont typeface="Wingdings" pitchFamily="2" charset="2"/>
              <a:buChar char="Ø"/>
              <a:defRPr/>
            </a:pPr>
            <a:r>
              <a:rPr lang="zh-CN" altLang="en-US" sz="3600" dirty="0" smtClean="0">
                <a:latin typeface="黑体" pitchFamily="2" charset="-122"/>
                <a:ea typeface="黑体" pitchFamily="2" charset="-122"/>
              </a:rPr>
              <a:t>研究内容</a:t>
            </a:r>
          </a:p>
          <a:p>
            <a:pPr marL="609600" indent="-609600" eaLnBrk="1" hangingPunct="1"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zh-CN" altLang="en-US" sz="3600" dirty="0" smtClean="0">
                <a:latin typeface="黑体" pitchFamily="2" charset="-122"/>
                <a:ea typeface="黑体" pitchFamily="2" charset="-122"/>
              </a:rPr>
              <a:t>   </a:t>
            </a:r>
            <a:r>
              <a:rPr lang="zh-CN" altLang="en-US" sz="2800" dirty="0" smtClean="0">
                <a:latin typeface="黑体" pitchFamily="2" charset="-122"/>
                <a:ea typeface="黑体" pitchFamily="2" charset="-122"/>
                <a:hlinkClick r:id="rId2" action="ppaction://hlinksldjump"/>
              </a:rPr>
              <a:t>决策者的行为</a:t>
            </a:r>
            <a:endParaRPr lang="zh-CN" altLang="en-US" sz="2800" dirty="0" smtClean="0">
              <a:latin typeface="黑体" pitchFamily="2" charset="-122"/>
              <a:ea typeface="黑体" pitchFamily="2" charset="-122"/>
            </a:endParaRPr>
          </a:p>
          <a:p>
            <a:pPr marL="609600" indent="-609600" eaLnBrk="1" hangingPunct="1"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zh-CN" altLang="en-US" sz="2800" dirty="0" smtClean="0">
                <a:latin typeface="黑体" pitchFamily="2" charset="-122"/>
                <a:ea typeface="黑体" pitchFamily="2" charset="-122"/>
              </a:rPr>
              <a:t>    被雇佣者的行为</a:t>
            </a:r>
          </a:p>
          <a:p>
            <a:pPr marL="609600" indent="-609600" eaLnBrk="1" hangingPunct="1"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zh-CN" altLang="en-US" sz="2800" dirty="0" smtClean="0">
                <a:latin typeface="黑体" pitchFamily="2" charset="-122"/>
                <a:ea typeface="黑体" pitchFamily="2" charset="-122"/>
              </a:rPr>
              <a:t>    消费者的行为</a:t>
            </a:r>
          </a:p>
          <a:p>
            <a:pPr marL="609600" indent="-609600" eaLnBrk="1" hangingPunct="1">
              <a:defRPr/>
            </a:pPr>
            <a:endParaRPr lang="en-US" altLang="zh-CN" sz="3600" dirty="0" smtClean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1508" name="AutoShape 4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7812088" y="5949950"/>
            <a:ext cx="360362" cy="2159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00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8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8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8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8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88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88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5"/>
          <p:cNvSpPr txBox="1">
            <a:spLocks noChangeArrowheads="1"/>
          </p:cNvSpPr>
          <p:nvPr/>
        </p:nvSpPr>
        <p:spPr bwMode="auto">
          <a:xfrm>
            <a:off x="755650" y="1412875"/>
            <a:ext cx="792163" cy="4608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/>
          <a:lstStyle/>
          <a:p>
            <a:r>
              <a:rPr lang="zh-CN" altLang="en-US" sz="240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信息的数量与质量趋向于完备的知识</a:t>
            </a:r>
            <a:endParaRPr lang="zh-CN" altLang="en-US" sz="2400">
              <a:ea typeface="黑体" pitchFamily="49" charset="-122"/>
              <a:cs typeface="Times New Roman" pitchFamily="18" charset="0"/>
            </a:endParaRPr>
          </a:p>
          <a:p>
            <a:pPr eaLnBrk="0" hangingPunct="0"/>
            <a:endParaRPr lang="en-US" altLang="zh-CN" sz="2400"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22531" name="Line 4"/>
          <p:cNvSpPr>
            <a:spLocks noChangeShapeType="1"/>
          </p:cNvSpPr>
          <p:nvPr/>
        </p:nvSpPr>
        <p:spPr bwMode="auto">
          <a:xfrm>
            <a:off x="827088" y="2276475"/>
            <a:ext cx="0" cy="2447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532" name="Rectangle 6"/>
          <p:cNvSpPr>
            <a:spLocks noChangeArrowheads="1"/>
          </p:cNvSpPr>
          <p:nvPr/>
        </p:nvSpPr>
        <p:spPr bwMode="auto">
          <a:xfrm>
            <a:off x="2700338" y="476250"/>
            <a:ext cx="4751387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sz="120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zh-CN" altLang="en-US" sz="240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运用信息的能力趋向于最优解</a:t>
            </a:r>
            <a:endParaRPr lang="zh-CN" altLang="en-US" sz="2400">
              <a:ea typeface="黑体" pitchFamily="49" charset="-122"/>
            </a:endParaRPr>
          </a:p>
          <a:p>
            <a:pPr eaLnBrk="0" hangingPunct="0"/>
            <a:endParaRPr lang="en-US" altLang="zh-CN" sz="2400">
              <a:ea typeface="黑体" pitchFamily="49" charset="-122"/>
            </a:endParaRPr>
          </a:p>
        </p:txBody>
      </p:sp>
      <p:sp>
        <p:nvSpPr>
          <p:cNvPr id="22533" name="Rectangle 8"/>
          <p:cNvSpPr>
            <a:spLocks noChangeArrowheads="1"/>
          </p:cNvSpPr>
          <p:nvPr/>
        </p:nvSpPr>
        <p:spPr bwMode="auto">
          <a:xfrm>
            <a:off x="2124075" y="1412875"/>
            <a:ext cx="5830888" cy="228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tabLst>
                <a:tab pos="400050" algn="l"/>
              </a:tabLst>
            </a:pP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B11   B12   B13   B14  </a:t>
            </a:r>
            <a:r>
              <a:rPr lang="en-US" altLang="zh-CN" sz="2400">
                <a:cs typeface="Times New Roman" pitchFamily="18" charset="0"/>
              </a:rPr>
              <a:t>……………</a:t>
            </a: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  B1n</a:t>
            </a:r>
            <a:endParaRPr lang="en-US" altLang="zh-CN" sz="2400"/>
          </a:p>
          <a:p>
            <a:pPr eaLnBrk="0" hangingPunct="0">
              <a:tabLst>
                <a:tab pos="400050" algn="l"/>
              </a:tabLst>
            </a:pP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B21   B22   B23   B24  </a:t>
            </a:r>
            <a:r>
              <a:rPr lang="en-US" altLang="zh-CN" sz="2400">
                <a:cs typeface="Times New Roman" pitchFamily="18" charset="0"/>
              </a:rPr>
              <a:t>……………</a:t>
            </a: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  B2n</a:t>
            </a:r>
            <a:endParaRPr lang="en-US" altLang="zh-CN" sz="2400"/>
          </a:p>
          <a:p>
            <a:pPr eaLnBrk="0" hangingPunct="0">
              <a:tabLst>
                <a:tab pos="400050" algn="l"/>
              </a:tabLst>
            </a:pP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B31   B32   B33   B34  </a:t>
            </a:r>
            <a:r>
              <a:rPr lang="en-US" altLang="zh-CN" sz="2400">
                <a:cs typeface="Times New Roman" pitchFamily="18" charset="0"/>
              </a:rPr>
              <a:t>……………</a:t>
            </a: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  B3n</a:t>
            </a:r>
            <a:endParaRPr lang="en-US" altLang="zh-CN" sz="2400"/>
          </a:p>
          <a:p>
            <a:pPr eaLnBrk="0" hangingPunct="0">
              <a:tabLst>
                <a:tab pos="400050" algn="l"/>
              </a:tabLst>
            </a:pP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.       .      .      .        .  </a:t>
            </a:r>
            <a:r>
              <a:rPr lang="en-US" altLang="zh-CN" sz="2400">
                <a:cs typeface="Times New Roman" pitchFamily="18" charset="0"/>
              </a:rPr>
              <a:t>………………</a:t>
            </a: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.   .</a:t>
            </a:r>
            <a:endParaRPr lang="en-US" altLang="zh-CN" sz="2400"/>
          </a:p>
          <a:p>
            <a:pPr eaLnBrk="0" hangingPunct="0">
              <a:tabLst>
                <a:tab pos="400050" algn="l"/>
              </a:tabLst>
            </a:pP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.       .      .      .        </a:t>
            </a:r>
            <a:r>
              <a:rPr lang="en-US" altLang="zh-CN"/>
              <a:t>.   …………….……….   .</a:t>
            </a:r>
            <a:endParaRPr lang="en-US" altLang="zh-CN" sz="2400"/>
          </a:p>
          <a:p>
            <a:pPr eaLnBrk="0" hangingPunct="0">
              <a:tabLst>
                <a:tab pos="400050" algn="l"/>
              </a:tabLst>
            </a:pPr>
            <a:endParaRPr lang="en-US" altLang="zh-CN" sz="2400"/>
          </a:p>
        </p:txBody>
      </p:sp>
      <p:sp>
        <p:nvSpPr>
          <p:cNvPr id="22534" name="Rectangle 9"/>
          <p:cNvSpPr>
            <a:spLocks noChangeArrowheads="1"/>
          </p:cNvSpPr>
          <p:nvPr/>
        </p:nvSpPr>
        <p:spPr bwMode="auto">
          <a:xfrm>
            <a:off x="2124075" y="3573463"/>
            <a:ext cx="5688013" cy="191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.       .      .      .        . </a:t>
            </a:r>
            <a:r>
              <a:rPr lang="en-US" altLang="zh-CN" sz="2400">
                <a:cs typeface="Times New Roman" pitchFamily="18" charset="0"/>
              </a:rPr>
              <a:t>………………</a:t>
            </a: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   .</a:t>
            </a:r>
            <a:endParaRPr lang="en-US" altLang="zh-CN" sz="2400"/>
          </a:p>
          <a:p>
            <a:pPr eaLnBrk="0" hangingPunct="0"/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.       .      .      .        . </a:t>
            </a:r>
            <a:r>
              <a:rPr lang="en-US" altLang="zh-CN" sz="2400">
                <a:cs typeface="Times New Roman" pitchFamily="18" charset="0"/>
              </a:rPr>
              <a:t>………………</a:t>
            </a: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   .</a:t>
            </a:r>
            <a:endParaRPr lang="en-US" altLang="zh-CN" sz="2400"/>
          </a:p>
          <a:p>
            <a:pPr eaLnBrk="0" hangingPunct="0"/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.       .      .      .        . </a:t>
            </a:r>
            <a:r>
              <a:rPr lang="en-US" altLang="zh-CN" sz="2400">
                <a:cs typeface="Times New Roman" pitchFamily="18" charset="0"/>
              </a:rPr>
              <a:t>………………</a:t>
            </a: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   .</a:t>
            </a:r>
            <a:endParaRPr lang="en-US" altLang="zh-CN" sz="2400"/>
          </a:p>
          <a:p>
            <a:pPr eaLnBrk="0" hangingPunct="0"/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.Bn1  Bn2   Bn3   Bn4  </a:t>
            </a:r>
            <a:r>
              <a:rPr lang="en-US" altLang="zh-CN" sz="2400">
                <a:cs typeface="Times New Roman" pitchFamily="18" charset="0"/>
              </a:rPr>
              <a:t>……………</a:t>
            </a: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.  Bnn</a:t>
            </a:r>
            <a:endParaRPr lang="en-US" altLang="zh-CN" sz="2400"/>
          </a:p>
          <a:p>
            <a:pPr eaLnBrk="0" hangingPunct="0"/>
            <a:endParaRPr lang="en-US" altLang="zh-CN" sz="2400"/>
          </a:p>
        </p:txBody>
      </p:sp>
      <p:sp>
        <p:nvSpPr>
          <p:cNvPr id="22535" name="Line 10"/>
          <p:cNvSpPr>
            <a:spLocks noChangeShapeType="1"/>
          </p:cNvSpPr>
          <p:nvPr/>
        </p:nvSpPr>
        <p:spPr bwMode="auto">
          <a:xfrm>
            <a:off x="7092950" y="692150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536" name="Text Box 11"/>
          <p:cNvSpPr txBox="1">
            <a:spLocks noChangeArrowheads="1"/>
          </p:cNvSpPr>
          <p:nvPr/>
        </p:nvSpPr>
        <p:spPr bwMode="auto">
          <a:xfrm>
            <a:off x="3276600" y="5876925"/>
            <a:ext cx="21971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>
                <a:solidFill>
                  <a:srgbClr val="FFFF00"/>
                </a:solidFill>
                <a:ea typeface="黑体" pitchFamily="49" charset="-122"/>
              </a:rPr>
              <a:t>行  为  矩  阵</a:t>
            </a:r>
          </a:p>
        </p:txBody>
      </p:sp>
      <p:sp>
        <p:nvSpPr>
          <p:cNvPr id="22537" name="AutoShape 13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8172450" y="6021388"/>
            <a:ext cx="287338" cy="215900"/>
          </a:xfrm>
          <a:prstGeom prst="upArrow">
            <a:avLst>
              <a:gd name="adj1" fmla="val 50000"/>
              <a:gd name="adj2" fmla="val 25000"/>
            </a:avLst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277813"/>
            <a:ext cx="8929687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200" dirty="0" smtClean="0">
                <a:solidFill>
                  <a:srgbClr val="FFFF00"/>
                </a:solidFill>
                <a:ea typeface="黑体" pitchFamily="2" charset="-122"/>
              </a:rPr>
              <a:t>四、激进政治经济学派和“新区域主义”的兴起</a:t>
            </a:r>
            <a:r>
              <a:rPr lang="zh-CN" altLang="en-US" sz="4000" dirty="0" smtClean="0"/>
              <a:t> </a:t>
            </a:r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484313"/>
            <a:ext cx="8229600" cy="4824412"/>
          </a:xfrm>
        </p:spPr>
        <p:txBody>
          <a:bodyPr/>
          <a:lstStyle/>
          <a:p>
            <a:pPr eaLnBrk="1" hangingPunct="1">
              <a:lnSpc>
                <a:spcPct val="115000"/>
              </a:lnSpc>
              <a:defRPr/>
            </a:pP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激进政治学派 </a:t>
            </a:r>
          </a:p>
          <a:p>
            <a:pPr lvl="1" eaLnBrk="1" hangingPunct="1">
              <a:lnSpc>
                <a:spcPct val="115000"/>
              </a:lnSpc>
              <a:defRPr/>
            </a:pP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背景 </a:t>
            </a:r>
          </a:p>
          <a:p>
            <a:pPr lvl="1" eaLnBrk="1" hangingPunct="1">
              <a:lnSpc>
                <a:spcPct val="115000"/>
              </a:lnSpc>
              <a:defRPr/>
            </a:pP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主要代表人及观点：大卫</a:t>
            </a: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.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哈维（</a:t>
            </a:r>
            <a:r>
              <a:rPr lang="en-US" altLang="zh-CN" dirty="0" smtClean="0">
                <a:latin typeface="Times New Roman" pitchFamily="18" charset="0"/>
                <a:ea typeface="黑体" pitchFamily="2" charset="-122"/>
              </a:rPr>
              <a:t>David Harvey</a:t>
            </a: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）</a:t>
            </a:r>
          </a:p>
          <a:p>
            <a:pPr lvl="1" eaLnBrk="1" hangingPunct="1">
              <a:lnSpc>
                <a:spcPct val="115000"/>
              </a:lnSpc>
              <a:defRPr/>
            </a:pP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影响及关注的问题</a:t>
            </a:r>
          </a:p>
          <a:p>
            <a:pPr lvl="2" eaLnBrk="1" hangingPunct="1">
              <a:lnSpc>
                <a:spcPct val="115000"/>
              </a:lnSpc>
              <a:defRPr/>
            </a:pP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资本主义积累方式下城市空间变化的机制；</a:t>
            </a:r>
          </a:p>
          <a:p>
            <a:pPr lvl="2" eaLnBrk="1" hangingPunct="1">
              <a:lnSpc>
                <a:spcPct val="115000"/>
              </a:lnSpc>
              <a:defRPr/>
            </a:pP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贫困、失业、逆工业化和区域衰落等问题，以及这些问题背后的区域产业重组和劳动地域分工变化；</a:t>
            </a:r>
          </a:p>
          <a:p>
            <a:pPr lvl="2" eaLnBrk="1" hangingPunct="1">
              <a:lnSpc>
                <a:spcPct val="115000"/>
              </a:lnSpc>
              <a:defRPr/>
            </a:pP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不同尺度的不平衡发展问题；</a:t>
            </a:r>
          </a:p>
          <a:p>
            <a:pPr lvl="2" eaLnBrk="1" hangingPunct="1">
              <a:lnSpc>
                <a:spcPct val="115000"/>
              </a:lnSpc>
              <a:defRPr/>
            </a:pPr>
            <a:r>
              <a:rPr lang="zh-CN" altLang="en-US" dirty="0" smtClean="0">
                <a:latin typeface="Times New Roman" pitchFamily="18" charset="0"/>
                <a:ea typeface="黑体" pitchFamily="2" charset="-122"/>
              </a:rPr>
              <a:t>技术进步对资本主义积累方式的影响及其空间变化</a:t>
            </a:r>
            <a:r>
              <a:rPr lang="zh-CN" altLang="en-US" dirty="0" smtClean="0"/>
              <a:t>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1000"/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1000"/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20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20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120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208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208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404813"/>
            <a:ext cx="8229600" cy="6048375"/>
          </a:xfrm>
        </p:spPr>
        <p:txBody>
          <a:bodyPr/>
          <a:lstStyle/>
          <a:p>
            <a:pPr eaLnBrk="1" hangingPunct="1">
              <a:lnSpc>
                <a:spcPct val="135000"/>
              </a:lnSpc>
              <a:defRPr/>
            </a:pPr>
            <a:r>
              <a:rPr lang="zh-CN" altLang="en-US" sz="2800" dirty="0" smtClean="0">
                <a:latin typeface="Times New Roman" pitchFamily="18" charset="0"/>
                <a:ea typeface="黑体" pitchFamily="2" charset="-122"/>
              </a:rPr>
              <a:t>新区域主义</a:t>
            </a:r>
          </a:p>
          <a:p>
            <a:pPr lvl="1" eaLnBrk="1" hangingPunct="1">
              <a:lnSpc>
                <a:spcPct val="135000"/>
              </a:lnSpc>
              <a:defRPr/>
            </a:pPr>
            <a:r>
              <a:rPr lang="zh-CN" altLang="en-US" sz="2400" dirty="0" smtClean="0">
                <a:latin typeface="Times New Roman" pitchFamily="18" charset="0"/>
                <a:ea typeface="黑体" pitchFamily="2" charset="-122"/>
              </a:rPr>
              <a:t>朵润</a:t>
            </a:r>
            <a:r>
              <a:rPr lang="en-US" altLang="zh-CN" sz="2400" dirty="0" smtClean="0">
                <a:latin typeface="Times New Roman" pitchFamily="18" charset="0"/>
                <a:ea typeface="黑体" pitchFamily="2" charset="-122"/>
              </a:rPr>
              <a:t>.</a:t>
            </a:r>
            <a:r>
              <a:rPr lang="zh-CN" altLang="en-US" sz="2400" dirty="0" smtClean="0">
                <a:latin typeface="Times New Roman" pitchFamily="18" charset="0"/>
                <a:ea typeface="黑体" pitchFamily="2" charset="-122"/>
              </a:rPr>
              <a:t>马西（</a:t>
            </a:r>
            <a:r>
              <a:rPr lang="en-US" altLang="zh-CN" sz="2400" dirty="0" smtClean="0">
                <a:latin typeface="Times New Roman" pitchFamily="18" charset="0"/>
                <a:ea typeface="黑体" pitchFamily="2" charset="-122"/>
              </a:rPr>
              <a:t>Doreen Massey</a:t>
            </a:r>
            <a:r>
              <a:rPr lang="zh-CN" altLang="en-US" sz="2400" dirty="0" smtClean="0">
                <a:latin typeface="Times New Roman" pitchFamily="18" charset="0"/>
                <a:ea typeface="黑体" pitchFamily="2" charset="-122"/>
              </a:rPr>
              <a:t>） ，</a:t>
            </a:r>
            <a:r>
              <a:rPr lang="en-US" altLang="zh-CN" sz="2400" dirty="0" smtClean="0">
                <a:latin typeface="Times New Roman" pitchFamily="18" charset="0"/>
                <a:ea typeface="黑体" pitchFamily="2" charset="-122"/>
              </a:rPr>
              <a:t>1984</a:t>
            </a:r>
            <a:r>
              <a:rPr lang="zh-CN" altLang="en-US" sz="2400" dirty="0" smtClean="0">
                <a:latin typeface="Times New Roman" pitchFamily="18" charset="0"/>
                <a:ea typeface="黑体" pitchFamily="2" charset="-122"/>
              </a:rPr>
              <a:t>年</a:t>
            </a:r>
            <a:r>
              <a:rPr lang="en-US" altLang="zh-CN" sz="2400" dirty="0" smtClean="0">
                <a:latin typeface="Times New Roman" pitchFamily="18" charset="0"/>
                <a:ea typeface="黑体" pitchFamily="2" charset="-122"/>
              </a:rPr>
              <a:t>《</a:t>
            </a:r>
            <a:r>
              <a:rPr lang="zh-CN" altLang="en-US" sz="2400" dirty="0" smtClean="0">
                <a:latin typeface="Times New Roman" pitchFamily="18" charset="0"/>
                <a:ea typeface="黑体" pitchFamily="2" charset="-122"/>
              </a:rPr>
              <a:t>劳动的空间分工：社会结构与生产地理</a:t>
            </a:r>
            <a:r>
              <a:rPr lang="en-US" altLang="zh-CN" sz="2400" dirty="0" smtClean="0">
                <a:latin typeface="Times New Roman" pitchFamily="18" charset="0"/>
                <a:ea typeface="黑体" pitchFamily="2" charset="-122"/>
              </a:rPr>
              <a:t>》</a:t>
            </a:r>
          </a:p>
          <a:p>
            <a:pPr lvl="1" eaLnBrk="1" hangingPunct="1">
              <a:lnSpc>
                <a:spcPct val="135000"/>
              </a:lnSpc>
              <a:defRPr/>
            </a:pPr>
            <a:r>
              <a:rPr lang="zh-CN" altLang="en-US" sz="2400" dirty="0" smtClean="0">
                <a:latin typeface="Times New Roman" pitchFamily="18" charset="0"/>
                <a:ea typeface="黑体" pitchFamily="2" charset="-122"/>
              </a:rPr>
              <a:t>产业区</a:t>
            </a:r>
            <a:r>
              <a:rPr lang="en-US" altLang="zh-CN" sz="2400" dirty="0" smtClean="0">
                <a:latin typeface="Times New Roman" pitchFamily="18" charset="0"/>
                <a:ea typeface="黑体" pitchFamily="2" charset="-122"/>
              </a:rPr>
              <a:t>——</a:t>
            </a:r>
            <a:r>
              <a:rPr lang="zh-CN" altLang="en-US" sz="2400" dirty="0" smtClean="0">
                <a:latin typeface="Times New Roman" pitchFamily="18" charset="0"/>
                <a:ea typeface="黑体" pitchFamily="2" charset="-122"/>
              </a:rPr>
              <a:t>新的产业空间</a:t>
            </a:r>
            <a:r>
              <a:rPr lang="en-US" altLang="zh-CN" sz="2400" dirty="0" smtClean="0">
                <a:latin typeface="Times New Roman" pitchFamily="18" charset="0"/>
                <a:ea typeface="黑体" pitchFamily="2" charset="-122"/>
              </a:rPr>
              <a:t>——</a:t>
            </a:r>
            <a:r>
              <a:rPr lang="zh-CN" altLang="en-US" sz="2400" dirty="0" smtClean="0">
                <a:latin typeface="Times New Roman" pitchFamily="18" charset="0"/>
                <a:ea typeface="黑体" pitchFamily="2" charset="-122"/>
              </a:rPr>
              <a:t>产业集群 </a:t>
            </a:r>
          </a:p>
          <a:p>
            <a:pPr lvl="1" eaLnBrk="1" hangingPunct="1">
              <a:lnSpc>
                <a:spcPct val="135000"/>
              </a:lnSpc>
              <a:defRPr/>
            </a:pPr>
            <a:r>
              <a:rPr lang="zh-CN" altLang="en-US" sz="2400" dirty="0" smtClean="0">
                <a:latin typeface="Times New Roman" pitchFamily="18" charset="0"/>
                <a:ea typeface="黑体" pitchFamily="2" charset="-122"/>
              </a:rPr>
              <a:t>学派</a:t>
            </a:r>
          </a:p>
          <a:p>
            <a:pPr lvl="2" eaLnBrk="1" hangingPunct="1">
              <a:lnSpc>
                <a:spcPct val="135000"/>
              </a:lnSpc>
              <a:defRPr/>
            </a:pPr>
            <a:r>
              <a:rPr lang="zh-CN" altLang="en-US" sz="2000" dirty="0" smtClean="0">
                <a:latin typeface="Times New Roman" pitchFamily="18" charset="0"/>
                <a:ea typeface="黑体" pitchFamily="2" charset="-122"/>
              </a:rPr>
              <a:t>意大利学派的“产业氛围”、“制度厚度” </a:t>
            </a:r>
          </a:p>
          <a:p>
            <a:pPr lvl="2" eaLnBrk="1" hangingPunct="1">
              <a:lnSpc>
                <a:spcPct val="135000"/>
              </a:lnSpc>
              <a:defRPr/>
            </a:pPr>
            <a:r>
              <a:rPr lang="zh-CN" altLang="en-US" sz="2000" dirty="0" smtClean="0">
                <a:latin typeface="Times New Roman" pitchFamily="18" charset="0"/>
                <a:ea typeface="黑体" pitchFamily="2" charset="-122"/>
              </a:rPr>
              <a:t>加利福尼亚学派的“垂直一体化”、“不可交易性相互依赖”和“地方劳动力市场” </a:t>
            </a:r>
          </a:p>
          <a:p>
            <a:pPr lvl="2" eaLnBrk="1" hangingPunct="1">
              <a:lnSpc>
                <a:spcPct val="135000"/>
              </a:lnSpc>
              <a:defRPr/>
            </a:pPr>
            <a:r>
              <a:rPr lang="zh-CN" altLang="en-US" sz="2000" dirty="0" smtClean="0">
                <a:latin typeface="Times New Roman" pitchFamily="18" charset="0"/>
                <a:ea typeface="黑体" pitchFamily="2" charset="-122"/>
              </a:rPr>
              <a:t>欧洲创新环境学派“区域创新系统”，乃至演化经济地理学派的“路径依赖”</a:t>
            </a:r>
            <a:r>
              <a:rPr lang="zh-CN" altLang="en-US" sz="2000" dirty="0" smtClean="0"/>
              <a:t> </a:t>
            </a:r>
          </a:p>
          <a:p>
            <a:pPr eaLnBrk="1" hangingPunct="1">
              <a:lnSpc>
                <a:spcPct val="135000"/>
              </a:lnSpc>
              <a:defRPr/>
            </a:pPr>
            <a:r>
              <a:rPr lang="zh-CN" altLang="en-US" sz="2800" dirty="0" smtClean="0">
                <a:ea typeface="黑体" pitchFamily="2" charset="-122"/>
              </a:rPr>
              <a:t>经济全球化研究</a:t>
            </a:r>
            <a:r>
              <a:rPr lang="zh-CN" altLang="en-US" sz="2800" dirty="0" smtClean="0"/>
              <a:t>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1000"/>
                                        <p:tgtEl>
                                          <p:spTgt spid="121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1000"/>
                                        <p:tgtEl>
                                          <p:spTgt spid="121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1000"/>
                                        <p:tgtEl>
                                          <p:spTgt spid="121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1000"/>
                                        <p:tgtEl>
                                          <p:spTgt spid="121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1000"/>
                                        <p:tgtEl>
                                          <p:spTgt spid="121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1000"/>
                                        <p:tgtEl>
                                          <p:spTgt spid="121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1000"/>
                                        <p:tgtEl>
                                          <p:spTgt spid="1218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404813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 smtClean="0">
                <a:solidFill>
                  <a:srgbClr val="FFFF00"/>
                </a:solidFill>
                <a:ea typeface="黑体" pitchFamily="2" charset="-122"/>
              </a:rPr>
              <a:t>五、“新”经济地理学的出现</a:t>
            </a:r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31913" y="2060575"/>
            <a:ext cx="7210425" cy="3341688"/>
          </a:xfrm>
        </p:spPr>
        <p:txBody>
          <a:bodyPr/>
          <a:lstStyle/>
          <a:p>
            <a:pPr eaLnBrk="1" hangingPunct="1">
              <a:lnSpc>
                <a:spcPct val="195000"/>
              </a:lnSpc>
              <a:defRPr/>
            </a:pP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克鲁格曼</a:t>
            </a:r>
            <a:r>
              <a:rPr lang="zh-CN" altLang="en-US" dirty="0" smtClean="0">
                <a:ea typeface="黑体" pitchFamily="2" charset="-122"/>
              </a:rPr>
              <a:t>“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新经济地理学</a:t>
            </a:r>
            <a:r>
              <a:rPr lang="zh-CN" altLang="en-US" dirty="0" smtClean="0">
                <a:ea typeface="黑体" pitchFamily="2" charset="-122"/>
              </a:rPr>
              <a:t>”</a:t>
            </a: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 </a:t>
            </a:r>
          </a:p>
          <a:p>
            <a:pPr eaLnBrk="1" hangingPunct="1">
              <a:lnSpc>
                <a:spcPct val="195000"/>
              </a:lnSpc>
              <a:defRPr/>
            </a:pPr>
            <a:r>
              <a:rPr lang="zh-CN" altLang="en-US" dirty="0" smtClean="0">
                <a:latin typeface="黑体" pitchFamily="2" charset="-122"/>
                <a:ea typeface="黑体" pitchFamily="2" charset="-122"/>
              </a:rPr>
              <a:t>经济地理学的文化和制度转向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765175"/>
            <a:ext cx="8229600" cy="1143000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六、</a:t>
            </a:r>
            <a:r>
              <a:rPr lang="en-US" altLang="zh-CN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20</a:t>
            </a:r>
            <a:r>
              <a:rPr lang="zh-CN" altLang="en-US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世纪经济地理学发展特点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2060575"/>
            <a:ext cx="8229600" cy="4103688"/>
          </a:xfrm>
        </p:spPr>
        <p:txBody>
          <a:bodyPr/>
          <a:lstStyle/>
          <a:p>
            <a:pPr marL="609600" indent="-609600" eaLnBrk="1" hangingPunct="1">
              <a:lnSpc>
                <a:spcPct val="130000"/>
              </a:lnSpc>
              <a:buFont typeface="Wingdings" pitchFamily="2" charset="2"/>
              <a:buAutoNum type="arabicPeriod"/>
              <a:defRPr/>
            </a:pP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研究区域尺度的变化</a:t>
            </a:r>
          </a:p>
          <a:p>
            <a:pPr marL="990600" lvl="1" indent="-533400" eaLnBrk="1" hangingPunct="1">
              <a:lnSpc>
                <a:spcPct val="130000"/>
              </a:lnSpc>
              <a:buFont typeface="Wingdings" pitchFamily="2" charset="2"/>
              <a:buChar char="Ø"/>
              <a:defRPr/>
            </a:pPr>
            <a:r>
              <a:rPr lang="zh-CN" altLang="en-US" sz="2400" smtClean="0">
                <a:solidFill>
                  <a:srgbClr val="66FFFF"/>
                </a:solidFill>
                <a:latin typeface="黑体" pitchFamily="2" charset="-122"/>
                <a:ea typeface="黑体" pitchFamily="2" charset="-122"/>
              </a:rPr>
              <a:t>区位论的微观分析→宏观研究→经济的全球化问题</a:t>
            </a:r>
            <a:r>
              <a:rPr lang="zh-CN" altLang="en-US" sz="2400" smtClean="0">
                <a:latin typeface="黑体" pitchFamily="2" charset="-122"/>
                <a:ea typeface="黑体" pitchFamily="2" charset="-122"/>
              </a:rPr>
              <a:t> </a:t>
            </a:r>
          </a:p>
          <a:p>
            <a:pPr marL="609600" indent="-609600" eaLnBrk="1" hangingPunct="1">
              <a:lnSpc>
                <a:spcPct val="130000"/>
              </a:lnSpc>
              <a:buFont typeface="Wingdings" pitchFamily="2" charset="2"/>
              <a:buAutoNum type="arabicPeriod"/>
              <a:defRPr/>
            </a:pP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研究企业组织的变化</a:t>
            </a:r>
          </a:p>
          <a:p>
            <a:pPr marL="990600" lvl="1" indent="-533400" eaLnBrk="1" hangingPunct="1">
              <a:lnSpc>
                <a:spcPct val="130000"/>
              </a:lnSpc>
              <a:buFont typeface="Wingdings" pitchFamily="2" charset="2"/>
              <a:buChar char="Ø"/>
              <a:defRPr/>
            </a:pPr>
            <a:r>
              <a:rPr lang="zh-CN" altLang="en-US" sz="2400" smtClean="0">
                <a:solidFill>
                  <a:srgbClr val="66FFFF"/>
                </a:solidFill>
                <a:latin typeface="黑体" pitchFamily="2" charset="-122"/>
                <a:ea typeface="黑体" pitchFamily="2" charset="-122"/>
              </a:rPr>
              <a:t>单个企业研究→大型跨国公司空间格局和演变的研究</a:t>
            </a:r>
            <a:r>
              <a:rPr lang="zh-CN" altLang="en-US" sz="2400" smtClean="0">
                <a:latin typeface="黑体" pitchFamily="2" charset="-122"/>
                <a:ea typeface="黑体" pitchFamily="2" charset="-122"/>
              </a:rPr>
              <a:t> </a:t>
            </a:r>
          </a:p>
          <a:p>
            <a:pPr marL="609600" indent="-609600" eaLnBrk="1" hangingPunct="1">
              <a:lnSpc>
                <a:spcPct val="130000"/>
              </a:lnSpc>
              <a:buFont typeface="Wingdings" pitchFamily="2" charset="2"/>
              <a:buAutoNum type="arabicPeriod"/>
              <a:defRPr/>
            </a:pP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研究思维方法的变化</a:t>
            </a:r>
          </a:p>
          <a:p>
            <a:pPr marL="990600" lvl="1" indent="-533400" eaLnBrk="1" hangingPunct="1">
              <a:lnSpc>
                <a:spcPct val="130000"/>
              </a:lnSpc>
              <a:buFont typeface="Wingdings" pitchFamily="2" charset="2"/>
              <a:buChar char="Ø"/>
              <a:defRPr/>
            </a:pPr>
            <a:r>
              <a:rPr lang="zh-CN" altLang="en-US" sz="2400" smtClean="0">
                <a:solidFill>
                  <a:srgbClr val="66FFFF"/>
                </a:solidFill>
                <a:latin typeface="黑体" pitchFamily="2" charset="-122"/>
                <a:ea typeface="黑体" pitchFamily="2" charset="-122"/>
              </a:rPr>
              <a:t>规范性分析→实证主义分析法→行为主义分析方法→结构主义地理学</a:t>
            </a:r>
            <a:r>
              <a:rPr lang="zh-CN" altLang="en-US" sz="2400" smtClean="0">
                <a:latin typeface="黑体" pitchFamily="2" charset="-122"/>
                <a:ea typeface="黑体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9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50" name="Group 2"/>
          <p:cNvGrpSpPr>
            <a:grpSpLocks/>
          </p:cNvGrpSpPr>
          <p:nvPr/>
        </p:nvGrpSpPr>
        <p:grpSpPr bwMode="auto">
          <a:xfrm>
            <a:off x="323850" y="333375"/>
            <a:ext cx="8424863" cy="5681663"/>
            <a:chOff x="528" y="336"/>
            <a:chExt cx="5136" cy="3181"/>
          </a:xfrm>
        </p:grpSpPr>
        <p:sp>
          <p:nvSpPr>
            <p:cNvPr id="27652" name="Rectangle 3"/>
            <p:cNvSpPr>
              <a:spLocks noChangeArrowheads="1"/>
            </p:cNvSpPr>
            <p:nvPr/>
          </p:nvSpPr>
          <p:spPr bwMode="auto">
            <a:xfrm>
              <a:off x="528" y="336"/>
              <a:ext cx="5136" cy="2976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kumimoji="1" lang="zh-CN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27653" name="Rectangle 4"/>
            <p:cNvSpPr>
              <a:spLocks noChangeArrowheads="1"/>
            </p:cNvSpPr>
            <p:nvPr/>
          </p:nvSpPr>
          <p:spPr bwMode="auto">
            <a:xfrm>
              <a:off x="1056" y="3312"/>
              <a:ext cx="768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54" name="Rectangle 5"/>
            <p:cNvSpPr>
              <a:spLocks noChangeArrowheads="1"/>
            </p:cNvSpPr>
            <p:nvPr/>
          </p:nvSpPr>
          <p:spPr bwMode="auto">
            <a:xfrm>
              <a:off x="2256" y="3312"/>
              <a:ext cx="72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55" name="Rectangle 6"/>
            <p:cNvSpPr>
              <a:spLocks noChangeArrowheads="1"/>
            </p:cNvSpPr>
            <p:nvPr/>
          </p:nvSpPr>
          <p:spPr bwMode="auto">
            <a:xfrm>
              <a:off x="3360" y="3312"/>
              <a:ext cx="816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56" name="Rectangle 7"/>
            <p:cNvSpPr>
              <a:spLocks noChangeArrowheads="1"/>
            </p:cNvSpPr>
            <p:nvPr/>
          </p:nvSpPr>
          <p:spPr bwMode="auto">
            <a:xfrm>
              <a:off x="4464" y="3312"/>
              <a:ext cx="86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57" name="Text Box 8"/>
            <p:cNvSpPr txBox="1">
              <a:spLocks noChangeArrowheads="1"/>
            </p:cNvSpPr>
            <p:nvPr/>
          </p:nvSpPr>
          <p:spPr bwMode="auto">
            <a:xfrm>
              <a:off x="1152" y="3278"/>
              <a:ext cx="778" cy="2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1" lang="zh-CN" altLang="en-US">
                  <a:latin typeface="Times New Roman" pitchFamily="18" charset="0"/>
                </a:rPr>
                <a:t>规范分析</a:t>
              </a:r>
            </a:p>
          </p:txBody>
        </p:sp>
        <p:sp>
          <p:nvSpPr>
            <p:cNvPr id="27658" name="Text Box 9"/>
            <p:cNvSpPr txBox="1">
              <a:spLocks noChangeArrowheads="1"/>
            </p:cNvSpPr>
            <p:nvPr/>
          </p:nvSpPr>
          <p:spPr bwMode="auto">
            <a:xfrm>
              <a:off x="2304" y="3312"/>
              <a:ext cx="670" cy="2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zh-CN" altLang="en-US">
                  <a:latin typeface="Times New Roman" pitchFamily="18" charset="0"/>
                </a:rPr>
                <a:t>实证分析</a:t>
              </a:r>
            </a:p>
          </p:txBody>
        </p:sp>
        <p:sp>
          <p:nvSpPr>
            <p:cNvPr id="27659" name="Text Box 10"/>
            <p:cNvSpPr txBox="1">
              <a:spLocks noChangeArrowheads="1"/>
            </p:cNvSpPr>
            <p:nvPr/>
          </p:nvSpPr>
          <p:spPr bwMode="auto">
            <a:xfrm>
              <a:off x="3360" y="3312"/>
              <a:ext cx="960" cy="1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kumimoji="1" lang="zh-CN" altLang="en-US" sz="1600">
                  <a:latin typeface="Times New Roman" pitchFamily="18" charset="0"/>
                </a:rPr>
                <a:t>行为主义分析</a:t>
              </a:r>
            </a:p>
          </p:txBody>
        </p:sp>
        <p:sp>
          <p:nvSpPr>
            <p:cNvPr id="27660" name="Text Box 11"/>
            <p:cNvSpPr txBox="1">
              <a:spLocks noChangeArrowheads="1"/>
            </p:cNvSpPr>
            <p:nvPr/>
          </p:nvSpPr>
          <p:spPr bwMode="auto">
            <a:xfrm>
              <a:off x="4464" y="3312"/>
              <a:ext cx="855" cy="1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zh-CN" altLang="en-US" sz="1600">
                  <a:latin typeface="Times New Roman" pitchFamily="18" charset="0"/>
                </a:rPr>
                <a:t>结构主义分析</a:t>
              </a:r>
            </a:p>
          </p:txBody>
        </p:sp>
        <p:sp>
          <p:nvSpPr>
            <p:cNvPr id="27661" name="Rectangle 12"/>
            <p:cNvSpPr>
              <a:spLocks noChangeArrowheads="1"/>
            </p:cNvSpPr>
            <p:nvPr/>
          </p:nvSpPr>
          <p:spPr bwMode="auto">
            <a:xfrm>
              <a:off x="4800" y="1008"/>
              <a:ext cx="576" cy="19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2" name="Rectangle 13"/>
            <p:cNvSpPr>
              <a:spLocks noChangeArrowheads="1"/>
            </p:cNvSpPr>
            <p:nvPr/>
          </p:nvSpPr>
          <p:spPr bwMode="auto">
            <a:xfrm>
              <a:off x="1296" y="912"/>
              <a:ext cx="864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3" name="Rectangle 14"/>
            <p:cNvSpPr>
              <a:spLocks noChangeArrowheads="1"/>
            </p:cNvSpPr>
            <p:nvPr/>
          </p:nvSpPr>
          <p:spPr bwMode="auto">
            <a:xfrm>
              <a:off x="2448" y="912"/>
              <a:ext cx="864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4" name="Rectangle 15"/>
            <p:cNvSpPr>
              <a:spLocks noChangeArrowheads="1"/>
            </p:cNvSpPr>
            <p:nvPr/>
          </p:nvSpPr>
          <p:spPr bwMode="auto">
            <a:xfrm>
              <a:off x="3600" y="912"/>
              <a:ext cx="816" cy="33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5" name="Rectangle 16"/>
            <p:cNvSpPr>
              <a:spLocks noChangeArrowheads="1"/>
            </p:cNvSpPr>
            <p:nvPr/>
          </p:nvSpPr>
          <p:spPr bwMode="auto">
            <a:xfrm>
              <a:off x="1344" y="1728"/>
              <a:ext cx="816" cy="3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6" name="Rectangle 17"/>
            <p:cNvSpPr>
              <a:spLocks noChangeArrowheads="1"/>
            </p:cNvSpPr>
            <p:nvPr/>
          </p:nvSpPr>
          <p:spPr bwMode="auto">
            <a:xfrm>
              <a:off x="1392" y="2496"/>
              <a:ext cx="768" cy="5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7" name="Rectangle 18"/>
            <p:cNvSpPr>
              <a:spLocks noChangeArrowheads="1"/>
            </p:cNvSpPr>
            <p:nvPr/>
          </p:nvSpPr>
          <p:spPr bwMode="auto">
            <a:xfrm>
              <a:off x="3744" y="2448"/>
              <a:ext cx="768" cy="62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8" name="Line 19"/>
            <p:cNvSpPr>
              <a:spLocks noChangeShapeType="1"/>
            </p:cNvSpPr>
            <p:nvPr/>
          </p:nvSpPr>
          <p:spPr bwMode="auto">
            <a:xfrm>
              <a:off x="1728" y="1248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69" name="Line 20"/>
            <p:cNvSpPr>
              <a:spLocks noChangeShapeType="1"/>
            </p:cNvSpPr>
            <p:nvPr/>
          </p:nvSpPr>
          <p:spPr bwMode="auto">
            <a:xfrm>
              <a:off x="1728" y="211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70" name="Line 21"/>
            <p:cNvSpPr>
              <a:spLocks noChangeShapeType="1"/>
            </p:cNvSpPr>
            <p:nvPr/>
          </p:nvSpPr>
          <p:spPr bwMode="auto">
            <a:xfrm>
              <a:off x="2160" y="1104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71" name="Line 22"/>
            <p:cNvSpPr>
              <a:spLocks noChangeShapeType="1"/>
            </p:cNvSpPr>
            <p:nvPr/>
          </p:nvSpPr>
          <p:spPr bwMode="auto">
            <a:xfrm>
              <a:off x="3312" y="1104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72" name="Line 23"/>
            <p:cNvSpPr>
              <a:spLocks noChangeShapeType="1"/>
            </p:cNvSpPr>
            <p:nvPr/>
          </p:nvSpPr>
          <p:spPr bwMode="auto">
            <a:xfrm>
              <a:off x="4416" y="110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73" name="Line 24"/>
            <p:cNvSpPr>
              <a:spLocks noChangeShapeType="1"/>
            </p:cNvSpPr>
            <p:nvPr/>
          </p:nvSpPr>
          <p:spPr bwMode="auto">
            <a:xfrm>
              <a:off x="2160" y="2736"/>
              <a:ext cx="15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74" name="Line 25"/>
            <p:cNvSpPr>
              <a:spLocks noChangeShapeType="1"/>
            </p:cNvSpPr>
            <p:nvPr/>
          </p:nvSpPr>
          <p:spPr bwMode="auto">
            <a:xfrm>
              <a:off x="4512" y="2784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75" name="Line 26"/>
            <p:cNvSpPr>
              <a:spLocks noChangeShapeType="1"/>
            </p:cNvSpPr>
            <p:nvPr/>
          </p:nvSpPr>
          <p:spPr bwMode="auto">
            <a:xfrm>
              <a:off x="1824" y="340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76" name="Line 27"/>
            <p:cNvSpPr>
              <a:spLocks noChangeShapeType="1"/>
            </p:cNvSpPr>
            <p:nvPr/>
          </p:nvSpPr>
          <p:spPr bwMode="auto">
            <a:xfrm>
              <a:off x="2976" y="3408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77" name="Line 28"/>
            <p:cNvSpPr>
              <a:spLocks noChangeShapeType="1"/>
            </p:cNvSpPr>
            <p:nvPr/>
          </p:nvSpPr>
          <p:spPr bwMode="auto">
            <a:xfrm>
              <a:off x="4176" y="3408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78" name="Line 29"/>
            <p:cNvSpPr>
              <a:spLocks noChangeShapeType="1"/>
            </p:cNvSpPr>
            <p:nvPr/>
          </p:nvSpPr>
          <p:spPr bwMode="auto">
            <a:xfrm>
              <a:off x="1152" y="816"/>
              <a:ext cx="0" cy="23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79" name="Line 30"/>
            <p:cNvSpPr>
              <a:spLocks noChangeShapeType="1"/>
            </p:cNvSpPr>
            <p:nvPr/>
          </p:nvSpPr>
          <p:spPr bwMode="auto">
            <a:xfrm>
              <a:off x="1152" y="816"/>
              <a:ext cx="3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80" name="Line 31"/>
            <p:cNvSpPr>
              <a:spLocks noChangeShapeType="1"/>
            </p:cNvSpPr>
            <p:nvPr/>
          </p:nvSpPr>
          <p:spPr bwMode="auto">
            <a:xfrm>
              <a:off x="3984" y="1248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81" name="Text Box 32"/>
            <p:cNvSpPr txBox="1">
              <a:spLocks noChangeArrowheads="1"/>
            </p:cNvSpPr>
            <p:nvPr/>
          </p:nvSpPr>
          <p:spPr bwMode="auto">
            <a:xfrm>
              <a:off x="1440" y="816"/>
              <a:ext cx="607" cy="3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2400">
                  <a:latin typeface="Times New Roman" pitchFamily="18" charset="0"/>
                </a:rPr>
                <a:t>   </a:t>
              </a:r>
              <a:r>
                <a:rPr kumimoji="1" lang="zh-CN" altLang="en-US" sz="1600">
                  <a:latin typeface="Times New Roman" pitchFamily="18" charset="0"/>
                </a:rPr>
                <a:t>单体</a:t>
              </a:r>
            </a:p>
            <a:p>
              <a:r>
                <a:rPr kumimoji="1" lang="zh-CN" altLang="en-US" sz="1600">
                  <a:latin typeface="Times New Roman" pitchFamily="18" charset="0"/>
                </a:rPr>
                <a:t>企业区位</a:t>
              </a:r>
            </a:p>
          </p:txBody>
        </p:sp>
        <p:sp>
          <p:nvSpPr>
            <p:cNvPr id="27682" name="Text Box 33"/>
            <p:cNvSpPr txBox="1">
              <a:spLocks noChangeArrowheads="1"/>
            </p:cNvSpPr>
            <p:nvPr/>
          </p:nvSpPr>
          <p:spPr bwMode="auto">
            <a:xfrm>
              <a:off x="2496" y="912"/>
              <a:ext cx="732" cy="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zh-CN" altLang="en-US" sz="1600">
                  <a:latin typeface="Times New Roman" pitchFamily="18" charset="0"/>
                </a:rPr>
                <a:t>区域内企业</a:t>
              </a:r>
            </a:p>
            <a:p>
              <a:r>
                <a:rPr kumimoji="1" lang="zh-CN" altLang="en-US" sz="1600">
                  <a:latin typeface="Times New Roman" pitchFamily="18" charset="0"/>
                </a:rPr>
                <a:t>间协调发展</a:t>
              </a:r>
            </a:p>
          </p:txBody>
        </p:sp>
        <p:sp>
          <p:nvSpPr>
            <p:cNvPr id="27683" name="Text Box 34"/>
            <p:cNvSpPr txBox="1">
              <a:spLocks noChangeArrowheads="1"/>
            </p:cNvSpPr>
            <p:nvPr/>
          </p:nvSpPr>
          <p:spPr bwMode="auto">
            <a:xfrm>
              <a:off x="3600" y="912"/>
              <a:ext cx="731" cy="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zh-CN" altLang="en-US" sz="1600">
                  <a:latin typeface="Times New Roman" pitchFamily="18" charset="0"/>
                </a:rPr>
                <a:t>区域间的经</a:t>
              </a:r>
            </a:p>
            <a:p>
              <a:r>
                <a:rPr kumimoji="1" lang="zh-CN" altLang="en-US" sz="1600">
                  <a:latin typeface="Times New Roman" pitchFamily="18" charset="0"/>
                </a:rPr>
                <a:t>济发展关系</a:t>
              </a:r>
            </a:p>
          </p:txBody>
        </p:sp>
        <p:sp>
          <p:nvSpPr>
            <p:cNvPr id="27684" name="Text Box 35"/>
            <p:cNvSpPr txBox="1">
              <a:spLocks noChangeArrowheads="1"/>
            </p:cNvSpPr>
            <p:nvPr/>
          </p:nvSpPr>
          <p:spPr bwMode="auto">
            <a:xfrm>
              <a:off x="1440" y="1728"/>
              <a:ext cx="607" cy="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en-US" altLang="zh-CN" sz="1600">
                  <a:latin typeface="Times New Roman" pitchFamily="18" charset="0"/>
                </a:rPr>
                <a:t>  </a:t>
              </a:r>
              <a:r>
                <a:rPr kumimoji="1" lang="zh-CN" altLang="en-US" sz="1600">
                  <a:latin typeface="Times New Roman" pitchFamily="18" charset="0"/>
                </a:rPr>
                <a:t>多分布</a:t>
              </a:r>
            </a:p>
            <a:p>
              <a:r>
                <a:rPr kumimoji="1" lang="zh-CN" altLang="en-US" sz="1600">
                  <a:latin typeface="Times New Roman" pitchFamily="18" charset="0"/>
                </a:rPr>
                <a:t>企业区位</a:t>
              </a:r>
            </a:p>
          </p:txBody>
        </p:sp>
        <p:sp>
          <p:nvSpPr>
            <p:cNvPr id="27685" name="Text Box 36"/>
            <p:cNvSpPr txBox="1">
              <a:spLocks noChangeArrowheads="1"/>
            </p:cNvSpPr>
            <p:nvPr/>
          </p:nvSpPr>
          <p:spPr bwMode="auto">
            <a:xfrm>
              <a:off x="1392" y="2544"/>
              <a:ext cx="794" cy="4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zh-CN" altLang="en-US" sz="1600">
                  <a:latin typeface="Times New Roman" pitchFamily="18" charset="0"/>
                </a:rPr>
                <a:t>跨国企业</a:t>
              </a:r>
            </a:p>
            <a:p>
              <a:r>
                <a:rPr kumimoji="1" lang="zh-CN" altLang="en-US" sz="1600">
                  <a:latin typeface="Times New Roman" pitchFamily="18" charset="0"/>
                </a:rPr>
                <a:t>              区位</a:t>
              </a:r>
            </a:p>
            <a:p>
              <a:r>
                <a:rPr kumimoji="1" lang="zh-CN" altLang="en-US" sz="1600">
                  <a:latin typeface="Times New Roman" pitchFamily="18" charset="0"/>
                </a:rPr>
                <a:t>全球企业</a:t>
              </a:r>
            </a:p>
          </p:txBody>
        </p:sp>
        <p:sp>
          <p:nvSpPr>
            <p:cNvPr id="27686" name="Text Box 37"/>
            <p:cNvSpPr txBox="1">
              <a:spLocks noChangeArrowheads="1"/>
            </p:cNvSpPr>
            <p:nvPr/>
          </p:nvSpPr>
          <p:spPr bwMode="auto">
            <a:xfrm>
              <a:off x="3744" y="2496"/>
              <a:ext cx="732" cy="4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zh-CN" altLang="en-US" sz="1600">
                  <a:latin typeface="Times New Roman" pitchFamily="18" charset="0"/>
                </a:rPr>
                <a:t>区域－企业</a:t>
              </a:r>
            </a:p>
            <a:p>
              <a:endParaRPr kumimoji="1" lang="zh-CN" altLang="en-US" sz="1600">
                <a:latin typeface="Times New Roman" pitchFamily="18" charset="0"/>
              </a:endParaRPr>
            </a:p>
            <a:p>
              <a:r>
                <a:rPr kumimoji="1" lang="zh-CN" altLang="en-US" sz="1600">
                  <a:latin typeface="Times New Roman" pitchFamily="18" charset="0"/>
                </a:rPr>
                <a:t>  综合分析</a:t>
              </a:r>
            </a:p>
          </p:txBody>
        </p:sp>
        <p:sp>
          <p:nvSpPr>
            <p:cNvPr id="27687" name="Text Box 38"/>
            <p:cNvSpPr txBox="1">
              <a:spLocks noChangeArrowheads="1"/>
            </p:cNvSpPr>
            <p:nvPr/>
          </p:nvSpPr>
          <p:spPr bwMode="auto">
            <a:xfrm>
              <a:off x="4848" y="1152"/>
              <a:ext cx="484" cy="14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zh-CN" altLang="en-US" sz="2400">
                  <a:latin typeface="Times New Roman" pitchFamily="18" charset="0"/>
                </a:rPr>
                <a:t>经济</a:t>
              </a:r>
            </a:p>
            <a:p>
              <a:endParaRPr kumimoji="1" lang="zh-CN" altLang="en-US" sz="2400">
                <a:latin typeface="Times New Roman" pitchFamily="18" charset="0"/>
              </a:endParaRPr>
            </a:p>
            <a:p>
              <a:r>
                <a:rPr kumimoji="1" lang="zh-CN" altLang="en-US" sz="2400">
                  <a:latin typeface="Times New Roman" pitchFamily="18" charset="0"/>
                </a:rPr>
                <a:t>活动</a:t>
              </a:r>
            </a:p>
            <a:p>
              <a:endParaRPr kumimoji="1" lang="zh-CN" altLang="en-US" sz="2400">
                <a:latin typeface="Times New Roman" pitchFamily="18" charset="0"/>
              </a:endParaRPr>
            </a:p>
            <a:p>
              <a:r>
                <a:rPr kumimoji="1" lang="zh-CN" altLang="en-US" sz="2400">
                  <a:latin typeface="Times New Roman" pitchFamily="18" charset="0"/>
                </a:rPr>
                <a:t>全球</a:t>
              </a:r>
            </a:p>
            <a:p>
              <a:endParaRPr kumimoji="1" lang="zh-CN" altLang="en-US" sz="2400">
                <a:latin typeface="Times New Roman" pitchFamily="18" charset="0"/>
              </a:endParaRPr>
            </a:p>
            <a:p>
              <a:r>
                <a:rPr kumimoji="1" lang="zh-CN" altLang="en-US" sz="2400">
                  <a:latin typeface="Times New Roman" pitchFamily="18" charset="0"/>
                </a:rPr>
                <a:t>化</a:t>
              </a:r>
            </a:p>
          </p:txBody>
        </p:sp>
        <p:sp>
          <p:nvSpPr>
            <p:cNvPr id="27688" name="Text Box 39"/>
            <p:cNvSpPr txBox="1">
              <a:spLocks noChangeArrowheads="1"/>
            </p:cNvSpPr>
            <p:nvPr/>
          </p:nvSpPr>
          <p:spPr bwMode="auto">
            <a:xfrm>
              <a:off x="1593" y="480"/>
              <a:ext cx="261" cy="2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eaVert" wrap="none">
              <a:spAutoFit/>
            </a:bodyPr>
            <a:lstStyle/>
            <a:p>
              <a:r>
                <a:rPr kumimoji="1" lang="zh-CN" altLang="en-US" sz="1600">
                  <a:latin typeface="Times New Roman" pitchFamily="18" charset="0"/>
                </a:rPr>
                <a:t>微观</a:t>
              </a:r>
            </a:p>
          </p:txBody>
        </p:sp>
        <p:sp>
          <p:nvSpPr>
            <p:cNvPr id="27689" name="Text Box 40"/>
            <p:cNvSpPr txBox="1">
              <a:spLocks noChangeArrowheads="1"/>
            </p:cNvSpPr>
            <p:nvPr/>
          </p:nvSpPr>
          <p:spPr bwMode="auto">
            <a:xfrm>
              <a:off x="2697" y="528"/>
              <a:ext cx="261" cy="2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eaVert" wrap="none">
              <a:spAutoFit/>
            </a:bodyPr>
            <a:lstStyle/>
            <a:p>
              <a:r>
                <a:rPr kumimoji="1" lang="zh-CN" altLang="en-US" sz="1600">
                  <a:latin typeface="Times New Roman" pitchFamily="18" charset="0"/>
                </a:rPr>
                <a:t>中观</a:t>
              </a:r>
            </a:p>
          </p:txBody>
        </p:sp>
        <p:sp>
          <p:nvSpPr>
            <p:cNvPr id="27690" name="Text Box 41"/>
            <p:cNvSpPr txBox="1">
              <a:spLocks noChangeArrowheads="1"/>
            </p:cNvSpPr>
            <p:nvPr/>
          </p:nvSpPr>
          <p:spPr bwMode="auto">
            <a:xfrm>
              <a:off x="3848" y="528"/>
              <a:ext cx="262" cy="2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eaVert" wrap="none">
              <a:spAutoFit/>
            </a:bodyPr>
            <a:lstStyle/>
            <a:p>
              <a:r>
                <a:rPr kumimoji="1" lang="zh-CN" altLang="en-US" sz="1600">
                  <a:latin typeface="Times New Roman" pitchFamily="18" charset="0"/>
                </a:rPr>
                <a:t>宏观</a:t>
              </a:r>
            </a:p>
          </p:txBody>
        </p:sp>
        <p:sp>
          <p:nvSpPr>
            <p:cNvPr id="27691" name="Text Box 42"/>
            <p:cNvSpPr txBox="1">
              <a:spLocks noChangeArrowheads="1"/>
            </p:cNvSpPr>
            <p:nvPr/>
          </p:nvSpPr>
          <p:spPr bwMode="auto">
            <a:xfrm>
              <a:off x="4358" y="559"/>
              <a:ext cx="608" cy="1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zh-CN" altLang="en-US" sz="1600">
                  <a:latin typeface="Times New Roman" pitchFamily="18" charset="0"/>
                </a:rPr>
                <a:t>区域尺度</a:t>
              </a:r>
            </a:p>
          </p:txBody>
        </p:sp>
        <p:sp>
          <p:nvSpPr>
            <p:cNvPr id="27692" name="Text Box 43"/>
            <p:cNvSpPr txBox="1">
              <a:spLocks noChangeArrowheads="1"/>
            </p:cNvSpPr>
            <p:nvPr/>
          </p:nvSpPr>
          <p:spPr bwMode="auto">
            <a:xfrm>
              <a:off x="710" y="781"/>
              <a:ext cx="484" cy="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zh-CN" altLang="en-US" sz="2400">
                  <a:latin typeface="Times New Roman" pitchFamily="18" charset="0"/>
                </a:rPr>
                <a:t>简单</a:t>
              </a:r>
            </a:p>
          </p:txBody>
        </p:sp>
        <p:sp>
          <p:nvSpPr>
            <p:cNvPr id="27693" name="Text Box 44"/>
            <p:cNvSpPr txBox="1">
              <a:spLocks noChangeArrowheads="1"/>
            </p:cNvSpPr>
            <p:nvPr/>
          </p:nvSpPr>
          <p:spPr bwMode="auto">
            <a:xfrm>
              <a:off x="672" y="1968"/>
              <a:ext cx="484" cy="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zh-CN" altLang="en-US" sz="2400">
                  <a:latin typeface="Times New Roman" pitchFamily="18" charset="0"/>
                </a:rPr>
                <a:t>复杂</a:t>
              </a:r>
            </a:p>
          </p:txBody>
        </p:sp>
        <p:sp>
          <p:nvSpPr>
            <p:cNvPr id="27694" name="Text Box 45"/>
            <p:cNvSpPr txBox="1">
              <a:spLocks noChangeArrowheads="1"/>
            </p:cNvSpPr>
            <p:nvPr/>
          </p:nvSpPr>
          <p:spPr bwMode="auto">
            <a:xfrm>
              <a:off x="825" y="2448"/>
              <a:ext cx="261" cy="7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eaVert" wrap="none">
              <a:spAutoFit/>
            </a:bodyPr>
            <a:lstStyle/>
            <a:p>
              <a:r>
                <a:rPr kumimoji="1" lang="zh-CN" altLang="en-US" sz="1600">
                  <a:latin typeface="Times New Roman" pitchFamily="18" charset="0"/>
                </a:rPr>
                <a:t>企业组织尺度</a:t>
              </a:r>
            </a:p>
          </p:txBody>
        </p:sp>
        <p:sp>
          <p:nvSpPr>
            <p:cNvPr id="27695" name="Oval 46"/>
            <p:cNvSpPr>
              <a:spLocks noChangeArrowheads="1"/>
            </p:cNvSpPr>
            <p:nvPr/>
          </p:nvSpPr>
          <p:spPr bwMode="auto">
            <a:xfrm>
              <a:off x="2736" y="1536"/>
              <a:ext cx="432" cy="86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96" name="Text Box 47"/>
            <p:cNvSpPr txBox="1">
              <a:spLocks noChangeArrowheads="1"/>
            </p:cNvSpPr>
            <p:nvPr/>
          </p:nvSpPr>
          <p:spPr bwMode="auto">
            <a:xfrm>
              <a:off x="2842" y="1632"/>
              <a:ext cx="298" cy="6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eaVert" wrap="none">
              <a:spAutoFit/>
            </a:bodyPr>
            <a:lstStyle/>
            <a:p>
              <a:r>
                <a:rPr kumimoji="1" lang="zh-CN" altLang="en-US" sz="2000">
                  <a:latin typeface="Times New Roman" pitchFamily="18" charset="0"/>
                </a:rPr>
                <a:t>新产业区</a:t>
              </a:r>
            </a:p>
          </p:txBody>
        </p:sp>
        <p:sp>
          <p:nvSpPr>
            <p:cNvPr id="27697" name="Line 48"/>
            <p:cNvSpPr>
              <a:spLocks noChangeShapeType="1"/>
            </p:cNvSpPr>
            <p:nvPr/>
          </p:nvSpPr>
          <p:spPr bwMode="auto">
            <a:xfrm flipV="1">
              <a:off x="2160" y="1296"/>
              <a:ext cx="336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98" name="Line 49"/>
            <p:cNvSpPr>
              <a:spLocks noChangeShapeType="1"/>
            </p:cNvSpPr>
            <p:nvPr/>
          </p:nvSpPr>
          <p:spPr bwMode="auto">
            <a:xfrm flipH="1">
              <a:off x="2160" y="1296"/>
              <a:ext cx="384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699" name="Line 50"/>
            <p:cNvSpPr>
              <a:spLocks noChangeShapeType="1"/>
            </p:cNvSpPr>
            <p:nvPr/>
          </p:nvSpPr>
          <p:spPr bwMode="auto">
            <a:xfrm flipV="1">
              <a:off x="2160" y="1248"/>
              <a:ext cx="144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700" name="Line 51"/>
            <p:cNvSpPr>
              <a:spLocks noChangeShapeType="1"/>
            </p:cNvSpPr>
            <p:nvPr/>
          </p:nvSpPr>
          <p:spPr bwMode="auto">
            <a:xfrm flipH="1">
              <a:off x="2160" y="1296"/>
              <a:ext cx="144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701" name="Line 52"/>
            <p:cNvSpPr>
              <a:spLocks noChangeShapeType="1"/>
            </p:cNvSpPr>
            <p:nvPr/>
          </p:nvSpPr>
          <p:spPr bwMode="auto">
            <a:xfrm flipV="1">
              <a:off x="2160" y="1296"/>
              <a:ext cx="624" cy="12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702" name="Line 53"/>
            <p:cNvSpPr>
              <a:spLocks noChangeShapeType="1"/>
            </p:cNvSpPr>
            <p:nvPr/>
          </p:nvSpPr>
          <p:spPr bwMode="auto">
            <a:xfrm flipH="1">
              <a:off x="2160" y="1296"/>
              <a:ext cx="672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703" name="Line 54"/>
            <p:cNvSpPr>
              <a:spLocks noChangeShapeType="1"/>
            </p:cNvSpPr>
            <p:nvPr/>
          </p:nvSpPr>
          <p:spPr bwMode="auto">
            <a:xfrm flipV="1">
              <a:off x="2160" y="1248"/>
              <a:ext cx="1632" cy="16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7704" name="Line 55"/>
            <p:cNvSpPr>
              <a:spLocks noChangeShapeType="1"/>
            </p:cNvSpPr>
            <p:nvPr/>
          </p:nvSpPr>
          <p:spPr bwMode="auto">
            <a:xfrm flipH="1">
              <a:off x="2160" y="1296"/>
              <a:ext cx="1632" cy="16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27651" name="Text Box 56"/>
          <p:cNvSpPr txBox="1">
            <a:spLocks noChangeArrowheads="1"/>
          </p:cNvSpPr>
          <p:nvPr/>
        </p:nvSpPr>
        <p:spPr bwMode="auto">
          <a:xfrm>
            <a:off x="2771775" y="6165850"/>
            <a:ext cx="3536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20</a:t>
            </a:r>
            <a:r>
              <a:rPr lang="zh-CN" altLang="en-US" sz="2400">
                <a:solidFill>
                  <a:srgbClr val="FFFF00"/>
                </a:solidFill>
                <a:latin typeface="黑体" pitchFamily="49" charset="-122"/>
                <a:ea typeface="黑体" pitchFamily="49" charset="-122"/>
              </a:rPr>
              <a:t>世纪经济地理学的发展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4000" dirty="0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七、近年来中国经济地理发展特点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628775"/>
            <a:ext cx="8075612" cy="4530725"/>
          </a:xfrm>
        </p:spPr>
        <p:txBody>
          <a:bodyPr/>
          <a:lstStyle/>
          <a:p>
            <a:pPr eaLnBrk="1" hangingPunct="1">
              <a:lnSpc>
                <a:spcPct val="145000"/>
              </a:lnSpc>
              <a:defRPr/>
            </a:pPr>
            <a:r>
              <a:rPr lang="en-US" altLang="zh-CN" sz="2800" dirty="0" smtClean="0">
                <a:ea typeface="黑体" pitchFamily="2" charset="-122"/>
              </a:rPr>
              <a:t>“</a:t>
            </a:r>
            <a:r>
              <a:rPr lang="zh-CN" altLang="en-US" sz="2800" dirty="0" smtClean="0">
                <a:ea typeface="黑体" pitchFamily="2" charset="-122"/>
              </a:rPr>
              <a:t>综合”导向，即重视与自然科学分支的交叉</a:t>
            </a:r>
          </a:p>
          <a:p>
            <a:pPr eaLnBrk="1" hangingPunct="1">
              <a:lnSpc>
                <a:spcPct val="145000"/>
              </a:lnSpc>
              <a:defRPr/>
            </a:pPr>
            <a:r>
              <a:rPr lang="zh-CN" altLang="en-US" sz="2800" dirty="0" smtClean="0">
                <a:ea typeface="黑体" pitchFamily="2" charset="-122"/>
              </a:rPr>
              <a:t>“规划”导向，即各种尺度的空间规划成为经济地理学研究工作的重要内容</a:t>
            </a:r>
          </a:p>
          <a:p>
            <a:pPr eaLnBrk="1" hangingPunct="1">
              <a:lnSpc>
                <a:spcPct val="145000"/>
              </a:lnSpc>
              <a:defRPr/>
            </a:pPr>
            <a:r>
              <a:rPr lang="zh-CN" altLang="en-US" sz="2800" dirty="0" smtClean="0">
                <a:ea typeface="黑体" pitchFamily="2" charset="-122"/>
              </a:rPr>
              <a:t>明显的“区域主义”，即将区域发展与区域差异作为经济地理学的主要研究领域</a:t>
            </a:r>
          </a:p>
          <a:p>
            <a:pPr eaLnBrk="1" hangingPunct="1">
              <a:lnSpc>
                <a:spcPct val="145000"/>
              </a:lnSpc>
              <a:defRPr/>
            </a:pPr>
            <a:r>
              <a:rPr lang="zh-CN" altLang="en-US" sz="2800" dirty="0" smtClean="0">
                <a:ea typeface="黑体" pitchFamily="2" charset="-122"/>
              </a:rPr>
              <a:t>模拟分析和可视化表达倾向</a:t>
            </a:r>
          </a:p>
          <a:p>
            <a:pPr eaLnBrk="1" hangingPunct="1">
              <a:defRPr/>
            </a:pPr>
            <a:endParaRPr lang="en-US" altLang="zh-CN" sz="2800" dirty="0" smtClean="0"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1000"/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23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2000"/>
                                        <p:tgtEl>
                                          <p:spTgt spid="123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908050"/>
            <a:ext cx="8229600" cy="93503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800" smtClean="0">
                <a:ea typeface="黑体" pitchFamily="2" charset="-122"/>
              </a:rPr>
              <a:t>近来环境与发展研究领域的流行语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95513" y="2349500"/>
            <a:ext cx="6635750" cy="3744913"/>
          </a:xfrm>
        </p:spPr>
        <p:txBody>
          <a:bodyPr/>
          <a:lstStyle/>
          <a:p>
            <a:pPr eaLnBrk="1" hangingPunct="1">
              <a:lnSpc>
                <a:spcPct val="155000"/>
              </a:lnSpc>
              <a:defRPr/>
            </a:pPr>
            <a:r>
              <a:rPr lang="zh-CN" altLang="en-US" sz="2400" smtClean="0">
                <a:latin typeface="黑体" pitchFamily="2" charset="-122"/>
                <a:ea typeface="黑体" pitchFamily="2" charset="-122"/>
              </a:rPr>
              <a:t>情景分析</a:t>
            </a:r>
          </a:p>
          <a:p>
            <a:pPr eaLnBrk="1" hangingPunct="1">
              <a:lnSpc>
                <a:spcPct val="155000"/>
              </a:lnSpc>
              <a:defRPr/>
            </a:pPr>
            <a:r>
              <a:rPr lang="zh-CN" altLang="en-US" sz="2400" smtClean="0">
                <a:latin typeface="黑体" pitchFamily="2" charset="-122"/>
                <a:ea typeface="黑体" pitchFamily="2" charset="-122"/>
              </a:rPr>
              <a:t>参与式评估</a:t>
            </a:r>
            <a:r>
              <a:rPr lang="en-US" altLang="zh-CN" sz="2400" smtClean="0">
                <a:latin typeface="黑体" pitchFamily="2" charset="-122"/>
                <a:ea typeface="黑体" pitchFamily="2" charset="-122"/>
              </a:rPr>
              <a:t>/</a:t>
            </a:r>
            <a:r>
              <a:rPr lang="zh-CN" altLang="en-US" sz="2400" smtClean="0">
                <a:latin typeface="黑体" pitchFamily="2" charset="-122"/>
                <a:ea typeface="黑体" pitchFamily="2" charset="-122"/>
              </a:rPr>
              <a:t>规划</a:t>
            </a:r>
          </a:p>
          <a:p>
            <a:pPr eaLnBrk="1" hangingPunct="1">
              <a:lnSpc>
                <a:spcPct val="155000"/>
              </a:lnSpc>
              <a:defRPr/>
            </a:pPr>
            <a:r>
              <a:rPr lang="zh-CN" altLang="en-US" sz="2400" smtClean="0">
                <a:latin typeface="黑体" pitchFamily="2" charset="-122"/>
                <a:ea typeface="黑体" pitchFamily="2" charset="-122"/>
              </a:rPr>
              <a:t>利益相关者（利益攸关者）</a:t>
            </a:r>
          </a:p>
          <a:p>
            <a:pPr eaLnBrk="1" hangingPunct="1">
              <a:lnSpc>
                <a:spcPct val="155000"/>
              </a:lnSpc>
              <a:defRPr/>
            </a:pPr>
            <a:r>
              <a:rPr lang="zh-CN" altLang="en-US" sz="2400" smtClean="0">
                <a:latin typeface="黑体" pitchFamily="2" charset="-122"/>
                <a:ea typeface="黑体" pitchFamily="2" charset="-122"/>
              </a:rPr>
              <a:t>协同治理</a:t>
            </a:r>
          </a:p>
          <a:p>
            <a:pPr eaLnBrk="1" hangingPunct="1">
              <a:lnSpc>
                <a:spcPct val="155000"/>
              </a:lnSpc>
              <a:defRPr/>
            </a:pPr>
            <a:r>
              <a:rPr lang="zh-CN" altLang="en-US" sz="2400" smtClean="0">
                <a:latin typeface="黑体" pitchFamily="2" charset="-122"/>
                <a:ea typeface="黑体" pitchFamily="2" charset="-122"/>
              </a:rPr>
              <a:t>生态服务价值评估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2771775" y="692150"/>
            <a:ext cx="5518150" cy="1143000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3600" smtClean="0">
                <a:ea typeface="黑体" pitchFamily="2" charset="-122"/>
              </a:rPr>
              <a:t>大都是外来语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2205038"/>
            <a:ext cx="7920037" cy="3197225"/>
          </a:xfrm>
        </p:spPr>
        <p:txBody>
          <a:bodyPr/>
          <a:lstStyle/>
          <a:p>
            <a:pPr eaLnBrk="1" hangingPunct="1">
              <a:lnSpc>
                <a:spcPct val="125000"/>
              </a:lnSpc>
              <a:defRPr/>
            </a:pPr>
            <a:r>
              <a:rPr lang="zh-CN" altLang="en-US" sz="2800" smtClean="0">
                <a:solidFill>
                  <a:srgbClr val="99CCFF"/>
                </a:solidFill>
                <a:latin typeface="Times New Roman" pitchFamily="18" charset="0"/>
                <a:ea typeface="黑体" pitchFamily="2" charset="-122"/>
              </a:rPr>
              <a:t>情景分析</a:t>
            </a:r>
            <a:r>
              <a:rPr lang="zh-CN" altLang="en-US" sz="2800" smtClean="0">
                <a:latin typeface="Times New Roman" pitchFamily="18" charset="0"/>
                <a:ea typeface="黑体" pitchFamily="2" charset="-122"/>
              </a:rPr>
              <a:t>                      </a:t>
            </a:r>
            <a:r>
              <a:rPr lang="en-US" altLang="zh-CN" sz="2800" smtClean="0">
                <a:latin typeface="Times New Roman" pitchFamily="18" charset="0"/>
                <a:ea typeface="黑体" pitchFamily="2" charset="-122"/>
              </a:rPr>
              <a:t>Scenario  analysis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en-US" sz="2800" smtClean="0">
                <a:solidFill>
                  <a:srgbClr val="99CCFF"/>
                </a:solidFill>
                <a:latin typeface="Times New Roman" pitchFamily="18" charset="0"/>
                <a:ea typeface="黑体" pitchFamily="2" charset="-122"/>
              </a:rPr>
              <a:t>参与式评估</a:t>
            </a:r>
            <a:r>
              <a:rPr lang="en-US" altLang="zh-CN" sz="2800" smtClean="0">
                <a:solidFill>
                  <a:srgbClr val="99CCFF"/>
                </a:solidFill>
                <a:latin typeface="Times New Roman" pitchFamily="18" charset="0"/>
                <a:ea typeface="黑体" pitchFamily="2" charset="-122"/>
              </a:rPr>
              <a:t>/</a:t>
            </a:r>
            <a:r>
              <a:rPr lang="zh-CN" altLang="en-US" sz="2800" smtClean="0">
                <a:solidFill>
                  <a:srgbClr val="99CCFF"/>
                </a:solidFill>
                <a:latin typeface="Times New Roman" pitchFamily="18" charset="0"/>
                <a:ea typeface="黑体" pitchFamily="2" charset="-122"/>
              </a:rPr>
              <a:t>规划</a:t>
            </a:r>
            <a:r>
              <a:rPr lang="zh-CN" altLang="en-US" sz="2800" smtClean="0">
                <a:latin typeface="Times New Roman" pitchFamily="18" charset="0"/>
                <a:ea typeface="黑体" pitchFamily="2" charset="-122"/>
              </a:rPr>
              <a:t>        </a:t>
            </a:r>
            <a:r>
              <a:rPr lang="en-US" altLang="zh-CN" sz="2800" smtClean="0">
                <a:latin typeface="Times New Roman" pitchFamily="18" charset="0"/>
                <a:ea typeface="黑体" pitchFamily="2" charset="-122"/>
              </a:rPr>
              <a:t>Participatory development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en-US" sz="2800" smtClean="0">
                <a:solidFill>
                  <a:srgbClr val="99CCFF"/>
                </a:solidFill>
                <a:latin typeface="Times New Roman" pitchFamily="18" charset="0"/>
                <a:ea typeface="黑体" pitchFamily="2" charset="-122"/>
              </a:rPr>
              <a:t>利益相关者（利益攸关者）</a:t>
            </a:r>
            <a:r>
              <a:rPr lang="en-US" altLang="zh-CN" sz="2800" smtClean="0">
                <a:latin typeface="Times New Roman" pitchFamily="18" charset="0"/>
                <a:ea typeface="黑体" pitchFamily="2" charset="-122"/>
              </a:rPr>
              <a:t>Stakeholder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en-US" sz="2800" smtClean="0">
                <a:solidFill>
                  <a:srgbClr val="99CCFF"/>
                </a:solidFill>
                <a:latin typeface="Times New Roman" pitchFamily="18" charset="0"/>
                <a:ea typeface="黑体" pitchFamily="2" charset="-122"/>
              </a:rPr>
              <a:t>协同治理</a:t>
            </a:r>
            <a:r>
              <a:rPr lang="zh-CN" altLang="en-US" sz="2800" smtClean="0">
                <a:latin typeface="Times New Roman" pitchFamily="18" charset="0"/>
                <a:ea typeface="黑体" pitchFamily="2" charset="-122"/>
              </a:rPr>
              <a:t>                     </a:t>
            </a:r>
            <a:r>
              <a:rPr lang="en-US" altLang="zh-CN" sz="2800" smtClean="0">
                <a:latin typeface="Times New Roman" pitchFamily="18" charset="0"/>
                <a:ea typeface="黑体" pitchFamily="2" charset="-122"/>
              </a:rPr>
              <a:t>(Global) Governance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en-US" sz="2800" smtClean="0">
                <a:solidFill>
                  <a:srgbClr val="99CCFF"/>
                </a:solidFill>
                <a:latin typeface="Times New Roman" pitchFamily="18" charset="0"/>
                <a:ea typeface="黑体" pitchFamily="2" charset="-122"/>
              </a:rPr>
              <a:t>生态服务价值评估</a:t>
            </a:r>
            <a:r>
              <a:rPr lang="zh-CN" altLang="en-US" sz="2800" smtClean="0">
                <a:latin typeface="Times New Roman" pitchFamily="18" charset="0"/>
                <a:ea typeface="黑体" pitchFamily="2" charset="-122"/>
              </a:rPr>
              <a:t>      </a:t>
            </a:r>
            <a:r>
              <a:rPr lang="en-US" altLang="zh-CN" sz="2800" smtClean="0">
                <a:latin typeface="Times New Roman" pitchFamily="18" charset="0"/>
                <a:ea typeface="黑体" pitchFamily="2" charset="-122"/>
              </a:rPr>
              <a:t>Eco-services assessment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>
          <a:xfrm>
            <a:off x="2195513" y="549275"/>
            <a:ext cx="5616575" cy="1143000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3200" smtClean="0">
                <a:solidFill>
                  <a:srgbClr val="FFFF00"/>
                </a:solidFill>
                <a:ea typeface="黑体" pitchFamily="2" charset="-122"/>
              </a:rPr>
              <a:t>在变化对比中理解含义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2060575"/>
            <a:ext cx="7978775" cy="3960813"/>
          </a:xfrm>
        </p:spPr>
        <p:txBody>
          <a:bodyPr/>
          <a:lstStyle/>
          <a:p>
            <a:pPr eaLnBrk="1" hangingPunct="1">
              <a:lnSpc>
                <a:spcPct val="125000"/>
              </a:lnSpc>
              <a:defRPr/>
            </a:pPr>
            <a:r>
              <a:rPr lang="zh-CN" altLang="en-US" sz="2800" smtClean="0">
                <a:solidFill>
                  <a:srgbClr val="99CCFF"/>
                </a:solidFill>
                <a:latin typeface="黑体" pitchFamily="2" charset="-122"/>
                <a:ea typeface="黑体" pitchFamily="2" charset="-122"/>
              </a:rPr>
              <a:t>情景分析</a:t>
            </a: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               各种优化规划方法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en-US" sz="2800" smtClean="0">
                <a:solidFill>
                  <a:srgbClr val="99CCFF"/>
                </a:solidFill>
                <a:latin typeface="黑体" pitchFamily="2" charset="-122"/>
                <a:ea typeface="黑体" pitchFamily="2" charset="-122"/>
              </a:rPr>
              <a:t>参与式评估</a:t>
            </a:r>
            <a:r>
              <a:rPr lang="en-US" altLang="zh-CN" sz="2800" smtClean="0">
                <a:solidFill>
                  <a:srgbClr val="99CCFF"/>
                </a:solidFill>
                <a:latin typeface="黑体" pitchFamily="2" charset="-122"/>
                <a:ea typeface="黑体" pitchFamily="2" charset="-122"/>
              </a:rPr>
              <a:t>/</a:t>
            </a:r>
            <a:r>
              <a:rPr lang="zh-CN" altLang="en-US" sz="2800" smtClean="0">
                <a:solidFill>
                  <a:srgbClr val="99CCFF"/>
                </a:solidFill>
                <a:latin typeface="黑体" pitchFamily="2" charset="-122"/>
                <a:ea typeface="黑体" pitchFamily="2" charset="-122"/>
              </a:rPr>
              <a:t>规划</a:t>
            </a: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        专家打分（德尔菲法）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en-US" sz="2800" smtClean="0">
                <a:solidFill>
                  <a:srgbClr val="99CCFF"/>
                </a:solidFill>
                <a:latin typeface="黑体" pitchFamily="2" charset="-122"/>
                <a:ea typeface="黑体" pitchFamily="2" charset="-122"/>
              </a:rPr>
              <a:t>利益相关者（利益攸关者）</a:t>
            </a: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决策者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en-US" sz="2800" smtClean="0">
                <a:solidFill>
                  <a:srgbClr val="99CCFF"/>
                </a:solidFill>
                <a:latin typeface="黑体" pitchFamily="2" charset="-122"/>
                <a:ea typeface="黑体" pitchFamily="2" charset="-122"/>
              </a:rPr>
              <a:t>协同治理</a:t>
            </a: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               代议民主</a:t>
            </a:r>
            <a:r>
              <a:rPr lang="en-US" altLang="zh-CN" sz="2800" smtClean="0">
                <a:latin typeface="黑体" pitchFamily="2" charset="-122"/>
                <a:ea typeface="黑体" pitchFamily="2" charset="-122"/>
              </a:rPr>
              <a:t>/</a:t>
            </a: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精英治理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en-US" sz="2800" smtClean="0">
                <a:solidFill>
                  <a:srgbClr val="99CCFF"/>
                </a:solidFill>
                <a:latin typeface="黑体" pitchFamily="2" charset="-122"/>
                <a:ea typeface="黑体" pitchFamily="2" charset="-122"/>
              </a:rPr>
              <a:t>生态服务价值评估</a:t>
            </a: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       土地适宜性评价</a:t>
            </a:r>
          </a:p>
          <a:p>
            <a:pPr eaLnBrk="1" hangingPunct="1">
              <a:defRPr/>
            </a:pPr>
            <a:endParaRPr lang="en-US" altLang="zh-CN" sz="3600" smtClean="0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476250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200" smtClean="0">
                <a:ea typeface="黑体" pitchFamily="2" charset="-122"/>
              </a:rPr>
              <a:t>是否表现出统一性？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844675"/>
            <a:ext cx="7761288" cy="4530725"/>
          </a:xfrm>
        </p:spPr>
        <p:txBody>
          <a:bodyPr/>
          <a:lstStyle/>
          <a:p>
            <a:pPr eaLnBrk="1" hangingPunct="1">
              <a:lnSpc>
                <a:spcPct val="125000"/>
              </a:lnSpc>
              <a:defRPr/>
            </a:pPr>
            <a:r>
              <a:rPr lang="zh-CN" altLang="en-US" sz="2400" smtClean="0">
                <a:solidFill>
                  <a:srgbClr val="99CCFF"/>
                </a:solidFill>
                <a:latin typeface="黑体" pitchFamily="2" charset="-122"/>
                <a:ea typeface="黑体" pitchFamily="2" charset="-122"/>
              </a:rPr>
              <a:t>情景分析              各种优化规划方法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en-US" sz="2400" smtClean="0">
                <a:solidFill>
                  <a:srgbClr val="99CCFF"/>
                </a:solidFill>
                <a:latin typeface="黑体" pitchFamily="2" charset="-122"/>
                <a:ea typeface="黑体" pitchFamily="2" charset="-122"/>
              </a:rPr>
              <a:t>参与式评估</a:t>
            </a:r>
            <a:r>
              <a:rPr lang="en-US" altLang="zh-CN" sz="2400" smtClean="0">
                <a:solidFill>
                  <a:srgbClr val="99CCFF"/>
                </a:solidFill>
                <a:latin typeface="黑体" pitchFamily="2" charset="-122"/>
                <a:ea typeface="黑体" pitchFamily="2" charset="-122"/>
              </a:rPr>
              <a:t>/</a:t>
            </a:r>
            <a:r>
              <a:rPr lang="zh-CN" altLang="en-US" sz="2400" smtClean="0">
                <a:solidFill>
                  <a:srgbClr val="99CCFF"/>
                </a:solidFill>
                <a:latin typeface="黑体" pitchFamily="2" charset="-122"/>
                <a:ea typeface="黑体" pitchFamily="2" charset="-122"/>
              </a:rPr>
              <a:t>规划       专家打分（德尔菲法）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en-US" sz="2400" smtClean="0">
                <a:solidFill>
                  <a:srgbClr val="99CCFF"/>
                </a:solidFill>
                <a:latin typeface="黑体" pitchFamily="2" charset="-122"/>
                <a:ea typeface="黑体" pitchFamily="2" charset="-122"/>
              </a:rPr>
              <a:t>利益相关者（利益攸关者）  决策者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en-US" sz="2400" smtClean="0">
                <a:solidFill>
                  <a:srgbClr val="99CCFF"/>
                </a:solidFill>
                <a:latin typeface="黑体" pitchFamily="2" charset="-122"/>
                <a:ea typeface="黑体" pitchFamily="2" charset="-122"/>
              </a:rPr>
              <a:t>协同治理              代议民主</a:t>
            </a:r>
            <a:r>
              <a:rPr lang="en-US" altLang="zh-CN" sz="2400" smtClean="0">
                <a:solidFill>
                  <a:srgbClr val="99CCFF"/>
                </a:solidFill>
                <a:latin typeface="黑体" pitchFamily="2" charset="-122"/>
                <a:ea typeface="黑体" pitchFamily="2" charset="-122"/>
              </a:rPr>
              <a:t>/</a:t>
            </a:r>
            <a:r>
              <a:rPr lang="zh-CN" altLang="en-US" sz="2400" smtClean="0">
                <a:solidFill>
                  <a:srgbClr val="99CCFF"/>
                </a:solidFill>
                <a:latin typeface="黑体" pitchFamily="2" charset="-122"/>
                <a:ea typeface="黑体" pitchFamily="2" charset="-122"/>
              </a:rPr>
              <a:t>精英治理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en-US" sz="2400" smtClean="0">
                <a:solidFill>
                  <a:srgbClr val="99CCFF"/>
                </a:solidFill>
                <a:latin typeface="黑体" pitchFamily="2" charset="-122"/>
                <a:ea typeface="黑体" pitchFamily="2" charset="-122"/>
              </a:rPr>
              <a:t>生态服务价值评估      土地适宜性评价</a:t>
            </a:r>
          </a:p>
          <a:p>
            <a:pPr eaLnBrk="1" hangingPunct="1"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zh-CN" altLang="en-US" sz="2400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  不确定性、多样性      确定性、科学和理性崇拜</a:t>
            </a:r>
          </a:p>
          <a:p>
            <a:pPr eaLnBrk="1" hangingPunct="1">
              <a:lnSpc>
                <a:spcPct val="125000"/>
              </a:lnSpc>
              <a:buFont typeface="Wingdings" pitchFamily="2" charset="2"/>
              <a:buNone/>
              <a:defRPr/>
            </a:pPr>
            <a:r>
              <a:rPr lang="zh-CN" altLang="en-US" sz="2400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   或然性               必然性</a:t>
            </a:r>
          </a:p>
          <a:p>
            <a:pPr eaLnBrk="1" hangingPunct="1">
              <a:defRPr/>
            </a:pPr>
            <a:endParaRPr lang="en-US" altLang="zh-CN" smtClean="0">
              <a:solidFill>
                <a:srgbClr val="99CCFF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692150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200" smtClean="0">
                <a:ea typeface="黑体" pitchFamily="2" charset="-122"/>
              </a:rPr>
              <a:t>反思在哲学社会思潮上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2060575"/>
            <a:ext cx="7834312" cy="4033838"/>
          </a:xfrm>
        </p:spPr>
        <p:txBody>
          <a:bodyPr/>
          <a:lstStyle/>
          <a:p>
            <a:pPr eaLnBrk="1" hangingPunct="1">
              <a:lnSpc>
                <a:spcPct val="125000"/>
              </a:lnSpc>
              <a:defRPr/>
            </a:pPr>
            <a:r>
              <a:rPr lang="zh-CN" altLang="en-US" sz="2400" smtClean="0">
                <a:solidFill>
                  <a:srgbClr val="99CCFF"/>
                </a:solidFill>
                <a:latin typeface="黑体" pitchFamily="2" charset="-122"/>
                <a:ea typeface="黑体" pitchFamily="2" charset="-122"/>
              </a:rPr>
              <a:t>情景分析               各种优化规划方法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en-US" sz="2400" smtClean="0">
                <a:solidFill>
                  <a:srgbClr val="99CCFF"/>
                </a:solidFill>
                <a:latin typeface="黑体" pitchFamily="2" charset="-122"/>
                <a:ea typeface="黑体" pitchFamily="2" charset="-122"/>
              </a:rPr>
              <a:t>参与式评估</a:t>
            </a:r>
            <a:r>
              <a:rPr lang="en-US" altLang="zh-CN" sz="2400" smtClean="0">
                <a:solidFill>
                  <a:srgbClr val="99CCFF"/>
                </a:solidFill>
                <a:latin typeface="黑体" pitchFamily="2" charset="-122"/>
                <a:ea typeface="黑体" pitchFamily="2" charset="-122"/>
              </a:rPr>
              <a:t>/</a:t>
            </a:r>
            <a:r>
              <a:rPr lang="zh-CN" altLang="en-US" sz="2400" smtClean="0">
                <a:solidFill>
                  <a:srgbClr val="99CCFF"/>
                </a:solidFill>
                <a:latin typeface="黑体" pitchFamily="2" charset="-122"/>
                <a:ea typeface="黑体" pitchFamily="2" charset="-122"/>
              </a:rPr>
              <a:t>规划        专家打分（德尔菲法）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en-US" sz="2400" smtClean="0">
                <a:solidFill>
                  <a:srgbClr val="99CCFF"/>
                </a:solidFill>
                <a:latin typeface="黑体" pitchFamily="2" charset="-122"/>
                <a:ea typeface="黑体" pitchFamily="2" charset="-122"/>
              </a:rPr>
              <a:t>利益相关者（利益攸关者）决策者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en-US" sz="2400" smtClean="0">
                <a:solidFill>
                  <a:srgbClr val="99CCFF"/>
                </a:solidFill>
                <a:latin typeface="黑体" pitchFamily="2" charset="-122"/>
                <a:ea typeface="黑体" pitchFamily="2" charset="-122"/>
              </a:rPr>
              <a:t>协同治理               代议民主</a:t>
            </a:r>
            <a:r>
              <a:rPr lang="en-US" altLang="zh-CN" sz="2400" smtClean="0">
                <a:solidFill>
                  <a:srgbClr val="99CCFF"/>
                </a:solidFill>
                <a:latin typeface="黑体" pitchFamily="2" charset="-122"/>
                <a:ea typeface="黑体" pitchFamily="2" charset="-122"/>
              </a:rPr>
              <a:t>/</a:t>
            </a:r>
            <a:r>
              <a:rPr lang="zh-CN" altLang="en-US" sz="2400" smtClean="0">
                <a:solidFill>
                  <a:srgbClr val="99CCFF"/>
                </a:solidFill>
                <a:latin typeface="黑体" pitchFamily="2" charset="-122"/>
                <a:ea typeface="黑体" pitchFamily="2" charset="-122"/>
              </a:rPr>
              <a:t>精英治理</a:t>
            </a:r>
          </a:p>
          <a:p>
            <a:pPr eaLnBrk="1" hangingPunct="1">
              <a:lnSpc>
                <a:spcPct val="125000"/>
              </a:lnSpc>
              <a:defRPr/>
            </a:pPr>
            <a:r>
              <a:rPr lang="zh-CN" altLang="en-US" sz="2400" smtClean="0">
                <a:solidFill>
                  <a:srgbClr val="99CCFF"/>
                </a:solidFill>
                <a:latin typeface="黑体" pitchFamily="2" charset="-122"/>
                <a:ea typeface="黑体" pitchFamily="2" charset="-122"/>
              </a:rPr>
              <a:t>生态服务价值评估       土地适宜性评价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zh-CN" altLang="en-US" smtClean="0">
                <a:latin typeface="黑体" pitchFamily="2" charset="-122"/>
                <a:ea typeface="黑体" pitchFamily="2" charset="-122"/>
              </a:rPr>
              <a:t>  </a:t>
            </a:r>
            <a:r>
              <a:rPr lang="zh-CN" altLang="en-US" sz="2800" smtClean="0">
                <a:solidFill>
                  <a:srgbClr val="FFFF00"/>
                </a:solidFill>
                <a:latin typeface="黑体" pitchFamily="2" charset="-122"/>
                <a:ea typeface="黑体" pitchFamily="2" charset="-122"/>
              </a:rPr>
              <a:t> 后现代主义             现代主义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>
          <a:xfrm>
            <a:off x="2124075" y="765175"/>
            <a:ext cx="5040313" cy="1143000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3200" smtClean="0">
                <a:solidFill>
                  <a:srgbClr val="FFFF00"/>
                </a:solidFill>
                <a:ea typeface="黑体" pitchFamily="2" charset="-122"/>
              </a:rPr>
              <a:t>研究范式的转变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2988" y="2133600"/>
            <a:ext cx="7715250" cy="3773488"/>
          </a:xfrm>
        </p:spPr>
        <p:txBody>
          <a:bodyPr/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科学哲学：必然</a:t>
            </a:r>
            <a:r>
              <a:rPr lang="en-US" altLang="zh-CN" sz="2800" smtClean="0">
                <a:latin typeface="华文细黑"/>
                <a:ea typeface="黑体" pitchFamily="2" charset="-122"/>
              </a:rPr>
              <a:t>——</a:t>
            </a: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或然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方法论：    最优解</a:t>
            </a:r>
            <a:r>
              <a:rPr lang="en-US" altLang="zh-CN" sz="2800" smtClean="0">
                <a:latin typeface="华文细黑"/>
                <a:ea typeface="黑体" pitchFamily="2" charset="-122"/>
              </a:rPr>
              <a:t>——</a:t>
            </a: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情景分析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服务对象：惟一的决策者</a:t>
            </a:r>
            <a:r>
              <a:rPr lang="en-US" altLang="zh-CN" sz="2800" smtClean="0">
                <a:latin typeface="华文细黑"/>
                <a:ea typeface="黑体" pitchFamily="2" charset="-122"/>
              </a:rPr>
              <a:t>——</a:t>
            </a: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多个利益攸关方，</a:t>
            </a:r>
            <a:r>
              <a:rPr lang="zh-CN" altLang="en-US" sz="2800" smtClean="0">
                <a:latin typeface="华文细黑"/>
                <a:ea typeface="黑体" pitchFamily="2" charset="-122"/>
              </a:rPr>
              <a:t>“</a:t>
            </a: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统筹</a:t>
            </a:r>
            <a:r>
              <a:rPr lang="zh-CN" altLang="en-US" sz="2800" smtClean="0">
                <a:latin typeface="华文细黑"/>
                <a:ea typeface="黑体" pitchFamily="2" charset="-122"/>
              </a:rPr>
              <a:t>”</a:t>
            </a: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、</a:t>
            </a:r>
            <a:r>
              <a:rPr lang="zh-CN" altLang="en-US" sz="2800" smtClean="0">
                <a:latin typeface="华文细黑"/>
                <a:ea typeface="黑体" pitchFamily="2" charset="-122"/>
              </a:rPr>
              <a:t>“</a:t>
            </a:r>
            <a:r>
              <a:rPr lang="zh-CN" altLang="en-US" sz="2800" smtClean="0">
                <a:latin typeface="黑体" pitchFamily="2" charset="-122"/>
                <a:ea typeface="黑体" pitchFamily="2" charset="-122"/>
              </a:rPr>
              <a:t>和谐社会</a:t>
            </a:r>
            <a:r>
              <a:rPr lang="zh-CN" altLang="en-US" sz="2800" smtClean="0">
                <a:latin typeface="华文细黑"/>
                <a:ea typeface="黑体" pitchFamily="2" charset="-122"/>
              </a:rPr>
              <a:t>”</a:t>
            </a:r>
            <a:endParaRPr lang="zh-CN" altLang="en-US" sz="2800" smtClean="0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913" y="1125538"/>
            <a:ext cx="7138987" cy="1143000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3600" smtClean="0">
                <a:solidFill>
                  <a:srgbClr val="FFFF00"/>
                </a:solidFill>
                <a:ea typeface="黑体" pitchFamily="2" charset="-122"/>
              </a:rPr>
              <a:t>转变的原因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19250" y="2492375"/>
            <a:ext cx="7078663" cy="3046413"/>
          </a:xfrm>
        </p:spPr>
        <p:txBody>
          <a:bodyPr/>
          <a:lstStyle/>
          <a:p>
            <a:pPr eaLnBrk="1" hangingPunct="1">
              <a:lnSpc>
                <a:spcPct val="155000"/>
              </a:lnSpc>
              <a:defRPr/>
            </a:pPr>
            <a:r>
              <a:rPr lang="zh-CN" altLang="en-US" sz="2800" smtClean="0">
                <a:ea typeface="黑体" pitchFamily="2" charset="-122"/>
              </a:rPr>
              <a:t>环境和发展问题的复杂性和不确定性</a:t>
            </a:r>
          </a:p>
          <a:p>
            <a:pPr eaLnBrk="1" hangingPunct="1">
              <a:lnSpc>
                <a:spcPct val="155000"/>
              </a:lnSpc>
              <a:defRPr/>
            </a:pPr>
            <a:r>
              <a:rPr lang="zh-CN" altLang="en-US" sz="2800" smtClean="0">
                <a:ea typeface="黑体" pitchFamily="2" charset="-122"/>
              </a:rPr>
              <a:t>大科学研究组织方式的要求</a:t>
            </a:r>
          </a:p>
          <a:p>
            <a:pPr eaLnBrk="1" hangingPunct="1">
              <a:lnSpc>
                <a:spcPct val="155000"/>
              </a:lnSpc>
              <a:defRPr/>
            </a:pPr>
            <a:r>
              <a:rPr lang="zh-CN" altLang="en-US" sz="2800" smtClean="0">
                <a:ea typeface="黑体" pitchFamily="2" charset="-122"/>
              </a:rPr>
              <a:t>后现代的社会思潮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5" descr="back068"/>
          <p:cNvPicPr>
            <a:picLocks noChangeAspect="1" noChangeArrowheads="1"/>
          </p:cNvPicPr>
          <p:nvPr>
            <p:ph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0" y="0"/>
            <a:ext cx="9144000" cy="6669088"/>
          </a:xfrm>
          <a:noFill/>
        </p:spPr>
      </p:pic>
      <p:sp>
        <p:nvSpPr>
          <p:cNvPr id="36867" name="Text Box 6"/>
          <p:cNvSpPr txBox="1">
            <a:spLocks noChangeArrowheads="1"/>
          </p:cNvSpPr>
          <p:nvPr/>
        </p:nvSpPr>
        <p:spPr bwMode="auto">
          <a:xfrm>
            <a:off x="3779838" y="2060575"/>
            <a:ext cx="4392612" cy="155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9600">
                <a:solidFill>
                  <a:schemeClr val="bg2"/>
                </a:solidFill>
                <a:latin typeface="华文行楷" pitchFamily="2" charset="-122"/>
                <a:ea typeface="华文行楷" pitchFamily="2" charset="-122"/>
              </a:rPr>
              <a:t>谢 谢！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eam">
  <a:themeElements>
    <a:clrScheme name="Beam 11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FFFFFF"/>
      </a:hlink>
      <a:folHlink>
        <a:srgbClr val="F9FDFB"/>
      </a:folHlink>
    </a:clrScheme>
    <a:fontScheme name="Beam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eam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am 10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F9FDF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am 11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FFFFFF"/>
        </a:hlink>
        <a:folHlink>
          <a:srgbClr val="F9FDFB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Cascade</Template>
  <TotalTime>2839</TotalTime>
  <Words>2884</Words>
  <Application>Microsoft Office PowerPoint</Application>
  <PresentationFormat>全屏显示(4:3)</PresentationFormat>
  <Paragraphs>224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0" baseType="lpstr">
      <vt:lpstr>Arial</vt:lpstr>
      <vt:lpstr>宋体</vt:lpstr>
      <vt:lpstr>Wingdings</vt:lpstr>
      <vt:lpstr>Times New Roman</vt:lpstr>
      <vt:lpstr>黑体</vt:lpstr>
      <vt:lpstr>华文细黑</vt:lpstr>
      <vt:lpstr>华文行楷</vt:lpstr>
      <vt:lpstr>Beam</vt:lpstr>
      <vt:lpstr>第1章  第2节 经济地理学研究发展概述</vt:lpstr>
      <vt:lpstr>幻灯片 2</vt:lpstr>
      <vt:lpstr>一、古代经济地理（20世纪前）</vt:lpstr>
      <vt:lpstr>一、古代经济地理（20世纪前）</vt:lpstr>
      <vt:lpstr>一、古代经济地理（20世纪前）</vt:lpstr>
      <vt:lpstr>一、古代经济地理（20世纪前）</vt:lpstr>
      <vt:lpstr>幻灯片 7</vt:lpstr>
      <vt:lpstr>幻灯片 8</vt:lpstr>
      <vt:lpstr>幻灯片 9</vt:lpstr>
      <vt:lpstr>幻灯片 10</vt:lpstr>
      <vt:lpstr>二、二战之前的经济地理</vt:lpstr>
      <vt:lpstr>幻灯片 12</vt:lpstr>
      <vt:lpstr>幻灯片 13</vt:lpstr>
      <vt:lpstr>幻灯片 14</vt:lpstr>
      <vt:lpstr>三、二战后繁荣期的经济地理学 </vt:lpstr>
      <vt:lpstr>幻灯片 16</vt:lpstr>
      <vt:lpstr>行为与感应地理学</vt:lpstr>
      <vt:lpstr>幻灯片 18</vt:lpstr>
      <vt:lpstr>四、激进政治经济学派和“新区域主义”的兴起 </vt:lpstr>
      <vt:lpstr>幻灯片 20</vt:lpstr>
      <vt:lpstr>五、“新”经济地理学的出现</vt:lpstr>
      <vt:lpstr>六、20世纪经济地理学发展特点</vt:lpstr>
      <vt:lpstr>幻灯片 23</vt:lpstr>
      <vt:lpstr>七、近年来中国经济地理发展特点</vt:lpstr>
      <vt:lpstr>近来环境与发展研究领域的流行语</vt:lpstr>
      <vt:lpstr>大都是外来语</vt:lpstr>
      <vt:lpstr>在变化对比中理解含义</vt:lpstr>
      <vt:lpstr>是否表现出统一性？</vt:lpstr>
      <vt:lpstr>反思在哲学社会思潮上</vt:lpstr>
      <vt:lpstr>研究范式的转变</vt:lpstr>
      <vt:lpstr>转变的原因</vt:lpstr>
      <vt:lpstr>幻灯片 32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乡镇企业型新产业区非农建设用地可持续发展研究  ——以福建省晋江市为例</dc:title>
  <dc:creator>asd</dc:creator>
  <cp:lastModifiedBy>xbany</cp:lastModifiedBy>
  <cp:revision>96</cp:revision>
  <dcterms:created xsi:type="dcterms:W3CDTF">2004-02-11T15:34:43Z</dcterms:created>
  <dcterms:modified xsi:type="dcterms:W3CDTF">2020-02-11T12:36:16Z</dcterms:modified>
</cp:coreProperties>
</file>