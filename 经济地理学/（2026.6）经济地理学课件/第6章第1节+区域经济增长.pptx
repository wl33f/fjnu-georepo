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notesSlides/notesSlide1.xml" ContentType="application/vnd.openxmlformats-officedocument.presentationml.notesSlide+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0"/>
  </p:notesMasterIdLst>
  <p:sldIdLst>
    <p:sldId id="316" r:id="rId2"/>
    <p:sldId id="335" r:id="rId3"/>
    <p:sldId id="317" r:id="rId4"/>
    <p:sldId id="318" r:id="rId5"/>
    <p:sldId id="319" r:id="rId6"/>
    <p:sldId id="320" r:id="rId7"/>
    <p:sldId id="321" r:id="rId8"/>
    <p:sldId id="322" r:id="rId9"/>
    <p:sldId id="323" r:id="rId10"/>
    <p:sldId id="332" r:id="rId11"/>
    <p:sldId id="333" r:id="rId12"/>
    <p:sldId id="324" r:id="rId13"/>
    <p:sldId id="325" r:id="rId14"/>
    <p:sldId id="326" r:id="rId15"/>
    <p:sldId id="327" r:id="rId16"/>
    <p:sldId id="329" r:id="rId17"/>
    <p:sldId id="330" r:id="rId18"/>
    <p:sldId id="331" r:id="rId19"/>
  </p:sldIdLst>
  <p:sldSz cx="9144000" cy="6858000" type="screen4x3"/>
  <p:notesSz cx="6858000" cy="9144000"/>
  <p:defaultTextStyle>
    <a:defPPr>
      <a:defRPr lang="zh-CN"/>
    </a:defPPr>
    <a:lvl1pPr algn="l" rtl="0" fontAlgn="base">
      <a:spcBef>
        <a:spcPct val="0"/>
      </a:spcBef>
      <a:spcAft>
        <a:spcPct val="0"/>
      </a:spcAft>
      <a:defRPr kern="1200">
        <a:solidFill>
          <a:schemeClr val="tx1"/>
        </a:solidFill>
        <a:latin typeface="Arial" pitchFamily="34" charset="0"/>
        <a:ea typeface="宋体" pitchFamily="2" charset="-122"/>
        <a:cs typeface="+mn-cs"/>
      </a:defRPr>
    </a:lvl1pPr>
    <a:lvl2pPr marL="457200" algn="l" rtl="0" fontAlgn="base">
      <a:spcBef>
        <a:spcPct val="0"/>
      </a:spcBef>
      <a:spcAft>
        <a:spcPct val="0"/>
      </a:spcAft>
      <a:defRPr kern="1200">
        <a:solidFill>
          <a:schemeClr val="tx1"/>
        </a:solidFill>
        <a:latin typeface="Arial" pitchFamily="34" charset="0"/>
        <a:ea typeface="宋体" pitchFamily="2" charset="-122"/>
        <a:cs typeface="+mn-cs"/>
      </a:defRPr>
    </a:lvl2pPr>
    <a:lvl3pPr marL="914400" algn="l" rtl="0" fontAlgn="base">
      <a:spcBef>
        <a:spcPct val="0"/>
      </a:spcBef>
      <a:spcAft>
        <a:spcPct val="0"/>
      </a:spcAft>
      <a:defRPr kern="1200">
        <a:solidFill>
          <a:schemeClr val="tx1"/>
        </a:solidFill>
        <a:latin typeface="Arial" pitchFamily="34" charset="0"/>
        <a:ea typeface="宋体" pitchFamily="2" charset="-122"/>
        <a:cs typeface="+mn-cs"/>
      </a:defRPr>
    </a:lvl3pPr>
    <a:lvl4pPr marL="1371600" algn="l" rtl="0" fontAlgn="base">
      <a:spcBef>
        <a:spcPct val="0"/>
      </a:spcBef>
      <a:spcAft>
        <a:spcPct val="0"/>
      </a:spcAft>
      <a:defRPr kern="1200">
        <a:solidFill>
          <a:schemeClr val="tx1"/>
        </a:solidFill>
        <a:latin typeface="Arial" pitchFamily="34" charset="0"/>
        <a:ea typeface="宋体" pitchFamily="2" charset="-122"/>
        <a:cs typeface="+mn-cs"/>
      </a:defRPr>
    </a:lvl4pPr>
    <a:lvl5pPr marL="1828800" algn="l" rtl="0" fontAlgn="base">
      <a:spcBef>
        <a:spcPct val="0"/>
      </a:spcBef>
      <a:spcAft>
        <a:spcPct val="0"/>
      </a:spcAft>
      <a:defRPr kern="1200">
        <a:solidFill>
          <a:schemeClr val="tx1"/>
        </a:solidFill>
        <a:latin typeface="Arial" pitchFamily="34" charset="0"/>
        <a:ea typeface="宋体" pitchFamily="2" charset="-122"/>
        <a:cs typeface="+mn-cs"/>
      </a:defRPr>
    </a:lvl5pPr>
    <a:lvl6pPr marL="2286000" algn="l" defTabSz="914400" rtl="0" eaLnBrk="1" latinLnBrk="0" hangingPunct="1">
      <a:defRPr kern="1200">
        <a:solidFill>
          <a:schemeClr val="tx1"/>
        </a:solidFill>
        <a:latin typeface="Arial" pitchFamily="34" charset="0"/>
        <a:ea typeface="宋体" pitchFamily="2" charset="-122"/>
        <a:cs typeface="+mn-cs"/>
      </a:defRPr>
    </a:lvl6pPr>
    <a:lvl7pPr marL="2743200" algn="l" defTabSz="914400" rtl="0" eaLnBrk="1" latinLnBrk="0" hangingPunct="1">
      <a:defRPr kern="1200">
        <a:solidFill>
          <a:schemeClr val="tx1"/>
        </a:solidFill>
        <a:latin typeface="Arial" pitchFamily="34" charset="0"/>
        <a:ea typeface="宋体" pitchFamily="2" charset="-122"/>
        <a:cs typeface="+mn-cs"/>
      </a:defRPr>
    </a:lvl7pPr>
    <a:lvl8pPr marL="3200400" algn="l" defTabSz="914400" rtl="0" eaLnBrk="1" latinLnBrk="0" hangingPunct="1">
      <a:defRPr kern="1200">
        <a:solidFill>
          <a:schemeClr val="tx1"/>
        </a:solidFill>
        <a:latin typeface="Arial" pitchFamily="34" charset="0"/>
        <a:ea typeface="宋体" pitchFamily="2" charset="-122"/>
        <a:cs typeface="+mn-cs"/>
      </a:defRPr>
    </a:lvl8pPr>
    <a:lvl9pPr marL="3657600" algn="l" defTabSz="914400" rtl="0" eaLnBrk="1" latinLnBrk="0" hangingPunct="1">
      <a:defRPr kern="1200">
        <a:solidFill>
          <a:schemeClr val="tx1"/>
        </a:solidFill>
        <a:latin typeface="Arial" pitchFamily="34" charset="0"/>
        <a:ea typeface="宋体" pitchFamily="2"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99"/>
    <a:srgbClr val="000000"/>
    <a:srgbClr val="FFFFCC"/>
    <a:srgbClr val="FFFF00"/>
    <a:srgbClr val="FF9900"/>
    <a:srgbClr val="FF3300"/>
  </p:clrMru>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8" d="100"/>
          <a:sy n="78" d="100"/>
        </p:scale>
        <p:origin x="-658" y="-62"/>
      </p:cViewPr>
      <p:guideLst>
        <p:guide orient="horz" pos="2160"/>
        <p:guide pos="2880"/>
      </p:guideLst>
    </p:cSldViewPr>
  </p:slideViewPr>
  <p:outlineViewPr>
    <p:cViewPr>
      <p:scale>
        <a:sx n="33" d="100"/>
        <a:sy n="33" d="100"/>
      </p:scale>
      <p:origin x="0" y="0"/>
    </p:cViewPr>
    <p:sldLst>
      <p:sld r:id="rId1" collapse="1"/>
    </p:sldLst>
  </p:outlin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_rels/viewProps.xml.rels><?xml version="1.0" encoding="UTF-8" standalone="yes"?>
<Relationships xmlns="http://schemas.openxmlformats.org/package/2006/relationships"><Relationship Id="rId1"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Arial" charset="0"/>
              </a:defRPr>
            </a:lvl1pPr>
          </a:lstStyle>
          <a:p>
            <a:pPr>
              <a:defRPr/>
            </a:pPr>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Arial" charset="0"/>
              </a:defRPr>
            </a:lvl1pPr>
          </a:lstStyle>
          <a:p>
            <a:pPr>
              <a:defRPr/>
            </a:pPr>
            <a:fld id="{1C25DBD4-E575-44B6-9E10-C833D78AC84C}" type="datetimeFigureOut">
              <a:rPr lang="zh-CN" altLang="en-US"/>
              <a:pPr>
                <a:defRPr/>
              </a:pPr>
              <a:t>2020\2\11 Tuesday</a:t>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zh-CN" altLang="en-US" noProof="0" smtClean="0"/>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CN" altLang="en-US" noProof="0" smtClean="0"/>
              <a:t>单击此处编辑母版文本样式</a:t>
            </a:r>
          </a:p>
          <a:p>
            <a:pPr lvl="1"/>
            <a:r>
              <a:rPr lang="zh-CN" altLang="en-US" noProof="0" smtClean="0"/>
              <a:t>第二级</a:t>
            </a:r>
          </a:p>
          <a:p>
            <a:pPr lvl="2"/>
            <a:r>
              <a:rPr lang="zh-CN" altLang="en-US" noProof="0" smtClean="0"/>
              <a:t>第三级</a:t>
            </a:r>
          </a:p>
          <a:p>
            <a:pPr lvl="3"/>
            <a:r>
              <a:rPr lang="zh-CN" altLang="en-US" noProof="0" smtClean="0"/>
              <a:t>第四级</a:t>
            </a:r>
          </a:p>
          <a:p>
            <a:pPr lvl="4"/>
            <a:r>
              <a:rPr lang="zh-CN" altLang="en-US" noProof="0" smtClean="0"/>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atin typeface="Arial" charset="0"/>
              </a:defRPr>
            </a:lvl1pPr>
          </a:lstStyle>
          <a:p>
            <a:pPr>
              <a:defRPr/>
            </a:pPr>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atin typeface="Arial" charset="0"/>
              </a:defRPr>
            </a:lvl1pPr>
          </a:lstStyle>
          <a:p>
            <a:pPr>
              <a:defRPr/>
            </a:pPr>
            <a:fld id="{A62191F9-9D9C-4700-A060-EFA70298DB5D}" type="slidenum">
              <a:rPr lang="zh-CN" altLang="en-US"/>
              <a:pPr>
                <a:defRPr/>
              </a:pPr>
              <a:t>‹#›</a:t>
            </a:fld>
            <a:endParaRPr lang="zh-CN"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幻灯片图像占位符 1"/>
          <p:cNvSpPr>
            <a:spLocks noGrp="1" noRot="1" noChangeAspect="1" noTextEdit="1"/>
          </p:cNvSpPr>
          <p:nvPr>
            <p:ph type="sldImg"/>
          </p:nvPr>
        </p:nvSpPr>
        <p:spPr bwMode="auto">
          <a:noFill/>
          <a:ln>
            <a:solidFill>
              <a:srgbClr val="000000"/>
            </a:solidFill>
            <a:miter lim="800000"/>
            <a:headEnd/>
            <a:tailEnd/>
          </a:ln>
        </p:spPr>
      </p:sp>
      <p:sp>
        <p:nvSpPr>
          <p:cNvPr id="21507" name="备注占位符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zh-CN" altLang="en-US" smtClean="0"/>
          </a:p>
        </p:txBody>
      </p:sp>
      <p:sp>
        <p:nvSpPr>
          <p:cNvPr id="21508" name="灯片编号占位符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4B69B6C2-E9E3-493F-8DC7-FFF52B379D24}" type="slidenum">
              <a:rPr lang="zh-CN" altLang="en-US" smtClean="0">
                <a:latin typeface="Arial" pitchFamily="34" charset="0"/>
              </a:rPr>
              <a:pPr/>
              <a:t>18</a:t>
            </a:fld>
            <a:endParaRPr lang="zh-CN" altLang="en-US" smtClean="0">
              <a:latin typeface="Arial"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smtClean="0"/>
              <a:t>单击此处编辑母版副标题样式</a:t>
            </a:r>
            <a:endParaRPr lang="zh-CN" alt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87F27966-ADC0-4CE4-805F-270D6FF55105}" type="slidenum">
              <a:rPr lang="en-US" altLang="zh-CN"/>
              <a:pPr>
                <a:defRPr/>
              </a:pPr>
              <a:t>‹#›</a:t>
            </a:fld>
            <a:endParaRPr lang="en-US" alt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425F0BCC-C8C1-4041-BCC2-E67CCFB3BADD}" type="slidenum">
              <a:rPr lang="en-US" altLang="zh-CN"/>
              <a:pPr>
                <a:defRPr/>
              </a:pPr>
              <a:t>‹#›</a:t>
            </a:fld>
            <a:endParaRPr lang="en-US" alt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8046B9BE-3A16-4D80-91BD-F592452CEFC3}" type="slidenum">
              <a:rPr lang="en-US" altLang="zh-CN"/>
              <a:pPr>
                <a:defRPr/>
              </a:pPr>
              <a:t>‹#›</a:t>
            </a:fld>
            <a:endParaRPr lang="en-US" alt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67107024-91ED-4908-A41B-700600CF7EFB}" type="slidenum">
              <a:rPr lang="en-US" altLang="zh-CN"/>
              <a:pPr>
                <a:defRPr/>
              </a:pPr>
              <a:t>‹#›</a:t>
            </a:fld>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8"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6"/>
          <p:cNvSpPr>
            <a:spLocks noGrp="1" noChangeArrowheads="1"/>
          </p:cNvSpPr>
          <p:nvPr>
            <p:ph type="sldNum" sz="quarter" idx="12"/>
          </p:nvPr>
        </p:nvSpPr>
        <p:spPr>
          <a:ln/>
        </p:spPr>
        <p:txBody>
          <a:bodyPr/>
          <a:lstStyle>
            <a:lvl1pPr>
              <a:defRPr/>
            </a:lvl1pPr>
          </a:lstStyle>
          <a:p>
            <a:pPr>
              <a:defRPr/>
            </a:pPr>
            <a:fld id="{8759F558-20D3-4F1A-A1A1-91C29369A139}" type="slidenum">
              <a:rPr lang="en-US" altLang="zh-CN"/>
              <a:pPr>
                <a:defRPr/>
              </a:pPr>
              <a:t>‹#›</a:t>
            </a:fld>
            <a:endParaRPr lang="en-US" alt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6"/>
          <p:cNvSpPr>
            <a:spLocks noGrp="1" noChangeArrowheads="1"/>
          </p:cNvSpPr>
          <p:nvPr>
            <p:ph type="sldNum" sz="quarter" idx="12"/>
          </p:nvPr>
        </p:nvSpPr>
        <p:spPr>
          <a:ln/>
        </p:spPr>
        <p:txBody>
          <a:bodyPr/>
          <a:lstStyle>
            <a:lvl1pPr>
              <a:defRPr/>
            </a:lvl1pPr>
          </a:lstStyle>
          <a:p>
            <a:pPr>
              <a:defRPr/>
            </a:pPr>
            <a:fld id="{B61E45F1-1867-42E2-8330-372F177B66C8}" type="slidenum">
              <a:rPr lang="en-US" altLang="zh-CN"/>
              <a:pPr>
                <a:defRPr/>
              </a:pPr>
              <a:t>‹#›</a:t>
            </a:fld>
            <a:endParaRPr lang="en-US"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3"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6"/>
          <p:cNvSpPr>
            <a:spLocks noGrp="1" noChangeArrowheads="1"/>
          </p:cNvSpPr>
          <p:nvPr>
            <p:ph type="sldNum" sz="quarter" idx="12"/>
          </p:nvPr>
        </p:nvSpPr>
        <p:spPr>
          <a:ln/>
        </p:spPr>
        <p:txBody>
          <a:bodyPr/>
          <a:lstStyle>
            <a:lvl1pPr>
              <a:defRPr/>
            </a:lvl1pPr>
          </a:lstStyle>
          <a:p>
            <a:pPr>
              <a:defRPr/>
            </a:pPr>
            <a:fld id="{07D99E01-F93E-42E0-9565-78069AA3FC3B}" type="slidenum">
              <a:rPr lang="en-US" altLang="zh-CN"/>
              <a:pPr>
                <a:defRPr/>
              </a:pPr>
              <a:t>‹#›</a:t>
            </a:fld>
            <a:endParaRPr lang="en-US" alt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FA3055FB-B5E6-4E28-9A7F-0D772C89D303}" type="slidenum">
              <a:rPr lang="en-US" altLang="zh-CN"/>
              <a:pPr>
                <a:defRPr/>
              </a:pPr>
              <a:t>‹#›</a:t>
            </a:fld>
            <a:endParaRPr lang="en-US"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ACFCD18E-3703-4C15-BA71-BDC220B5DF6A}" type="slidenum">
              <a:rPr lang="en-US" altLang="zh-CN"/>
              <a:pPr>
                <a:defRPr/>
              </a:pPr>
              <a:t>‹#›</a:t>
            </a:fld>
            <a:endParaRPr lang="en-US" alt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8F717B77-0D4D-43D1-8825-9777A6E69DC8}" type="slidenum">
              <a:rPr lang="en-US" altLang="zh-CN"/>
              <a:pPr>
                <a:defRPr/>
              </a:pPr>
              <a:t>‹#›</a:t>
            </a:fld>
            <a:endParaRPr lang="en-US"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23168825-8211-449F-8C62-1303DB1A4E17}" type="slidenum">
              <a:rPr lang="en-US" altLang="zh-CN"/>
              <a:pPr>
                <a:defRPr/>
              </a:pPr>
              <a:t>‹#›</a:t>
            </a:fld>
            <a:endParaRPr lang="en-US" alt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p>
            <a:r>
              <a:rPr lang="zh-CN" altLang="en-US" smtClean="0"/>
              <a:t>单击此处编辑母版标题样式</a:t>
            </a:r>
            <a:endParaRPr lang="zh-CN" altLang="en-US"/>
          </a:p>
        </p:txBody>
      </p:sp>
      <p:sp>
        <p:nvSpPr>
          <p:cNvPr id="3" name="表格占位符 2"/>
          <p:cNvSpPr>
            <a:spLocks noGrp="1"/>
          </p:cNvSpPr>
          <p:nvPr>
            <p:ph type="tbl" idx="1"/>
          </p:nvPr>
        </p:nvSpPr>
        <p:spPr>
          <a:xfrm>
            <a:off x="457200" y="1600200"/>
            <a:ext cx="8229600" cy="4525963"/>
          </a:xfrm>
        </p:spPr>
        <p:txBody>
          <a:bodyPr/>
          <a:lstStyle/>
          <a:p>
            <a:pPr lvl="0"/>
            <a:endParaRPr lang="zh-CN" altLang="en-US" noProof="0" smtClean="0"/>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7CF356CD-EBF1-404E-BFE3-FF504260FA83}" type="slidenum">
              <a:rPr lang="en-US" altLang="zh-CN"/>
              <a:pPr>
                <a:defRPr/>
              </a:pPr>
              <a:t>‹#›</a:t>
            </a:fld>
            <a:endParaRPr lang="en-US" altLang="zh-CN"/>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woObjAndTx" preserve="1">
  <p:cSld name="标题，两项内容与文本">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p>
            <a:r>
              <a:rPr lang="zh-CN" altLang="en-US" smtClean="0"/>
              <a:t>单击此处编辑母版标题样式</a:t>
            </a:r>
            <a:endParaRPr lang="zh-CN" altLang="en-US"/>
          </a:p>
        </p:txBody>
      </p:sp>
      <p:sp>
        <p:nvSpPr>
          <p:cNvPr id="3" name="内容占位符 2"/>
          <p:cNvSpPr>
            <a:spLocks noGrp="1"/>
          </p:cNvSpPr>
          <p:nvPr>
            <p:ph sz="quarter" idx="1"/>
          </p:nvPr>
        </p:nvSpPr>
        <p:spPr>
          <a:xfrm>
            <a:off x="457200" y="1600200"/>
            <a:ext cx="4038600" cy="21859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quarter" idx="2"/>
          </p:nvPr>
        </p:nvSpPr>
        <p:spPr>
          <a:xfrm>
            <a:off x="457200" y="3938588"/>
            <a:ext cx="4038600" cy="2187575"/>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half" idx="3"/>
          </p:nvPr>
        </p:nvSpPr>
        <p:spPr>
          <a:xfrm>
            <a:off x="4648200" y="1600200"/>
            <a:ext cx="4038600" cy="4525963"/>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7"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8" name="Rectangle 6"/>
          <p:cNvSpPr>
            <a:spLocks noGrp="1" noChangeArrowheads="1"/>
          </p:cNvSpPr>
          <p:nvPr>
            <p:ph type="sldNum" sz="quarter" idx="12"/>
          </p:nvPr>
        </p:nvSpPr>
        <p:spPr>
          <a:ln/>
        </p:spPr>
        <p:txBody>
          <a:bodyPr/>
          <a:lstStyle>
            <a:lvl1pPr>
              <a:defRPr/>
            </a:lvl1pPr>
          </a:lstStyle>
          <a:p>
            <a:pPr>
              <a:defRPr/>
            </a:pPr>
            <a:fld id="{F9F17BD8-1931-40E6-A634-FB539A1B43AA}" type="slidenum">
              <a:rPr lang="en-US" altLang="zh-CN"/>
              <a:pPr>
                <a:defRPr/>
              </a:pPr>
              <a:t>‹#›</a:t>
            </a:fld>
            <a:endParaRPr lang="en-US" altLang="zh-CN"/>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457200" y="274638"/>
            <a:ext cx="8229600" cy="5851525"/>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3"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6"/>
          <p:cNvSpPr>
            <a:spLocks noGrp="1" noChangeArrowheads="1"/>
          </p:cNvSpPr>
          <p:nvPr>
            <p:ph type="sldNum" sz="quarter" idx="12"/>
          </p:nvPr>
        </p:nvSpPr>
        <p:spPr>
          <a:ln/>
        </p:spPr>
        <p:txBody>
          <a:bodyPr/>
          <a:lstStyle>
            <a:lvl1pPr>
              <a:defRPr/>
            </a:lvl1pPr>
          </a:lstStyle>
          <a:p>
            <a:pPr>
              <a:defRPr/>
            </a:pPr>
            <a:fld id="{19C23963-86EA-4340-8C18-5200630C52FB}" type="slidenum">
              <a:rPr lang="en-US" altLang="zh-CN"/>
              <a:pPr>
                <a:defRPr/>
              </a:pPr>
              <a:t>‹#›</a:t>
            </a:fld>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zh-CN" altLang="en-US" smtClean="0"/>
              <a:t>单击此处编辑母版标题样式</a:t>
            </a:r>
          </a:p>
        </p:txBody>
      </p:sp>
      <p:sp>
        <p:nvSpPr>
          <p:cNvPr id="1027" name="Rectangle 3"/>
          <p:cNvSpPr>
            <a:spLocks noGrp="1" noChangeArrowheads="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1028" name="Rectangle 4"/>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atin typeface="Arial" pitchFamily="34" charset="0"/>
              </a:defRPr>
            </a:lvl1pPr>
          </a:lstStyle>
          <a:p>
            <a:pPr>
              <a:defRPr/>
            </a:pPr>
            <a:endParaRPr lang="en-US" altLang="zh-CN"/>
          </a:p>
        </p:txBody>
      </p:sp>
      <p:sp>
        <p:nvSpPr>
          <p:cNvPr id="1029" name="Rectangle 5"/>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atin typeface="Arial" pitchFamily="34" charset="0"/>
              </a:defRPr>
            </a:lvl1pPr>
          </a:lstStyle>
          <a:p>
            <a:pPr>
              <a:defRPr/>
            </a:pPr>
            <a:endParaRPr lang="en-US" altLang="zh-CN"/>
          </a:p>
        </p:txBody>
      </p:sp>
      <p:sp>
        <p:nvSpPr>
          <p:cNvPr id="1030" name="Rectangle 6"/>
          <p:cNvSpPr>
            <a:spLocks noGrp="1" noChangeArrowheads="1"/>
          </p:cNvSpPr>
          <p:nvPr>
            <p:ph type="sldNum" sz="quarter" idx="4"/>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atin typeface="Arial" pitchFamily="34" charset="0"/>
              </a:defRPr>
            </a:lvl1pPr>
          </a:lstStyle>
          <a:p>
            <a:pPr>
              <a:defRPr/>
            </a:pPr>
            <a:fld id="{4A750498-026A-4E6D-85EE-737125EFEE1A}"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itchFamily="34" charset="0"/>
          <a:ea typeface="宋体" pitchFamily="2" charset="-122"/>
        </a:defRPr>
      </a:lvl2pPr>
      <a:lvl3pPr algn="ctr" rtl="0" eaLnBrk="0" fontAlgn="base" hangingPunct="0">
        <a:spcBef>
          <a:spcPct val="0"/>
        </a:spcBef>
        <a:spcAft>
          <a:spcPct val="0"/>
        </a:spcAft>
        <a:defRPr sz="4400">
          <a:solidFill>
            <a:schemeClr val="tx2"/>
          </a:solidFill>
          <a:latin typeface="Arial" pitchFamily="34" charset="0"/>
          <a:ea typeface="宋体" pitchFamily="2" charset="-122"/>
        </a:defRPr>
      </a:lvl3pPr>
      <a:lvl4pPr algn="ctr" rtl="0" eaLnBrk="0" fontAlgn="base" hangingPunct="0">
        <a:spcBef>
          <a:spcPct val="0"/>
        </a:spcBef>
        <a:spcAft>
          <a:spcPct val="0"/>
        </a:spcAft>
        <a:defRPr sz="4400">
          <a:solidFill>
            <a:schemeClr val="tx2"/>
          </a:solidFill>
          <a:latin typeface="Arial" pitchFamily="34" charset="0"/>
          <a:ea typeface="宋体" pitchFamily="2" charset="-122"/>
        </a:defRPr>
      </a:lvl4pPr>
      <a:lvl5pPr algn="ctr" rtl="0" eaLnBrk="0" fontAlgn="base" hangingPunct="0">
        <a:spcBef>
          <a:spcPct val="0"/>
        </a:spcBef>
        <a:spcAft>
          <a:spcPct val="0"/>
        </a:spcAft>
        <a:defRPr sz="4400">
          <a:solidFill>
            <a:schemeClr val="tx2"/>
          </a:solidFill>
          <a:latin typeface="Arial" pitchFamily="34" charset="0"/>
          <a:ea typeface="宋体" pitchFamily="2" charset="-122"/>
        </a:defRPr>
      </a:lvl5pPr>
      <a:lvl6pPr marL="457200" algn="ctr" rtl="0" fontAlgn="base">
        <a:spcBef>
          <a:spcPct val="0"/>
        </a:spcBef>
        <a:spcAft>
          <a:spcPct val="0"/>
        </a:spcAft>
        <a:defRPr sz="4400">
          <a:solidFill>
            <a:schemeClr val="tx2"/>
          </a:solidFill>
          <a:latin typeface="Arial" pitchFamily="34" charset="0"/>
          <a:ea typeface="宋体" pitchFamily="2" charset="-122"/>
        </a:defRPr>
      </a:lvl6pPr>
      <a:lvl7pPr marL="914400" algn="ctr" rtl="0" fontAlgn="base">
        <a:spcBef>
          <a:spcPct val="0"/>
        </a:spcBef>
        <a:spcAft>
          <a:spcPct val="0"/>
        </a:spcAft>
        <a:defRPr sz="4400">
          <a:solidFill>
            <a:schemeClr val="tx2"/>
          </a:solidFill>
          <a:latin typeface="Arial" pitchFamily="34" charset="0"/>
          <a:ea typeface="宋体" pitchFamily="2" charset="-122"/>
        </a:defRPr>
      </a:lvl7pPr>
      <a:lvl8pPr marL="1371600" algn="ctr" rtl="0" fontAlgn="base">
        <a:spcBef>
          <a:spcPct val="0"/>
        </a:spcBef>
        <a:spcAft>
          <a:spcPct val="0"/>
        </a:spcAft>
        <a:defRPr sz="4400">
          <a:solidFill>
            <a:schemeClr val="tx2"/>
          </a:solidFill>
          <a:latin typeface="Arial" pitchFamily="34" charset="0"/>
          <a:ea typeface="宋体" pitchFamily="2" charset="-122"/>
        </a:defRPr>
      </a:lvl8pPr>
      <a:lvl9pPr marL="1828800" algn="ctr" rtl="0" fontAlgn="base">
        <a:spcBef>
          <a:spcPct val="0"/>
        </a:spcBef>
        <a:spcAft>
          <a:spcPct val="0"/>
        </a:spcAft>
        <a:defRPr sz="4400">
          <a:solidFill>
            <a:schemeClr val="tx2"/>
          </a:solidFill>
          <a:latin typeface="Arial" pitchFamily="34" charset="0"/>
          <a:ea typeface="宋体" pitchFamily="2" charset="-122"/>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slide" Target="slide8.xml"/><Relationship Id="rId2" Type="http://schemas.openxmlformats.org/officeDocument/2006/relationships/slide" Target="slide7.xml"/><Relationship Id="rId1" Type="http://schemas.openxmlformats.org/officeDocument/2006/relationships/slideLayout" Target="../slideLayouts/slideLayout2.xml"/><Relationship Id="rId4" Type="http://schemas.openxmlformats.org/officeDocument/2006/relationships/slide" Target="slide6.xml"/></Relationships>
</file>

<file path=ppt/slides/_rels/slide7.xml.rels><?xml version="1.0" encoding="UTF-8" standalone="yes"?>
<Relationships xmlns="http://schemas.openxmlformats.org/package/2006/relationships"><Relationship Id="rId2" Type="http://schemas.openxmlformats.org/officeDocument/2006/relationships/slide" Target="slide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slide" Target="slide13.xml"/><Relationship Id="rId2" Type="http://schemas.openxmlformats.org/officeDocument/2006/relationships/slide" Target="slide12.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slide" Target="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slide" Target="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a:xfrm>
            <a:off x="684213" y="2708275"/>
            <a:ext cx="7772400" cy="2898775"/>
          </a:xfrm>
        </p:spPr>
        <p:txBody>
          <a:bodyPr/>
          <a:lstStyle/>
          <a:p>
            <a:pPr eaLnBrk="1" hangingPunct="1">
              <a:lnSpc>
                <a:spcPct val="200000"/>
              </a:lnSpc>
            </a:pPr>
            <a:r>
              <a:rPr lang="zh-CN" altLang="en-US" sz="3600" smtClean="0">
                <a:solidFill>
                  <a:schemeClr val="bg1"/>
                </a:solidFill>
                <a:latin typeface="黑体" pitchFamily="49" charset="-122"/>
                <a:ea typeface="黑体" pitchFamily="49" charset="-122"/>
              </a:rPr>
              <a:t>第</a:t>
            </a:r>
            <a:r>
              <a:rPr lang="en-US" altLang="zh-CN" sz="3600" smtClean="0">
                <a:solidFill>
                  <a:schemeClr val="bg1"/>
                </a:solidFill>
                <a:latin typeface="黑体" pitchFamily="49" charset="-122"/>
                <a:ea typeface="黑体" pitchFamily="49" charset="-122"/>
              </a:rPr>
              <a:t>6</a:t>
            </a:r>
            <a:r>
              <a:rPr lang="zh-CN" altLang="en-US" sz="3600" smtClean="0">
                <a:solidFill>
                  <a:schemeClr val="bg1"/>
                </a:solidFill>
                <a:latin typeface="黑体" pitchFamily="49" charset="-122"/>
                <a:ea typeface="黑体" pitchFamily="49" charset="-122"/>
              </a:rPr>
              <a:t>章  区域经济发展</a:t>
            </a:r>
            <a:br>
              <a:rPr lang="zh-CN" altLang="en-US" sz="3600" smtClean="0">
                <a:solidFill>
                  <a:schemeClr val="bg1"/>
                </a:solidFill>
                <a:latin typeface="黑体" pitchFamily="49" charset="-122"/>
                <a:ea typeface="黑体" pitchFamily="49" charset="-122"/>
              </a:rPr>
            </a:br>
            <a:r>
              <a:rPr lang="zh-CN" altLang="en-US" sz="3600" smtClean="0">
                <a:solidFill>
                  <a:schemeClr val="bg1"/>
                </a:solidFill>
                <a:latin typeface="黑体" pitchFamily="49" charset="-122"/>
                <a:ea typeface="黑体" pitchFamily="49" charset="-122"/>
              </a:rPr>
              <a:t>第</a:t>
            </a:r>
            <a:r>
              <a:rPr lang="en-US" altLang="zh-CN" sz="3600" smtClean="0">
                <a:solidFill>
                  <a:schemeClr val="bg1"/>
                </a:solidFill>
                <a:latin typeface="黑体" pitchFamily="49" charset="-122"/>
                <a:ea typeface="黑体" pitchFamily="49" charset="-122"/>
              </a:rPr>
              <a:t>1</a:t>
            </a:r>
            <a:r>
              <a:rPr lang="zh-CN" altLang="en-US" sz="3600" smtClean="0">
                <a:solidFill>
                  <a:schemeClr val="bg1"/>
                </a:solidFill>
                <a:latin typeface="黑体" pitchFamily="49" charset="-122"/>
                <a:ea typeface="黑体" pitchFamily="49" charset="-122"/>
              </a:rPr>
              <a:t>节 区域经济增长</a:t>
            </a:r>
            <a:r>
              <a:rPr lang="zh-CN" altLang="en-US" sz="3600" smtClean="0">
                <a:latin typeface="黑体" pitchFamily="49" charset="-122"/>
                <a:ea typeface="黑体" pitchFamily="49" charset="-122"/>
              </a:rPr>
              <a:t/>
            </a:r>
            <a:br>
              <a:rPr lang="zh-CN" altLang="en-US" sz="3600" smtClean="0">
                <a:latin typeface="黑体" pitchFamily="49" charset="-122"/>
                <a:ea typeface="黑体" pitchFamily="49" charset="-122"/>
              </a:rPr>
            </a:br>
            <a:r>
              <a:rPr lang="zh-CN" altLang="en-US" sz="3600" smtClean="0">
                <a:latin typeface="黑体" pitchFamily="49" charset="-122"/>
                <a:ea typeface="黑体" pitchFamily="49" charset="-122"/>
              </a:rPr>
              <a:t/>
            </a:r>
            <a:br>
              <a:rPr lang="zh-CN" altLang="en-US" sz="3600" smtClean="0">
                <a:latin typeface="黑体" pitchFamily="49" charset="-122"/>
                <a:ea typeface="黑体" pitchFamily="49" charset="-122"/>
              </a:rPr>
            </a:br>
            <a:endParaRPr lang="zh-CN" altLang="en-US" sz="3600" smtClean="0">
              <a:latin typeface="黑体" pitchFamily="49" charset="-122"/>
              <a:ea typeface="黑体" pitchFamily="49" charset="-122"/>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9" name="Rectangle 3"/>
          <p:cNvSpPr>
            <a:spLocks noGrp="1" noChangeArrowheads="1"/>
          </p:cNvSpPr>
          <p:nvPr>
            <p:ph type="body" idx="1"/>
          </p:nvPr>
        </p:nvSpPr>
        <p:spPr>
          <a:xfrm>
            <a:off x="755650" y="908050"/>
            <a:ext cx="8002588" cy="5218113"/>
          </a:xfrm>
        </p:spPr>
        <p:txBody>
          <a:bodyPr/>
          <a:lstStyle/>
          <a:p>
            <a:pPr eaLnBrk="1" hangingPunct="1">
              <a:lnSpc>
                <a:spcPct val="120000"/>
              </a:lnSpc>
            </a:pPr>
            <a:r>
              <a:rPr lang="zh-CN" altLang="en-US" sz="2800" smtClean="0">
                <a:ea typeface="黑体" pitchFamily="49" charset="-122"/>
              </a:rPr>
              <a:t>区域概念：空间的特化</a:t>
            </a:r>
          </a:p>
          <a:p>
            <a:pPr lvl="1" eaLnBrk="1" hangingPunct="1">
              <a:lnSpc>
                <a:spcPct val="120000"/>
              </a:lnSpc>
            </a:pPr>
            <a:r>
              <a:rPr lang="zh-CN" altLang="en-US" sz="2400" smtClean="0">
                <a:ea typeface="黑体" pitchFamily="49" charset="-122"/>
              </a:rPr>
              <a:t>即：地域空间的一部分被赋予特定的资源、环境与人口特征，使得一个空间范围在地理学性质上区别于另一个空间范围，分别都成为区域。</a:t>
            </a:r>
          </a:p>
          <a:p>
            <a:pPr eaLnBrk="1" hangingPunct="1">
              <a:lnSpc>
                <a:spcPct val="120000"/>
              </a:lnSpc>
            </a:pPr>
            <a:r>
              <a:rPr lang="zh-CN" altLang="en-US" sz="2800" smtClean="0">
                <a:ea typeface="黑体" pitchFamily="49" charset="-122"/>
              </a:rPr>
              <a:t>区域内涵：</a:t>
            </a:r>
          </a:p>
          <a:p>
            <a:pPr lvl="1" eaLnBrk="1" hangingPunct="1">
              <a:lnSpc>
                <a:spcPct val="120000"/>
              </a:lnSpc>
            </a:pPr>
            <a:r>
              <a:rPr lang="zh-CN" altLang="en-US" sz="2400" smtClean="0">
                <a:ea typeface="黑体" pitchFamily="49" charset="-122"/>
              </a:rPr>
              <a:t>空间</a:t>
            </a:r>
            <a:r>
              <a:rPr lang="en-US" altLang="zh-CN" sz="2400" smtClean="0">
                <a:ea typeface="黑体" pitchFamily="49" charset="-122"/>
              </a:rPr>
              <a:t>——</a:t>
            </a:r>
            <a:r>
              <a:rPr lang="zh-CN" altLang="en-US" sz="2400" smtClean="0">
                <a:ea typeface="黑体" pitchFamily="49" charset="-122"/>
              </a:rPr>
              <a:t>经济活动赖以存在的依托</a:t>
            </a:r>
          </a:p>
          <a:p>
            <a:pPr lvl="1" eaLnBrk="1" hangingPunct="1">
              <a:lnSpc>
                <a:spcPct val="120000"/>
              </a:lnSpc>
            </a:pPr>
            <a:r>
              <a:rPr lang="zh-CN" altLang="en-US" sz="2400" smtClean="0">
                <a:ea typeface="黑体" pitchFamily="49" charset="-122"/>
              </a:rPr>
              <a:t>具有系统性特点</a:t>
            </a:r>
          </a:p>
          <a:p>
            <a:pPr lvl="1" eaLnBrk="1" hangingPunct="1">
              <a:lnSpc>
                <a:spcPct val="120000"/>
              </a:lnSpc>
            </a:pPr>
            <a:r>
              <a:rPr lang="zh-CN" altLang="en-US" sz="2400" smtClean="0">
                <a:ea typeface="黑体" pitchFamily="49" charset="-122"/>
              </a:rPr>
              <a:t>具有结构与功能</a:t>
            </a:r>
          </a:p>
          <a:p>
            <a:pPr lvl="1" eaLnBrk="1" hangingPunct="1">
              <a:lnSpc>
                <a:spcPct val="120000"/>
              </a:lnSpc>
            </a:pPr>
            <a:r>
              <a:rPr lang="zh-CN" altLang="en-US" sz="2400" smtClean="0">
                <a:ea typeface="黑体" pitchFamily="49" charset="-122"/>
              </a:rPr>
              <a:t>具有整体性</a:t>
            </a:r>
          </a:p>
          <a:p>
            <a:pPr lvl="1" eaLnBrk="1" hangingPunct="1">
              <a:lnSpc>
                <a:spcPct val="120000"/>
              </a:lnSpc>
            </a:pPr>
            <a:r>
              <a:rPr lang="zh-CN" altLang="en-US" sz="2400" smtClean="0">
                <a:ea typeface="黑体" pitchFamily="49" charset="-122"/>
              </a:rPr>
              <a:t>具有动态性</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5539">
                                            <p:txEl>
                                              <p:pRg st="0" end="0"/>
                                            </p:txEl>
                                          </p:spTgt>
                                        </p:tgtEl>
                                        <p:attrNameLst>
                                          <p:attrName>style.visibility</p:attrName>
                                        </p:attrNameLst>
                                      </p:cBhvr>
                                      <p:to>
                                        <p:strVal val="visible"/>
                                      </p:to>
                                    </p:set>
                                    <p:anim calcmode="lin" valueType="num">
                                      <p:cBhvr additive="base">
                                        <p:cTn id="7" dur="500" fill="hold"/>
                                        <p:tgtEl>
                                          <p:spTgt spid="6553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553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65539">
                                            <p:txEl>
                                              <p:pRg st="1" end="1"/>
                                            </p:txEl>
                                          </p:spTgt>
                                        </p:tgtEl>
                                        <p:attrNameLst>
                                          <p:attrName>style.visibility</p:attrName>
                                        </p:attrNameLst>
                                      </p:cBhvr>
                                      <p:to>
                                        <p:strVal val="visible"/>
                                      </p:to>
                                    </p:set>
                                    <p:anim calcmode="lin" valueType="num">
                                      <p:cBhvr additive="base">
                                        <p:cTn id="13" dur="500" fill="hold"/>
                                        <p:tgtEl>
                                          <p:spTgt spid="65539">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65539">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65539">
                                            <p:txEl>
                                              <p:pRg st="2" end="2"/>
                                            </p:txEl>
                                          </p:spTgt>
                                        </p:tgtEl>
                                        <p:attrNameLst>
                                          <p:attrName>style.visibility</p:attrName>
                                        </p:attrNameLst>
                                      </p:cBhvr>
                                      <p:to>
                                        <p:strVal val="visible"/>
                                      </p:to>
                                    </p:set>
                                    <p:anim calcmode="lin" valueType="num">
                                      <p:cBhvr additive="base">
                                        <p:cTn id="19" dur="500" fill="hold"/>
                                        <p:tgtEl>
                                          <p:spTgt spid="65539">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65539">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65539">
                                            <p:txEl>
                                              <p:pRg st="3" end="3"/>
                                            </p:txEl>
                                          </p:spTgt>
                                        </p:tgtEl>
                                        <p:attrNameLst>
                                          <p:attrName>style.visibility</p:attrName>
                                        </p:attrNameLst>
                                      </p:cBhvr>
                                      <p:to>
                                        <p:strVal val="visible"/>
                                      </p:to>
                                    </p:set>
                                    <p:anim calcmode="lin" valueType="num">
                                      <p:cBhvr additive="base">
                                        <p:cTn id="25" dur="500" fill="hold"/>
                                        <p:tgtEl>
                                          <p:spTgt spid="65539">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65539">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65539">
                                            <p:txEl>
                                              <p:pRg st="4" end="4"/>
                                            </p:txEl>
                                          </p:spTgt>
                                        </p:tgtEl>
                                        <p:attrNameLst>
                                          <p:attrName>style.visibility</p:attrName>
                                        </p:attrNameLst>
                                      </p:cBhvr>
                                      <p:to>
                                        <p:strVal val="visible"/>
                                      </p:to>
                                    </p:set>
                                    <p:anim calcmode="lin" valueType="num">
                                      <p:cBhvr additive="base">
                                        <p:cTn id="31" dur="500" fill="hold"/>
                                        <p:tgtEl>
                                          <p:spTgt spid="65539">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65539">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65539">
                                            <p:txEl>
                                              <p:pRg st="5" end="5"/>
                                            </p:txEl>
                                          </p:spTgt>
                                        </p:tgtEl>
                                        <p:attrNameLst>
                                          <p:attrName>style.visibility</p:attrName>
                                        </p:attrNameLst>
                                      </p:cBhvr>
                                      <p:to>
                                        <p:strVal val="visible"/>
                                      </p:to>
                                    </p:set>
                                    <p:anim calcmode="lin" valueType="num">
                                      <p:cBhvr additive="base">
                                        <p:cTn id="37" dur="500" fill="hold"/>
                                        <p:tgtEl>
                                          <p:spTgt spid="65539">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65539">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65539">
                                            <p:txEl>
                                              <p:pRg st="6" end="6"/>
                                            </p:txEl>
                                          </p:spTgt>
                                        </p:tgtEl>
                                        <p:attrNameLst>
                                          <p:attrName>style.visibility</p:attrName>
                                        </p:attrNameLst>
                                      </p:cBhvr>
                                      <p:to>
                                        <p:strVal val="visible"/>
                                      </p:to>
                                    </p:set>
                                    <p:anim calcmode="lin" valueType="num">
                                      <p:cBhvr additive="base">
                                        <p:cTn id="43" dur="500" fill="hold"/>
                                        <p:tgtEl>
                                          <p:spTgt spid="65539">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65539">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65539">
                                            <p:txEl>
                                              <p:pRg st="7" end="7"/>
                                            </p:txEl>
                                          </p:spTgt>
                                        </p:tgtEl>
                                        <p:attrNameLst>
                                          <p:attrName>style.visibility</p:attrName>
                                        </p:attrNameLst>
                                      </p:cBhvr>
                                      <p:to>
                                        <p:strVal val="visible"/>
                                      </p:to>
                                    </p:set>
                                    <p:anim calcmode="lin" valueType="num">
                                      <p:cBhvr additive="base">
                                        <p:cTn id="49" dur="500" fill="hold"/>
                                        <p:tgtEl>
                                          <p:spTgt spid="65539">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65539">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1026"/>
          <p:cNvSpPr>
            <a:spLocks noGrp="1" noChangeArrowheads="1"/>
          </p:cNvSpPr>
          <p:nvPr>
            <p:ph type="title"/>
          </p:nvPr>
        </p:nvSpPr>
        <p:spPr>
          <a:xfrm>
            <a:off x="785813" y="1357313"/>
            <a:ext cx="8229600" cy="1143000"/>
          </a:xfrm>
        </p:spPr>
        <p:txBody>
          <a:bodyPr/>
          <a:lstStyle/>
          <a:p>
            <a:pPr algn="l"/>
            <a:r>
              <a:rPr lang="zh-CN" altLang="en-US" sz="4000" smtClean="0">
                <a:solidFill>
                  <a:schemeClr val="bg1"/>
                </a:solidFill>
                <a:latin typeface="黑体" pitchFamily="49" charset="-122"/>
                <a:ea typeface="黑体" pitchFamily="49" charset="-122"/>
              </a:rPr>
              <a:t>区域经济增长概念</a:t>
            </a:r>
          </a:p>
        </p:txBody>
      </p:sp>
      <p:sp>
        <p:nvSpPr>
          <p:cNvPr id="30723" name="Rectangle 1027"/>
          <p:cNvSpPr>
            <a:spLocks noGrp="1" noChangeArrowheads="1"/>
          </p:cNvSpPr>
          <p:nvPr>
            <p:ph type="body" idx="1"/>
          </p:nvPr>
        </p:nvSpPr>
        <p:spPr>
          <a:xfrm>
            <a:off x="1928813" y="2928938"/>
            <a:ext cx="5786437" cy="1857375"/>
          </a:xfrm>
        </p:spPr>
        <p:txBody>
          <a:bodyPr/>
          <a:lstStyle/>
          <a:p>
            <a:pPr marL="503238">
              <a:spcBef>
                <a:spcPts val="4200"/>
              </a:spcBef>
            </a:pPr>
            <a:r>
              <a:rPr lang="zh-CN" altLang="en-US" smtClean="0">
                <a:solidFill>
                  <a:schemeClr val="bg1"/>
                </a:solidFill>
                <a:latin typeface="黑体" pitchFamily="49" charset="-122"/>
                <a:ea typeface="黑体" pitchFamily="49" charset="-122"/>
              </a:rPr>
              <a:t>区域生产的商品</a:t>
            </a:r>
          </a:p>
          <a:p>
            <a:pPr marL="503238">
              <a:spcBef>
                <a:spcPts val="4200"/>
              </a:spcBef>
            </a:pPr>
            <a:r>
              <a:rPr lang="zh-CN" altLang="en-US" smtClean="0">
                <a:solidFill>
                  <a:schemeClr val="bg1"/>
                </a:solidFill>
                <a:latin typeface="黑体" pitchFamily="49" charset="-122"/>
                <a:ea typeface="黑体" pitchFamily="49" charset="-122"/>
              </a:rPr>
              <a:t>提供的劳务总量</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30723">
                                            <p:txEl>
                                              <p:pRg st="0" end="0"/>
                                            </p:txEl>
                                          </p:spTgt>
                                        </p:tgtEl>
                                        <p:attrNameLst>
                                          <p:attrName>style.visibility</p:attrName>
                                        </p:attrNameLst>
                                      </p:cBhvr>
                                      <p:to>
                                        <p:strVal val="visible"/>
                                      </p:to>
                                    </p:set>
                                    <p:animEffect transition="in" filter="box(in)">
                                      <p:cBhvr>
                                        <p:cTn id="7" dur="500"/>
                                        <p:tgtEl>
                                          <p:spTgt spid="30723">
                                            <p:txEl>
                                              <p:pRg st="0" end="0"/>
                                            </p:txEl>
                                          </p:spTgt>
                                        </p:tgtEl>
                                      </p:cBhvr>
                                    </p:animEffect>
                                  </p:childTnLst>
                                </p:cTn>
                              </p:par>
                              <p:par>
                                <p:cTn id="8" presetID="4" presetClass="entr" presetSubtype="16" fill="hold" nodeType="withEffect">
                                  <p:stCondLst>
                                    <p:cond delay="0"/>
                                  </p:stCondLst>
                                  <p:childTnLst>
                                    <p:set>
                                      <p:cBhvr>
                                        <p:cTn id="9" dur="1" fill="hold">
                                          <p:stCondLst>
                                            <p:cond delay="0"/>
                                          </p:stCondLst>
                                        </p:cTn>
                                        <p:tgtEl>
                                          <p:spTgt spid="30723">
                                            <p:txEl>
                                              <p:pRg st="1" end="1"/>
                                            </p:txEl>
                                          </p:spTgt>
                                        </p:tgtEl>
                                        <p:attrNameLst>
                                          <p:attrName>style.visibility</p:attrName>
                                        </p:attrNameLst>
                                      </p:cBhvr>
                                      <p:to>
                                        <p:strVal val="visible"/>
                                      </p:to>
                                    </p:set>
                                    <p:animEffect transition="in" filter="box(in)">
                                      <p:cBhvr>
                                        <p:cTn id="10" dur="500"/>
                                        <p:tgtEl>
                                          <p:spTgt spid="3072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3"/>
          <p:cNvSpPr>
            <a:spLocks noGrp="1" noChangeArrowheads="1"/>
          </p:cNvSpPr>
          <p:nvPr>
            <p:ph type="body" idx="1"/>
          </p:nvPr>
        </p:nvSpPr>
        <p:spPr>
          <a:xfrm>
            <a:off x="1476375" y="1700213"/>
            <a:ext cx="7427913" cy="3889375"/>
          </a:xfrm>
        </p:spPr>
        <p:txBody>
          <a:bodyPr/>
          <a:lstStyle/>
          <a:p>
            <a:pPr eaLnBrk="1" hangingPunct="1">
              <a:lnSpc>
                <a:spcPct val="145000"/>
              </a:lnSpc>
              <a:buFontTx/>
              <a:buNone/>
            </a:pPr>
            <a:r>
              <a:rPr lang="zh-CN" altLang="en-US" sz="3600" smtClean="0">
                <a:solidFill>
                  <a:schemeClr val="bg1"/>
                </a:solidFill>
                <a:ea typeface="黑体" pitchFamily="49" charset="-122"/>
              </a:rPr>
              <a:t>一、区域经济增长因素</a:t>
            </a:r>
          </a:p>
          <a:p>
            <a:pPr eaLnBrk="1" hangingPunct="1">
              <a:lnSpc>
                <a:spcPct val="145000"/>
              </a:lnSpc>
              <a:buFontTx/>
              <a:buNone/>
            </a:pPr>
            <a:r>
              <a:rPr lang="zh-CN" altLang="en-US" sz="3600" smtClean="0">
                <a:solidFill>
                  <a:schemeClr val="bg1"/>
                </a:solidFill>
                <a:ea typeface="黑体" pitchFamily="49" charset="-122"/>
              </a:rPr>
              <a:t>二、区域经济增长机制</a:t>
            </a:r>
          </a:p>
          <a:p>
            <a:pPr eaLnBrk="1" hangingPunct="1">
              <a:lnSpc>
                <a:spcPct val="145000"/>
              </a:lnSpc>
              <a:buFontTx/>
              <a:buNone/>
            </a:pPr>
            <a:r>
              <a:rPr lang="zh-CN" altLang="en-US" sz="3600" smtClean="0">
                <a:solidFill>
                  <a:schemeClr val="bg1"/>
                </a:solidFill>
                <a:ea typeface="黑体" pitchFamily="49" charset="-122"/>
              </a:rPr>
              <a:t>三、区域经济增长阶段理论</a:t>
            </a: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ext Box 2"/>
          <p:cNvSpPr txBox="1">
            <a:spLocks noChangeArrowheads="1"/>
          </p:cNvSpPr>
          <p:nvPr/>
        </p:nvSpPr>
        <p:spPr bwMode="auto">
          <a:xfrm>
            <a:off x="857250" y="2143125"/>
            <a:ext cx="8001000" cy="3662363"/>
          </a:xfrm>
          <a:prstGeom prst="rect">
            <a:avLst/>
          </a:prstGeom>
          <a:noFill/>
          <a:ln w="9525">
            <a:noFill/>
            <a:miter lim="800000"/>
            <a:headEnd/>
            <a:tailEnd/>
          </a:ln>
        </p:spPr>
        <p:txBody>
          <a:bodyPr>
            <a:spAutoFit/>
          </a:bodyPr>
          <a:lstStyle/>
          <a:p>
            <a:pPr>
              <a:spcBef>
                <a:spcPct val="50000"/>
              </a:spcBef>
            </a:pPr>
            <a:r>
              <a:rPr lang="zh-CN" altLang="en-US" sz="3200">
                <a:solidFill>
                  <a:schemeClr val="hlink"/>
                </a:solidFill>
                <a:latin typeface="黑体" pitchFamily="49" charset="-122"/>
                <a:ea typeface="黑体" pitchFamily="49" charset="-122"/>
              </a:rPr>
              <a:t>经济地理</a:t>
            </a:r>
            <a:r>
              <a:rPr lang="en-US" altLang="zh-CN" sz="3200">
                <a:solidFill>
                  <a:schemeClr val="hlink"/>
                </a:solidFill>
              </a:rPr>
              <a:t>……</a:t>
            </a:r>
            <a:r>
              <a:rPr lang="zh-CN" altLang="en-US" sz="2800">
                <a:solidFill>
                  <a:schemeClr val="bg1"/>
                </a:solidFill>
                <a:latin typeface="黑体" pitchFamily="49" charset="-122"/>
                <a:ea typeface="黑体" pitchFamily="49" charset="-122"/>
              </a:rPr>
              <a:t>自然、技术、社会经济、地理位置</a:t>
            </a:r>
            <a:endParaRPr lang="en-US" altLang="zh-CN" sz="2800">
              <a:solidFill>
                <a:schemeClr val="bg1"/>
              </a:solidFill>
              <a:latin typeface="黑体" pitchFamily="49" charset="-122"/>
              <a:ea typeface="黑体" pitchFamily="49" charset="-122"/>
            </a:endParaRPr>
          </a:p>
          <a:p>
            <a:pPr>
              <a:spcBef>
                <a:spcPct val="50000"/>
              </a:spcBef>
            </a:pPr>
            <a:r>
              <a:rPr lang="zh-CN" altLang="en-US" sz="3200">
                <a:solidFill>
                  <a:schemeClr val="hlink"/>
                </a:solidFill>
                <a:latin typeface="黑体" pitchFamily="49" charset="-122"/>
                <a:ea typeface="黑体" pitchFamily="49" charset="-122"/>
              </a:rPr>
              <a:t>经济学</a:t>
            </a:r>
            <a:r>
              <a:rPr lang="en-US" altLang="zh-CN" sz="2800">
                <a:solidFill>
                  <a:schemeClr val="bg1"/>
                </a:solidFill>
                <a:latin typeface="黑体" pitchFamily="49" charset="-122"/>
                <a:ea typeface="黑体" pitchFamily="49" charset="-122"/>
              </a:rPr>
              <a:t>……</a:t>
            </a:r>
            <a:r>
              <a:rPr lang="zh-CN" altLang="en-US" sz="2800">
                <a:solidFill>
                  <a:schemeClr val="bg1"/>
                </a:solidFill>
                <a:latin typeface="黑体" pitchFamily="49" charset="-122"/>
                <a:ea typeface="黑体" pitchFamily="49" charset="-122"/>
              </a:rPr>
              <a:t>资本、劳动力、资源、制度、政策、行为</a:t>
            </a:r>
            <a:endParaRPr lang="en-US" altLang="zh-CN" sz="2800">
              <a:solidFill>
                <a:schemeClr val="bg1"/>
              </a:solidFill>
              <a:latin typeface="黑体" pitchFamily="49" charset="-122"/>
              <a:ea typeface="黑体" pitchFamily="49" charset="-122"/>
            </a:endParaRPr>
          </a:p>
          <a:p>
            <a:pPr>
              <a:spcBef>
                <a:spcPct val="50000"/>
              </a:spcBef>
            </a:pPr>
            <a:r>
              <a:rPr lang="zh-CN" altLang="en-US" sz="3200">
                <a:solidFill>
                  <a:schemeClr val="hlink"/>
                </a:solidFill>
                <a:latin typeface="黑体" pitchFamily="49" charset="-122"/>
                <a:ea typeface="黑体" pitchFamily="49" charset="-122"/>
              </a:rPr>
              <a:t>资源配置</a:t>
            </a:r>
            <a:r>
              <a:rPr lang="en-US" altLang="zh-CN" sz="2800">
                <a:solidFill>
                  <a:schemeClr val="bg1"/>
                </a:solidFill>
                <a:latin typeface="黑体" pitchFamily="49" charset="-122"/>
                <a:ea typeface="黑体" pitchFamily="49" charset="-122"/>
              </a:rPr>
              <a:t>……</a:t>
            </a:r>
            <a:r>
              <a:rPr lang="zh-CN" altLang="en-US" sz="2800">
                <a:solidFill>
                  <a:schemeClr val="bg1"/>
                </a:solidFill>
                <a:latin typeface="黑体" pitchFamily="49" charset="-122"/>
                <a:ea typeface="黑体" pitchFamily="49" charset="-122"/>
              </a:rPr>
              <a:t>资源禀赋、资源配置能力、区位条件、外部环境</a:t>
            </a:r>
          </a:p>
          <a:p>
            <a:pPr>
              <a:spcBef>
                <a:spcPct val="50000"/>
              </a:spcBef>
            </a:pPr>
            <a:endParaRPr lang="zh-CN" altLang="en-US" sz="3200">
              <a:solidFill>
                <a:srgbClr val="333300"/>
              </a:solidFill>
            </a:endParaRPr>
          </a:p>
        </p:txBody>
      </p:sp>
      <p:sp>
        <p:nvSpPr>
          <p:cNvPr id="31747" name="Rectangle 3"/>
          <p:cNvSpPr>
            <a:spLocks noChangeArrowheads="1"/>
          </p:cNvSpPr>
          <p:nvPr/>
        </p:nvSpPr>
        <p:spPr bwMode="auto">
          <a:xfrm>
            <a:off x="928688" y="2071688"/>
            <a:ext cx="7786687" cy="584200"/>
          </a:xfrm>
          <a:prstGeom prst="rect">
            <a:avLst/>
          </a:prstGeom>
          <a:noFill/>
          <a:ln w="9525">
            <a:noFill/>
            <a:miter lim="800000"/>
            <a:headEnd/>
            <a:tailEnd/>
          </a:ln>
        </p:spPr>
        <p:txBody>
          <a:bodyPr>
            <a:spAutoFit/>
          </a:bodyPr>
          <a:lstStyle/>
          <a:p>
            <a:pPr>
              <a:spcBef>
                <a:spcPct val="50000"/>
              </a:spcBef>
            </a:pPr>
            <a:r>
              <a:rPr lang="zh-CN" altLang="en-US" sz="3200"/>
              <a:t>                       </a:t>
            </a:r>
          </a:p>
        </p:txBody>
      </p:sp>
      <p:sp>
        <p:nvSpPr>
          <p:cNvPr id="6148" name="TextBox 5"/>
          <p:cNvSpPr txBox="1">
            <a:spLocks noChangeArrowheads="1"/>
          </p:cNvSpPr>
          <p:nvPr/>
        </p:nvSpPr>
        <p:spPr bwMode="auto">
          <a:xfrm>
            <a:off x="714375" y="928688"/>
            <a:ext cx="4800600" cy="923925"/>
          </a:xfrm>
          <a:prstGeom prst="rect">
            <a:avLst/>
          </a:prstGeom>
          <a:noFill/>
          <a:ln w="9525">
            <a:noFill/>
            <a:miter lim="800000"/>
            <a:headEnd/>
            <a:tailEnd/>
          </a:ln>
        </p:spPr>
        <p:txBody>
          <a:bodyPr wrap="none">
            <a:spAutoFit/>
          </a:bodyPr>
          <a:lstStyle/>
          <a:p>
            <a:r>
              <a:rPr lang="zh-CN" altLang="en-US" sz="3600">
                <a:solidFill>
                  <a:srgbClr val="FFFF00"/>
                </a:solidFill>
                <a:latin typeface="黑体" pitchFamily="49" charset="-122"/>
                <a:ea typeface="黑体" pitchFamily="49" charset="-122"/>
              </a:rPr>
              <a:t>一、区域经济增长因素</a:t>
            </a:r>
          </a:p>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iterate type="wd">
                                    <p:tmPct val="100000"/>
                                  </p:iterate>
                                  <p:childTnLst>
                                    <p:set>
                                      <p:cBhvr>
                                        <p:cTn id="6" dur="1" fill="hold">
                                          <p:stCondLst>
                                            <p:cond delay="0"/>
                                          </p:stCondLst>
                                        </p:cTn>
                                        <p:tgtEl>
                                          <p:spTgt spid="31746">
                                            <p:txEl>
                                              <p:pRg st="0" end="0"/>
                                            </p:txEl>
                                          </p:spTgt>
                                        </p:tgtEl>
                                        <p:attrNameLst>
                                          <p:attrName>style.visibility</p:attrName>
                                        </p:attrNameLst>
                                      </p:cBhvr>
                                      <p:to>
                                        <p:strVal val="visible"/>
                                      </p:to>
                                    </p:set>
                                    <p:animEffect transition="in" filter="slide(fromBottom)">
                                      <p:cBhvr>
                                        <p:cTn id="7" dur="300"/>
                                        <p:tgtEl>
                                          <p:spTgt spid="31746">
                                            <p:txEl>
                                              <p:pRg st="0" end="0"/>
                                            </p:txEl>
                                          </p:spTgt>
                                        </p:tgtEl>
                                      </p:cBhvr>
                                    </p:animEffect>
                                  </p:childTnLst>
                                </p:cTn>
                              </p:par>
                              <p:par>
                                <p:cTn id="8" presetID="12" presetClass="entr" presetSubtype="4" fill="hold" grpId="0" nodeType="withEffect">
                                  <p:stCondLst>
                                    <p:cond delay="0"/>
                                  </p:stCondLst>
                                  <p:iterate type="wd">
                                    <p:tmPct val="100000"/>
                                  </p:iterate>
                                  <p:childTnLst>
                                    <p:set>
                                      <p:cBhvr>
                                        <p:cTn id="9" dur="1" fill="hold">
                                          <p:stCondLst>
                                            <p:cond delay="0"/>
                                          </p:stCondLst>
                                        </p:cTn>
                                        <p:tgtEl>
                                          <p:spTgt spid="31746">
                                            <p:txEl>
                                              <p:pRg st="1" end="1"/>
                                            </p:txEl>
                                          </p:spTgt>
                                        </p:tgtEl>
                                        <p:attrNameLst>
                                          <p:attrName>style.visibility</p:attrName>
                                        </p:attrNameLst>
                                      </p:cBhvr>
                                      <p:to>
                                        <p:strVal val="visible"/>
                                      </p:to>
                                    </p:set>
                                    <p:animEffect transition="in" filter="slide(fromBottom)">
                                      <p:cBhvr>
                                        <p:cTn id="10" dur="300"/>
                                        <p:tgtEl>
                                          <p:spTgt spid="31746">
                                            <p:txEl>
                                              <p:pRg st="1" end="1"/>
                                            </p:txEl>
                                          </p:spTgt>
                                        </p:tgtEl>
                                      </p:cBhvr>
                                    </p:animEffect>
                                  </p:childTnLst>
                                </p:cTn>
                              </p:par>
                              <p:par>
                                <p:cTn id="11" presetID="12" presetClass="entr" presetSubtype="4" fill="hold" grpId="0" nodeType="withEffect">
                                  <p:stCondLst>
                                    <p:cond delay="0"/>
                                  </p:stCondLst>
                                  <p:iterate type="wd">
                                    <p:tmPct val="100000"/>
                                  </p:iterate>
                                  <p:childTnLst>
                                    <p:set>
                                      <p:cBhvr>
                                        <p:cTn id="12" dur="1" fill="hold">
                                          <p:stCondLst>
                                            <p:cond delay="0"/>
                                          </p:stCondLst>
                                        </p:cTn>
                                        <p:tgtEl>
                                          <p:spTgt spid="31746">
                                            <p:txEl>
                                              <p:pRg st="2" end="2"/>
                                            </p:txEl>
                                          </p:spTgt>
                                        </p:tgtEl>
                                        <p:attrNameLst>
                                          <p:attrName>style.visibility</p:attrName>
                                        </p:attrNameLst>
                                      </p:cBhvr>
                                      <p:to>
                                        <p:strVal val="visible"/>
                                      </p:to>
                                    </p:set>
                                    <p:animEffect transition="in" filter="slide(fromBottom)">
                                      <p:cBhvr>
                                        <p:cTn id="13" dur="300"/>
                                        <p:tgtEl>
                                          <p:spTgt spid="31746">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9" presetClass="entr" presetSubtype="0" fill="hold" grpId="0" nodeType="clickEffect">
                                  <p:stCondLst>
                                    <p:cond delay="0"/>
                                  </p:stCondLst>
                                  <p:iterate type="lt">
                                    <p:tmPct val="100000"/>
                                  </p:iterate>
                                  <p:childTnLst>
                                    <p:set>
                                      <p:cBhvr>
                                        <p:cTn id="17" dur="1" fill="hold">
                                          <p:stCondLst>
                                            <p:cond delay="0"/>
                                          </p:stCondLst>
                                        </p:cTn>
                                        <p:tgtEl>
                                          <p:spTgt spid="31747"/>
                                        </p:tgtEl>
                                        <p:attrNameLst>
                                          <p:attrName>style.visibility</p:attrName>
                                        </p:attrNameLst>
                                      </p:cBhvr>
                                      <p:to>
                                        <p:strVal val="visible"/>
                                      </p:to>
                                    </p:set>
                                    <p:animEffect transition="in" filter="dissolve">
                                      <p:cBhvr>
                                        <p:cTn id="18" dur="75"/>
                                        <p:tgtEl>
                                          <p:spTgt spid="317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46" grpId="0" build="allAtOnce" autoUpdateAnimBg="0"/>
      <p:bldP spid="31747" grpId="0" autoUpdateAnimBg="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827088" y="1125538"/>
            <a:ext cx="6624637" cy="561975"/>
          </a:xfrm>
        </p:spPr>
        <p:txBody>
          <a:bodyPr/>
          <a:lstStyle/>
          <a:p>
            <a:pPr algn="l" eaLnBrk="1" hangingPunct="1"/>
            <a:r>
              <a:rPr lang="zh-CN" altLang="en-US" sz="3600" smtClean="0">
                <a:solidFill>
                  <a:srgbClr val="FFFF00"/>
                </a:solidFill>
                <a:ea typeface="黑体" pitchFamily="49" charset="-122"/>
              </a:rPr>
              <a:t>一、区域经济增长因素</a:t>
            </a:r>
          </a:p>
        </p:txBody>
      </p:sp>
      <p:sp>
        <p:nvSpPr>
          <p:cNvPr id="12291" name="Rectangle 3"/>
          <p:cNvSpPr>
            <a:spLocks noGrp="1" noChangeArrowheads="1"/>
          </p:cNvSpPr>
          <p:nvPr>
            <p:ph type="body" idx="1"/>
          </p:nvPr>
        </p:nvSpPr>
        <p:spPr>
          <a:xfrm>
            <a:off x="1403350" y="2060575"/>
            <a:ext cx="6851650" cy="3671888"/>
          </a:xfrm>
        </p:spPr>
        <p:txBody>
          <a:bodyPr/>
          <a:lstStyle/>
          <a:p>
            <a:pPr eaLnBrk="1" hangingPunct="1">
              <a:lnSpc>
                <a:spcPct val="130000"/>
              </a:lnSpc>
              <a:buFont typeface="Wingdings" pitchFamily="2" charset="2"/>
              <a:buNone/>
            </a:pPr>
            <a:r>
              <a:rPr lang="zh-CN" altLang="en-US" smtClean="0">
                <a:solidFill>
                  <a:schemeClr val="bg1"/>
                </a:solidFill>
                <a:ea typeface="黑体" pitchFamily="49" charset="-122"/>
              </a:rPr>
              <a:t>（一）</a:t>
            </a:r>
            <a:r>
              <a:rPr lang="zh-CN" altLang="en-US" smtClean="0">
                <a:solidFill>
                  <a:schemeClr val="bg1"/>
                </a:solidFill>
                <a:ea typeface="黑体" pitchFamily="49" charset="-122"/>
                <a:hlinkClick r:id="rId2" action="ppaction://hlinksldjump"/>
              </a:rPr>
              <a:t>资源禀赋</a:t>
            </a:r>
            <a:endParaRPr lang="zh-CN" altLang="en-US" smtClean="0">
              <a:solidFill>
                <a:schemeClr val="bg1"/>
              </a:solidFill>
              <a:ea typeface="黑体" pitchFamily="49" charset="-122"/>
            </a:endParaRPr>
          </a:p>
          <a:p>
            <a:pPr eaLnBrk="1" hangingPunct="1">
              <a:lnSpc>
                <a:spcPct val="130000"/>
              </a:lnSpc>
              <a:buFont typeface="Wingdings" pitchFamily="2" charset="2"/>
              <a:buNone/>
            </a:pPr>
            <a:r>
              <a:rPr lang="zh-CN" altLang="en-US" smtClean="0">
                <a:solidFill>
                  <a:schemeClr val="bg1"/>
                </a:solidFill>
                <a:ea typeface="黑体" pitchFamily="49" charset="-122"/>
              </a:rPr>
              <a:t>（二）</a:t>
            </a:r>
            <a:r>
              <a:rPr lang="zh-CN" altLang="en-US" smtClean="0">
                <a:solidFill>
                  <a:schemeClr val="bg1"/>
                </a:solidFill>
                <a:ea typeface="黑体" pitchFamily="49" charset="-122"/>
                <a:hlinkClick r:id="rId3" action="ppaction://hlinksldjump"/>
              </a:rPr>
              <a:t>资源配置能力</a:t>
            </a:r>
            <a:endParaRPr lang="zh-CN" altLang="en-US" smtClean="0">
              <a:solidFill>
                <a:schemeClr val="bg1"/>
              </a:solidFill>
              <a:ea typeface="黑体" pitchFamily="49" charset="-122"/>
            </a:endParaRPr>
          </a:p>
          <a:p>
            <a:pPr eaLnBrk="1" hangingPunct="1">
              <a:lnSpc>
                <a:spcPct val="130000"/>
              </a:lnSpc>
              <a:buFont typeface="Wingdings" pitchFamily="2" charset="2"/>
              <a:buNone/>
            </a:pPr>
            <a:r>
              <a:rPr lang="zh-CN" altLang="en-US" smtClean="0">
                <a:solidFill>
                  <a:schemeClr val="bg1"/>
                </a:solidFill>
                <a:ea typeface="黑体" pitchFamily="49" charset="-122"/>
              </a:rPr>
              <a:t>（三）</a:t>
            </a:r>
            <a:r>
              <a:rPr lang="zh-CN" altLang="en-US" smtClean="0">
                <a:solidFill>
                  <a:schemeClr val="bg1"/>
                </a:solidFill>
                <a:ea typeface="黑体" pitchFamily="49" charset="-122"/>
                <a:hlinkClick r:id="rId4" action="ppaction://hlinksldjump"/>
              </a:rPr>
              <a:t>区位条件</a:t>
            </a:r>
            <a:endParaRPr lang="zh-CN" altLang="en-US" smtClean="0">
              <a:solidFill>
                <a:schemeClr val="bg1"/>
              </a:solidFill>
              <a:ea typeface="黑体" pitchFamily="49" charset="-122"/>
            </a:endParaRPr>
          </a:p>
          <a:p>
            <a:pPr eaLnBrk="1" hangingPunct="1">
              <a:lnSpc>
                <a:spcPct val="130000"/>
              </a:lnSpc>
              <a:buFont typeface="Wingdings" pitchFamily="2" charset="2"/>
              <a:buNone/>
            </a:pPr>
            <a:r>
              <a:rPr lang="zh-CN" altLang="en-US" smtClean="0">
                <a:solidFill>
                  <a:schemeClr val="bg1"/>
                </a:solidFill>
                <a:ea typeface="黑体" pitchFamily="49" charset="-122"/>
              </a:rPr>
              <a:t>（四）</a:t>
            </a:r>
            <a:r>
              <a:rPr lang="zh-CN" altLang="en-US" smtClean="0">
                <a:solidFill>
                  <a:schemeClr val="bg1"/>
                </a:solidFill>
                <a:ea typeface="黑体" pitchFamily="49" charset="-122"/>
                <a:hlinkClick r:id="rId2" action="ppaction://hlinksldjump"/>
              </a:rPr>
              <a:t>外部环境</a:t>
            </a:r>
            <a:endParaRPr lang="zh-CN" altLang="en-US" smtClean="0">
              <a:solidFill>
                <a:schemeClr val="bg1"/>
              </a:solidFill>
              <a:ea typeface="黑体" pitchFamily="49" charset="-122"/>
            </a:endParaRPr>
          </a:p>
        </p:txBody>
      </p:sp>
      <p:sp>
        <p:nvSpPr>
          <p:cNvPr id="7172" name="AutoShape 4">
            <a:hlinkClick r:id="rId3" action="ppaction://hlinksldjump"/>
          </p:cNvPr>
          <p:cNvSpPr>
            <a:spLocks noChangeArrowheads="1"/>
          </p:cNvSpPr>
          <p:nvPr/>
        </p:nvSpPr>
        <p:spPr bwMode="auto">
          <a:xfrm>
            <a:off x="7740650" y="5734050"/>
            <a:ext cx="287338" cy="287338"/>
          </a:xfrm>
          <a:prstGeom prst="downArrow">
            <a:avLst>
              <a:gd name="adj1" fmla="val 50000"/>
              <a:gd name="adj2" fmla="val 25000"/>
            </a:avLst>
          </a:prstGeom>
          <a:solidFill>
            <a:srgbClr val="FF0000"/>
          </a:solidFill>
          <a:ln w="9525">
            <a:solidFill>
              <a:schemeClr val="tx1"/>
            </a:solidFill>
            <a:miter lim="800000"/>
            <a:headEnd/>
            <a:tailEnd/>
          </a:ln>
        </p:spPr>
        <p:txBody>
          <a:bodyPr wrap="none" anchor="ct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2291">
                                            <p:txEl>
                                              <p:pRg st="0" end="0"/>
                                            </p:txEl>
                                          </p:spTgt>
                                        </p:tgtEl>
                                        <p:attrNameLst>
                                          <p:attrName>style.visibility</p:attrName>
                                        </p:attrNameLst>
                                      </p:cBhvr>
                                      <p:to>
                                        <p:strVal val="visible"/>
                                      </p:to>
                                    </p:set>
                                    <p:anim calcmode="lin" valueType="num">
                                      <p:cBhvr additive="base">
                                        <p:cTn id="7" dur="500" fill="hold"/>
                                        <p:tgtEl>
                                          <p:spTgt spid="1229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229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2291">
                                            <p:txEl>
                                              <p:pRg st="1" end="1"/>
                                            </p:txEl>
                                          </p:spTgt>
                                        </p:tgtEl>
                                        <p:attrNameLst>
                                          <p:attrName>style.visibility</p:attrName>
                                        </p:attrNameLst>
                                      </p:cBhvr>
                                      <p:to>
                                        <p:strVal val="visible"/>
                                      </p:to>
                                    </p:set>
                                    <p:anim calcmode="lin" valueType="num">
                                      <p:cBhvr additive="base">
                                        <p:cTn id="13" dur="500" fill="hold"/>
                                        <p:tgtEl>
                                          <p:spTgt spid="12291">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2291">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2291">
                                            <p:txEl>
                                              <p:pRg st="2" end="2"/>
                                            </p:txEl>
                                          </p:spTgt>
                                        </p:tgtEl>
                                        <p:attrNameLst>
                                          <p:attrName>style.visibility</p:attrName>
                                        </p:attrNameLst>
                                      </p:cBhvr>
                                      <p:to>
                                        <p:strVal val="visible"/>
                                      </p:to>
                                    </p:set>
                                    <p:anim calcmode="lin" valueType="num">
                                      <p:cBhvr additive="base">
                                        <p:cTn id="19" dur="500" fill="hold"/>
                                        <p:tgtEl>
                                          <p:spTgt spid="12291">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2291">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2291">
                                            <p:txEl>
                                              <p:pRg st="3" end="3"/>
                                            </p:txEl>
                                          </p:spTgt>
                                        </p:tgtEl>
                                        <p:attrNameLst>
                                          <p:attrName>style.visibility</p:attrName>
                                        </p:attrNameLst>
                                      </p:cBhvr>
                                      <p:to>
                                        <p:strVal val="visible"/>
                                      </p:to>
                                    </p:set>
                                    <p:anim calcmode="lin" valueType="num">
                                      <p:cBhvr additive="base">
                                        <p:cTn id="25" dur="500" fill="hold"/>
                                        <p:tgtEl>
                                          <p:spTgt spid="12291">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2291">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1"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83" name="Text Box 15"/>
          <p:cNvSpPr txBox="1">
            <a:spLocks noChangeArrowheads="1"/>
          </p:cNvSpPr>
          <p:nvPr/>
        </p:nvSpPr>
        <p:spPr bwMode="auto">
          <a:xfrm>
            <a:off x="714375" y="928688"/>
            <a:ext cx="7620000" cy="1311275"/>
          </a:xfrm>
          <a:prstGeom prst="rect">
            <a:avLst/>
          </a:prstGeom>
          <a:noFill/>
          <a:ln w="9525">
            <a:noFill/>
            <a:miter lim="800000"/>
            <a:headEnd/>
            <a:tailEnd/>
          </a:ln>
        </p:spPr>
        <p:txBody>
          <a:bodyPr>
            <a:spAutoFit/>
          </a:bodyPr>
          <a:lstStyle/>
          <a:p>
            <a:pPr>
              <a:spcBef>
                <a:spcPct val="50000"/>
              </a:spcBef>
            </a:pPr>
            <a:endParaRPr lang="zh-CN" altLang="en-US" sz="3200"/>
          </a:p>
          <a:p>
            <a:pPr>
              <a:spcBef>
                <a:spcPct val="50000"/>
              </a:spcBef>
            </a:pPr>
            <a:r>
              <a:rPr lang="zh-CN" altLang="en-US" sz="3200">
                <a:solidFill>
                  <a:srgbClr val="FFFF00"/>
                </a:solidFill>
                <a:latin typeface="黑体" pitchFamily="49" charset="-122"/>
                <a:ea typeface="黑体" pitchFamily="49" charset="-122"/>
              </a:rPr>
              <a:t>资源禀赋</a:t>
            </a:r>
          </a:p>
        </p:txBody>
      </p:sp>
      <p:sp>
        <p:nvSpPr>
          <p:cNvPr id="32784" name="AutoShape 16"/>
          <p:cNvSpPr>
            <a:spLocks/>
          </p:cNvSpPr>
          <p:nvPr/>
        </p:nvSpPr>
        <p:spPr bwMode="auto">
          <a:xfrm>
            <a:off x="2500313" y="1357313"/>
            <a:ext cx="266700" cy="1952625"/>
          </a:xfrm>
          <a:prstGeom prst="leftBrace">
            <a:avLst>
              <a:gd name="adj1" fmla="val 31252"/>
              <a:gd name="adj2" fmla="val 32847"/>
            </a:avLst>
          </a:prstGeom>
          <a:noFill/>
          <a:ln w="9525">
            <a:solidFill>
              <a:schemeClr val="bg1"/>
            </a:solidFill>
            <a:round/>
            <a:headEnd/>
            <a:tailEnd/>
          </a:ln>
        </p:spPr>
        <p:txBody>
          <a:bodyPr wrap="none" anchor="ctr"/>
          <a:lstStyle/>
          <a:p>
            <a:endParaRPr lang="zh-CN" altLang="en-US"/>
          </a:p>
        </p:txBody>
      </p:sp>
      <p:sp>
        <p:nvSpPr>
          <p:cNvPr id="32785" name="Text Box 17"/>
          <p:cNvSpPr txBox="1">
            <a:spLocks noChangeArrowheads="1"/>
          </p:cNvSpPr>
          <p:nvPr/>
        </p:nvSpPr>
        <p:spPr bwMode="auto">
          <a:xfrm>
            <a:off x="3071813" y="1071563"/>
            <a:ext cx="4876800" cy="858837"/>
          </a:xfrm>
          <a:prstGeom prst="rect">
            <a:avLst/>
          </a:prstGeom>
          <a:noFill/>
          <a:ln w="9525">
            <a:noFill/>
            <a:miter lim="800000"/>
            <a:headEnd/>
            <a:tailEnd/>
          </a:ln>
        </p:spPr>
        <p:txBody>
          <a:bodyPr>
            <a:spAutoFit/>
          </a:bodyPr>
          <a:lstStyle/>
          <a:p>
            <a:pPr>
              <a:lnSpc>
                <a:spcPct val="150000"/>
              </a:lnSpc>
              <a:spcBef>
                <a:spcPts val="2400"/>
              </a:spcBef>
            </a:pPr>
            <a:r>
              <a:rPr lang="zh-CN" altLang="en-US">
                <a:solidFill>
                  <a:schemeClr val="bg1"/>
                </a:solidFill>
                <a:latin typeface="黑体" pitchFamily="49" charset="-122"/>
                <a:ea typeface="黑体" pitchFamily="49" charset="-122"/>
              </a:rPr>
              <a:t>自然资源---矿产资源、土地、生物、  水资源、气候、风景</a:t>
            </a:r>
          </a:p>
        </p:txBody>
      </p:sp>
      <p:sp>
        <p:nvSpPr>
          <p:cNvPr id="32806" name="Line 38"/>
          <p:cNvSpPr>
            <a:spLocks noChangeShapeType="1"/>
          </p:cNvSpPr>
          <p:nvPr/>
        </p:nvSpPr>
        <p:spPr bwMode="auto">
          <a:xfrm>
            <a:off x="4786313" y="1785938"/>
            <a:ext cx="304800" cy="0"/>
          </a:xfrm>
          <a:prstGeom prst="line">
            <a:avLst/>
          </a:prstGeom>
          <a:noFill/>
          <a:ln w="9525">
            <a:solidFill>
              <a:schemeClr val="bg1"/>
            </a:solidFill>
            <a:round/>
            <a:headEnd/>
            <a:tailEnd type="triangle" w="med" len="med"/>
          </a:ln>
        </p:spPr>
        <p:txBody>
          <a:bodyPr wrap="none"/>
          <a:lstStyle/>
          <a:p>
            <a:endParaRPr lang="zh-CN" altLang="en-US"/>
          </a:p>
        </p:txBody>
      </p:sp>
      <p:sp>
        <p:nvSpPr>
          <p:cNvPr id="32807" name="Text Box 39"/>
          <p:cNvSpPr txBox="1">
            <a:spLocks noChangeArrowheads="1"/>
          </p:cNvSpPr>
          <p:nvPr/>
        </p:nvSpPr>
        <p:spPr bwMode="auto">
          <a:xfrm>
            <a:off x="5214938" y="1571625"/>
            <a:ext cx="2286000" cy="646113"/>
          </a:xfrm>
          <a:prstGeom prst="rect">
            <a:avLst/>
          </a:prstGeom>
          <a:noFill/>
          <a:ln w="9525">
            <a:noFill/>
            <a:miter lim="800000"/>
            <a:headEnd/>
            <a:tailEnd/>
          </a:ln>
        </p:spPr>
        <p:txBody>
          <a:bodyPr>
            <a:spAutoFit/>
          </a:bodyPr>
          <a:lstStyle/>
          <a:p>
            <a:pPr>
              <a:spcBef>
                <a:spcPct val="50000"/>
              </a:spcBef>
            </a:pPr>
            <a:r>
              <a:rPr lang="zh-CN" altLang="en-US">
                <a:solidFill>
                  <a:schemeClr val="folHlink"/>
                </a:solidFill>
                <a:latin typeface="黑体" pitchFamily="49" charset="-122"/>
                <a:ea typeface="黑体" pitchFamily="49" charset="-122"/>
              </a:rPr>
              <a:t>经济活动的规模、潜力和可能性</a:t>
            </a:r>
          </a:p>
        </p:txBody>
      </p:sp>
      <p:sp>
        <p:nvSpPr>
          <p:cNvPr id="32829" name="Text Box 61"/>
          <p:cNvSpPr txBox="1">
            <a:spLocks noChangeArrowheads="1"/>
          </p:cNvSpPr>
          <p:nvPr/>
        </p:nvSpPr>
        <p:spPr bwMode="auto">
          <a:xfrm>
            <a:off x="3071813" y="2714625"/>
            <a:ext cx="3352800" cy="858838"/>
          </a:xfrm>
          <a:prstGeom prst="rect">
            <a:avLst/>
          </a:prstGeom>
          <a:noFill/>
          <a:ln w="9525">
            <a:noFill/>
            <a:miter lim="800000"/>
            <a:headEnd/>
            <a:tailEnd/>
          </a:ln>
        </p:spPr>
        <p:txBody>
          <a:bodyPr>
            <a:spAutoFit/>
          </a:bodyPr>
          <a:lstStyle/>
          <a:p>
            <a:pPr>
              <a:lnSpc>
                <a:spcPct val="150000"/>
              </a:lnSpc>
              <a:spcBef>
                <a:spcPct val="50000"/>
              </a:spcBef>
            </a:pPr>
            <a:r>
              <a:rPr lang="zh-CN" altLang="en-US">
                <a:solidFill>
                  <a:schemeClr val="bg1"/>
                </a:solidFill>
                <a:latin typeface="黑体" pitchFamily="49" charset="-122"/>
                <a:ea typeface="黑体" pitchFamily="49" charset="-122"/>
              </a:rPr>
              <a:t>经济社会---劳动力、资金、技术和社会环境</a:t>
            </a:r>
          </a:p>
        </p:txBody>
      </p:sp>
      <p:sp>
        <p:nvSpPr>
          <p:cNvPr id="32830" name="Line 62"/>
          <p:cNvSpPr>
            <a:spLocks noChangeShapeType="1"/>
          </p:cNvSpPr>
          <p:nvPr/>
        </p:nvSpPr>
        <p:spPr bwMode="auto">
          <a:xfrm>
            <a:off x="5786438" y="3357563"/>
            <a:ext cx="381000" cy="0"/>
          </a:xfrm>
          <a:prstGeom prst="line">
            <a:avLst/>
          </a:prstGeom>
          <a:noFill/>
          <a:ln w="9525">
            <a:solidFill>
              <a:schemeClr val="bg1"/>
            </a:solidFill>
            <a:round/>
            <a:headEnd/>
            <a:tailEnd type="triangle" w="med" len="med"/>
          </a:ln>
        </p:spPr>
        <p:txBody>
          <a:bodyPr wrap="none"/>
          <a:lstStyle/>
          <a:p>
            <a:endParaRPr lang="zh-CN" altLang="en-US"/>
          </a:p>
        </p:txBody>
      </p:sp>
      <p:sp>
        <p:nvSpPr>
          <p:cNvPr id="32831" name="Text Box 63"/>
          <p:cNvSpPr txBox="1">
            <a:spLocks noChangeArrowheads="1"/>
          </p:cNvSpPr>
          <p:nvPr/>
        </p:nvSpPr>
        <p:spPr bwMode="auto">
          <a:xfrm>
            <a:off x="6357938" y="3143250"/>
            <a:ext cx="2133600" cy="646113"/>
          </a:xfrm>
          <a:prstGeom prst="rect">
            <a:avLst/>
          </a:prstGeom>
          <a:noFill/>
          <a:ln w="9525">
            <a:noFill/>
            <a:miter lim="800000"/>
            <a:headEnd/>
            <a:tailEnd/>
          </a:ln>
        </p:spPr>
        <p:txBody>
          <a:bodyPr>
            <a:spAutoFit/>
          </a:bodyPr>
          <a:lstStyle/>
          <a:p>
            <a:pPr>
              <a:spcBef>
                <a:spcPct val="50000"/>
              </a:spcBef>
            </a:pPr>
            <a:r>
              <a:rPr lang="zh-CN" altLang="en-US">
                <a:solidFill>
                  <a:schemeClr val="folHlink"/>
                </a:solidFill>
                <a:latin typeface="黑体" pitchFamily="49" charset="-122"/>
                <a:ea typeface="黑体" pitchFamily="49" charset="-122"/>
              </a:rPr>
              <a:t>关键性、重要性和最活跃性的因素</a:t>
            </a:r>
          </a:p>
        </p:txBody>
      </p:sp>
      <p:sp>
        <p:nvSpPr>
          <p:cNvPr id="32832" name="Oval 64"/>
          <p:cNvSpPr>
            <a:spLocks noChangeArrowheads="1"/>
          </p:cNvSpPr>
          <p:nvPr/>
        </p:nvSpPr>
        <p:spPr bwMode="auto">
          <a:xfrm>
            <a:off x="714375" y="4643438"/>
            <a:ext cx="381000" cy="228600"/>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32834" name="Text Box 66"/>
          <p:cNvSpPr txBox="1">
            <a:spLocks noChangeArrowheads="1"/>
          </p:cNvSpPr>
          <p:nvPr/>
        </p:nvSpPr>
        <p:spPr bwMode="auto">
          <a:xfrm>
            <a:off x="1143000" y="4357688"/>
            <a:ext cx="2133600" cy="1754187"/>
          </a:xfrm>
          <a:prstGeom prst="rect">
            <a:avLst/>
          </a:prstGeom>
          <a:noFill/>
          <a:ln w="9525">
            <a:noFill/>
            <a:miter lim="800000"/>
            <a:headEnd/>
            <a:tailEnd/>
          </a:ln>
        </p:spPr>
        <p:txBody>
          <a:bodyPr>
            <a:spAutoFit/>
          </a:bodyPr>
          <a:lstStyle/>
          <a:p>
            <a:pPr>
              <a:lnSpc>
                <a:spcPct val="150000"/>
              </a:lnSpc>
              <a:spcBef>
                <a:spcPct val="50000"/>
              </a:spcBef>
            </a:pPr>
            <a:r>
              <a:rPr lang="zh-CN" altLang="en-US">
                <a:solidFill>
                  <a:schemeClr val="bg1"/>
                </a:solidFill>
                <a:latin typeface="黑体" pitchFamily="49" charset="-122"/>
                <a:ea typeface="黑体" pitchFamily="49" charset="-122"/>
              </a:rPr>
              <a:t>社会环境---社会传统、价值观念、行为方式和文明程度</a:t>
            </a:r>
          </a:p>
          <a:p>
            <a:pPr>
              <a:spcBef>
                <a:spcPct val="50000"/>
              </a:spcBef>
            </a:pPr>
            <a:endParaRPr lang="zh-CN" altLang="en-US"/>
          </a:p>
        </p:txBody>
      </p:sp>
      <p:sp>
        <p:nvSpPr>
          <p:cNvPr id="32835" name="Line 67"/>
          <p:cNvSpPr>
            <a:spLocks noChangeShapeType="1"/>
          </p:cNvSpPr>
          <p:nvPr/>
        </p:nvSpPr>
        <p:spPr bwMode="auto">
          <a:xfrm>
            <a:off x="3214688" y="4929188"/>
            <a:ext cx="990600" cy="0"/>
          </a:xfrm>
          <a:prstGeom prst="line">
            <a:avLst/>
          </a:prstGeom>
          <a:noFill/>
          <a:ln w="9525">
            <a:solidFill>
              <a:schemeClr val="bg1"/>
            </a:solidFill>
            <a:round/>
            <a:headEnd/>
            <a:tailEnd type="triangle" w="med" len="med"/>
          </a:ln>
        </p:spPr>
        <p:txBody>
          <a:bodyPr wrap="none"/>
          <a:lstStyle/>
          <a:p>
            <a:endParaRPr lang="zh-CN" altLang="en-US"/>
          </a:p>
        </p:txBody>
      </p:sp>
      <p:sp>
        <p:nvSpPr>
          <p:cNvPr id="32837" name="Text Box 69"/>
          <p:cNvSpPr txBox="1">
            <a:spLocks noChangeArrowheads="1"/>
          </p:cNvSpPr>
          <p:nvPr/>
        </p:nvSpPr>
        <p:spPr bwMode="auto">
          <a:xfrm>
            <a:off x="4357688" y="4572000"/>
            <a:ext cx="3657600" cy="858838"/>
          </a:xfrm>
          <a:prstGeom prst="rect">
            <a:avLst/>
          </a:prstGeom>
          <a:noFill/>
          <a:ln w="9525">
            <a:noFill/>
            <a:miter lim="800000"/>
            <a:headEnd/>
            <a:tailEnd/>
          </a:ln>
        </p:spPr>
        <p:txBody>
          <a:bodyPr>
            <a:spAutoFit/>
          </a:bodyPr>
          <a:lstStyle/>
          <a:p>
            <a:pPr>
              <a:lnSpc>
                <a:spcPct val="150000"/>
              </a:lnSpc>
              <a:spcBef>
                <a:spcPct val="50000"/>
              </a:spcBef>
            </a:pPr>
            <a:r>
              <a:rPr lang="zh-CN" altLang="en-US">
                <a:solidFill>
                  <a:schemeClr val="folHlink"/>
                </a:solidFill>
                <a:latin typeface="黑体" pitchFamily="49" charset="-122"/>
                <a:ea typeface="黑体" pitchFamily="49" charset="-122"/>
              </a:rPr>
              <a:t>提高劳动生产率、吸纳区外资源、鼓励创新和科学决策</a:t>
            </a:r>
          </a:p>
        </p:txBody>
      </p:sp>
      <p:sp>
        <p:nvSpPr>
          <p:cNvPr id="14" name="上箭头 13">
            <a:hlinkClick r:id="rId2" action="ppaction://hlinksldjump"/>
          </p:cNvPr>
          <p:cNvSpPr/>
          <p:nvPr/>
        </p:nvSpPr>
        <p:spPr>
          <a:xfrm>
            <a:off x="8172450" y="6021388"/>
            <a:ext cx="144463" cy="144462"/>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2783"/>
                                        </p:tgtEl>
                                        <p:attrNameLst>
                                          <p:attrName>style.visibility</p:attrName>
                                        </p:attrNameLst>
                                      </p:cBhvr>
                                      <p:to>
                                        <p:strVal val="visible"/>
                                      </p:to>
                                    </p:set>
                                    <p:anim calcmode="lin" valueType="num">
                                      <p:cBhvr additive="base">
                                        <p:cTn id="7" dur="500" fill="hold"/>
                                        <p:tgtEl>
                                          <p:spTgt spid="32783"/>
                                        </p:tgtEl>
                                        <p:attrNameLst>
                                          <p:attrName>ppt_x</p:attrName>
                                        </p:attrNameLst>
                                      </p:cBhvr>
                                      <p:tavLst>
                                        <p:tav tm="0">
                                          <p:val>
                                            <p:strVal val="0-#ppt_w/2"/>
                                          </p:val>
                                        </p:tav>
                                        <p:tav tm="100000">
                                          <p:val>
                                            <p:strVal val="#ppt_x"/>
                                          </p:val>
                                        </p:tav>
                                      </p:tavLst>
                                    </p:anim>
                                    <p:anim calcmode="lin" valueType="num">
                                      <p:cBhvr additive="base">
                                        <p:cTn id="8" dur="500" fill="hold"/>
                                        <p:tgtEl>
                                          <p:spTgt spid="32783"/>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32784"/>
                                        </p:tgtEl>
                                        <p:attrNameLst>
                                          <p:attrName>style.visibility</p:attrName>
                                        </p:attrNameLst>
                                      </p:cBhvr>
                                      <p:to>
                                        <p:strVal val="visible"/>
                                      </p:to>
                                    </p:set>
                                    <p:anim calcmode="lin" valueType="num">
                                      <p:cBhvr additive="base">
                                        <p:cTn id="13" dur="500" fill="hold"/>
                                        <p:tgtEl>
                                          <p:spTgt spid="32784"/>
                                        </p:tgtEl>
                                        <p:attrNameLst>
                                          <p:attrName>ppt_x</p:attrName>
                                        </p:attrNameLst>
                                      </p:cBhvr>
                                      <p:tavLst>
                                        <p:tav tm="0">
                                          <p:val>
                                            <p:strVal val="0-#ppt_w/2"/>
                                          </p:val>
                                        </p:tav>
                                        <p:tav tm="100000">
                                          <p:val>
                                            <p:strVal val="#ppt_x"/>
                                          </p:val>
                                        </p:tav>
                                      </p:tavLst>
                                    </p:anim>
                                    <p:anim calcmode="lin" valueType="num">
                                      <p:cBhvr additive="base">
                                        <p:cTn id="14" dur="500" fill="hold"/>
                                        <p:tgtEl>
                                          <p:spTgt spid="32784"/>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32785"/>
                                        </p:tgtEl>
                                        <p:attrNameLst>
                                          <p:attrName>style.visibility</p:attrName>
                                        </p:attrNameLst>
                                      </p:cBhvr>
                                      <p:to>
                                        <p:strVal val="visible"/>
                                      </p:to>
                                    </p:set>
                                    <p:anim calcmode="lin" valueType="num">
                                      <p:cBhvr additive="base">
                                        <p:cTn id="19" dur="500" fill="hold"/>
                                        <p:tgtEl>
                                          <p:spTgt spid="32785"/>
                                        </p:tgtEl>
                                        <p:attrNameLst>
                                          <p:attrName>ppt_x</p:attrName>
                                        </p:attrNameLst>
                                      </p:cBhvr>
                                      <p:tavLst>
                                        <p:tav tm="0">
                                          <p:val>
                                            <p:strVal val="0-#ppt_w/2"/>
                                          </p:val>
                                        </p:tav>
                                        <p:tav tm="100000">
                                          <p:val>
                                            <p:strVal val="#ppt_x"/>
                                          </p:val>
                                        </p:tav>
                                      </p:tavLst>
                                    </p:anim>
                                    <p:anim calcmode="lin" valueType="num">
                                      <p:cBhvr additive="base">
                                        <p:cTn id="20" dur="500" fill="hold"/>
                                        <p:tgtEl>
                                          <p:spTgt spid="32785"/>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32829"/>
                                        </p:tgtEl>
                                        <p:attrNameLst>
                                          <p:attrName>style.visibility</p:attrName>
                                        </p:attrNameLst>
                                      </p:cBhvr>
                                      <p:to>
                                        <p:strVal val="visible"/>
                                      </p:to>
                                    </p:set>
                                    <p:anim calcmode="lin" valueType="num">
                                      <p:cBhvr additive="base">
                                        <p:cTn id="25" dur="500" fill="hold"/>
                                        <p:tgtEl>
                                          <p:spTgt spid="32829"/>
                                        </p:tgtEl>
                                        <p:attrNameLst>
                                          <p:attrName>ppt_x</p:attrName>
                                        </p:attrNameLst>
                                      </p:cBhvr>
                                      <p:tavLst>
                                        <p:tav tm="0">
                                          <p:val>
                                            <p:strVal val="0-#ppt_w/2"/>
                                          </p:val>
                                        </p:tav>
                                        <p:tav tm="100000">
                                          <p:val>
                                            <p:strVal val="#ppt_x"/>
                                          </p:val>
                                        </p:tav>
                                      </p:tavLst>
                                    </p:anim>
                                    <p:anim calcmode="lin" valueType="num">
                                      <p:cBhvr additive="base">
                                        <p:cTn id="26" dur="500" fill="hold"/>
                                        <p:tgtEl>
                                          <p:spTgt spid="32829"/>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32806"/>
                                        </p:tgtEl>
                                        <p:attrNameLst>
                                          <p:attrName>style.visibility</p:attrName>
                                        </p:attrNameLst>
                                      </p:cBhvr>
                                      <p:to>
                                        <p:strVal val="visible"/>
                                      </p:to>
                                    </p:set>
                                    <p:anim calcmode="lin" valueType="num">
                                      <p:cBhvr additive="base">
                                        <p:cTn id="31" dur="500" fill="hold"/>
                                        <p:tgtEl>
                                          <p:spTgt spid="32806"/>
                                        </p:tgtEl>
                                        <p:attrNameLst>
                                          <p:attrName>ppt_x</p:attrName>
                                        </p:attrNameLst>
                                      </p:cBhvr>
                                      <p:tavLst>
                                        <p:tav tm="0">
                                          <p:val>
                                            <p:strVal val="0-#ppt_w/2"/>
                                          </p:val>
                                        </p:tav>
                                        <p:tav tm="100000">
                                          <p:val>
                                            <p:strVal val="#ppt_x"/>
                                          </p:val>
                                        </p:tav>
                                      </p:tavLst>
                                    </p:anim>
                                    <p:anim calcmode="lin" valueType="num">
                                      <p:cBhvr additive="base">
                                        <p:cTn id="32" dur="500" fill="hold"/>
                                        <p:tgtEl>
                                          <p:spTgt spid="32806"/>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32807"/>
                                        </p:tgtEl>
                                        <p:attrNameLst>
                                          <p:attrName>style.visibility</p:attrName>
                                        </p:attrNameLst>
                                      </p:cBhvr>
                                      <p:to>
                                        <p:strVal val="visible"/>
                                      </p:to>
                                    </p:set>
                                    <p:anim calcmode="lin" valueType="num">
                                      <p:cBhvr additive="base">
                                        <p:cTn id="37" dur="500" fill="hold"/>
                                        <p:tgtEl>
                                          <p:spTgt spid="32807"/>
                                        </p:tgtEl>
                                        <p:attrNameLst>
                                          <p:attrName>ppt_x</p:attrName>
                                        </p:attrNameLst>
                                      </p:cBhvr>
                                      <p:tavLst>
                                        <p:tav tm="0">
                                          <p:val>
                                            <p:strVal val="0-#ppt_w/2"/>
                                          </p:val>
                                        </p:tav>
                                        <p:tav tm="100000">
                                          <p:val>
                                            <p:strVal val="#ppt_x"/>
                                          </p:val>
                                        </p:tav>
                                      </p:tavLst>
                                    </p:anim>
                                    <p:anim calcmode="lin" valueType="num">
                                      <p:cBhvr additive="base">
                                        <p:cTn id="38" dur="500" fill="hold"/>
                                        <p:tgtEl>
                                          <p:spTgt spid="32807"/>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32830"/>
                                        </p:tgtEl>
                                        <p:attrNameLst>
                                          <p:attrName>style.visibility</p:attrName>
                                        </p:attrNameLst>
                                      </p:cBhvr>
                                      <p:to>
                                        <p:strVal val="visible"/>
                                      </p:to>
                                    </p:set>
                                    <p:anim calcmode="lin" valueType="num">
                                      <p:cBhvr additive="base">
                                        <p:cTn id="43" dur="500" fill="hold"/>
                                        <p:tgtEl>
                                          <p:spTgt spid="32830"/>
                                        </p:tgtEl>
                                        <p:attrNameLst>
                                          <p:attrName>ppt_x</p:attrName>
                                        </p:attrNameLst>
                                      </p:cBhvr>
                                      <p:tavLst>
                                        <p:tav tm="0">
                                          <p:val>
                                            <p:strVal val="0-#ppt_w/2"/>
                                          </p:val>
                                        </p:tav>
                                        <p:tav tm="100000">
                                          <p:val>
                                            <p:strVal val="#ppt_x"/>
                                          </p:val>
                                        </p:tav>
                                      </p:tavLst>
                                    </p:anim>
                                    <p:anim calcmode="lin" valueType="num">
                                      <p:cBhvr additive="base">
                                        <p:cTn id="44" dur="500" fill="hold"/>
                                        <p:tgtEl>
                                          <p:spTgt spid="32830"/>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8" fill="hold" grpId="0" nodeType="clickEffect">
                                  <p:stCondLst>
                                    <p:cond delay="0"/>
                                  </p:stCondLst>
                                  <p:childTnLst>
                                    <p:set>
                                      <p:cBhvr>
                                        <p:cTn id="48" dur="1" fill="hold">
                                          <p:stCondLst>
                                            <p:cond delay="0"/>
                                          </p:stCondLst>
                                        </p:cTn>
                                        <p:tgtEl>
                                          <p:spTgt spid="32831"/>
                                        </p:tgtEl>
                                        <p:attrNameLst>
                                          <p:attrName>style.visibility</p:attrName>
                                        </p:attrNameLst>
                                      </p:cBhvr>
                                      <p:to>
                                        <p:strVal val="visible"/>
                                      </p:to>
                                    </p:set>
                                    <p:anim calcmode="lin" valueType="num">
                                      <p:cBhvr additive="base">
                                        <p:cTn id="49" dur="500" fill="hold"/>
                                        <p:tgtEl>
                                          <p:spTgt spid="32831"/>
                                        </p:tgtEl>
                                        <p:attrNameLst>
                                          <p:attrName>ppt_x</p:attrName>
                                        </p:attrNameLst>
                                      </p:cBhvr>
                                      <p:tavLst>
                                        <p:tav tm="0">
                                          <p:val>
                                            <p:strVal val="0-#ppt_w/2"/>
                                          </p:val>
                                        </p:tav>
                                        <p:tav tm="100000">
                                          <p:val>
                                            <p:strVal val="#ppt_x"/>
                                          </p:val>
                                        </p:tav>
                                      </p:tavLst>
                                    </p:anim>
                                    <p:anim calcmode="lin" valueType="num">
                                      <p:cBhvr additive="base">
                                        <p:cTn id="50" dur="500" fill="hold"/>
                                        <p:tgtEl>
                                          <p:spTgt spid="32831"/>
                                        </p:tgtEl>
                                        <p:attrNameLst>
                                          <p:attrName>ppt_y</p:attrName>
                                        </p:attrNameLst>
                                      </p:cBhvr>
                                      <p:tavLst>
                                        <p:tav tm="0">
                                          <p:val>
                                            <p:strVal val="#ppt_y"/>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8" fill="hold" grpId="0" nodeType="clickEffect">
                                  <p:stCondLst>
                                    <p:cond delay="0"/>
                                  </p:stCondLst>
                                  <p:childTnLst>
                                    <p:set>
                                      <p:cBhvr>
                                        <p:cTn id="54" dur="1" fill="hold">
                                          <p:stCondLst>
                                            <p:cond delay="0"/>
                                          </p:stCondLst>
                                        </p:cTn>
                                        <p:tgtEl>
                                          <p:spTgt spid="32832"/>
                                        </p:tgtEl>
                                        <p:attrNameLst>
                                          <p:attrName>style.visibility</p:attrName>
                                        </p:attrNameLst>
                                      </p:cBhvr>
                                      <p:to>
                                        <p:strVal val="visible"/>
                                      </p:to>
                                    </p:set>
                                    <p:anim calcmode="lin" valueType="num">
                                      <p:cBhvr additive="base">
                                        <p:cTn id="55" dur="500" fill="hold"/>
                                        <p:tgtEl>
                                          <p:spTgt spid="32832"/>
                                        </p:tgtEl>
                                        <p:attrNameLst>
                                          <p:attrName>ppt_x</p:attrName>
                                        </p:attrNameLst>
                                      </p:cBhvr>
                                      <p:tavLst>
                                        <p:tav tm="0">
                                          <p:val>
                                            <p:strVal val="0-#ppt_w/2"/>
                                          </p:val>
                                        </p:tav>
                                        <p:tav tm="100000">
                                          <p:val>
                                            <p:strVal val="#ppt_x"/>
                                          </p:val>
                                        </p:tav>
                                      </p:tavLst>
                                    </p:anim>
                                    <p:anim calcmode="lin" valueType="num">
                                      <p:cBhvr additive="base">
                                        <p:cTn id="56" dur="500" fill="hold"/>
                                        <p:tgtEl>
                                          <p:spTgt spid="32832"/>
                                        </p:tgtEl>
                                        <p:attrNameLst>
                                          <p:attrName>ppt_y</p:attrName>
                                        </p:attrNameLst>
                                      </p:cBhvr>
                                      <p:tavLst>
                                        <p:tav tm="0">
                                          <p:val>
                                            <p:strVal val="#ppt_y"/>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8" fill="hold" grpId="0" nodeType="clickEffect">
                                  <p:stCondLst>
                                    <p:cond delay="0"/>
                                  </p:stCondLst>
                                  <p:childTnLst>
                                    <p:set>
                                      <p:cBhvr>
                                        <p:cTn id="60" dur="1" fill="hold">
                                          <p:stCondLst>
                                            <p:cond delay="0"/>
                                          </p:stCondLst>
                                        </p:cTn>
                                        <p:tgtEl>
                                          <p:spTgt spid="32834"/>
                                        </p:tgtEl>
                                        <p:attrNameLst>
                                          <p:attrName>style.visibility</p:attrName>
                                        </p:attrNameLst>
                                      </p:cBhvr>
                                      <p:to>
                                        <p:strVal val="visible"/>
                                      </p:to>
                                    </p:set>
                                    <p:anim calcmode="lin" valueType="num">
                                      <p:cBhvr additive="base">
                                        <p:cTn id="61" dur="500" fill="hold"/>
                                        <p:tgtEl>
                                          <p:spTgt spid="32834"/>
                                        </p:tgtEl>
                                        <p:attrNameLst>
                                          <p:attrName>ppt_x</p:attrName>
                                        </p:attrNameLst>
                                      </p:cBhvr>
                                      <p:tavLst>
                                        <p:tav tm="0">
                                          <p:val>
                                            <p:strVal val="0-#ppt_w/2"/>
                                          </p:val>
                                        </p:tav>
                                        <p:tav tm="100000">
                                          <p:val>
                                            <p:strVal val="#ppt_x"/>
                                          </p:val>
                                        </p:tav>
                                      </p:tavLst>
                                    </p:anim>
                                    <p:anim calcmode="lin" valueType="num">
                                      <p:cBhvr additive="base">
                                        <p:cTn id="62" dur="500" fill="hold"/>
                                        <p:tgtEl>
                                          <p:spTgt spid="32834"/>
                                        </p:tgtEl>
                                        <p:attrNameLst>
                                          <p:attrName>ppt_y</p:attrName>
                                        </p:attrNameLst>
                                      </p:cBhvr>
                                      <p:tavLst>
                                        <p:tav tm="0">
                                          <p:val>
                                            <p:strVal val="#ppt_y"/>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8" fill="hold" grpId="0" nodeType="clickEffect">
                                  <p:stCondLst>
                                    <p:cond delay="0"/>
                                  </p:stCondLst>
                                  <p:childTnLst>
                                    <p:set>
                                      <p:cBhvr>
                                        <p:cTn id="66" dur="1" fill="hold">
                                          <p:stCondLst>
                                            <p:cond delay="0"/>
                                          </p:stCondLst>
                                        </p:cTn>
                                        <p:tgtEl>
                                          <p:spTgt spid="32835"/>
                                        </p:tgtEl>
                                        <p:attrNameLst>
                                          <p:attrName>style.visibility</p:attrName>
                                        </p:attrNameLst>
                                      </p:cBhvr>
                                      <p:to>
                                        <p:strVal val="visible"/>
                                      </p:to>
                                    </p:set>
                                    <p:anim calcmode="lin" valueType="num">
                                      <p:cBhvr additive="base">
                                        <p:cTn id="67" dur="500" fill="hold"/>
                                        <p:tgtEl>
                                          <p:spTgt spid="32835"/>
                                        </p:tgtEl>
                                        <p:attrNameLst>
                                          <p:attrName>ppt_x</p:attrName>
                                        </p:attrNameLst>
                                      </p:cBhvr>
                                      <p:tavLst>
                                        <p:tav tm="0">
                                          <p:val>
                                            <p:strVal val="0-#ppt_w/2"/>
                                          </p:val>
                                        </p:tav>
                                        <p:tav tm="100000">
                                          <p:val>
                                            <p:strVal val="#ppt_x"/>
                                          </p:val>
                                        </p:tav>
                                      </p:tavLst>
                                    </p:anim>
                                    <p:anim calcmode="lin" valueType="num">
                                      <p:cBhvr additive="base">
                                        <p:cTn id="68" dur="500" fill="hold"/>
                                        <p:tgtEl>
                                          <p:spTgt spid="32835"/>
                                        </p:tgtEl>
                                        <p:attrNameLst>
                                          <p:attrName>ppt_y</p:attrName>
                                        </p:attrNameLst>
                                      </p:cBhvr>
                                      <p:tavLst>
                                        <p:tav tm="0">
                                          <p:val>
                                            <p:strVal val="#ppt_y"/>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8" fill="hold" grpId="0" nodeType="clickEffect">
                                  <p:stCondLst>
                                    <p:cond delay="0"/>
                                  </p:stCondLst>
                                  <p:childTnLst>
                                    <p:set>
                                      <p:cBhvr>
                                        <p:cTn id="72" dur="1" fill="hold">
                                          <p:stCondLst>
                                            <p:cond delay="0"/>
                                          </p:stCondLst>
                                        </p:cTn>
                                        <p:tgtEl>
                                          <p:spTgt spid="32837"/>
                                        </p:tgtEl>
                                        <p:attrNameLst>
                                          <p:attrName>style.visibility</p:attrName>
                                        </p:attrNameLst>
                                      </p:cBhvr>
                                      <p:to>
                                        <p:strVal val="visible"/>
                                      </p:to>
                                    </p:set>
                                    <p:anim calcmode="lin" valueType="num">
                                      <p:cBhvr additive="base">
                                        <p:cTn id="73" dur="500" fill="hold"/>
                                        <p:tgtEl>
                                          <p:spTgt spid="32837"/>
                                        </p:tgtEl>
                                        <p:attrNameLst>
                                          <p:attrName>ppt_x</p:attrName>
                                        </p:attrNameLst>
                                      </p:cBhvr>
                                      <p:tavLst>
                                        <p:tav tm="0">
                                          <p:val>
                                            <p:strVal val="0-#ppt_w/2"/>
                                          </p:val>
                                        </p:tav>
                                        <p:tav tm="100000">
                                          <p:val>
                                            <p:strVal val="#ppt_x"/>
                                          </p:val>
                                        </p:tav>
                                      </p:tavLst>
                                    </p:anim>
                                    <p:anim calcmode="lin" valueType="num">
                                      <p:cBhvr additive="base">
                                        <p:cTn id="74" dur="500" fill="hold"/>
                                        <p:tgtEl>
                                          <p:spTgt spid="3283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783" grpId="0" autoUpdateAnimBg="0"/>
      <p:bldP spid="32784" grpId="0" animBg="1"/>
      <p:bldP spid="32785" grpId="0" autoUpdateAnimBg="0"/>
      <p:bldP spid="32806" grpId="0" animBg="1"/>
      <p:bldP spid="32807" grpId="0" autoUpdateAnimBg="0"/>
      <p:bldP spid="32829" grpId="0" autoUpdateAnimBg="0"/>
      <p:bldP spid="32830" grpId="0" animBg="1"/>
      <p:bldP spid="32831" grpId="0" autoUpdateAnimBg="0"/>
      <p:bldP spid="32832" grpId="0" animBg="1"/>
      <p:bldP spid="32834" grpId="0" autoUpdateAnimBg="0"/>
      <p:bldP spid="32835" grpId="0" animBg="1"/>
      <p:bldP spid="32837" grpId="0" autoUpdateAnimBg="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801" name="Oval 9"/>
          <p:cNvSpPr>
            <a:spLocks noChangeArrowheads="1"/>
          </p:cNvSpPr>
          <p:nvPr/>
        </p:nvSpPr>
        <p:spPr bwMode="auto">
          <a:xfrm>
            <a:off x="500063" y="1285875"/>
            <a:ext cx="214312" cy="142875"/>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33802" name="Oval 10"/>
          <p:cNvSpPr>
            <a:spLocks noChangeArrowheads="1"/>
          </p:cNvSpPr>
          <p:nvPr/>
        </p:nvSpPr>
        <p:spPr bwMode="auto">
          <a:xfrm>
            <a:off x="457200" y="3200400"/>
            <a:ext cx="152400" cy="152400"/>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33820" name="Text Box 28"/>
          <p:cNvSpPr txBox="1">
            <a:spLocks noChangeArrowheads="1"/>
          </p:cNvSpPr>
          <p:nvPr/>
        </p:nvSpPr>
        <p:spPr bwMode="auto">
          <a:xfrm>
            <a:off x="2857500" y="2714625"/>
            <a:ext cx="5572125" cy="1754188"/>
          </a:xfrm>
          <a:prstGeom prst="rect">
            <a:avLst/>
          </a:prstGeom>
          <a:noFill/>
          <a:ln w="9525">
            <a:noFill/>
            <a:miter lim="800000"/>
            <a:headEnd/>
            <a:tailEnd/>
          </a:ln>
        </p:spPr>
        <p:txBody>
          <a:bodyPr>
            <a:spAutoFit/>
          </a:bodyPr>
          <a:lstStyle/>
          <a:p>
            <a:pPr>
              <a:lnSpc>
                <a:spcPct val="150000"/>
              </a:lnSpc>
            </a:pPr>
            <a:r>
              <a:rPr lang="zh-CN" altLang="en-US" sz="2400">
                <a:solidFill>
                  <a:schemeClr val="bg1"/>
                </a:solidFill>
                <a:latin typeface="黑体" pitchFamily="49" charset="-122"/>
                <a:ea typeface="黑体" pitchFamily="49" charset="-122"/>
              </a:rPr>
              <a:t>决定一个区域与其它区域的空间关系</a:t>
            </a:r>
          </a:p>
          <a:p>
            <a:pPr>
              <a:lnSpc>
                <a:spcPct val="150000"/>
              </a:lnSpc>
            </a:pPr>
            <a:r>
              <a:rPr lang="zh-CN" altLang="en-US" sz="2400">
                <a:solidFill>
                  <a:schemeClr val="bg1"/>
                </a:solidFill>
                <a:latin typeface="黑体" pitchFamily="49" charset="-122"/>
                <a:ea typeface="黑体" pitchFamily="49" charset="-122"/>
              </a:rPr>
              <a:t>决定了所处的大的自然环境</a:t>
            </a:r>
          </a:p>
          <a:p>
            <a:pPr>
              <a:lnSpc>
                <a:spcPct val="150000"/>
              </a:lnSpc>
            </a:pPr>
            <a:r>
              <a:rPr lang="zh-CN" altLang="en-US" sz="2400">
                <a:solidFill>
                  <a:schemeClr val="bg1"/>
                </a:solidFill>
                <a:latin typeface="黑体" pitchFamily="49" charset="-122"/>
                <a:ea typeface="黑体" pitchFamily="49" charset="-122"/>
              </a:rPr>
              <a:t>全国经济发展大格局中的位置</a:t>
            </a:r>
          </a:p>
        </p:txBody>
      </p:sp>
      <p:sp>
        <p:nvSpPr>
          <p:cNvPr id="33821" name="Oval 29"/>
          <p:cNvSpPr>
            <a:spLocks noChangeArrowheads="1"/>
          </p:cNvSpPr>
          <p:nvPr/>
        </p:nvSpPr>
        <p:spPr bwMode="auto">
          <a:xfrm>
            <a:off x="428625" y="5214938"/>
            <a:ext cx="152400" cy="152400"/>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10" name="TextBox 9"/>
          <p:cNvSpPr txBox="1">
            <a:spLocks noChangeArrowheads="1"/>
          </p:cNvSpPr>
          <p:nvPr/>
        </p:nvSpPr>
        <p:spPr bwMode="auto">
          <a:xfrm>
            <a:off x="785813" y="1071563"/>
            <a:ext cx="2338387" cy="523875"/>
          </a:xfrm>
          <a:prstGeom prst="rect">
            <a:avLst/>
          </a:prstGeom>
          <a:noFill/>
          <a:ln w="9525">
            <a:noFill/>
            <a:miter lim="800000"/>
            <a:headEnd/>
            <a:tailEnd/>
          </a:ln>
        </p:spPr>
        <p:txBody>
          <a:bodyPr wrap="none">
            <a:spAutoFit/>
          </a:bodyPr>
          <a:lstStyle/>
          <a:p>
            <a:r>
              <a:rPr lang="zh-CN" altLang="en-US" sz="2800">
                <a:solidFill>
                  <a:srgbClr val="FFFF00"/>
                </a:solidFill>
                <a:latin typeface="黑体" pitchFamily="49" charset="-122"/>
                <a:ea typeface="黑体" pitchFamily="49" charset="-122"/>
              </a:rPr>
              <a:t>资源配置能力</a:t>
            </a:r>
          </a:p>
        </p:txBody>
      </p:sp>
      <p:sp>
        <p:nvSpPr>
          <p:cNvPr id="11" name="AutoShape 16"/>
          <p:cNvSpPr>
            <a:spLocks/>
          </p:cNvSpPr>
          <p:nvPr/>
        </p:nvSpPr>
        <p:spPr bwMode="auto">
          <a:xfrm>
            <a:off x="3286125" y="714375"/>
            <a:ext cx="285750" cy="1714500"/>
          </a:xfrm>
          <a:prstGeom prst="leftBrace">
            <a:avLst>
              <a:gd name="adj1" fmla="val 31250"/>
              <a:gd name="adj2" fmla="val 32847"/>
            </a:avLst>
          </a:prstGeom>
          <a:noFill/>
          <a:ln w="9525">
            <a:solidFill>
              <a:schemeClr val="bg1"/>
            </a:solidFill>
            <a:round/>
            <a:headEnd/>
            <a:tailEnd/>
          </a:ln>
        </p:spPr>
        <p:txBody>
          <a:bodyPr wrap="none" anchor="ctr"/>
          <a:lstStyle/>
          <a:p>
            <a:endParaRPr lang="zh-CN" altLang="en-US"/>
          </a:p>
        </p:txBody>
      </p:sp>
      <p:sp>
        <p:nvSpPr>
          <p:cNvPr id="13" name="TextBox 12"/>
          <p:cNvSpPr txBox="1">
            <a:spLocks noChangeArrowheads="1"/>
          </p:cNvSpPr>
          <p:nvPr/>
        </p:nvSpPr>
        <p:spPr bwMode="auto">
          <a:xfrm>
            <a:off x="3786188" y="357188"/>
            <a:ext cx="2954337" cy="2586037"/>
          </a:xfrm>
          <a:prstGeom prst="rect">
            <a:avLst/>
          </a:prstGeom>
          <a:noFill/>
          <a:ln w="9525">
            <a:noFill/>
            <a:miter lim="800000"/>
            <a:headEnd/>
            <a:tailEnd/>
          </a:ln>
        </p:spPr>
        <p:txBody>
          <a:bodyPr wrap="none">
            <a:spAutoFit/>
          </a:bodyPr>
          <a:lstStyle/>
          <a:p>
            <a:pPr>
              <a:lnSpc>
                <a:spcPct val="150000"/>
              </a:lnSpc>
            </a:pPr>
            <a:r>
              <a:rPr lang="zh-CN" altLang="en-US" sz="2400">
                <a:solidFill>
                  <a:schemeClr val="bg1"/>
                </a:solidFill>
                <a:latin typeface="黑体" pitchFamily="49" charset="-122"/>
                <a:ea typeface="黑体" pitchFamily="49" charset="-122"/>
              </a:rPr>
              <a:t>经济体制</a:t>
            </a:r>
            <a:endParaRPr lang="en-US" altLang="zh-CN" sz="2400">
              <a:solidFill>
                <a:schemeClr val="bg1"/>
              </a:solidFill>
              <a:latin typeface="黑体" pitchFamily="49" charset="-122"/>
              <a:ea typeface="黑体" pitchFamily="49" charset="-122"/>
            </a:endParaRPr>
          </a:p>
          <a:p>
            <a:pPr>
              <a:lnSpc>
                <a:spcPct val="150000"/>
              </a:lnSpc>
            </a:pPr>
            <a:r>
              <a:rPr lang="zh-CN" altLang="en-US" sz="2400">
                <a:solidFill>
                  <a:schemeClr val="bg1"/>
                </a:solidFill>
                <a:latin typeface="黑体" pitchFamily="49" charset="-122"/>
                <a:ea typeface="黑体" pitchFamily="49" charset="-122"/>
              </a:rPr>
              <a:t>政府的经济管理能力</a:t>
            </a:r>
            <a:endParaRPr lang="en-US" altLang="zh-CN" sz="2400">
              <a:solidFill>
                <a:schemeClr val="bg1"/>
              </a:solidFill>
              <a:latin typeface="黑体" pitchFamily="49" charset="-122"/>
              <a:ea typeface="黑体" pitchFamily="49" charset="-122"/>
            </a:endParaRPr>
          </a:p>
          <a:p>
            <a:pPr>
              <a:lnSpc>
                <a:spcPct val="150000"/>
              </a:lnSpc>
            </a:pPr>
            <a:r>
              <a:rPr lang="zh-CN" altLang="en-US" sz="2400">
                <a:solidFill>
                  <a:schemeClr val="bg1"/>
                </a:solidFill>
                <a:latin typeface="黑体" pitchFamily="49" charset="-122"/>
                <a:ea typeface="黑体" pitchFamily="49" charset="-122"/>
              </a:rPr>
              <a:t>企业的组织水平</a:t>
            </a:r>
            <a:endParaRPr lang="en-US" altLang="zh-CN" sz="2400">
              <a:solidFill>
                <a:schemeClr val="bg1"/>
              </a:solidFill>
              <a:latin typeface="黑体" pitchFamily="49" charset="-122"/>
              <a:ea typeface="黑体" pitchFamily="49" charset="-122"/>
            </a:endParaRPr>
          </a:p>
          <a:p>
            <a:pPr>
              <a:lnSpc>
                <a:spcPct val="150000"/>
              </a:lnSpc>
            </a:pPr>
            <a:r>
              <a:rPr lang="zh-CN" altLang="en-US" sz="2400">
                <a:solidFill>
                  <a:schemeClr val="bg1"/>
                </a:solidFill>
                <a:latin typeface="黑体" pitchFamily="49" charset="-122"/>
                <a:ea typeface="黑体" pitchFamily="49" charset="-122"/>
              </a:rPr>
              <a:t>产业结构</a:t>
            </a:r>
            <a:endParaRPr lang="en-US" altLang="zh-CN" sz="2400">
              <a:solidFill>
                <a:schemeClr val="bg1"/>
              </a:solidFill>
              <a:latin typeface="黑体" pitchFamily="49" charset="-122"/>
              <a:ea typeface="黑体" pitchFamily="49" charset="-122"/>
            </a:endParaRPr>
          </a:p>
          <a:p>
            <a:endParaRPr lang="zh-CN" altLang="en-US"/>
          </a:p>
        </p:txBody>
      </p:sp>
      <p:sp>
        <p:nvSpPr>
          <p:cNvPr id="14" name="TextBox 13"/>
          <p:cNvSpPr txBox="1">
            <a:spLocks noChangeArrowheads="1"/>
          </p:cNvSpPr>
          <p:nvPr/>
        </p:nvSpPr>
        <p:spPr bwMode="auto">
          <a:xfrm>
            <a:off x="785813" y="3143250"/>
            <a:ext cx="1620837" cy="523875"/>
          </a:xfrm>
          <a:prstGeom prst="rect">
            <a:avLst/>
          </a:prstGeom>
          <a:noFill/>
          <a:ln w="9525">
            <a:noFill/>
            <a:miter lim="800000"/>
            <a:headEnd/>
            <a:tailEnd/>
          </a:ln>
        </p:spPr>
        <p:txBody>
          <a:bodyPr wrap="none">
            <a:spAutoFit/>
          </a:bodyPr>
          <a:lstStyle/>
          <a:p>
            <a:r>
              <a:rPr lang="zh-CN" altLang="en-US" sz="2800">
                <a:solidFill>
                  <a:srgbClr val="FFFF00"/>
                </a:solidFill>
                <a:latin typeface="黑体" pitchFamily="49" charset="-122"/>
                <a:ea typeface="黑体" pitchFamily="49" charset="-122"/>
              </a:rPr>
              <a:t>区位条件</a:t>
            </a:r>
          </a:p>
        </p:txBody>
      </p:sp>
      <p:sp>
        <p:nvSpPr>
          <p:cNvPr id="15" name="AutoShape 16"/>
          <p:cNvSpPr>
            <a:spLocks/>
          </p:cNvSpPr>
          <p:nvPr/>
        </p:nvSpPr>
        <p:spPr bwMode="auto">
          <a:xfrm>
            <a:off x="2428875" y="2928938"/>
            <a:ext cx="285750" cy="1357312"/>
          </a:xfrm>
          <a:prstGeom prst="leftBrace">
            <a:avLst>
              <a:gd name="adj1" fmla="val 31249"/>
              <a:gd name="adj2" fmla="val 32847"/>
            </a:avLst>
          </a:prstGeom>
          <a:noFill/>
          <a:ln w="9525">
            <a:solidFill>
              <a:schemeClr val="bg1"/>
            </a:solidFill>
            <a:round/>
            <a:headEnd/>
            <a:tailEnd/>
          </a:ln>
        </p:spPr>
        <p:txBody>
          <a:bodyPr wrap="none" anchor="ctr"/>
          <a:lstStyle/>
          <a:p>
            <a:endParaRPr lang="zh-CN" altLang="en-US"/>
          </a:p>
        </p:txBody>
      </p:sp>
      <p:sp>
        <p:nvSpPr>
          <p:cNvPr id="16" name="TextBox 15"/>
          <p:cNvSpPr txBox="1">
            <a:spLocks noChangeArrowheads="1"/>
          </p:cNvSpPr>
          <p:nvPr/>
        </p:nvSpPr>
        <p:spPr bwMode="auto">
          <a:xfrm>
            <a:off x="857250" y="5000625"/>
            <a:ext cx="1620838" cy="523875"/>
          </a:xfrm>
          <a:prstGeom prst="rect">
            <a:avLst/>
          </a:prstGeom>
          <a:noFill/>
          <a:ln w="9525">
            <a:noFill/>
            <a:miter lim="800000"/>
            <a:headEnd/>
            <a:tailEnd/>
          </a:ln>
        </p:spPr>
        <p:txBody>
          <a:bodyPr wrap="none">
            <a:spAutoFit/>
          </a:bodyPr>
          <a:lstStyle/>
          <a:p>
            <a:r>
              <a:rPr lang="zh-CN" altLang="en-US" sz="2800">
                <a:solidFill>
                  <a:srgbClr val="FFFF00"/>
                </a:solidFill>
                <a:latin typeface="黑体" pitchFamily="49" charset="-122"/>
                <a:ea typeface="黑体" pitchFamily="49" charset="-122"/>
              </a:rPr>
              <a:t>外部环境</a:t>
            </a:r>
          </a:p>
        </p:txBody>
      </p:sp>
      <p:sp>
        <p:nvSpPr>
          <p:cNvPr id="17" name="AutoShape 16"/>
          <p:cNvSpPr>
            <a:spLocks/>
          </p:cNvSpPr>
          <p:nvPr/>
        </p:nvSpPr>
        <p:spPr bwMode="auto">
          <a:xfrm>
            <a:off x="2500313" y="4786313"/>
            <a:ext cx="285750" cy="1357312"/>
          </a:xfrm>
          <a:prstGeom prst="leftBrace">
            <a:avLst>
              <a:gd name="adj1" fmla="val 31249"/>
              <a:gd name="adj2" fmla="val 32847"/>
            </a:avLst>
          </a:prstGeom>
          <a:noFill/>
          <a:ln w="9525">
            <a:solidFill>
              <a:schemeClr val="bg1"/>
            </a:solidFill>
            <a:round/>
            <a:headEnd/>
            <a:tailEnd/>
          </a:ln>
        </p:spPr>
        <p:txBody>
          <a:bodyPr wrap="none" anchor="ctr"/>
          <a:lstStyle/>
          <a:p>
            <a:endParaRPr lang="zh-CN" altLang="en-US"/>
          </a:p>
        </p:txBody>
      </p:sp>
      <p:sp>
        <p:nvSpPr>
          <p:cNvPr id="18" name="TextBox 17"/>
          <p:cNvSpPr txBox="1">
            <a:spLocks noChangeArrowheads="1"/>
          </p:cNvSpPr>
          <p:nvPr/>
        </p:nvSpPr>
        <p:spPr bwMode="auto">
          <a:xfrm>
            <a:off x="3000375" y="4572000"/>
            <a:ext cx="2954338" cy="1754188"/>
          </a:xfrm>
          <a:prstGeom prst="rect">
            <a:avLst/>
          </a:prstGeom>
          <a:noFill/>
          <a:ln w="9525">
            <a:noFill/>
            <a:miter lim="800000"/>
            <a:headEnd/>
            <a:tailEnd/>
          </a:ln>
        </p:spPr>
        <p:txBody>
          <a:bodyPr wrap="none">
            <a:spAutoFit/>
          </a:bodyPr>
          <a:lstStyle/>
          <a:p>
            <a:pPr>
              <a:lnSpc>
                <a:spcPct val="150000"/>
              </a:lnSpc>
            </a:pPr>
            <a:r>
              <a:rPr lang="zh-CN" altLang="en-US" sz="2400">
                <a:solidFill>
                  <a:schemeClr val="bg1"/>
                </a:solidFill>
                <a:latin typeface="黑体" pitchFamily="49" charset="-122"/>
                <a:ea typeface="黑体" pitchFamily="49" charset="-122"/>
              </a:rPr>
              <a:t>全国的经济发展格局</a:t>
            </a:r>
            <a:endParaRPr lang="en-US" altLang="zh-CN" sz="2400">
              <a:solidFill>
                <a:schemeClr val="bg1"/>
              </a:solidFill>
              <a:latin typeface="黑体" pitchFamily="49" charset="-122"/>
              <a:ea typeface="黑体" pitchFamily="49" charset="-122"/>
            </a:endParaRPr>
          </a:p>
          <a:p>
            <a:pPr>
              <a:lnSpc>
                <a:spcPct val="150000"/>
              </a:lnSpc>
            </a:pPr>
            <a:r>
              <a:rPr lang="zh-CN" altLang="en-US" sz="2400">
                <a:solidFill>
                  <a:schemeClr val="bg1"/>
                </a:solidFill>
                <a:latin typeface="黑体" pitchFamily="49" charset="-122"/>
                <a:ea typeface="黑体" pitchFamily="49" charset="-122"/>
              </a:rPr>
              <a:t>区际经济关系</a:t>
            </a:r>
            <a:endParaRPr lang="en-US" altLang="zh-CN" sz="2400">
              <a:solidFill>
                <a:schemeClr val="bg1"/>
              </a:solidFill>
              <a:latin typeface="黑体" pitchFamily="49" charset="-122"/>
              <a:ea typeface="黑体" pitchFamily="49" charset="-122"/>
            </a:endParaRPr>
          </a:p>
          <a:p>
            <a:pPr>
              <a:lnSpc>
                <a:spcPct val="150000"/>
              </a:lnSpc>
            </a:pPr>
            <a:r>
              <a:rPr lang="zh-CN" altLang="en-US" sz="2400">
                <a:solidFill>
                  <a:schemeClr val="bg1"/>
                </a:solidFill>
                <a:latin typeface="黑体" pitchFamily="49" charset="-122"/>
                <a:ea typeface="黑体" pitchFamily="49" charset="-122"/>
              </a:rPr>
              <a:t>国际经济关系</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3801"/>
                                        </p:tgtEl>
                                        <p:attrNameLst>
                                          <p:attrName>style.visibility</p:attrName>
                                        </p:attrNameLst>
                                      </p:cBhvr>
                                      <p:to>
                                        <p:strVal val="visible"/>
                                      </p:to>
                                    </p:set>
                                    <p:anim calcmode="lin" valueType="num">
                                      <p:cBhvr additive="base">
                                        <p:cTn id="11" dur="500" fill="hold"/>
                                        <p:tgtEl>
                                          <p:spTgt spid="33801"/>
                                        </p:tgtEl>
                                        <p:attrNameLst>
                                          <p:attrName>ppt_x</p:attrName>
                                        </p:attrNameLst>
                                      </p:cBhvr>
                                      <p:tavLst>
                                        <p:tav tm="0">
                                          <p:val>
                                            <p:strVal val="#ppt_x"/>
                                          </p:val>
                                        </p:tav>
                                        <p:tav tm="100000">
                                          <p:val>
                                            <p:strVal val="#ppt_x"/>
                                          </p:val>
                                        </p:tav>
                                      </p:tavLst>
                                    </p:anim>
                                    <p:anim calcmode="lin" valueType="num">
                                      <p:cBhvr additive="base">
                                        <p:cTn id="12" dur="500" fill="hold"/>
                                        <p:tgtEl>
                                          <p:spTgt spid="33801"/>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box(in)">
                                      <p:cBhvr>
                                        <p:cTn id="17" dur="50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box(in)">
                                      <p:cBhvr>
                                        <p:cTn id="22" dur="500"/>
                                        <p:tgtEl>
                                          <p:spTgt spid="13"/>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16" fill="hold" grpId="0" nodeType="clickEffect">
                                  <p:stCondLst>
                                    <p:cond delay="0"/>
                                  </p:stCondLst>
                                  <p:childTnLst>
                                    <p:set>
                                      <p:cBhvr>
                                        <p:cTn id="26" dur="1" fill="hold">
                                          <p:stCondLst>
                                            <p:cond delay="0"/>
                                          </p:stCondLst>
                                        </p:cTn>
                                        <p:tgtEl>
                                          <p:spTgt spid="33802"/>
                                        </p:tgtEl>
                                        <p:attrNameLst>
                                          <p:attrName>style.visibility</p:attrName>
                                        </p:attrNameLst>
                                      </p:cBhvr>
                                      <p:to>
                                        <p:strVal val="visible"/>
                                      </p:to>
                                    </p:set>
                                    <p:animEffect transition="in" filter="box(in)">
                                      <p:cBhvr>
                                        <p:cTn id="27" dur="500"/>
                                        <p:tgtEl>
                                          <p:spTgt spid="33802"/>
                                        </p:tgtEl>
                                      </p:cBhvr>
                                    </p:animEffect>
                                  </p:childTnLst>
                                </p:cTn>
                              </p:par>
                              <p:par>
                                <p:cTn id="28" presetID="4" presetClass="entr" presetSubtype="16" fill="hold" grpId="0" nodeType="with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box(in)">
                                      <p:cBhvr>
                                        <p:cTn id="30" dur="500"/>
                                        <p:tgtEl>
                                          <p:spTgt spid="14"/>
                                        </p:tgtEl>
                                      </p:cBhvr>
                                    </p:animEffect>
                                  </p:childTnLst>
                                </p:cTn>
                              </p:par>
                            </p:childTnLst>
                          </p:cTn>
                        </p:par>
                      </p:childTnLst>
                    </p:cTn>
                  </p:par>
                  <p:par>
                    <p:cTn id="31" fill="hold">
                      <p:stCondLst>
                        <p:cond delay="indefinite"/>
                      </p:stCondLst>
                      <p:childTnLst>
                        <p:par>
                          <p:cTn id="32" fill="hold">
                            <p:stCondLst>
                              <p:cond delay="0"/>
                            </p:stCondLst>
                            <p:childTnLst>
                              <p:par>
                                <p:cTn id="33" presetID="3" presetClass="entr" presetSubtype="10" fill="hold" grpId="0" nodeType="clickEffect">
                                  <p:stCondLst>
                                    <p:cond delay="0"/>
                                  </p:stCondLst>
                                  <p:childTnLst>
                                    <p:set>
                                      <p:cBhvr>
                                        <p:cTn id="34" dur="1" fill="hold">
                                          <p:stCondLst>
                                            <p:cond delay="0"/>
                                          </p:stCondLst>
                                        </p:cTn>
                                        <p:tgtEl>
                                          <p:spTgt spid="15"/>
                                        </p:tgtEl>
                                        <p:attrNameLst>
                                          <p:attrName>style.visibility</p:attrName>
                                        </p:attrNameLst>
                                      </p:cBhvr>
                                      <p:to>
                                        <p:strVal val="visible"/>
                                      </p:to>
                                    </p:set>
                                    <p:animEffect transition="in" filter="blinds(horizontal)">
                                      <p:cBhvr>
                                        <p:cTn id="35" dur="500"/>
                                        <p:tgtEl>
                                          <p:spTgt spid="15"/>
                                        </p:tgtEl>
                                      </p:cBhvr>
                                    </p:animEffect>
                                  </p:childTnLst>
                                </p:cTn>
                              </p:par>
                            </p:childTnLst>
                          </p:cTn>
                        </p:par>
                      </p:childTnLst>
                    </p:cTn>
                  </p:par>
                  <p:par>
                    <p:cTn id="36" fill="hold">
                      <p:stCondLst>
                        <p:cond delay="indefinite"/>
                      </p:stCondLst>
                      <p:childTnLst>
                        <p:par>
                          <p:cTn id="37" fill="hold">
                            <p:stCondLst>
                              <p:cond delay="0"/>
                            </p:stCondLst>
                            <p:childTnLst>
                              <p:par>
                                <p:cTn id="38" presetID="4" presetClass="entr" presetSubtype="16" fill="hold" grpId="0" nodeType="clickEffect">
                                  <p:stCondLst>
                                    <p:cond delay="0"/>
                                  </p:stCondLst>
                                  <p:childTnLst>
                                    <p:set>
                                      <p:cBhvr>
                                        <p:cTn id="39" dur="1" fill="hold">
                                          <p:stCondLst>
                                            <p:cond delay="0"/>
                                          </p:stCondLst>
                                        </p:cTn>
                                        <p:tgtEl>
                                          <p:spTgt spid="33820"/>
                                        </p:tgtEl>
                                        <p:attrNameLst>
                                          <p:attrName>style.visibility</p:attrName>
                                        </p:attrNameLst>
                                      </p:cBhvr>
                                      <p:to>
                                        <p:strVal val="visible"/>
                                      </p:to>
                                    </p:set>
                                    <p:animEffect transition="in" filter="box(in)">
                                      <p:cBhvr>
                                        <p:cTn id="40" dur="500"/>
                                        <p:tgtEl>
                                          <p:spTgt spid="33820"/>
                                        </p:tgtEl>
                                      </p:cBhvr>
                                    </p:animEffect>
                                  </p:childTnLst>
                                </p:cTn>
                              </p:par>
                            </p:childTnLst>
                          </p:cTn>
                        </p:par>
                      </p:childTnLst>
                    </p:cTn>
                  </p:par>
                  <p:par>
                    <p:cTn id="41" fill="hold">
                      <p:stCondLst>
                        <p:cond delay="indefinite"/>
                      </p:stCondLst>
                      <p:childTnLst>
                        <p:par>
                          <p:cTn id="42" fill="hold">
                            <p:stCondLst>
                              <p:cond delay="0"/>
                            </p:stCondLst>
                            <p:childTnLst>
                              <p:par>
                                <p:cTn id="43" presetID="4" presetClass="entr" presetSubtype="16" fill="hold" grpId="0" nodeType="clickEffect">
                                  <p:stCondLst>
                                    <p:cond delay="0"/>
                                  </p:stCondLst>
                                  <p:childTnLst>
                                    <p:set>
                                      <p:cBhvr>
                                        <p:cTn id="44" dur="1" fill="hold">
                                          <p:stCondLst>
                                            <p:cond delay="0"/>
                                          </p:stCondLst>
                                        </p:cTn>
                                        <p:tgtEl>
                                          <p:spTgt spid="33821"/>
                                        </p:tgtEl>
                                        <p:attrNameLst>
                                          <p:attrName>style.visibility</p:attrName>
                                        </p:attrNameLst>
                                      </p:cBhvr>
                                      <p:to>
                                        <p:strVal val="visible"/>
                                      </p:to>
                                    </p:set>
                                    <p:animEffect transition="in" filter="box(in)">
                                      <p:cBhvr>
                                        <p:cTn id="45" dur="500"/>
                                        <p:tgtEl>
                                          <p:spTgt spid="33821"/>
                                        </p:tgtEl>
                                      </p:cBhvr>
                                    </p:animEffect>
                                  </p:childTnLst>
                                </p:cTn>
                              </p:par>
                              <p:par>
                                <p:cTn id="46" presetID="4" presetClass="entr" presetSubtype="16" fill="hold" grpId="0" nodeType="withEffect">
                                  <p:stCondLst>
                                    <p:cond delay="0"/>
                                  </p:stCondLst>
                                  <p:childTnLst>
                                    <p:set>
                                      <p:cBhvr>
                                        <p:cTn id="47" dur="1" fill="hold">
                                          <p:stCondLst>
                                            <p:cond delay="0"/>
                                          </p:stCondLst>
                                        </p:cTn>
                                        <p:tgtEl>
                                          <p:spTgt spid="16"/>
                                        </p:tgtEl>
                                        <p:attrNameLst>
                                          <p:attrName>style.visibility</p:attrName>
                                        </p:attrNameLst>
                                      </p:cBhvr>
                                      <p:to>
                                        <p:strVal val="visible"/>
                                      </p:to>
                                    </p:set>
                                    <p:animEffect transition="in" filter="box(in)">
                                      <p:cBhvr>
                                        <p:cTn id="48" dur="500"/>
                                        <p:tgtEl>
                                          <p:spTgt spid="16"/>
                                        </p:tgtEl>
                                      </p:cBhvr>
                                    </p:animEffect>
                                  </p:childTnLst>
                                </p:cTn>
                              </p:par>
                            </p:childTnLst>
                          </p:cTn>
                        </p:par>
                      </p:childTnLst>
                    </p:cTn>
                  </p:par>
                  <p:par>
                    <p:cTn id="49" fill="hold">
                      <p:stCondLst>
                        <p:cond delay="indefinite"/>
                      </p:stCondLst>
                      <p:childTnLst>
                        <p:par>
                          <p:cTn id="50" fill="hold">
                            <p:stCondLst>
                              <p:cond delay="0"/>
                            </p:stCondLst>
                            <p:childTnLst>
                              <p:par>
                                <p:cTn id="51" presetID="4" presetClass="entr" presetSubtype="16" fill="hold" grpId="0" nodeType="clickEffect">
                                  <p:stCondLst>
                                    <p:cond delay="0"/>
                                  </p:stCondLst>
                                  <p:childTnLst>
                                    <p:set>
                                      <p:cBhvr>
                                        <p:cTn id="52" dur="1" fill="hold">
                                          <p:stCondLst>
                                            <p:cond delay="0"/>
                                          </p:stCondLst>
                                        </p:cTn>
                                        <p:tgtEl>
                                          <p:spTgt spid="17"/>
                                        </p:tgtEl>
                                        <p:attrNameLst>
                                          <p:attrName>style.visibility</p:attrName>
                                        </p:attrNameLst>
                                      </p:cBhvr>
                                      <p:to>
                                        <p:strVal val="visible"/>
                                      </p:to>
                                    </p:set>
                                    <p:animEffect transition="in" filter="box(in)">
                                      <p:cBhvr>
                                        <p:cTn id="53" dur="500"/>
                                        <p:tgtEl>
                                          <p:spTgt spid="17"/>
                                        </p:tgtEl>
                                      </p:cBhvr>
                                    </p:animEffect>
                                  </p:childTnLst>
                                </p:cTn>
                              </p:par>
                            </p:childTnLst>
                          </p:cTn>
                        </p:par>
                      </p:childTnLst>
                    </p:cTn>
                  </p:par>
                  <p:par>
                    <p:cTn id="54" fill="hold">
                      <p:stCondLst>
                        <p:cond delay="indefinite"/>
                      </p:stCondLst>
                      <p:childTnLst>
                        <p:par>
                          <p:cTn id="55" fill="hold">
                            <p:stCondLst>
                              <p:cond delay="0"/>
                            </p:stCondLst>
                            <p:childTnLst>
                              <p:par>
                                <p:cTn id="56" presetID="5" presetClass="entr" presetSubtype="10" fill="hold" grpId="0" nodeType="clickEffect">
                                  <p:stCondLst>
                                    <p:cond delay="0"/>
                                  </p:stCondLst>
                                  <p:childTnLst>
                                    <p:set>
                                      <p:cBhvr>
                                        <p:cTn id="57" dur="1" fill="hold">
                                          <p:stCondLst>
                                            <p:cond delay="0"/>
                                          </p:stCondLst>
                                        </p:cTn>
                                        <p:tgtEl>
                                          <p:spTgt spid="18"/>
                                        </p:tgtEl>
                                        <p:attrNameLst>
                                          <p:attrName>style.visibility</p:attrName>
                                        </p:attrNameLst>
                                      </p:cBhvr>
                                      <p:to>
                                        <p:strVal val="visible"/>
                                      </p:to>
                                    </p:set>
                                    <p:animEffect transition="in" filter="checkerboard(across)">
                                      <p:cBhvr>
                                        <p:cTn id="58"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801" grpId="0" animBg="1"/>
      <p:bldP spid="33802" grpId="0" animBg="1"/>
      <p:bldP spid="33820" grpId="0"/>
      <p:bldP spid="33821" grpId="0" animBg="1"/>
      <p:bldP spid="10" grpId="0"/>
      <p:bldP spid="11" grpId="0" animBg="1"/>
      <p:bldP spid="13" grpId="0"/>
      <p:bldP spid="14" grpId="0"/>
      <p:bldP spid="15" grpId="0" animBg="1"/>
      <p:bldP spid="16" grpId="0"/>
      <p:bldP spid="17" grpId="0" animBg="1"/>
      <p:bldP spid="1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xfrm>
            <a:off x="468313" y="1412875"/>
            <a:ext cx="8229600" cy="288925"/>
          </a:xfrm>
        </p:spPr>
        <p:txBody>
          <a:bodyPr/>
          <a:lstStyle/>
          <a:p>
            <a:pPr algn="l" eaLnBrk="1" hangingPunct="1"/>
            <a:r>
              <a:rPr lang="zh-CN" altLang="en-US" sz="3600" smtClean="0">
                <a:solidFill>
                  <a:srgbClr val="FFFF00"/>
                </a:solidFill>
                <a:ea typeface="黑体" pitchFamily="49" charset="-122"/>
              </a:rPr>
              <a:t>二、区域经济增长机制</a:t>
            </a:r>
            <a:r>
              <a:rPr lang="zh-CN" altLang="en-US" sz="4000" smtClean="0">
                <a:solidFill>
                  <a:srgbClr val="FFFF00"/>
                </a:solidFill>
                <a:ea typeface="黑体" pitchFamily="49" charset="-122"/>
              </a:rPr>
              <a:t/>
            </a:r>
            <a:br>
              <a:rPr lang="zh-CN" altLang="en-US" sz="4000" smtClean="0">
                <a:solidFill>
                  <a:srgbClr val="FFFF00"/>
                </a:solidFill>
                <a:ea typeface="黑体" pitchFamily="49" charset="-122"/>
              </a:rPr>
            </a:br>
            <a:endParaRPr lang="zh-CN" altLang="en-US" sz="4000" smtClean="0">
              <a:solidFill>
                <a:srgbClr val="FFFF00"/>
              </a:solidFill>
              <a:ea typeface="黑体" pitchFamily="49" charset="-122"/>
            </a:endParaRPr>
          </a:p>
        </p:txBody>
      </p:sp>
      <p:sp>
        <p:nvSpPr>
          <p:cNvPr id="4099" name="Rectangle 3"/>
          <p:cNvSpPr>
            <a:spLocks noGrp="1" noChangeArrowheads="1"/>
          </p:cNvSpPr>
          <p:nvPr>
            <p:ph type="body" idx="1"/>
          </p:nvPr>
        </p:nvSpPr>
        <p:spPr>
          <a:xfrm>
            <a:off x="1331913" y="2060575"/>
            <a:ext cx="6840537" cy="3240088"/>
          </a:xfrm>
        </p:spPr>
        <p:txBody>
          <a:bodyPr/>
          <a:lstStyle/>
          <a:p>
            <a:pPr eaLnBrk="1" hangingPunct="1">
              <a:lnSpc>
                <a:spcPct val="140000"/>
              </a:lnSpc>
              <a:buFont typeface="Wingdings" pitchFamily="2" charset="2"/>
              <a:buNone/>
            </a:pPr>
            <a:r>
              <a:rPr lang="zh-CN" altLang="en-US" smtClean="0">
                <a:solidFill>
                  <a:schemeClr val="bg1"/>
                </a:solidFill>
                <a:ea typeface="黑体" pitchFamily="49" charset="-122"/>
              </a:rPr>
              <a:t>（一）区域经济增长极理论</a:t>
            </a:r>
          </a:p>
          <a:p>
            <a:pPr eaLnBrk="1" hangingPunct="1">
              <a:lnSpc>
                <a:spcPct val="140000"/>
              </a:lnSpc>
              <a:buFont typeface="Wingdings" pitchFamily="2" charset="2"/>
              <a:buNone/>
            </a:pPr>
            <a:r>
              <a:rPr lang="zh-CN" altLang="en-US" smtClean="0">
                <a:solidFill>
                  <a:schemeClr val="bg1"/>
                </a:solidFill>
                <a:ea typeface="黑体" pitchFamily="49" charset="-122"/>
              </a:rPr>
              <a:t>（二）</a:t>
            </a:r>
            <a:r>
              <a:rPr lang="zh-CN" altLang="en-US" smtClean="0">
                <a:solidFill>
                  <a:schemeClr val="bg1"/>
                </a:solidFill>
                <a:ea typeface="黑体" pitchFamily="49" charset="-122"/>
                <a:hlinkClick r:id="rId2" action="ppaction://hlinksldjump"/>
              </a:rPr>
              <a:t>循环积累因果原理</a:t>
            </a:r>
            <a:endParaRPr lang="zh-CN" altLang="en-US" smtClean="0">
              <a:solidFill>
                <a:schemeClr val="bg1"/>
              </a:solidFill>
              <a:ea typeface="黑体" pitchFamily="49" charset="-122"/>
            </a:endParaRPr>
          </a:p>
          <a:p>
            <a:pPr eaLnBrk="1" hangingPunct="1">
              <a:lnSpc>
                <a:spcPct val="140000"/>
              </a:lnSpc>
              <a:buFont typeface="Wingdings" pitchFamily="2" charset="2"/>
              <a:buNone/>
            </a:pPr>
            <a:r>
              <a:rPr lang="zh-CN" altLang="en-US" smtClean="0">
                <a:solidFill>
                  <a:schemeClr val="bg1"/>
                </a:solidFill>
                <a:ea typeface="黑体" pitchFamily="49" charset="-122"/>
              </a:rPr>
              <a:t>（三）</a:t>
            </a:r>
            <a:r>
              <a:rPr lang="zh-CN" altLang="en-US" smtClean="0">
                <a:solidFill>
                  <a:schemeClr val="bg1"/>
                </a:solidFill>
                <a:ea typeface="黑体" pitchFamily="49" charset="-122"/>
                <a:hlinkClick r:id="rId3" action="ppaction://hlinksldjump"/>
              </a:rPr>
              <a:t>乘数作用和加速原理</a:t>
            </a:r>
            <a:endParaRPr lang="zh-CN" altLang="en-US" smtClean="0">
              <a:solidFill>
                <a:schemeClr val="bg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099">
                                            <p:txEl>
                                              <p:pRg st="0" end="0"/>
                                            </p:txEl>
                                          </p:spTgt>
                                        </p:tgtEl>
                                        <p:attrNameLst>
                                          <p:attrName>style.visibility</p:attrName>
                                        </p:attrNameLst>
                                      </p:cBhvr>
                                      <p:to>
                                        <p:strVal val="visible"/>
                                      </p:to>
                                    </p:set>
                                    <p:anim calcmode="lin" valueType="num">
                                      <p:cBhvr additive="base">
                                        <p:cTn id="7" dur="500" fill="hold"/>
                                        <p:tgtEl>
                                          <p:spTgt spid="409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09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099">
                                            <p:txEl>
                                              <p:pRg st="1" end="1"/>
                                            </p:txEl>
                                          </p:spTgt>
                                        </p:tgtEl>
                                        <p:attrNameLst>
                                          <p:attrName>style.visibility</p:attrName>
                                        </p:attrNameLst>
                                      </p:cBhvr>
                                      <p:to>
                                        <p:strVal val="visible"/>
                                      </p:to>
                                    </p:set>
                                    <p:anim calcmode="lin" valueType="num">
                                      <p:cBhvr additive="base">
                                        <p:cTn id="13" dur="500" fill="hold"/>
                                        <p:tgtEl>
                                          <p:spTgt spid="4099">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099">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4099">
                                            <p:txEl>
                                              <p:pRg st="2" end="2"/>
                                            </p:txEl>
                                          </p:spTgt>
                                        </p:tgtEl>
                                        <p:attrNameLst>
                                          <p:attrName>style.visibility</p:attrName>
                                        </p:attrNameLst>
                                      </p:cBhvr>
                                      <p:to>
                                        <p:strVal val="visible"/>
                                      </p:to>
                                    </p:set>
                                    <p:anim calcmode="lin" valueType="num">
                                      <p:cBhvr additive="base">
                                        <p:cTn id="19" dur="500" fill="hold"/>
                                        <p:tgtEl>
                                          <p:spTgt spid="4099">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099">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9"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5" name="Rectangle 3"/>
          <p:cNvSpPr>
            <a:spLocks noGrp="1" noChangeArrowheads="1"/>
          </p:cNvSpPr>
          <p:nvPr>
            <p:ph type="body" idx="1"/>
          </p:nvPr>
        </p:nvSpPr>
        <p:spPr>
          <a:xfrm>
            <a:off x="457200" y="404813"/>
            <a:ext cx="8435975" cy="6048375"/>
          </a:xfrm>
        </p:spPr>
        <p:txBody>
          <a:bodyPr/>
          <a:lstStyle/>
          <a:p>
            <a:pPr eaLnBrk="1" hangingPunct="1">
              <a:lnSpc>
                <a:spcPct val="115000"/>
              </a:lnSpc>
              <a:buFontTx/>
              <a:buNone/>
            </a:pPr>
            <a:r>
              <a:rPr lang="zh-CN" altLang="en-US" smtClean="0">
                <a:solidFill>
                  <a:schemeClr val="bg1"/>
                </a:solidFill>
                <a:ea typeface="黑体" pitchFamily="49" charset="-122"/>
              </a:rPr>
              <a:t>（一）区域经济增长极理论</a:t>
            </a:r>
          </a:p>
          <a:p>
            <a:pPr lvl="1" eaLnBrk="1" hangingPunct="1">
              <a:lnSpc>
                <a:spcPct val="115000"/>
              </a:lnSpc>
            </a:pPr>
            <a:r>
              <a:rPr lang="zh-CN" altLang="en-US" smtClean="0">
                <a:solidFill>
                  <a:schemeClr val="bg1"/>
                </a:solidFill>
                <a:latin typeface="黑体" pitchFamily="49" charset="-122"/>
                <a:ea typeface="黑体" pitchFamily="49" charset="-122"/>
              </a:rPr>
              <a:t>法国经济学家弗朗索瓦</a:t>
            </a:r>
            <a:r>
              <a:rPr lang="en-US" altLang="zh-CN" smtClean="0">
                <a:solidFill>
                  <a:schemeClr val="bg1"/>
                </a:solidFill>
                <a:latin typeface="黑体" pitchFamily="49" charset="-122"/>
                <a:ea typeface="黑体" pitchFamily="49" charset="-122"/>
              </a:rPr>
              <a:t>.</a:t>
            </a:r>
            <a:r>
              <a:rPr lang="zh-CN" altLang="en-US" smtClean="0">
                <a:solidFill>
                  <a:schemeClr val="bg1"/>
                </a:solidFill>
                <a:latin typeface="黑体" pitchFamily="49" charset="-122"/>
                <a:ea typeface="黑体" pitchFamily="49" charset="-122"/>
              </a:rPr>
              <a:t>佩鲁</a:t>
            </a:r>
          </a:p>
          <a:p>
            <a:pPr lvl="2" eaLnBrk="1" hangingPunct="1">
              <a:lnSpc>
                <a:spcPct val="115000"/>
              </a:lnSpc>
            </a:pPr>
            <a:r>
              <a:rPr lang="zh-CN" altLang="en-US" smtClean="0">
                <a:solidFill>
                  <a:schemeClr val="bg1"/>
                </a:solidFill>
                <a:latin typeface="黑体" pitchFamily="49" charset="-122"/>
                <a:ea typeface="黑体" pitchFamily="49" charset="-122"/>
              </a:rPr>
              <a:t>增长并非同时出现在所有地方，它以不同强度首先出现在一些增长点或增长极上，然后通过不同渠道向外扩散，并对整个经济产生不同的最终影响。</a:t>
            </a:r>
          </a:p>
          <a:p>
            <a:pPr lvl="2" eaLnBrk="1" hangingPunct="1">
              <a:lnSpc>
                <a:spcPct val="115000"/>
              </a:lnSpc>
            </a:pPr>
            <a:r>
              <a:rPr lang="zh-CN" altLang="en-US" smtClean="0">
                <a:solidFill>
                  <a:schemeClr val="bg1"/>
                </a:solidFill>
                <a:latin typeface="黑体" pitchFamily="49" charset="-122"/>
                <a:ea typeface="黑体" pitchFamily="49" charset="-122"/>
              </a:rPr>
              <a:t>强调产业结构中的关键产业的推动力并与其他产业产生较强的内在联系，带动区域产业发展</a:t>
            </a:r>
          </a:p>
          <a:p>
            <a:pPr lvl="1" eaLnBrk="1" hangingPunct="1">
              <a:lnSpc>
                <a:spcPct val="115000"/>
              </a:lnSpc>
            </a:pPr>
            <a:r>
              <a:rPr lang="zh-CN" altLang="en-US" smtClean="0">
                <a:solidFill>
                  <a:schemeClr val="bg1"/>
                </a:solidFill>
                <a:latin typeface="黑体" pitchFamily="49" charset="-122"/>
                <a:ea typeface="黑体" pitchFamily="49" charset="-122"/>
              </a:rPr>
              <a:t>鲍德维尔等学者在地理空间引入增长极概念</a:t>
            </a:r>
          </a:p>
          <a:p>
            <a:pPr lvl="2" eaLnBrk="1" hangingPunct="1">
              <a:lnSpc>
                <a:spcPct val="115000"/>
              </a:lnSpc>
            </a:pPr>
            <a:r>
              <a:rPr lang="zh-CN" altLang="en-US" smtClean="0">
                <a:solidFill>
                  <a:schemeClr val="bg1"/>
                </a:solidFill>
                <a:latin typeface="黑体" pitchFamily="49" charset="-122"/>
                <a:ea typeface="黑体" pitchFamily="49" charset="-122"/>
              </a:rPr>
              <a:t>认为厂商或行业的空间邻近性将产生外部经济效果，诱导厂商或行业在地理位置上集聚发展，继而扩大外部经济效果，从而形成区域增长极的空间结构</a:t>
            </a:r>
            <a:endParaRPr lang="en-US" altLang="zh-CN" smtClean="0">
              <a:solidFill>
                <a:schemeClr val="bg1"/>
              </a:solidFill>
              <a:latin typeface="黑体" pitchFamily="49" charset="-122"/>
              <a:ea typeface="黑体" pitchFamily="49" charset="-122"/>
            </a:endParaRPr>
          </a:p>
          <a:p>
            <a:pPr lvl="1" eaLnBrk="1" hangingPunct="1">
              <a:lnSpc>
                <a:spcPct val="115000"/>
              </a:lnSpc>
            </a:pPr>
            <a:r>
              <a:rPr lang="zh-CN" altLang="en-US" smtClean="0">
                <a:solidFill>
                  <a:schemeClr val="bg1"/>
                </a:solidFill>
                <a:latin typeface="黑体" pitchFamily="49" charset="-122"/>
                <a:ea typeface="黑体" pitchFamily="49" charset="-122"/>
              </a:rPr>
              <a:t>增长极：</a:t>
            </a:r>
            <a:r>
              <a:rPr lang="zh-CN" altLang="en-US" sz="2400" smtClean="0">
                <a:solidFill>
                  <a:schemeClr val="bg1"/>
                </a:solidFill>
                <a:latin typeface="黑体" pitchFamily="49" charset="-122"/>
                <a:ea typeface="黑体" pitchFamily="49" charset="-122"/>
              </a:rPr>
              <a:t>具有推动型的主导</a:t>
            </a:r>
            <a:r>
              <a:rPr lang="zh-CN" altLang="en-US" sz="2400" smtClean="0">
                <a:solidFill>
                  <a:srgbClr val="FF0000"/>
                </a:solidFill>
                <a:latin typeface="黑体" pitchFamily="49" charset="-122"/>
                <a:ea typeface="黑体" pitchFamily="49" charset="-122"/>
              </a:rPr>
              <a:t>产业</a:t>
            </a:r>
            <a:r>
              <a:rPr lang="zh-CN" altLang="en-US" sz="2400" smtClean="0">
                <a:solidFill>
                  <a:schemeClr val="bg1"/>
                </a:solidFill>
                <a:latin typeface="黑体" pitchFamily="49" charset="-122"/>
                <a:ea typeface="黑体" pitchFamily="49" charset="-122"/>
              </a:rPr>
              <a:t>和创新行业及其关联产业在地理</a:t>
            </a:r>
            <a:r>
              <a:rPr lang="zh-CN" altLang="en-US" sz="2400" smtClean="0">
                <a:solidFill>
                  <a:srgbClr val="FF0000"/>
                </a:solidFill>
                <a:latin typeface="黑体" pitchFamily="49" charset="-122"/>
                <a:ea typeface="黑体" pitchFamily="49" charset="-122"/>
              </a:rPr>
              <a:t>空间</a:t>
            </a:r>
            <a:r>
              <a:rPr lang="zh-CN" altLang="en-US" sz="2400" smtClean="0">
                <a:solidFill>
                  <a:schemeClr val="bg1"/>
                </a:solidFill>
                <a:latin typeface="黑体" pitchFamily="49" charset="-122"/>
                <a:ea typeface="黑体" pitchFamily="49" charset="-122"/>
              </a:rPr>
              <a:t>上集聚而形成的</a:t>
            </a:r>
            <a:r>
              <a:rPr lang="zh-CN" altLang="en-US" sz="2400" smtClean="0">
                <a:solidFill>
                  <a:srgbClr val="FF0000"/>
                </a:solidFill>
                <a:latin typeface="黑体" pitchFamily="49" charset="-122"/>
                <a:ea typeface="黑体" pitchFamily="49" charset="-122"/>
              </a:rPr>
              <a:t>经济中心</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8" presetClass="entr" presetSubtype="16" fill="hold" nodeType="clickEffect">
                                  <p:stCondLst>
                                    <p:cond delay="0"/>
                                  </p:stCondLst>
                                  <p:childTnLst>
                                    <p:set>
                                      <p:cBhvr>
                                        <p:cTn id="6" dur="1" fill="hold">
                                          <p:stCondLst>
                                            <p:cond delay="0"/>
                                          </p:stCondLst>
                                        </p:cTn>
                                        <p:tgtEl>
                                          <p:spTgt spid="100355">
                                            <p:txEl>
                                              <p:pRg st="0" end="0"/>
                                            </p:txEl>
                                          </p:spTgt>
                                        </p:tgtEl>
                                        <p:attrNameLst>
                                          <p:attrName>style.visibility</p:attrName>
                                        </p:attrNameLst>
                                      </p:cBhvr>
                                      <p:to>
                                        <p:strVal val="visible"/>
                                      </p:to>
                                    </p:set>
                                    <p:animEffect transition="in" filter="diamond(in)">
                                      <p:cBhvr>
                                        <p:cTn id="7" dur="2000"/>
                                        <p:tgtEl>
                                          <p:spTgt spid="10035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8" presetClass="entr" presetSubtype="16" fill="hold" nodeType="clickEffect">
                                  <p:stCondLst>
                                    <p:cond delay="0"/>
                                  </p:stCondLst>
                                  <p:childTnLst>
                                    <p:set>
                                      <p:cBhvr>
                                        <p:cTn id="11" dur="1" fill="hold">
                                          <p:stCondLst>
                                            <p:cond delay="0"/>
                                          </p:stCondLst>
                                        </p:cTn>
                                        <p:tgtEl>
                                          <p:spTgt spid="100355">
                                            <p:txEl>
                                              <p:pRg st="1" end="1"/>
                                            </p:txEl>
                                          </p:spTgt>
                                        </p:tgtEl>
                                        <p:attrNameLst>
                                          <p:attrName>style.visibility</p:attrName>
                                        </p:attrNameLst>
                                      </p:cBhvr>
                                      <p:to>
                                        <p:strVal val="visible"/>
                                      </p:to>
                                    </p:set>
                                    <p:animEffect transition="in" filter="diamond(in)">
                                      <p:cBhvr>
                                        <p:cTn id="12" dur="2000"/>
                                        <p:tgtEl>
                                          <p:spTgt spid="100355">
                                            <p:txEl>
                                              <p:pRg st="1" end="1"/>
                                            </p:txEl>
                                          </p:spTgt>
                                        </p:tgtEl>
                                      </p:cBhvr>
                                    </p:animEffect>
                                  </p:childTnLst>
                                </p:cTn>
                              </p:par>
                              <p:par>
                                <p:cTn id="13" presetID="8" presetClass="entr" presetSubtype="16" fill="hold" nodeType="withEffect">
                                  <p:stCondLst>
                                    <p:cond delay="0"/>
                                  </p:stCondLst>
                                  <p:childTnLst>
                                    <p:set>
                                      <p:cBhvr>
                                        <p:cTn id="14" dur="1" fill="hold">
                                          <p:stCondLst>
                                            <p:cond delay="0"/>
                                          </p:stCondLst>
                                        </p:cTn>
                                        <p:tgtEl>
                                          <p:spTgt spid="100355">
                                            <p:txEl>
                                              <p:pRg st="2" end="2"/>
                                            </p:txEl>
                                          </p:spTgt>
                                        </p:tgtEl>
                                        <p:attrNameLst>
                                          <p:attrName>style.visibility</p:attrName>
                                        </p:attrNameLst>
                                      </p:cBhvr>
                                      <p:to>
                                        <p:strVal val="visible"/>
                                      </p:to>
                                    </p:set>
                                    <p:animEffect transition="in" filter="diamond(in)">
                                      <p:cBhvr>
                                        <p:cTn id="15" dur="2000"/>
                                        <p:tgtEl>
                                          <p:spTgt spid="100355">
                                            <p:txEl>
                                              <p:pRg st="2" end="2"/>
                                            </p:txEl>
                                          </p:spTgt>
                                        </p:tgtEl>
                                      </p:cBhvr>
                                    </p:animEffect>
                                  </p:childTnLst>
                                </p:cTn>
                              </p:par>
                              <p:par>
                                <p:cTn id="16" presetID="8" presetClass="entr" presetSubtype="16" fill="hold" nodeType="withEffect">
                                  <p:stCondLst>
                                    <p:cond delay="0"/>
                                  </p:stCondLst>
                                  <p:childTnLst>
                                    <p:set>
                                      <p:cBhvr>
                                        <p:cTn id="17" dur="1" fill="hold">
                                          <p:stCondLst>
                                            <p:cond delay="0"/>
                                          </p:stCondLst>
                                        </p:cTn>
                                        <p:tgtEl>
                                          <p:spTgt spid="100355">
                                            <p:txEl>
                                              <p:pRg st="3" end="3"/>
                                            </p:txEl>
                                          </p:spTgt>
                                        </p:tgtEl>
                                        <p:attrNameLst>
                                          <p:attrName>style.visibility</p:attrName>
                                        </p:attrNameLst>
                                      </p:cBhvr>
                                      <p:to>
                                        <p:strVal val="visible"/>
                                      </p:to>
                                    </p:set>
                                    <p:animEffect transition="in" filter="diamond(in)">
                                      <p:cBhvr>
                                        <p:cTn id="18" dur="2000"/>
                                        <p:tgtEl>
                                          <p:spTgt spid="100355">
                                            <p:txEl>
                                              <p:pRg st="3" end="3"/>
                                            </p:txEl>
                                          </p:spTgt>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8" presetClass="entr" presetSubtype="16" fill="hold" nodeType="clickEffect">
                                  <p:stCondLst>
                                    <p:cond delay="0"/>
                                  </p:stCondLst>
                                  <p:childTnLst>
                                    <p:set>
                                      <p:cBhvr>
                                        <p:cTn id="22" dur="1" fill="hold">
                                          <p:stCondLst>
                                            <p:cond delay="0"/>
                                          </p:stCondLst>
                                        </p:cTn>
                                        <p:tgtEl>
                                          <p:spTgt spid="100355">
                                            <p:txEl>
                                              <p:pRg st="4" end="4"/>
                                            </p:txEl>
                                          </p:spTgt>
                                        </p:tgtEl>
                                        <p:attrNameLst>
                                          <p:attrName>style.visibility</p:attrName>
                                        </p:attrNameLst>
                                      </p:cBhvr>
                                      <p:to>
                                        <p:strVal val="visible"/>
                                      </p:to>
                                    </p:set>
                                    <p:animEffect transition="in" filter="diamond(in)">
                                      <p:cBhvr>
                                        <p:cTn id="23" dur="2000"/>
                                        <p:tgtEl>
                                          <p:spTgt spid="100355">
                                            <p:txEl>
                                              <p:pRg st="4" end="4"/>
                                            </p:txEl>
                                          </p:spTgt>
                                        </p:tgtEl>
                                      </p:cBhvr>
                                    </p:animEffect>
                                  </p:childTnLst>
                                </p:cTn>
                              </p:par>
                              <p:par>
                                <p:cTn id="24" presetID="8" presetClass="entr" presetSubtype="16" fill="hold" nodeType="withEffect">
                                  <p:stCondLst>
                                    <p:cond delay="0"/>
                                  </p:stCondLst>
                                  <p:childTnLst>
                                    <p:set>
                                      <p:cBhvr>
                                        <p:cTn id="25" dur="1" fill="hold">
                                          <p:stCondLst>
                                            <p:cond delay="0"/>
                                          </p:stCondLst>
                                        </p:cTn>
                                        <p:tgtEl>
                                          <p:spTgt spid="100355">
                                            <p:txEl>
                                              <p:pRg st="5" end="5"/>
                                            </p:txEl>
                                          </p:spTgt>
                                        </p:tgtEl>
                                        <p:attrNameLst>
                                          <p:attrName>style.visibility</p:attrName>
                                        </p:attrNameLst>
                                      </p:cBhvr>
                                      <p:to>
                                        <p:strVal val="visible"/>
                                      </p:to>
                                    </p:set>
                                    <p:animEffect transition="in" filter="diamond(in)">
                                      <p:cBhvr>
                                        <p:cTn id="26" dur="2000"/>
                                        <p:tgtEl>
                                          <p:spTgt spid="100355">
                                            <p:txEl>
                                              <p:pRg st="5" end="5"/>
                                            </p:txEl>
                                          </p:spTgt>
                                        </p:tgtEl>
                                      </p:cBhvr>
                                    </p:animEffect>
                                  </p:childTnLst>
                                </p:cTn>
                              </p:par>
                              <p:par>
                                <p:cTn id="27" presetID="8" presetClass="entr" presetSubtype="16" fill="hold" nodeType="withEffect">
                                  <p:stCondLst>
                                    <p:cond delay="0"/>
                                  </p:stCondLst>
                                  <p:childTnLst>
                                    <p:set>
                                      <p:cBhvr>
                                        <p:cTn id="28" dur="1" fill="hold">
                                          <p:stCondLst>
                                            <p:cond delay="0"/>
                                          </p:stCondLst>
                                        </p:cTn>
                                        <p:tgtEl>
                                          <p:spTgt spid="100355">
                                            <p:txEl>
                                              <p:pRg st="6" end="6"/>
                                            </p:txEl>
                                          </p:spTgt>
                                        </p:tgtEl>
                                        <p:attrNameLst>
                                          <p:attrName>style.visibility</p:attrName>
                                        </p:attrNameLst>
                                      </p:cBhvr>
                                      <p:to>
                                        <p:strVal val="visible"/>
                                      </p:to>
                                    </p:set>
                                    <p:animEffect transition="in" filter="diamond(in)">
                                      <p:cBhvr>
                                        <p:cTn id="29" dur="2000"/>
                                        <p:tgtEl>
                                          <p:spTgt spid="100355">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内容占位符 2"/>
          <p:cNvSpPr>
            <a:spLocks noGrp="1"/>
          </p:cNvSpPr>
          <p:nvPr>
            <p:ph idx="1"/>
          </p:nvPr>
        </p:nvSpPr>
        <p:spPr>
          <a:xfrm>
            <a:off x="457200" y="1268413"/>
            <a:ext cx="8229600" cy="4857750"/>
          </a:xfrm>
        </p:spPr>
        <p:txBody>
          <a:bodyPr/>
          <a:lstStyle/>
          <a:p>
            <a:pPr>
              <a:lnSpc>
                <a:spcPct val="200000"/>
              </a:lnSpc>
              <a:spcBef>
                <a:spcPct val="0"/>
              </a:spcBef>
            </a:pPr>
            <a:r>
              <a:rPr lang="zh-CN" altLang="en-US" sz="2800" smtClean="0">
                <a:solidFill>
                  <a:schemeClr val="bg1"/>
                </a:solidFill>
                <a:latin typeface="黑体" pitchFamily="49" charset="-122"/>
                <a:ea typeface="黑体" pitchFamily="49" charset="-122"/>
              </a:rPr>
              <a:t>增长极对区域经济活动的组织作用</a:t>
            </a:r>
            <a:endParaRPr lang="en-US" altLang="zh-CN" sz="2800" smtClean="0">
              <a:solidFill>
                <a:schemeClr val="bg1"/>
              </a:solidFill>
              <a:latin typeface="黑体" pitchFamily="49" charset="-122"/>
              <a:ea typeface="黑体" pitchFamily="49" charset="-122"/>
            </a:endParaRPr>
          </a:p>
          <a:p>
            <a:pPr lvl="1">
              <a:lnSpc>
                <a:spcPct val="200000"/>
              </a:lnSpc>
              <a:spcBef>
                <a:spcPct val="0"/>
              </a:spcBef>
            </a:pPr>
            <a:r>
              <a:rPr lang="zh-CN" altLang="en-US" sz="2400" smtClean="0">
                <a:solidFill>
                  <a:schemeClr val="bg1"/>
                </a:solidFill>
                <a:latin typeface="黑体" pitchFamily="49" charset="-122"/>
                <a:ea typeface="黑体" pitchFamily="49" charset="-122"/>
              </a:rPr>
              <a:t>支配效应：具有技术、经济方面的先进性，通过供求关系对周围地区经济活动产生支配作用</a:t>
            </a:r>
            <a:endParaRPr lang="en-US" altLang="zh-CN" sz="2400" smtClean="0">
              <a:solidFill>
                <a:schemeClr val="bg1"/>
              </a:solidFill>
              <a:latin typeface="黑体" pitchFamily="49" charset="-122"/>
              <a:ea typeface="黑体" pitchFamily="49" charset="-122"/>
            </a:endParaRPr>
          </a:p>
          <a:p>
            <a:pPr lvl="1">
              <a:lnSpc>
                <a:spcPct val="200000"/>
              </a:lnSpc>
              <a:spcBef>
                <a:spcPct val="0"/>
              </a:spcBef>
            </a:pPr>
            <a:r>
              <a:rPr lang="zh-CN" altLang="en-US" sz="2400" smtClean="0">
                <a:solidFill>
                  <a:schemeClr val="bg1"/>
                </a:solidFill>
                <a:latin typeface="黑体" pitchFamily="49" charset="-122"/>
                <a:ea typeface="黑体" pitchFamily="49" charset="-122"/>
              </a:rPr>
              <a:t>乘数效应：组织、示范、循环积累因果原理</a:t>
            </a:r>
            <a:endParaRPr lang="en-US" altLang="zh-CN" sz="2400" smtClean="0">
              <a:solidFill>
                <a:schemeClr val="bg1"/>
              </a:solidFill>
              <a:latin typeface="黑体" pitchFamily="49" charset="-122"/>
              <a:ea typeface="黑体" pitchFamily="49" charset="-122"/>
            </a:endParaRPr>
          </a:p>
          <a:p>
            <a:pPr lvl="1">
              <a:lnSpc>
                <a:spcPct val="200000"/>
              </a:lnSpc>
              <a:spcBef>
                <a:spcPct val="0"/>
              </a:spcBef>
            </a:pPr>
            <a:r>
              <a:rPr lang="zh-CN" altLang="en-US" sz="2400" smtClean="0">
                <a:solidFill>
                  <a:schemeClr val="bg1"/>
                </a:solidFill>
                <a:latin typeface="黑体" pitchFamily="49" charset="-122"/>
                <a:ea typeface="黑体" pitchFamily="49" charset="-122"/>
              </a:rPr>
              <a:t>极化与扩散效应</a:t>
            </a:r>
            <a:endParaRPr lang="en-US" altLang="zh-CN" sz="2400" smtClean="0">
              <a:solidFill>
                <a:schemeClr val="bg1"/>
              </a:solidFill>
              <a:latin typeface="黑体" pitchFamily="49" charset="-122"/>
              <a:ea typeface="黑体" pitchFamily="49" charset="-122"/>
            </a:endParaRPr>
          </a:p>
          <a:p>
            <a:endParaRPr lang="zh-CN" altLang="en-US" smtClean="0"/>
          </a:p>
        </p:txBody>
      </p:sp>
      <p:sp>
        <p:nvSpPr>
          <p:cNvPr id="12291" name="AutoShape 4">
            <a:hlinkClick r:id="rId2" action="ppaction://hlinksldjump"/>
          </p:cNvPr>
          <p:cNvSpPr>
            <a:spLocks noChangeArrowheads="1"/>
          </p:cNvSpPr>
          <p:nvPr/>
        </p:nvSpPr>
        <p:spPr bwMode="auto">
          <a:xfrm>
            <a:off x="8604250" y="6381750"/>
            <a:ext cx="288925" cy="215900"/>
          </a:xfrm>
          <a:prstGeom prst="upArrow">
            <a:avLst>
              <a:gd name="adj1" fmla="val 50000"/>
              <a:gd name="adj2" fmla="val 25000"/>
            </a:avLst>
          </a:prstGeom>
          <a:solidFill>
            <a:srgbClr val="FF00FF"/>
          </a:solidFill>
          <a:ln w="9525">
            <a:solidFill>
              <a:schemeClr val="tx1"/>
            </a:solidFill>
            <a:miter lim="800000"/>
            <a:headEnd/>
            <a:tailEnd/>
          </a:ln>
        </p:spPr>
        <p:txBody>
          <a:bodyPr vert="eaVert" wrap="none" anchor="ctr"/>
          <a:lstStyle/>
          <a:p>
            <a:endParaRPr lang="zh-CN" altLang="en-US"/>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457200" y="274638"/>
            <a:ext cx="8229600" cy="850900"/>
          </a:xfrm>
        </p:spPr>
        <p:txBody>
          <a:bodyPr/>
          <a:lstStyle/>
          <a:p>
            <a:pPr algn="l" eaLnBrk="1" hangingPunct="1"/>
            <a:r>
              <a:rPr lang="zh-CN" altLang="en-US" sz="3200" smtClean="0">
                <a:solidFill>
                  <a:srgbClr val="FFFF00"/>
                </a:solidFill>
                <a:ea typeface="黑体" pitchFamily="49" charset="-122"/>
              </a:rPr>
              <a:t>（二）循环积累因果原理</a:t>
            </a:r>
          </a:p>
        </p:txBody>
      </p:sp>
      <p:sp>
        <p:nvSpPr>
          <p:cNvPr id="49155" name="Rectangle 3"/>
          <p:cNvSpPr>
            <a:spLocks noGrp="1" noChangeArrowheads="1"/>
          </p:cNvSpPr>
          <p:nvPr>
            <p:ph type="body" idx="1"/>
          </p:nvPr>
        </p:nvSpPr>
        <p:spPr>
          <a:xfrm>
            <a:off x="395288" y="1125538"/>
            <a:ext cx="8229600" cy="4525962"/>
          </a:xfrm>
        </p:spPr>
        <p:txBody>
          <a:bodyPr/>
          <a:lstStyle/>
          <a:p>
            <a:pPr eaLnBrk="1" hangingPunct="1">
              <a:buFont typeface="Wingdings" pitchFamily="2" charset="2"/>
              <a:buChar char="Ø"/>
            </a:pPr>
            <a:r>
              <a:rPr lang="zh-CN" altLang="en-US" sz="2400" smtClean="0">
                <a:solidFill>
                  <a:schemeClr val="bg1"/>
                </a:solidFill>
                <a:latin typeface="黑体" pitchFamily="49" charset="-122"/>
                <a:ea typeface="黑体" pitchFamily="49" charset="-122"/>
              </a:rPr>
              <a:t>论点：把社会经济制度看成是一个不断演进的过程，认为导致这种演进的技术、社会、经济、政治、文化等方面的因素是相互联系、相互影响和互为因果的，他们以具有累积效果的循环方式运动。即强调社会经济过程中存在三个环节，即最初的变化，接着是一系列的传递式相关变化，最后又作用于最初的变化，并产生使其上升或下降的进一步变化，从而构成循环</a:t>
            </a:r>
            <a:endParaRPr lang="en-US" altLang="zh-CN" sz="2400" smtClean="0">
              <a:solidFill>
                <a:schemeClr val="bg1"/>
              </a:solidFill>
              <a:latin typeface="黑体" pitchFamily="49" charset="-122"/>
              <a:ea typeface="黑体" pitchFamily="49" charset="-122"/>
            </a:endParaRPr>
          </a:p>
          <a:p>
            <a:pPr eaLnBrk="1" hangingPunct="1">
              <a:buFontTx/>
              <a:buNone/>
            </a:pPr>
            <a:r>
              <a:rPr lang="zh-CN" altLang="en-US" sz="2400" smtClean="0">
                <a:solidFill>
                  <a:schemeClr val="bg1"/>
                </a:solidFill>
                <a:latin typeface="黑体" pitchFamily="49" charset="-122"/>
                <a:ea typeface="黑体" pitchFamily="49" charset="-122"/>
              </a:rPr>
              <a:t> </a:t>
            </a:r>
          </a:p>
          <a:p>
            <a:pPr eaLnBrk="1" hangingPunct="1">
              <a:buFont typeface="Wingdings" pitchFamily="2" charset="2"/>
              <a:buChar char="Ø"/>
            </a:pPr>
            <a:r>
              <a:rPr lang="en-US" altLang="zh-CN" sz="2400" smtClean="0">
                <a:solidFill>
                  <a:schemeClr val="bg1"/>
                </a:solidFill>
                <a:latin typeface="黑体" pitchFamily="49" charset="-122"/>
                <a:ea typeface="黑体" pitchFamily="49" charset="-122"/>
              </a:rPr>
              <a:t>1953</a:t>
            </a:r>
            <a:r>
              <a:rPr lang="zh-CN" altLang="en-US" sz="2400" smtClean="0">
                <a:solidFill>
                  <a:schemeClr val="bg1"/>
                </a:solidFill>
                <a:latin typeface="黑体" pitchFamily="49" charset="-122"/>
                <a:ea typeface="黑体" pitchFamily="49" charset="-122"/>
              </a:rPr>
              <a:t>年纳克斯在</a:t>
            </a:r>
            <a:r>
              <a:rPr lang="en-US" altLang="zh-CN" sz="2400" smtClean="0">
                <a:solidFill>
                  <a:schemeClr val="bg1"/>
                </a:solidFill>
                <a:latin typeface="黑体" pitchFamily="49" charset="-122"/>
                <a:ea typeface="黑体" pitchFamily="49" charset="-122"/>
              </a:rPr>
              <a:t>《</a:t>
            </a:r>
            <a:r>
              <a:rPr lang="zh-CN" altLang="en-US" sz="2400" smtClean="0">
                <a:solidFill>
                  <a:schemeClr val="bg1"/>
                </a:solidFill>
                <a:latin typeface="黑体" pitchFamily="49" charset="-122"/>
                <a:ea typeface="黑体" pitchFamily="49" charset="-122"/>
              </a:rPr>
              <a:t>不发达国家的资本形成问题</a:t>
            </a:r>
            <a:r>
              <a:rPr lang="en-US" altLang="zh-CN" sz="2400" smtClean="0">
                <a:solidFill>
                  <a:schemeClr val="bg1"/>
                </a:solidFill>
                <a:latin typeface="黑体" pitchFamily="49" charset="-122"/>
                <a:ea typeface="黑体" pitchFamily="49" charset="-122"/>
              </a:rPr>
              <a:t>》</a:t>
            </a:r>
            <a:r>
              <a:rPr lang="zh-CN" altLang="en-US" sz="2400" smtClean="0">
                <a:solidFill>
                  <a:schemeClr val="bg1"/>
                </a:solidFill>
                <a:latin typeface="黑体" pitchFamily="49" charset="-122"/>
                <a:ea typeface="黑体" pitchFamily="49" charset="-122"/>
              </a:rPr>
              <a:t>一书中提出贫困恶性循环论</a:t>
            </a:r>
            <a:endParaRPr lang="en-US" altLang="zh-CN" sz="2400" smtClean="0">
              <a:solidFill>
                <a:schemeClr val="bg1"/>
              </a:solidFill>
              <a:latin typeface="黑体" pitchFamily="49" charset="-122"/>
              <a:ea typeface="黑体" pitchFamily="49" charset="-122"/>
            </a:endParaRPr>
          </a:p>
          <a:p>
            <a:pPr eaLnBrk="1" hangingPunct="1">
              <a:buFontTx/>
              <a:buNone/>
            </a:pPr>
            <a:r>
              <a:rPr lang="zh-CN" altLang="en-US" sz="2400" smtClean="0">
                <a:solidFill>
                  <a:schemeClr val="bg1"/>
                </a:solidFill>
                <a:latin typeface="黑体" pitchFamily="49" charset="-122"/>
                <a:ea typeface="黑体" pitchFamily="49" charset="-122"/>
              </a:rPr>
              <a:t> </a:t>
            </a:r>
          </a:p>
          <a:p>
            <a:pPr eaLnBrk="1" hangingPunct="1">
              <a:buFont typeface="Wingdings" pitchFamily="2" charset="2"/>
              <a:buChar char="Ø"/>
            </a:pPr>
            <a:r>
              <a:rPr lang="zh-CN" altLang="en-US" sz="2400" smtClean="0">
                <a:solidFill>
                  <a:schemeClr val="bg1"/>
                </a:solidFill>
                <a:latin typeface="黑体" pitchFamily="49" charset="-122"/>
                <a:ea typeface="黑体" pitchFamily="49" charset="-122"/>
              </a:rPr>
              <a:t>卡尔多对发达区域的经济增长研究也进一步说明了循环积累因果关系的存在。他使用相对效率工资（即货币工资与生产力增长率之比）概念分析区域产出率的变化</a:t>
            </a:r>
            <a:r>
              <a:rPr lang="zh-CN" altLang="en-US" sz="2400" smtClean="0">
                <a:solidFill>
                  <a:schemeClr val="bg1"/>
                </a:solidFill>
                <a:latin typeface="华文细黑" pitchFamily="2" charset="-122"/>
                <a:ea typeface="华文细黑" pitchFamily="2" charset="-122"/>
              </a:rPr>
              <a:t>。 </a:t>
            </a:r>
          </a:p>
        </p:txBody>
      </p:sp>
      <p:sp>
        <p:nvSpPr>
          <p:cNvPr id="13316" name="AutoShape 4">
            <a:hlinkClick r:id="rId2" action="ppaction://hlinksldjump"/>
          </p:cNvPr>
          <p:cNvSpPr>
            <a:spLocks noChangeArrowheads="1"/>
          </p:cNvSpPr>
          <p:nvPr/>
        </p:nvSpPr>
        <p:spPr bwMode="auto">
          <a:xfrm>
            <a:off x="8604250" y="6381750"/>
            <a:ext cx="288925" cy="215900"/>
          </a:xfrm>
          <a:prstGeom prst="upArrow">
            <a:avLst>
              <a:gd name="adj1" fmla="val 50000"/>
              <a:gd name="adj2" fmla="val 25000"/>
            </a:avLst>
          </a:prstGeom>
          <a:solidFill>
            <a:srgbClr val="FF00FF"/>
          </a:solidFill>
          <a:ln w="9525">
            <a:solidFill>
              <a:schemeClr val="tx1"/>
            </a:solidFill>
            <a:miter lim="800000"/>
            <a:headEnd/>
            <a:tailEnd/>
          </a:ln>
        </p:spPr>
        <p:txBody>
          <a:bodyPr vert="eaVert" wrap="none" anchor="ctr"/>
          <a:lstStyle/>
          <a:p>
            <a:endParaRPr lang="zh-CN" altLang="en-US"/>
          </a:p>
        </p:txBody>
      </p:sp>
      <p:sp>
        <p:nvSpPr>
          <p:cNvPr id="5" name="圆角矩形标注 4"/>
          <p:cNvSpPr/>
          <p:nvPr/>
        </p:nvSpPr>
        <p:spPr>
          <a:xfrm>
            <a:off x="1357313" y="2714625"/>
            <a:ext cx="2143125" cy="1428750"/>
          </a:xfrm>
          <a:prstGeom prst="wedgeRoundRectCallout">
            <a:avLst>
              <a:gd name="adj1" fmla="val -28692"/>
              <a:gd name="adj2" fmla="val 60013"/>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2000" dirty="0">
                <a:solidFill>
                  <a:schemeClr val="tx1"/>
                </a:solidFill>
                <a:latin typeface="黑体" pitchFamily="49" charset="-122"/>
                <a:ea typeface="黑体" pitchFamily="49" charset="-122"/>
              </a:rPr>
              <a:t>供给：低收入</a:t>
            </a:r>
            <a:r>
              <a:rPr lang="en-US" altLang="zh-CN" sz="2000" dirty="0">
                <a:solidFill>
                  <a:schemeClr val="tx1"/>
                </a:solidFill>
                <a:latin typeface="黑体" pitchFamily="49" charset="-122"/>
                <a:ea typeface="黑体" pitchFamily="49" charset="-122"/>
              </a:rPr>
              <a:t>-</a:t>
            </a:r>
            <a:r>
              <a:rPr lang="zh-CN" altLang="en-US" sz="2000" dirty="0">
                <a:solidFill>
                  <a:schemeClr val="tx1"/>
                </a:solidFill>
                <a:latin typeface="黑体" pitchFamily="49" charset="-122"/>
                <a:ea typeface="黑体" pitchFamily="49" charset="-122"/>
              </a:rPr>
              <a:t>低储蓄能力</a:t>
            </a:r>
            <a:r>
              <a:rPr lang="en-US" altLang="zh-CN" sz="2000" dirty="0">
                <a:solidFill>
                  <a:schemeClr val="tx1"/>
                </a:solidFill>
                <a:latin typeface="黑体" pitchFamily="49" charset="-122"/>
                <a:ea typeface="黑体" pitchFamily="49" charset="-122"/>
              </a:rPr>
              <a:t>-</a:t>
            </a:r>
            <a:r>
              <a:rPr lang="zh-CN" altLang="en-US" sz="2000" dirty="0">
                <a:solidFill>
                  <a:schemeClr val="tx1"/>
                </a:solidFill>
                <a:latin typeface="黑体" pitchFamily="49" charset="-122"/>
                <a:ea typeface="黑体" pitchFamily="49" charset="-122"/>
              </a:rPr>
              <a:t>资本形成不足</a:t>
            </a:r>
            <a:r>
              <a:rPr lang="en-US" altLang="zh-CN" sz="2000" dirty="0">
                <a:solidFill>
                  <a:schemeClr val="tx1"/>
                </a:solidFill>
                <a:latin typeface="黑体" pitchFamily="49" charset="-122"/>
                <a:ea typeface="黑体" pitchFamily="49" charset="-122"/>
              </a:rPr>
              <a:t>-</a:t>
            </a:r>
            <a:r>
              <a:rPr lang="zh-CN" altLang="en-US" sz="2000" dirty="0">
                <a:solidFill>
                  <a:schemeClr val="tx1"/>
                </a:solidFill>
                <a:latin typeface="黑体" pitchFamily="49" charset="-122"/>
                <a:ea typeface="黑体" pitchFamily="49" charset="-122"/>
              </a:rPr>
              <a:t>低生产率</a:t>
            </a:r>
            <a:r>
              <a:rPr lang="en-US" altLang="zh-CN" sz="2000" dirty="0">
                <a:solidFill>
                  <a:schemeClr val="tx1"/>
                </a:solidFill>
                <a:latin typeface="黑体" pitchFamily="49" charset="-122"/>
                <a:ea typeface="黑体" pitchFamily="49" charset="-122"/>
              </a:rPr>
              <a:t>-</a:t>
            </a:r>
            <a:r>
              <a:rPr lang="zh-CN" altLang="en-US" sz="2000" dirty="0">
                <a:solidFill>
                  <a:schemeClr val="tx1"/>
                </a:solidFill>
                <a:latin typeface="黑体" pitchFamily="49" charset="-122"/>
                <a:ea typeface="黑体" pitchFamily="49" charset="-122"/>
              </a:rPr>
              <a:t>低收入</a:t>
            </a:r>
            <a:endParaRPr lang="en-US" altLang="zh-CN" sz="2000" dirty="0">
              <a:solidFill>
                <a:schemeClr val="tx1"/>
              </a:solidFill>
              <a:latin typeface="黑体" pitchFamily="49" charset="-122"/>
              <a:ea typeface="黑体" pitchFamily="49" charset="-122"/>
            </a:endParaRPr>
          </a:p>
          <a:p>
            <a:pPr algn="ctr">
              <a:defRPr/>
            </a:pPr>
            <a:endParaRPr lang="zh-CN" altLang="en-US" dirty="0"/>
          </a:p>
        </p:txBody>
      </p:sp>
      <p:sp>
        <p:nvSpPr>
          <p:cNvPr id="6" name="圆角矩形标注 5"/>
          <p:cNvSpPr/>
          <p:nvPr/>
        </p:nvSpPr>
        <p:spPr>
          <a:xfrm>
            <a:off x="3643313" y="2714625"/>
            <a:ext cx="2500312" cy="1571625"/>
          </a:xfrm>
          <a:prstGeom prst="wedgeRoundRectCallout">
            <a:avLst>
              <a:gd name="adj1" fmla="val -28692"/>
              <a:gd name="adj2" fmla="val 60013"/>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2000" dirty="0">
                <a:solidFill>
                  <a:schemeClr val="tx1"/>
                </a:solidFill>
                <a:latin typeface="黑体" pitchFamily="49" charset="-122"/>
                <a:ea typeface="黑体" pitchFamily="49" charset="-122"/>
              </a:rPr>
              <a:t>需求：低收入</a:t>
            </a:r>
            <a:r>
              <a:rPr lang="en-US" altLang="zh-CN" sz="2000" dirty="0">
                <a:solidFill>
                  <a:schemeClr val="tx1"/>
                </a:solidFill>
                <a:latin typeface="黑体" pitchFamily="49" charset="-122"/>
                <a:ea typeface="黑体" pitchFamily="49" charset="-122"/>
              </a:rPr>
              <a:t>-</a:t>
            </a:r>
            <a:r>
              <a:rPr lang="zh-CN" altLang="en-US" sz="2000" dirty="0">
                <a:solidFill>
                  <a:schemeClr val="tx1"/>
                </a:solidFill>
                <a:latin typeface="黑体" pitchFamily="49" charset="-122"/>
                <a:ea typeface="黑体" pitchFamily="49" charset="-122"/>
              </a:rPr>
              <a:t>低购买力</a:t>
            </a:r>
            <a:r>
              <a:rPr lang="en-US" altLang="zh-CN" sz="2000" dirty="0">
                <a:solidFill>
                  <a:schemeClr val="tx1"/>
                </a:solidFill>
                <a:latin typeface="黑体" pitchFamily="49" charset="-122"/>
                <a:ea typeface="黑体" pitchFamily="49" charset="-122"/>
              </a:rPr>
              <a:t>-</a:t>
            </a:r>
            <a:r>
              <a:rPr lang="zh-CN" altLang="en-US" sz="2000" dirty="0">
                <a:solidFill>
                  <a:schemeClr val="tx1"/>
                </a:solidFill>
                <a:latin typeface="黑体" pitchFamily="49" charset="-122"/>
                <a:ea typeface="黑体" pitchFamily="49" charset="-122"/>
              </a:rPr>
              <a:t>投资引诱小</a:t>
            </a:r>
            <a:r>
              <a:rPr lang="en-US" altLang="zh-CN" sz="2000" dirty="0">
                <a:solidFill>
                  <a:schemeClr val="tx1"/>
                </a:solidFill>
                <a:latin typeface="黑体" pitchFamily="49" charset="-122"/>
                <a:ea typeface="黑体" pitchFamily="49" charset="-122"/>
              </a:rPr>
              <a:t>-</a:t>
            </a:r>
            <a:r>
              <a:rPr lang="zh-CN" altLang="en-US" sz="2000" dirty="0">
                <a:solidFill>
                  <a:schemeClr val="tx1"/>
                </a:solidFill>
                <a:latin typeface="黑体" pitchFamily="49" charset="-122"/>
                <a:ea typeface="黑体" pitchFamily="49" charset="-122"/>
              </a:rPr>
              <a:t>资本缺乏</a:t>
            </a:r>
            <a:r>
              <a:rPr lang="en-US" altLang="zh-CN" sz="2000" dirty="0">
                <a:solidFill>
                  <a:schemeClr val="tx1"/>
                </a:solidFill>
                <a:latin typeface="黑体" pitchFamily="49" charset="-122"/>
                <a:ea typeface="黑体" pitchFamily="49" charset="-122"/>
              </a:rPr>
              <a:t>-</a:t>
            </a:r>
            <a:r>
              <a:rPr lang="zh-CN" altLang="en-US" sz="2000" dirty="0">
                <a:solidFill>
                  <a:schemeClr val="tx1"/>
                </a:solidFill>
                <a:latin typeface="黑体" pitchFamily="49" charset="-122"/>
                <a:ea typeface="黑体" pitchFamily="49" charset="-122"/>
              </a:rPr>
              <a:t>低生产率</a:t>
            </a:r>
            <a:r>
              <a:rPr lang="en-US" altLang="zh-CN" sz="2000" dirty="0">
                <a:solidFill>
                  <a:schemeClr val="tx1"/>
                </a:solidFill>
                <a:latin typeface="黑体" pitchFamily="49" charset="-122"/>
                <a:ea typeface="黑体" pitchFamily="49" charset="-122"/>
              </a:rPr>
              <a:t>-</a:t>
            </a:r>
            <a:r>
              <a:rPr lang="zh-CN" altLang="en-US" sz="2000" dirty="0">
                <a:solidFill>
                  <a:schemeClr val="tx1"/>
                </a:solidFill>
                <a:latin typeface="黑体" pitchFamily="49" charset="-122"/>
                <a:ea typeface="黑体" pitchFamily="49" charset="-122"/>
              </a:rPr>
              <a:t>低收入</a:t>
            </a:r>
            <a:endParaRPr lang="en-US" altLang="zh-CN" sz="2000" dirty="0">
              <a:solidFill>
                <a:schemeClr val="tx1"/>
              </a:solidFill>
              <a:latin typeface="黑体" pitchFamily="49" charset="-122"/>
              <a:ea typeface="黑体" pitchFamily="49" charset="-122"/>
            </a:endParaRPr>
          </a:p>
          <a:p>
            <a:pPr algn="ctr">
              <a:defRPr/>
            </a:pPr>
            <a:endParaRPr lang="zh-CN" altLang="en-US" dirty="0"/>
          </a:p>
        </p:txBody>
      </p:sp>
      <p:sp>
        <p:nvSpPr>
          <p:cNvPr id="7" name="圆角矩形标注 6"/>
          <p:cNvSpPr/>
          <p:nvPr/>
        </p:nvSpPr>
        <p:spPr>
          <a:xfrm>
            <a:off x="2500313" y="4214813"/>
            <a:ext cx="3857625" cy="1357312"/>
          </a:xfrm>
          <a:prstGeom prst="wedgeRoundRectCallout">
            <a:avLst>
              <a:gd name="adj1" fmla="val -28692"/>
              <a:gd name="adj2" fmla="val 60013"/>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2000" dirty="0">
                <a:solidFill>
                  <a:schemeClr val="tx1"/>
                </a:solidFill>
                <a:latin typeface="黑体" pitchFamily="49" charset="-122"/>
                <a:ea typeface="黑体" pitchFamily="49" charset="-122"/>
              </a:rPr>
              <a:t>发达地区：集聚经济</a:t>
            </a:r>
            <a:r>
              <a:rPr lang="en-US" altLang="zh-CN" sz="2000" dirty="0">
                <a:solidFill>
                  <a:schemeClr val="tx1"/>
                </a:solidFill>
                <a:latin typeface="黑体" pitchFamily="49" charset="-122"/>
                <a:ea typeface="黑体" pitchFamily="49" charset="-122"/>
              </a:rPr>
              <a:t>-</a:t>
            </a:r>
            <a:r>
              <a:rPr lang="zh-CN" altLang="en-US" sz="2000" dirty="0">
                <a:solidFill>
                  <a:schemeClr val="tx1"/>
                </a:solidFill>
                <a:latin typeface="黑体" pitchFamily="49" charset="-122"/>
                <a:ea typeface="黑体" pitchFamily="49" charset="-122"/>
              </a:rPr>
              <a:t>规模报酬递增</a:t>
            </a:r>
            <a:r>
              <a:rPr lang="en-US" altLang="zh-CN" sz="2000" dirty="0">
                <a:solidFill>
                  <a:schemeClr val="tx1"/>
                </a:solidFill>
                <a:latin typeface="黑体" pitchFamily="49" charset="-122"/>
                <a:ea typeface="黑体" pitchFamily="49" charset="-122"/>
              </a:rPr>
              <a:t>-</a:t>
            </a:r>
            <a:r>
              <a:rPr lang="zh-CN" altLang="en-US" sz="2000" dirty="0">
                <a:solidFill>
                  <a:schemeClr val="tx1"/>
                </a:solidFill>
                <a:latin typeface="黑体" pitchFamily="49" charset="-122"/>
                <a:ea typeface="黑体" pitchFamily="49" charset="-122"/>
              </a:rPr>
              <a:t>产出增长率提高</a:t>
            </a:r>
            <a:r>
              <a:rPr lang="en-US" altLang="zh-CN" sz="2000" dirty="0">
                <a:solidFill>
                  <a:schemeClr val="tx1"/>
                </a:solidFill>
                <a:latin typeface="黑体" pitchFamily="49" charset="-122"/>
                <a:ea typeface="黑体" pitchFamily="49" charset="-122"/>
              </a:rPr>
              <a:t>-</a:t>
            </a:r>
            <a:r>
              <a:rPr lang="zh-CN" altLang="en-US" sz="2000" dirty="0">
                <a:solidFill>
                  <a:schemeClr val="tx1"/>
                </a:solidFill>
                <a:latin typeface="黑体" pitchFamily="49" charset="-122"/>
                <a:ea typeface="黑体" pitchFamily="49" charset="-122"/>
              </a:rPr>
              <a:t>生产力增长率上升</a:t>
            </a:r>
            <a:r>
              <a:rPr lang="en-US" altLang="zh-CN" sz="2000" dirty="0">
                <a:solidFill>
                  <a:schemeClr val="tx1"/>
                </a:solidFill>
                <a:latin typeface="黑体" pitchFamily="49" charset="-122"/>
                <a:ea typeface="黑体" pitchFamily="49" charset="-122"/>
              </a:rPr>
              <a:t>-</a:t>
            </a:r>
            <a:r>
              <a:rPr lang="zh-CN" altLang="en-US" sz="2000" dirty="0">
                <a:solidFill>
                  <a:schemeClr val="tx1"/>
                </a:solidFill>
                <a:latin typeface="黑体" pitchFamily="49" charset="-122"/>
                <a:ea typeface="黑体" pitchFamily="49" charset="-122"/>
              </a:rPr>
              <a:t>低相对效率工资</a:t>
            </a:r>
            <a:r>
              <a:rPr lang="en-US" altLang="zh-CN" sz="2000" dirty="0">
                <a:solidFill>
                  <a:schemeClr val="tx1"/>
                </a:solidFill>
                <a:latin typeface="黑体" pitchFamily="49" charset="-122"/>
                <a:ea typeface="黑体" pitchFamily="49" charset="-122"/>
              </a:rPr>
              <a:t>-</a:t>
            </a:r>
            <a:r>
              <a:rPr lang="zh-CN" altLang="en-US" sz="2000" dirty="0">
                <a:solidFill>
                  <a:schemeClr val="tx1"/>
                </a:solidFill>
                <a:latin typeface="黑体" pitchFamily="49" charset="-122"/>
                <a:ea typeface="黑体" pitchFamily="49" charset="-122"/>
              </a:rPr>
              <a:t>产出增长率上升</a:t>
            </a:r>
            <a:endParaRPr lang="en-US" altLang="zh-CN" sz="2000" dirty="0">
              <a:solidFill>
                <a:schemeClr val="tx1"/>
              </a:solidFill>
              <a:latin typeface="黑体" pitchFamily="49" charset="-122"/>
              <a:ea typeface="黑体" pitchFamily="49" charset="-122"/>
            </a:endParaRPr>
          </a:p>
          <a:p>
            <a:pPr algn="ctr">
              <a:defRPr/>
            </a:pP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49155">
                                            <p:txEl>
                                              <p:pRg st="0" end="0"/>
                                            </p:txEl>
                                          </p:spTgt>
                                        </p:tgtEl>
                                        <p:attrNameLst>
                                          <p:attrName>style.visibility</p:attrName>
                                        </p:attrNameLst>
                                      </p:cBhvr>
                                      <p:to>
                                        <p:strVal val="visible"/>
                                      </p:to>
                                    </p:set>
                                    <p:animEffect transition="in" filter="box(in)">
                                      <p:cBhvr>
                                        <p:cTn id="7" dur="500"/>
                                        <p:tgtEl>
                                          <p:spTgt spid="4915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49155">
                                            <p:txEl>
                                              <p:pRg st="2" end="2"/>
                                            </p:txEl>
                                          </p:spTgt>
                                        </p:tgtEl>
                                        <p:attrNameLst>
                                          <p:attrName>style.visibility</p:attrName>
                                        </p:attrNameLst>
                                      </p:cBhvr>
                                      <p:to>
                                        <p:strVal val="visible"/>
                                      </p:to>
                                    </p:set>
                                    <p:animEffect transition="in" filter="box(in)">
                                      <p:cBhvr>
                                        <p:cTn id="12" dur="500"/>
                                        <p:tgtEl>
                                          <p:spTgt spid="49155">
                                            <p:txEl>
                                              <p:pRg st="2" end="2"/>
                                            </p:txEl>
                                          </p:spTgt>
                                        </p:tgtEl>
                                      </p:cBhvr>
                                    </p:animEffect>
                                  </p:childTnLst>
                                </p:cTn>
                              </p:par>
                              <p:par>
                                <p:cTn id="13" presetID="4" presetClass="entr" presetSubtype="16" fill="hold" nodeType="withEffect">
                                  <p:stCondLst>
                                    <p:cond delay="0"/>
                                  </p:stCondLst>
                                  <p:childTnLst>
                                    <p:set>
                                      <p:cBhvr>
                                        <p:cTn id="14" dur="1" fill="hold">
                                          <p:stCondLst>
                                            <p:cond delay="0"/>
                                          </p:stCondLst>
                                        </p:cTn>
                                        <p:tgtEl>
                                          <p:spTgt spid="49155">
                                            <p:txEl>
                                              <p:pRg st="3" end="3"/>
                                            </p:txEl>
                                          </p:spTgt>
                                        </p:tgtEl>
                                        <p:attrNameLst>
                                          <p:attrName>style.visibility</p:attrName>
                                        </p:attrNameLst>
                                      </p:cBhvr>
                                      <p:to>
                                        <p:strVal val="visible"/>
                                      </p:to>
                                    </p:set>
                                    <p:animEffect transition="in" filter="box(in)">
                                      <p:cBhvr>
                                        <p:cTn id="15" dur="500"/>
                                        <p:tgtEl>
                                          <p:spTgt spid="49155">
                                            <p:txEl>
                                              <p:pRg st="3" end="3"/>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5" presetClass="entr" presetSubtype="10" fill="hold" grpId="0" nodeType="clickEffect">
                                  <p:stCondLst>
                                    <p:cond delay="0"/>
                                  </p:stCondLst>
                                  <p:childTnLst>
                                    <p:set>
                                      <p:cBhvr>
                                        <p:cTn id="19" dur="1" fill="hold">
                                          <p:stCondLst>
                                            <p:cond delay="0"/>
                                          </p:stCondLst>
                                        </p:cTn>
                                        <p:tgtEl>
                                          <p:spTgt spid="5"/>
                                        </p:tgtEl>
                                        <p:attrNameLst>
                                          <p:attrName>style.visibility</p:attrName>
                                        </p:attrNameLst>
                                      </p:cBhvr>
                                      <p:to>
                                        <p:strVal val="visible"/>
                                      </p:to>
                                    </p:set>
                                    <p:animEffect transition="in" filter="checkerboard(across)">
                                      <p:cBhvr>
                                        <p:cTn id="20" dur="500"/>
                                        <p:tgtEl>
                                          <p:spTgt spid="5"/>
                                        </p:tgtEl>
                                      </p:cBhvr>
                                    </p:animEffect>
                                  </p:childTnLst>
                                  <p:subTnLst>
                                    <p:set>
                                      <p:cBhvr override="childStyle">
                                        <p:cTn dur="1" fill="hold" display="0" masterRel="nextClick" afterEffect="1"/>
                                        <p:tgtEl>
                                          <p:spTgt spid="5"/>
                                        </p:tgtEl>
                                        <p:attrNameLst>
                                          <p:attrName>style.visibility</p:attrName>
                                        </p:attrNameLst>
                                      </p:cBhvr>
                                      <p:to>
                                        <p:strVal val="hidden"/>
                                      </p:to>
                                    </p:set>
                                  </p:subTnLst>
                                </p:cTn>
                              </p:par>
                            </p:childTnLst>
                          </p:cTn>
                        </p:par>
                      </p:childTnLst>
                    </p:cTn>
                  </p:par>
                  <p:par>
                    <p:cTn id="21" fill="hold">
                      <p:stCondLst>
                        <p:cond delay="indefinite"/>
                      </p:stCondLst>
                      <p:childTnLst>
                        <p:par>
                          <p:cTn id="22" fill="hold">
                            <p:stCondLst>
                              <p:cond delay="0"/>
                            </p:stCondLst>
                            <p:childTnLst>
                              <p:par>
                                <p:cTn id="23" presetID="5" presetClass="entr" presetSubtype="10" fill="hold" grpId="0" nodeType="clickEffect">
                                  <p:stCondLst>
                                    <p:cond delay="0"/>
                                  </p:stCondLst>
                                  <p:childTnLst>
                                    <p:set>
                                      <p:cBhvr>
                                        <p:cTn id="24" dur="1" fill="hold">
                                          <p:stCondLst>
                                            <p:cond delay="0"/>
                                          </p:stCondLst>
                                        </p:cTn>
                                        <p:tgtEl>
                                          <p:spTgt spid="6"/>
                                        </p:tgtEl>
                                        <p:attrNameLst>
                                          <p:attrName>style.visibility</p:attrName>
                                        </p:attrNameLst>
                                      </p:cBhvr>
                                      <p:to>
                                        <p:strVal val="visible"/>
                                      </p:to>
                                    </p:set>
                                    <p:animEffect transition="in" filter="checkerboard(across)">
                                      <p:cBhvr>
                                        <p:cTn id="25" dur="500"/>
                                        <p:tgtEl>
                                          <p:spTgt spid="6"/>
                                        </p:tgtEl>
                                      </p:cBhvr>
                                    </p:animEffect>
                                  </p:childTnLst>
                                  <p:subTnLst>
                                    <p:set>
                                      <p:cBhvr override="childStyle">
                                        <p:cTn dur="1" fill="hold" display="0" masterRel="nextClick" afterEffect="1"/>
                                        <p:tgtEl>
                                          <p:spTgt spid="6"/>
                                        </p:tgtEl>
                                        <p:attrNameLst>
                                          <p:attrName>style.visibility</p:attrName>
                                        </p:attrNameLst>
                                      </p:cBhvr>
                                      <p:to>
                                        <p:strVal val="hidden"/>
                                      </p:to>
                                    </p:set>
                                  </p:subTnLst>
                                </p:cTn>
                              </p:par>
                            </p:childTnLst>
                          </p:cTn>
                        </p:par>
                      </p:childTnLst>
                    </p:cTn>
                  </p:par>
                  <p:par>
                    <p:cTn id="26" fill="hold">
                      <p:stCondLst>
                        <p:cond delay="indefinite"/>
                      </p:stCondLst>
                      <p:childTnLst>
                        <p:par>
                          <p:cTn id="27" fill="hold">
                            <p:stCondLst>
                              <p:cond delay="0"/>
                            </p:stCondLst>
                            <p:childTnLst>
                              <p:par>
                                <p:cTn id="28" presetID="4" presetClass="entr" presetSubtype="16" fill="hold" nodeType="clickEffect">
                                  <p:stCondLst>
                                    <p:cond delay="0"/>
                                  </p:stCondLst>
                                  <p:childTnLst>
                                    <p:set>
                                      <p:cBhvr>
                                        <p:cTn id="29" dur="1" fill="hold">
                                          <p:stCondLst>
                                            <p:cond delay="0"/>
                                          </p:stCondLst>
                                        </p:cTn>
                                        <p:tgtEl>
                                          <p:spTgt spid="49155">
                                            <p:txEl>
                                              <p:pRg st="4" end="4"/>
                                            </p:txEl>
                                          </p:spTgt>
                                        </p:tgtEl>
                                        <p:attrNameLst>
                                          <p:attrName>style.visibility</p:attrName>
                                        </p:attrNameLst>
                                      </p:cBhvr>
                                      <p:to>
                                        <p:strVal val="visible"/>
                                      </p:to>
                                    </p:set>
                                    <p:animEffect transition="in" filter="box(in)">
                                      <p:cBhvr>
                                        <p:cTn id="30" dur="500"/>
                                        <p:tgtEl>
                                          <p:spTgt spid="49155">
                                            <p:txEl>
                                              <p:pRg st="4" end="4"/>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4" presetClass="entr" presetSubtype="16" fill="hold" grpId="0" nodeType="clickEffect">
                                  <p:stCondLst>
                                    <p:cond delay="0"/>
                                  </p:stCondLst>
                                  <p:childTnLst>
                                    <p:set>
                                      <p:cBhvr>
                                        <p:cTn id="34" dur="1" fill="hold">
                                          <p:stCondLst>
                                            <p:cond delay="0"/>
                                          </p:stCondLst>
                                        </p:cTn>
                                        <p:tgtEl>
                                          <p:spTgt spid="7"/>
                                        </p:tgtEl>
                                        <p:attrNameLst>
                                          <p:attrName>style.visibility</p:attrName>
                                        </p:attrNameLst>
                                      </p:cBhvr>
                                      <p:to>
                                        <p:strVal val="visible"/>
                                      </p:to>
                                    </p:set>
                                    <p:animEffect transition="in" filter="box(in)">
                                      <p:cBhvr>
                                        <p:cTn id="35" dur="500"/>
                                        <p:tgtEl>
                                          <p:spTgt spid="7"/>
                                        </p:tgtEl>
                                      </p:cBhvr>
                                    </p:animEffect>
                                  </p:childTnLst>
                                  <p:subTnLst>
                                    <p:set>
                                      <p:cBhvr override="childStyle">
                                        <p:cTn dur="1" fill="hold" display="0" masterRel="nextClick" afterEffect="1"/>
                                        <p:tgtEl>
                                          <p:spTgt spid="7"/>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a:lstStyle/>
          <a:p>
            <a:pPr algn="l" eaLnBrk="1" hangingPunct="1"/>
            <a:r>
              <a:rPr lang="zh-CN" altLang="en-US" sz="3200" smtClean="0">
                <a:solidFill>
                  <a:srgbClr val="FFFF00"/>
                </a:solidFill>
                <a:ea typeface="黑体" pitchFamily="49" charset="-122"/>
              </a:rPr>
              <a:t>（三）乘数作用和加速原理</a:t>
            </a:r>
          </a:p>
        </p:txBody>
      </p:sp>
      <p:sp>
        <p:nvSpPr>
          <p:cNvPr id="50179" name="Rectangle 3"/>
          <p:cNvSpPr>
            <a:spLocks noGrp="1" noChangeArrowheads="1"/>
          </p:cNvSpPr>
          <p:nvPr>
            <p:ph type="body" idx="1"/>
          </p:nvPr>
        </p:nvSpPr>
        <p:spPr>
          <a:xfrm>
            <a:off x="457200" y="1600200"/>
            <a:ext cx="5972175" cy="4852988"/>
          </a:xfrm>
        </p:spPr>
        <p:txBody>
          <a:bodyPr/>
          <a:lstStyle/>
          <a:p>
            <a:pPr eaLnBrk="1" hangingPunct="1">
              <a:lnSpc>
                <a:spcPct val="140000"/>
              </a:lnSpc>
              <a:buFont typeface="Wingdings" pitchFamily="2" charset="2"/>
              <a:buChar char="Ø"/>
            </a:pPr>
            <a:r>
              <a:rPr lang="zh-CN" altLang="en-US" sz="2400" smtClean="0">
                <a:solidFill>
                  <a:srgbClr val="FFFF00"/>
                </a:solidFill>
                <a:latin typeface="黑体" pitchFamily="49" charset="-122"/>
                <a:ea typeface="黑体" pitchFamily="49" charset="-122"/>
              </a:rPr>
              <a:t>乘数原理：</a:t>
            </a:r>
            <a:r>
              <a:rPr lang="en-US" altLang="zh-CN" sz="2400" smtClean="0">
                <a:solidFill>
                  <a:schemeClr val="bg1"/>
                </a:solidFill>
                <a:latin typeface="黑体" pitchFamily="49" charset="-122"/>
                <a:ea typeface="黑体" pitchFamily="49" charset="-122"/>
              </a:rPr>
              <a:t>1931</a:t>
            </a:r>
            <a:r>
              <a:rPr lang="zh-CN" altLang="en-US" sz="2400" smtClean="0">
                <a:solidFill>
                  <a:schemeClr val="bg1"/>
                </a:solidFill>
                <a:latin typeface="黑体" pitchFamily="49" charset="-122"/>
                <a:ea typeface="黑体" pitchFamily="49" charset="-122"/>
              </a:rPr>
              <a:t>年英国经济学家卡恩提出，</a:t>
            </a:r>
            <a:r>
              <a:rPr lang="en-US" altLang="zh-CN" sz="2400" smtClean="0">
                <a:solidFill>
                  <a:schemeClr val="bg1"/>
                </a:solidFill>
                <a:latin typeface="黑体" pitchFamily="49" charset="-122"/>
                <a:ea typeface="黑体" pitchFamily="49" charset="-122"/>
              </a:rPr>
              <a:t>1936</a:t>
            </a:r>
            <a:r>
              <a:rPr lang="zh-CN" altLang="en-US" sz="2400" smtClean="0">
                <a:solidFill>
                  <a:schemeClr val="bg1"/>
                </a:solidFill>
                <a:latin typeface="黑体" pitchFamily="49" charset="-122"/>
                <a:ea typeface="黑体" pitchFamily="49" charset="-122"/>
              </a:rPr>
              <a:t>年凯恩斯在</a:t>
            </a:r>
            <a:r>
              <a:rPr lang="en-US" altLang="zh-CN" sz="2400" smtClean="0">
                <a:solidFill>
                  <a:schemeClr val="bg1"/>
                </a:solidFill>
                <a:latin typeface="黑体" pitchFamily="49" charset="-122"/>
                <a:ea typeface="黑体" pitchFamily="49" charset="-122"/>
              </a:rPr>
              <a:t>《</a:t>
            </a:r>
            <a:r>
              <a:rPr lang="zh-CN" altLang="en-US" sz="2400" smtClean="0">
                <a:solidFill>
                  <a:schemeClr val="bg1"/>
                </a:solidFill>
                <a:latin typeface="黑体" pitchFamily="49" charset="-122"/>
                <a:ea typeface="黑体" pitchFamily="49" charset="-122"/>
              </a:rPr>
              <a:t>就业、利息和货币通论</a:t>
            </a:r>
            <a:r>
              <a:rPr lang="en-US" altLang="zh-CN" sz="2400" smtClean="0">
                <a:solidFill>
                  <a:schemeClr val="bg1"/>
                </a:solidFill>
                <a:latin typeface="黑体" pitchFamily="49" charset="-122"/>
                <a:ea typeface="黑体" pitchFamily="49" charset="-122"/>
              </a:rPr>
              <a:t>》</a:t>
            </a:r>
            <a:r>
              <a:rPr lang="zh-CN" altLang="en-US" sz="2400" smtClean="0">
                <a:solidFill>
                  <a:schemeClr val="bg1"/>
                </a:solidFill>
                <a:latin typeface="黑体" pitchFamily="49" charset="-122"/>
                <a:ea typeface="黑体" pitchFamily="49" charset="-122"/>
              </a:rPr>
              <a:t>中对概念进行了扩展，</a:t>
            </a:r>
            <a:r>
              <a:rPr lang="zh-CN" altLang="en-US" sz="2400" smtClean="0">
                <a:solidFill>
                  <a:srgbClr val="FFFF00"/>
                </a:solidFill>
                <a:latin typeface="黑体" pitchFamily="49" charset="-122"/>
                <a:ea typeface="黑体" pitchFamily="49" charset="-122"/>
              </a:rPr>
              <a:t>乘数表示投资的增加所引起的收入增加的倍数。</a:t>
            </a:r>
            <a:endParaRPr lang="en-US" altLang="zh-CN" sz="2400" smtClean="0">
              <a:solidFill>
                <a:srgbClr val="FFFF00"/>
              </a:solidFill>
              <a:latin typeface="黑体" pitchFamily="49" charset="-122"/>
              <a:ea typeface="黑体" pitchFamily="49" charset="-122"/>
            </a:endParaRPr>
          </a:p>
          <a:p>
            <a:pPr eaLnBrk="1" hangingPunct="1">
              <a:lnSpc>
                <a:spcPct val="140000"/>
              </a:lnSpc>
              <a:buFont typeface="Wingdings" pitchFamily="2" charset="2"/>
              <a:buChar char="Ø"/>
            </a:pPr>
            <a:endParaRPr lang="en-US" altLang="zh-CN" sz="2400" smtClean="0">
              <a:solidFill>
                <a:srgbClr val="FFFF00"/>
              </a:solidFill>
              <a:latin typeface="黑体" pitchFamily="49" charset="-122"/>
              <a:ea typeface="黑体" pitchFamily="49" charset="-122"/>
            </a:endParaRPr>
          </a:p>
          <a:p>
            <a:pPr eaLnBrk="1" hangingPunct="1">
              <a:lnSpc>
                <a:spcPct val="140000"/>
              </a:lnSpc>
              <a:buFont typeface="Wingdings" pitchFamily="2" charset="2"/>
              <a:buChar char="Ø"/>
            </a:pPr>
            <a:r>
              <a:rPr lang="zh-CN" altLang="en-US" sz="2400" smtClean="0">
                <a:solidFill>
                  <a:srgbClr val="FFFF00"/>
                </a:solidFill>
                <a:latin typeface="黑体" pitchFamily="49" charset="-122"/>
                <a:ea typeface="黑体" pitchFamily="49" charset="-122"/>
              </a:rPr>
              <a:t>经济活动中某一变量的增减所引起的经济总量变化的连锁反应程度。</a:t>
            </a:r>
            <a:endParaRPr lang="en-US" altLang="zh-CN" sz="2400" smtClean="0">
              <a:solidFill>
                <a:srgbClr val="FFFF00"/>
              </a:solidFill>
              <a:latin typeface="黑体" pitchFamily="49" charset="-122"/>
              <a:ea typeface="黑体" pitchFamily="49" charset="-122"/>
            </a:endParaRPr>
          </a:p>
        </p:txBody>
      </p:sp>
      <p:pic>
        <p:nvPicPr>
          <p:cNvPr id="14340" name="Picture 2"/>
          <p:cNvPicPr>
            <a:picLocks noChangeAspect="1" noChangeArrowheads="1"/>
          </p:cNvPicPr>
          <p:nvPr/>
        </p:nvPicPr>
        <p:blipFill>
          <a:blip r:embed="rId2" cstate="print"/>
          <a:srcRect/>
          <a:stretch>
            <a:fillRect/>
          </a:stretch>
        </p:blipFill>
        <p:spPr bwMode="auto">
          <a:xfrm>
            <a:off x="6572250" y="1071563"/>
            <a:ext cx="2114550" cy="3533775"/>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0179">
                                            <p:txEl>
                                              <p:pRg st="0" end="0"/>
                                            </p:txEl>
                                          </p:spTgt>
                                        </p:tgtEl>
                                        <p:attrNameLst>
                                          <p:attrName>style.visibility</p:attrName>
                                        </p:attrNameLst>
                                      </p:cBhvr>
                                      <p:to>
                                        <p:strVal val="visible"/>
                                      </p:to>
                                    </p:set>
                                    <p:anim calcmode="lin" valueType="num">
                                      <p:cBhvr additive="base">
                                        <p:cTn id="7" dur="500" fill="hold"/>
                                        <p:tgtEl>
                                          <p:spTgt spid="5017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017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0179">
                                            <p:txEl>
                                              <p:pRg st="2" end="2"/>
                                            </p:txEl>
                                          </p:spTgt>
                                        </p:tgtEl>
                                        <p:attrNameLst>
                                          <p:attrName>style.visibility</p:attrName>
                                        </p:attrNameLst>
                                      </p:cBhvr>
                                      <p:to>
                                        <p:strVal val="visible"/>
                                      </p:to>
                                    </p:set>
                                    <p:anim calcmode="lin" valueType="num">
                                      <p:cBhvr additive="base">
                                        <p:cTn id="13" dur="500" fill="hold"/>
                                        <p:tgtEl>
                                          <p:spTgt spid="50179">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0179">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57188" y="428625"/>
            <a:ext cx="8229600" cy="5929313"/>
          </a:xfrm>
        </p:spPr>
        <p:txBody>
          <a:bodyPr/>
          <a:lstStyle/>
          <a:p>
            <a:pPr>
              <a:lnSpc>
                <a:spcPts val="3100"/>
              </a:lnSpc>
            </a:pPr>
            <a:r>
              <a:rPr lang="zh-CN" altLang="en-US" sz="2400" smtClean="0">
                <a:solidFill>
                  <a:srgbClr val="FFFF00"/>
                </a:solidFill>
                <a:latin typeface="黑体" pitchFamily="49" charset="-122"/>
                <a:ea typeface="黑体" pitchFamily="49" charset="-122"/>
              </a:rPr>
              <a:t>加速原理：</a:t>
            </a:r>
            <a:r>
              <a:rPr lang="zh-CN" altLang="en-US" sz="2400" smtClean="0">
                <a:solidFill>
                  <a:schemeClr val="bg1"/>
                </a:solidFill>
                <a:latin typeface="黑体" pitchFamily="49" charset="-122"/>
                <a:ea typeface="黑体" pitchFamily="49" charset="-122"/>
              </a:rPr>
              <a:t> </a:t>
            </a:r>
            <a:r>
              <a:rPr lang="en-US" altLang="zh-CN" sz="2400" smtClean="0">
                <a:solidFill>
                  <a:schemeClr val="bg1"/>
                </a:solidFill>
                <a:latin typeface="黑体" pitchFamily="49" charset="-122"/>
                <a:ea typeface="黑体" pitchFamily="49" charset="-122"/>
              </a:rPr>
              <a:t>1913</a:t>
            </a:r>
            <a:r>
              <a:rPr lang="zh-CN" altLang="en-US" sz="2400" smtClean="0">
                <a:solidFill>
                  <a:schemeClr val="bg1"/>
                </a:solidFill>
                <a:latin typeface="黑体" pitchFamily="49" charset="-122"/>
                <a:ea typeface="黑体" pitchFamily="49" charset="-122"/>
              </a:rPr>
              <a:t>年法国经济学家</a:t>
            </a:r>
            <a:r>
              <a:rPr lang="en-US" altLang="zh-CN" sz="2400" smtClean="0">
                <a:solidFill>
                  <a:schemeClr val="bg1"/>
                </a:solidFill>
                <a:latin typeface="黑体" pitchFamily="49" charset="-122"/>
                <a:ea typeface="黑体" pitchFamily="49" charset="-122"/>
              </a:rPr>
              <a:t>A.</a:t>
            </a:r>
            <a:r>
              <a:rPr lang="zh-CN" altLang="en-US" sz="2400" smtClean="0">
                <a:solidFill>
                  <a:schemeClr val="bg1"/>
                </a:solidFill>
                <a:latin typeface="黑体" pitchFamily="49" charset="-122"/>
                <a:ea typeface="黑体" pitchFamily="49" charset="-122"/>
              </a:rPr>
              <a:t>阿夫塔里昂</a:t>
            </a:r>
            <a:r>
              <a:rPr lang="en-US" altLang="zh-CN" sz="2400" smtClean="0">
                <a:solidFill>
                  <a:schemeClr val="bg1"/>
                </a:solidFill>
                <a:latin typeface="黑体" pitchFamily="49" charset="-122"/>
                <a:ea typeface="黑体" pitchFamily="49" charset="-122"/>
              </a:rPr>
              <a:t>《</a:t>
            </a:r>
            <a:r>
              <a:rPr lang="zh-CN" altLang="en-US" sz="2400" smtClean="0">
                <a:solidFill>
                  <a:schemeClr val="bg1"/>
                </a:solidFill>
                <a:latin typeface="黑体" pitchFamily="49" charset="-122"/>
                <a:ea typeface="黑体" pitchFamily="49" charset="-122"/>
              </a:rPr>
              <a:t>生产过剩的周期性危机</a:t>
            </a:r>
            <a:r>
              <a:rPr lang="en-US" altLang="zh-CN" sz="2400" smtClean="0">
                <a:solidFill>
                  <a:schemeClr val="bg1"/>
                </a:solidFill>
                <a:latin typeface="黑体" pitchFamily="49" charset="-122"/>
                <a:ea typeface="黑体" pitchFamily="49" charset="-122"/>
              </a:rPr>
              <a:t>》</a:t>
            </a:r>
            <a:r>
              <a:rPr lang="zh-CN" altLang="en-US" sz="2400" smtClean="0">
                <a:solidFill>
                  <a:schemeClr val="bg1"/>
                </a:solidFill>
                <a:latin typeface="黑体" pitchFamily="49" charset="-122"/>
                <a:ea typeface="黑体" pitchFamily="49" charset="-122"/>
              </a:rPr>
              <a:t>、</a:t>
            </a:r>
            <a:r>
              <a:rPr lang="en-US" altLang="zh-CN" sz="2400" smtClean="0">
                <a:solidFill>
                  <a:schemeClr val="bg1"/>
                </a:solidFill>
                <a:latin typeface="黑体" pitchFamily="49" charset="-122"/>
                <a:ea typeface="黑体" pitchFamily="49" charset="-122"/>
              </a:rPr>
              <a:t>1917</a:t>
            </a:r>
            <a:r>
              <a:rPr lang="zh-CN" altLang="en-US" sz="2400" smtClean="0">
                <a:solidFill>
                  <a:schemeClr val="bg1"/>
                </a:solidFill>
                <a:latin typeface="黑体" pitchFamily="49" charset="-122"/>
                <a:ea typeface="黑体" pitchFamily="49" charset="-122"/>
              </a:rPr>
              <a:t>年美国经济学家</a:t>
            </a:r>
            <a:r>
              <a:rPr lang="en-US" altLang="zh-CN" sz="2400" smtClean="0">
                <a:solidFill>
                  <a:schemeClr val="bg1"/>
                </a:solidFill>
                <a:latin typeface="黑体" pitchFamily="49" charset="-122"/>
                <a:ea typeface="黑体" pitchFamily="49" charset="-122"/>
              </a:rPr>
              <a:t>Y.M.</a:t>
            </a:r>
            <a:r>
              <a:rPr lang="zh-CN" altLang="en-US" sz="2400" smtClean="0">
                <a:solidFill>
                  <a:schemeClr val="bg1"/>
                </a:solidFill>
                <a:latin typeface="黑体" pitchFamily="49" charset="-122"/>
                <a:ea typeface="黑体" pitchFamily="49" charset="-122"/>
              </a:rPr>
              <a:t>克拉克在</a:t>
            </a:r>
            <a:r>
              <a:rPr lang="en-US" altLang="zh-CN" sz="2400" smtClean="0">
                <a:solidFill>
                  <a:schemeClr val="bg1"/>
                </a:solidFill>
                <a:latin typeface="黑体" pitchFamily="49" charset="-122"/>
                <a:ea typeface="黑体" pitchFamily="49" charset="-122"/>
              </a:rPr>
              <a:t>《</a:t>
            </a:r>
            <a:r>
              <a:rPr lang="zh-CN" altLang="en-US" sz="2400" smtClean="0">
                <a:solidFill>
                  <a:schemeClr val="bg1"/>
                </a:solidFill>
                <a:latin typeface="黑体" pitchFamily="49" charset="-122"/>
                <a:ea typeface="黑体" pitchFamily="49" charset="-122"/>
              </a:rPr>
              <a:t>商业的加速与需求规律</a:t>
            </a:r>
            <a:r>
              <a:rPr lang="en-US" altLang="zh-CN" sz="2400" smtClean="0">
                <a:solidFill>
                  <a:schemeClr val="bg1"/>
                </a:solidFill>
                <a:latin typeface="黑体" pitchFamily="49" charset="-122"/>
                <a:ea typeface="黑体" pitchFamily="49" charset="-122"/>
              </a:rPr>
              <a:t>》</a:t>
            </a:r>
            <a:r>
              <a:rPr lang="zh-CN" altLang="en-US" sz="2400" smtClean="0">
                <a:solidFill>
                  <a:schemeClr val="bg1"/>
                </a:solidFill>
                <a:latin typeface="黑体" pitchFamily="49" charset="-122"/>
                <a:ea typeface="黑体" pitchFamily="49" charset="-122"/>
              </a:rPr>
              <a:t>中提出，</a:t>
            </a:r>
            <a:r>
              <a:rPr lang="zh-CN" altLang="en-US" sz="2400" smtClean="0">
                <a:solidFill>
                  <a:srgbClr val="FFFF00"/>
                </a:solidFill>
                <a:latin typeface="黑体" pitchFamily="49" charset="-122"/>
                <a:ea typeface="黑体" pitchFamily="49" charset="-122"/>
              </a:rPr>
              <a:t>认为投资是消费量或收入变动率的函数，消费量或收入变动率增长，投资将加速增长，反之，投资将加速减少。投资变动的幅度大于消费量或收入的变动率。</a:t>
            </a:r>
            <a:endParaRPr lang="en-US" altLang="zh-CN" sz="2400" smtClean="0">
              <a:solidFill>
                <a:srgbClr val="FFFF00"/>
              </a:solidFill>
              <a:latin typeface="黑体" pitchFamily="49" charset="-122"/>
              <a:ea typeface="黑体" pitchFamily="49" charset="-122"/>
            </a:endParaRPr>
          </a:p>
          <a:p>
            <a:pPr>
              <a:lnSpc>
                <a:spcPts val="3100"/>
              </a:lnSpc>
            </a:pPr>
            <a:r>
              <a:rPr lang="zh-CN" altLang="en-US" sz="2400" smtClean="0">
                <a:solidFill>
                  <a:srgbClr val="FFFF00"/>
                </a:solidFill>
                <a:latin typeface="黑体" pitchFamily="49" charset="-122"/>
                <a:ea typeface="黑体" pitchFamily="49" charset="-122"/>
              </a:rPr>
              <a:t>乘数与加速原理相互作用引起经济周期变化：</a:t>
            </a:r>
            <a:endParaRPr lang="en-US" altLang="zh-CN" sz="2400" smtClean="0">
              <a:solidFill>
                <a:srgbClr val="FFFF00"/>
              </a:solidFill>
              <a:latin typeface="黑体" pitchFamily="49" charset="-122"/>
              <a:ea typeface="黑体" pitchFamily="49" charset="-122"/>
            </a:endParaRPr>
          </a:p>
          <a:p>
            <a:pPr lvl="1">
              <a:lnSpc>
                <a:spcPts val="3100"/>
              </a:lnSpc>
            </a:pPr>
            <a:r>
              <a:rPr lang="zh-CN" altLang="en-US" sz="2400" smtClean="0">
                <a:solidFill>
                  <a:schemeClr val="bg1"/>
                </a:solidFill>
                <a:latin typeface="黑体" pitchFamily="49" charset="-122"/>
                <a:ea typeface="黑体" pitchFamily="49" charset="-122"/>
              </a:rPr>
              <a:t>投资增加</a:t>
            </a:r>
            <a:r>
              <a:rPr lang="en-US" altLang="zh-CN" sz="2400" smtClean="0">
                <a:solidFill>
                  <a:schemeClr val="bg1"/>
                </a:solidFill>
                <a:latin typeface="黑体" pitchFamily="49" charset="-122"/>
                <a:ea typeface="黑体" pitchFamily="49" charset="-122"/>
              </a:rPr>
              <a:t>-</a:t>
            </a:r>
            <a:r>
              <a:rPr lang="zh-CN" altLang="en-US" sz="2400" smtClean="0">
                <a:solidFill>
                  <a:schemeClr val="bg1"/>
                </a:solidFill>
                <a:latin typeface="黑体" pitchFamily="49" charset="-122"/>
                <a:ea typeface="黑体" pitchFamily="49" charset="-122"/>
              </a:rPr>
              <a:t>乘数效应</a:t>
            </a:r>
            <a:r>
              <a:rPr lang="en-US" altLang="zh-CN" sz="2400" smtClean="0">
                <a:solidFill>
                  <a:schemeClr val="bg1"/>
                </a:solidFill>
                <a:latin typeface="黑体" pitchFamily="49" charset="-122"/>
                <a:ea typeface="黑体" pitchFamily="49" charset="-122"/>
              </a:rPr>
              <a:t>-GDP</a:t>
            </a:r>
            <a:r>
              <a:rPr lang="zh-CN" altLang="en-US" sz="2400" smtClean="0">
                <a:solidFill>
                  <a:schemeClr val="bg1"/>
                </a:solidFill>
                <a:latin typeface="黑体" pitchFamily="49" charset="-122"/>
                <a:ea typeface="黑体" pitchFamily="49" charset="-122"/>
              </a:rPr>
              <a:t>更大增加，</a:t>
            </a:r>
            <a:r>
              <a:rPr lang="en-US" altLang="zh-CN" sz="2400" smtClean="0">
                <a:solidFill>
                  <a:schemeClr val="bg1"/>
                </a:solidFill>
                <a:latin typeface="黑体" pitchFamily="49" charset="-122"/>
                <a:ea typeface="黑体" pitchFamily="49" charset="-122"/>
              </a:rPr>
              <a:t>GDP</a:t>
            </a:r>
            <a:r>
              <a:rPr lang="zh-CN" altLang="en-US" sz="2400" smtClean="0">
                <a:solidFill>
                  <a:schemeClr val="bg1"/>
                </a:solidFill>
                <a:latin typeface="黑体" pitchFamily="49" charset="-122"/>
                <a:ea typeface="黑体" pitchFamily="49" charset="-122"/>
              </a:rPr>
              <a:t>更大增加</a:t>
            </a:r>
            <a:r>
              <a:rPr lang="en-US" altLang="zh-CN" sz="2400" smtClean="0">
                <a:solidFill>
                  <a:schemeClr val="bg1"/>
                </a:solidFill>
                <a:latin typeface="黑体" pitchFamily="49" charset="-122"/>
                <a:ea typeface="黑体" pitchFamily="49" charset="-122"/>
              </a:rPr>
              <a:t>-</a:t>
            </a:r>
            <a:r>
              <a:rPr lang="zh-CN" altLang="en-US" sz="2400" smtClean="0">
                <a:solidFill>
                  <a:schemeClr val="bg1"/>
                </a:solidFill>
                <a:latin typeface="黑体" pitchFamily="49" charset="-122"/>
                <a:ea typeface="黑体" pitchFamily="49" charset="-122"/>
              </a:rPr>
              <a:t>加速效应</a:t>
            </a:r>
            <a:r>
              <a:rPr lang="en-US" altLang="zh-CN" sz="2400" smtClean="0">
                <a:solidFill>
                  <a:schemeClr val="bg1"/>
                </a:solidFill>
                <a:latin typeface="黑体" pitchFamily="49" charset="-122"/>
                <a:ea typeface="黑体" pitchFamily="49" charset="-122"/>
              </a:rPr>
              <a:t>-</a:t>
            </a:r>
            <a:r>
              <a:rPr lang="zh-CN" altLang="en-US" sz="2400" smtClean="0">
                <a:solidFill>
                  <a:schemeClr val="bg1"/>
                </a:solidFill>
                <a:latin typeface="黑体" pitchFamily="49" charset="-122"/>
                <a:ea typeface="黑体" pitchFamily="49" charset="-122"/>
              </a:rPr>
              <a:t>投资的更大增加，经济繁荣</a:t>
            </a:r>
            <a:endParaRPr lang="en-US" altLang="zh-CN" sz="2400" smtClean="0">
              <a:solidFill>
                <a:schemeClr val="bg1"/>
              </a:solidFill>
              <a:latin typeface="黑体" pitchFamily="49" charset="-122"/>
              <a:ea typeface="黑体" pitchFamily="49" charset="-122"/>
            </a:endParaRPr>
          </a:p>
          <a:p>
            <a:pPr lvl="1">
              <a:lnSpc>
                <a:spcPts val="3100"/>
              </a:lnSpc>
            </a:pPr>
            <a:r>
              <a:rPr lang="en-US" altLang="zh-CN" sz="2400" smtClean="0">
                <a:solidFill>
                  <a:schemeClr val="bg1"/>
                </a:solidFill>
                <a:latin typeface="黑体" pitchFamily="49" charset="-122"/>
                <a:ea typeface="黑体" pitchFamily="49" charset="-122"/>
              </a:rPr>
              <a:t>GDP</a:t>
            </a:r>
            <a:r>
              <a:rPr lang="zh-CN" altLang="en-US" sz="2400" smtClean="0">
                <a:solidFill>
                  <a:schemeClr val="bg1"/>
                </a:solidFill>
                <a:latin typeface="黑体" pitchFamily="49" charset="-122"/>
                <a:ea typeface="黑体" pitchFamily="49" charset="-122"/>
              </a:rPr>
              <a:t>达到一定水平后，社会需求与资源的限制无法再增加，加速原理</a:t>
            </a:r>
            <a:r>
              <a:rPr lang="en-US" altLang="zh-CN" sz="2400" smtClean="0">
                <a:solidFill>
                  <a:schemeClr val="bg1"/>
                </a:solidFill>
                <a:latin typeface="黑体" pitchFamily="49" charset="-122"/>
                <a:ea typeface="黑体" pitchFamily="49" charset="-122"/>
              </a:rPr>
              <a:t>-</a:t>
            </a:r>
            <a:r>
              <a:rPr lang="zh-CN" altLang="en-US" sz="2400" smtClean="0">
                <a:solidFill>
                  <a:schemeClr val="bg1"/>
                </a:solidFill>
                <a:latin typeface="黑体" pitchFamily="49" charset="-122"/>
                <a:ea typeface="黑体" pitchFamily="49" charset="-122"/>
              </a:rPr>
              <a:t>投资减少，投资减少</a:t>
            </a:r>
            <a:r>
              <a:rPr lang="en-US" altLang="zh-CN" sz="2400" smtClean="0">
                <a:solidFill>
                  <a:schemeClr val="bg1"/>
                </a:solidFill>
                <a:latin typeface="黑体" pitchFamily="49" charset="-122"/>
                <a:ea typeface="黑体" pitchFamily="49" charset="-122"/>
              </a:rPr>
              <a:t>-</a:t>
            </a:r>
            <a:r>
              <a:rPr lang="zh-CN" altLang="en-US" sz="2400" smtClean="0">
                <a:solidFill>
                  <a:schemeClr val="bg1"/>
                </a:solidFill>
                <a:latin typeface="黑体" pitchFamily="49" charset="-122"/>
                <a:ea typeface="黑体" pitchFamily="49" charset="-122"/>
              </a:rPr>
              <a:t>乘数作用</a:t>
            </a:r>
            <a:r>
              <a:rPr lang="en-US" altLang="zh-CN" sz="2400" smtClean="0">
                <a:solidFill>
                  <a:schemeClr val="bg1"/>
                </a:solidFill>
                <a:latin typeface="黑体" pitchFamily="49" charset="-122"/>
                <a:ea typeface="黑体" pitchFamily="49" charset="-122"/>
              </a:rPr>
              <a:t>-GDP</a:t>
            </a:r>
            <a:r>
              <a:rPr lang="zh-CN" altLang="en-US" sz="2400" smtClean="0">
                <a:solidFill>
                  <a:schemeClr val="bg1"/>
                </a:solidFill>
                <a:latin typeface="黑体" pitchFamily="49" charset="-122"/>
                <a:ea typeface="黑体" pitchFamily="49" charset="-122"/>
              </a:rPr>
              <a:t>继续减少。两者共同作用</a:t>
            </a:r>
            <a:r>
              <a:rPr lang="en-US" altLang="zh-CN" sz="2400" smtClean="0">
                <a:solidFill>
                  <a:schemeClr val="bg1"/>
                </a:solidFill>
                <a:latin typeface="黑体" pitchFamily="49" charset="-122"/>
                <a:ea typeface="黑体" pitchFamily="49" charset="-122"/>
              </a:rPr>
              <a:t>-</a:t>
            </a:r>
            <a:r>
              <a:rPr lang="zh-CN" altLang="en-US" sz="2400" smtClean="0">
                <a:solidFill>
                  <a:schemeClr val="bg1"/>
                </a:solidFill>
                <a:latin typeface="黑体" pitchFamily="49" charset="-122"/>
                <a:ea typeface="黑体" pitchFamily="49" charset="-122"/>
              </a:rPr>
              <a:t>经济衰退</a:t>
            </a:r>
            <a:endParaRPr lang="en-US" altLang="zh-CN" sz="2400" smtClean="0">
              <a:solidFill>
                <a:schemeClr val="bg1"/>
              </a:solidFill>
              <a:latin typeface="黑体" pitchFamily="49" charset="-122"/>
              <a:ea typeface="黑体" pitchFamily="49" charset="-122"/>
            </a:endParaRPr>
          </a:p>
          <a:p>
            <a:pPr lvl="1">
              <a:lnSpc>
                <a:spcPts val="3100"/>
              </a:lnSpc>
            </a:pPr>
            <a:r>
              <a:rPr lang="zh-CN" altLang="zh-CN" sz="2400" smtClean="0">
                <a:solidFill>
                  <a:schemeClr val="bg1"/>
                </a:solidFill>
                <a:latin typeface="黑体" pitchFamily="49" charset="-122"/>
                <a:ea typeface="黑体" pitchFamily="49" charset="-122"/>
              </a:rPr>
              <a:t>固定资产</a:t>
            </a:r>
            <a:r>
              <a:rPr lang="zh-CN" altLang="en-US" sz="2400" smtClean="0">
                <a:solidFill>
                  <a:schemeClr val="bg1"/>
                </a:solidFill>
                <a:latin typeface="黑体" pitchFamily="49" charset="-122"/>
                <a:ea typeface="黑体" pitchFamily="49" charset="-122"/>
              </a:rPr>
              <a:t>（</a:t>
            </a:r>
            <a:r>
              <a:rPr lang="zh-CN" altLang="zh-CN" sz="2400" smtClean="0">
                <a:solidFill>
                  <a:schemeClr val="bg1"/>
                </a:solidFill>
                <a:latin typeface="黑体" pitchFamily="49" charset="-122"/>
                <a:ea typeface="黑体" pitchFamily="49" charset="-122"/>
              </a:rPr>
              <a:t>机器设备</a:t>
            </a:r>
            <a:r>
              <a:rPr lang="zh-CN" altLang="en-US" sz="2400" smtClean="0">
                <a:solidFill>
                  <a:schemeClr val="bg1"/>
                </a:solidFill>
                <a:latin typeface="黑体" pitchFamily="49" charset="-122"/>
                <a:ea typeface="黑体" pitchFamily="49" charset="-122"/>
              </a:rPr>
              <a:t>）</a:t>
            </a:r>
            <a:r>
              <a:rPr lang="zh-CN" altLang="zh-CN" sz="2400" smtClean="0">
                <a:solidFill>
                  <a:schemeClr val="bg1"/>
                </a:solidFill>
                <a:latin typeface="黑体" pitchFamily="49" charset="-122"/>
                <a:ea typeface="黑体" pitchFamily="49" charset="-122"/>
              </a:rPr>
              <a:t>更新</a:t>
            </a:r>
            <a:r>
              <a:rPr lang="en-US" altLang="zh-CN" sz="2400" smtClean="0">
                <a:solidFill>
                  <a:schemeClr val="bg1"/>
                </a:solidFill>
                <a:latin typeface="黑体" pitchFamily="49" charset="-122"/>
                <a:ea typeface="黑体" pitchFamily="49" charset="-122"/>
              </a:rPr>
              <a:t>-</a:t>
            </a:r>
            <a:r>
              <a:rPr lang="zh-CN" altLang="zh-CN" sz="2400" smtClean="0">
                <a:solidFill>
                  <a:schemeClr val="bg1"/>
                </a:solidFill>
                <a:latin typeface="黑体" pitchFamily="49" charset="-122"/>
                <a:ea typeface="黑体" pitchFamily="49" charset="-122"/>
              </a:rPr>
              <a:t>投资增加，国内生产总值再增加，从而经济进入另一次繁荣</a:t>
            </a:r>
            <a:endParaRPr lang="en-US" altLang="zh-CN" sz="2400" smtClean="0">
              <a:solidFill>
                <a:schemeClr val="bg1"/>
              </a:solidFill>
              <a:latin typeface="黑体" pitchFamily="49" charset="-122"/>
              <a:ea typeface="黑体" pitchFamily="49" charset="-122"/>
            </a:endParaRPr>
          </a:p>
          <a:p>
            <a:endParaRPr lang="zh-CN" altLang="en-US" sz="2800" smtClean="0">
              <a:solidFill>
                <a:schemeClr val="bg1"/>
              </a:solidFill>
              <a:latin typeface="黑体" pitchFamily="49" charset="-122"/>
              <a:ea typeface="黑体" pitchFamily="49" charset="-122"/>
            </a:endParaRPr>
          </a:p>
          <a:p>
            <a:endParaRPr lang="zh-CN" altLang="en-US"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ox(i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checkerboard(across)">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8" presetClass="entr" presetSubtype="16"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diamond(in)">
                                      <p:cBhvr>
                                        <p:cTn id="17" dur="2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ox(in)">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16"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box(in)">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内容占位符 2"/>
          <p:cNvSpPr>
            <a:spLocks noGrp="1"/>
          </p:cNvSpPr>
          <p:nvPr>
            <p:ph idx="1"/>
          </p:nvPr>
        </p:nvSpPr>
        <p:spPr>
          <a:xfrm>
            <a:off x="571500" y="1714500"/>
            <a:ext cx="8229600" cy="4525963"/>
          </a:xfrm>
        </p:spPr>
        <p:txBody>
          <a:bodyPr/>
          <a:lstStyle/>
          <a:p>
            <a:pPr>
              <a:lnSpc>
                <a:spcPts val="4500"/>
              </a:lnSpc>
            </a:pPr>
            <a:r>
              <a:rPr lang="zh-CN" altLang="en-US" smtClean="0">
                <a:solidFill>
                  <a:schemeClr val="bg1"/>
                </a:solidFill>
                <a:latin typeface="黑体" pitchFamily="49" charset="-122"/>
                <a:ea typeface="黑体" pitchFamily="49" charset="-122"/>
              </a:rPr>
              <a:t>如何辨析区域经济发展阶段？</a:t>
            </a:r>
            <a:endParaRPr lang="en-US" altLang="zh-CN" smtClean="0">
              <a:solidFill>
                <a:schemeClr val="bg1"/>
              </a:solidFill>
              <a:latin typeface="黑体" pitchFamily="49" charset="-122"/>
              <a:ea typeface="黑体" pitchFamily="49" charset="-122"/>
            </a:endParaRPr>
          </a:p>
          <a:p>
            <a:pPr lvl="1">
              <a:lnSpc>
                <a:spcPts val="4500"/>
              </a:lnSpc>
            </a:pPr>
            <a:r>
              <a:rPr lang="zh-CN" altLang="en-US" smtClean="0">
                <a:solidFill>
                  <a:schemeClr val="bg1"/>
                </a:solidFill>
                <a:latin typeface="黑体" pitchFamily="49" charset="-122"/>
                <a:ea typeface="黑体" pitchFamily="49" charset="-122"/>
              </a:rPr>
              <a:t>三次产业结构演变规律</a:t>
            </a:r>
            <a:endParaRPr lang="en-US" altLang="zh-CN" smtClean="0">
              <a:solidFill>
                <a:schemeClr val="bg1"/>
              </a:solidFill>
              <a:latin typeface="黑体" pitchFamily="49" charset="-122"/>
              <a:ea typeface="黑体" pitchFamily="49" charset="-122"/>
            </a:endParaRPr>
          </a:p>
          <a:p>
            <a:pPr lvl="1">
              <a:lnSpc>
                <a:spcPts val="4500"/>
              </a:lnSpc>
            </a:pPr>
            <a:r>
              <a:rPr lang="zh-CN" altLang="en-US" smtClean="0">
                <a:solidFill>
                  <a:schemeClr val="bg1"/>
                </a:solidFill>
                <a:latin typeface="黑体" pitchFamily="49" charset="-122"/>
                <a:ea typeface="黑体" pitchFamily="49" charset="-122"/>
              </a:rPr>
              <a:t>城镇化水平</a:t>
            </a:r>
            <a:endParaRPr lang="en-US" altLang="zh-CN" smtClean="0">
              <a:solidFill>
                <a:schemeClr val="bg1"/>
              </a:solidFill>
              <a:latin typeface="黑体" pitchFamily="49" charset="-122"/>
              <a:ea typeface="黑体" pitchFamily="49" charset="-122"/>
            </a:endParaRPr>
          </a:p>
          <a:p>
            <a:pPr lvl="1">
              <a:lnSpc>
                <a:spcPts val="4500"/>
              </a:lnSpc>
            </a:pPr>
            <a:r>
              <a:rPr lang="zh-CN" altLang="en-US" smtClean="0">
                <a:solidFill>
                  <a:schemeClr val="bg1"/>
                </a:solidFill>
                <a:latin typeface="黑体" pitchFamily="49" charset="-122"/>
                <a:ea typeface="黑体" pitchFamily="49" charset="-122"/>
              </a:rPr>
              <a:t>人均</a:t>
            </a:r>
            <a:r>
              <a:rPr lang="en-US" altLang="zh-CN" smtClean="0">
                <a:solidFill>
                  <a:schemeClr val="bg1"/>
                </a:solidFill>
                <a:latin typeface="黑体" pitchFamily="49" charset="-122"/>
                <a:ea typeface="黑体" pitchFamily="49" charset="-122"/>
              </a:rPr>
              <a:t>GDP</a:t>
            </a:r>
            <a:r>
              <a:rPr lang="zh-CN" altLang="en-US" smtClean="0">
                <a:solidFill>
                  <a:schemeClr val="bg1"/>
                </a:solidFill>
                <a:latin typeface="黑体" pitchFamily="49" charset="-122"/>
                <a:ea typeface="黑体" pitchFamily="49" charset="-122"/>
              </a:rPr>
              <a:t>、</a:t>
            </a:r>
            <a:r>
              <a:rPr lang="en-US" altLang="zh-CN" smtClean="0">
                <a:solidFill>
                  <a:schemeClr val="bg1"/>
                </a:solidFill>
                <a:latin typeface="黑体" pitchFamily="49" charset="-122"/>
                <a:ea typeface="黑体" pitchFamily="49" charset="-122"/>
              </a:rPr>
              <a:t>GDP</a:t>
            </a:r>
          </a:p>
          <a:p>
            <a:pPr lvl="1">
              <a:lnSpc>
                <a:spcPts val="4500"/>
              </a:lnSpc>
            </a:pPr>
            <a:r>
              <a:rPr lang="zh-CN" altLang="en-US" smtClean="0">
                <a:solidFill>
                  <a:schemeClr val="bg1"/>
                </a:solidFill>
                <a:latin typeface="黑体" pitchFamily="49" charset="-122"/>
                <a:ea typeface="黑体" pitchFamily="49" charset="-122"/>
              </a:rPr>
              <a:t>霍夫曼定率</a:t>
            </a:r>
            <a:endParaRPr lang="en-US" altLang="zh-CN" smtClean="0">
              <a:solidFill>
                <a:schemeClr val="bg1"/>
              </a:solidFill>
              <a:latin typeface="黑体" pitchFamily="49" charset="-122"/>
              <a:ea typeface="黑体" pitchFamily="49" charset="-122"/>
            </a:endParaRPr>
          </a:p>
          <a:p>
            <a:pPr lvl="1">
              <a:lnSpc>
                <a:spcPts val="4500"/>
              </a:lnSpc>
            </a:pPr>
            <a:r>
              <a:rPr lang="en-US" altLang="zh-CN" smtClean="0">
                <a:solidFill>
                  <a:schemeClr val="bg1"/>
                </a:solidFill>
                <a:latin typeface="黑体" pitchFamily="49" charset="-122"/>
                <a:ea typeface="黑体" pitchFamily="49" charset="-122"/>
              </a:rPr>
              <a:t>……</a:t>
            </a:r>
            <a:endParaRPr lang="zh-CN" altLang="en-US" smtClean="0">
              <a:solidFill>
                <a:schemeClr val="bg1"/>
              </a:solidFill>
              <a:latin typeface="黑体" pitchFamily="49" charset="-122"/>
              <a:ea typeface="黑体" pitchFamily="49" charset="-122"/>
            </a:endParaRPr>
          </a:p>
        </p:txBody>
      </p:sp>
      <p:sp>
        <p:nvSpPr>
          <p:cNvPr id="4" name="Rectangle 2"/>
          <p:cNvSpPr txBox="1">
            <a:spLocks noChangeArrowheads="1"/>
          </p:cNvSpPr>
          <p:nvPr/>
        </p:nvSpPr>
        <p:spPr bwMode="auto">
          <a:xfrm>
            <a:off x="428625" y="285750"/>
            <a:ext cx="8229600" cy="1143000"/>
          </a:xfrm>
          <a:prstGeom prst="rect">
            <a:avLst/>
          </a:prstGeom>
          <a:noFill/>
          <a:ln w="9525">
            <a:noFill/>
            <a:miter lim="800000"/>
            <a:headEnd/>
            <a:tailEnd/>
          </a:ln>
        </p:spPr>
        <p:txBody>
          <a:bodyPr anchor="ctr"/>
          <a:lstStyle/>
          <a:p>
            <a:pPr>
              <a:defRPr/>
            </a:pPr>
            <a:r>
              <a:rPr lang="zh-CN" altLang="en-US" sz="3600" kern="0" dirty="0">
                <a:solidFill>
                  <a:srgbClr val="FFFF00"/>
                </a:solidFill>
                <a:latin typeface="+mj-lt"/>
                <a:ea typeface="黑体" pitchFamily="49" charset="-122"/>
                <a:cs typeface="+mj-cs"/>
              </a:rPr>
              <a:t>三、区域经济增长阶段理论</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13314">
                                            <p:txEl>
                                              <p:pRg st="1" end="1"/>
                                            </p:txEl>
                                          </p:spTgt>
                                        </p:tgtEl>
                                        <p:attrNameLst>
                                          <p:attrName>style.visibility</p:attrName>
                                        </p:attrNameLst>
                                      </p:cBhvr>
                                      <p:to>
                                        <p:strVal val="visible"/>
                                      </p:to>
                                    </p:set>
                                    <p:animEffect transition="in" filter="box(in)">
                                      <p:cBhvr>
                                        <p:cTn id="7" dur="500"/>
                                        <p:tgtEl>
                                          <p:spTgt spid="13314">
                                            <p:txEl>
                                              <p:pRg st="1" end="1"/>
                                            </p:txEl>
                                          </p:spTgt>
                                        </p:tgtEl>
                                      </p:cBhvr>
                                    </p:animEffect>
                                  </p:childTnLst>
                                </p:cTn>
                              </p:par>
                              <p:par>
                                <p:cTn id="8" presetID="4" presetClass="entr" presetSubtype="16" fill="hold" nodeType="withEffect">
                                  <p:stCondLst>
                                    <p:cond delay="0"/>
                                  </p:stCondLst>
                                  <p:childTnLst>
                                    <p:set>
                                      <p:cBhvr>
                                        <p:cTn id="9" dur="1" fill="hold">
                                          <p:stCondLst>
                                            <p:cond delay="0"/>
                                          </p:stCondLst>
                                        </p:cTn>
                                        <p:tgtEl>
                                          <p:spTgt spid="13314">
                                            <p:txEl>
                                              <p:pRg st="2" end="2"/>
                                            </p:txEl>
                                          </p:spTgt>
                                        </p:tgtEl>
                                        <p:attrNameLst>
                                          <p:attrName>style.visibility</p:attrName>
                                        </p:attrNameLst>
                                      </p:cBhvr>
                                      <p:to>
                                        <p:strVal val="visible"/>
                                      </p:to>
                                    </p:set>
                                    <p:animEffect transition="in" filter="box(in)">
                                      <p:cBhvr>
                                        <p:cTn id="10" dur="500"/>
                                        <p:tgtEl>
                                          <p:spTgt spid="13314">
                                            <p:txEl>
                                              <p:pRg st="2" end="2"/>
                                            </p:txEl>
                                          </p:spTgt>
                                        </p:tgtEl>
                                      </p:cBhvr>
                                    </p:animEffect>
                                  </p:childTnLst>
                                </p:cTn>
                              </p:par>
                              <p:par>
                                <p:cTn id="11" presetID="4" presetClass="entr" presetSubtype="16" fill="hold" nodeType="withEffect">
                                  <p:stCondLst>
                                    <p:cond delay="0"/>
                                  </p:stCondLst>
                                  <p:childTnLst>
                                    <p:set>
                                      <p:cBhvr>
                                        <p:cTn id="12" dur="1" fill="hold">
                                          <p:stCondLst>
                                            <p:cond delay="0"/>
                                          </p:stCondLst>
                                        </p:cTn>
                                        <p:tgtEl>
                                          <p:spTgt spid="13314">
                                            <p:txEl>
                                              <p:pRg st="3" end="3"/>
                                            </p:txEl>
                                          </p:spTgt>
                                        </p:tgtEl>
                                        <p:attrNameLst>
                                          <p:attrName>style.visibility</p:attrName>
                                        </p:attrNameLst>
                                      </p:cBhvr>
                                      <p:to>
                                        <p:strVal val="visible"/>
                                      </p:to>
                                    </p:set>
                                    <p:animEffect transition="in" filter="box(in)">
                                      <p:cBhvr>
                                        <p:cTn id="13" dur="500"/>
                                        <p:tgtEl>
                                          <p:spTgt spid="13314">
                                            <p:txEl>
                                              <p:pRg st="3" end="3"/>
                                            </p:txEl>
                                          </p:spTgt>
                                        </p:tgtEl>
                                      </p:cBhvr>
                                    </p:animEffect>
                                  </p:childTnLst>
                                </p:cTn>
                              </p:par>
                              <p:par>
                                <p:cTn id="14" presetID="4" presetClass="entr" presetSubtype="16" fill="hold" nodeType="withEffect">
                                  <p:stCondLst>
                                    <p:cond delay="0"/>
                                  </p:stCondLst>
                                  <p:childTnLst>
                                    <p:set>
                                      <p:cBhvr>
                                        <p:cTn id="15" dur="1" fill="hold">
                                          <p:stCondLst>
                                            <p:cond delay="0"/>
                                          </p:stCondLst>
                                        </p:cTn>
                                        <p:tgtEl>
                                          <p:spTgt spid="13314">
                                            <p:txEl>
                                              <p:pRg st="4" end="4"/>
                                            </p:txEl>
                                          </p:spTgt>
                                        </p:tgtEl>
                                        <p:attrNameLst>
                                          <p:attrName>style.visibility</p:attrName>
                                        </p:attrNameLst>
                                      </p:cBhvr>
                                      <p:to>
                                        <p:strVal val="visible"/>
                                      </p:to>
                                    </p:set>
                                    <p:animEffect transition="in" filter="box(in)">
                                      <p:cBhvr>
                                        <p:cTn id="16" dur="500"/>
                                        <p:tgtEl>
                                          <p:spTgt spid="13314">
                                            <p:txEl>
                                              <p:pRg st="4" end="4"/>
                                            </p:txEl>
                                          </p:spTgt>
                                        </p:tgtEl>
                                      </p:cBhvr>
                                    </p:animEffect>
                                  </p:childTnLst>
                                </p:cTn>
                              </p:par>
                              <p:par>
                                <p:cTn id="17" presetID="4" presetClass="entr" presetSubtype="16" fill="hold" nodeType="withEffect">
                                  <p:stCondLst>
                                    <p:cond delay="0"/>
                                  </p:stCondLst>
                                  <p:childTnLst>
                                    <p:set>
                                      <p:cBhvr>
                                        <p:cTn id="18" dur="1" fill="hold">
                                          <p:stCondLst>
                                            <p:cond delay="0"/>
                                          </p:stCondLst>
                                        </p:cTn>
                                        <p:tgtEl>
                                          <p:spTgt spid="13314">
                                            <p:txEl>
                                              <p:pRg st="5" end="5"/>
                                            </p:txEl>
                                          </p:spTgt>
                                        </p:tgtEl>
                                        <p:attrNameLst>
                                          <p:attrName>style.visibility</p:attrName>
                                        </p:attrNameLst>
                                      </p:cBhvr>
                                      <p:to>
                                        <p:strVal val="visible"/>
                                      </p:to>
                                    </p:set>
                                    <p:animEffect transition="in" filter="box(in)">
                                      <p:cBhvr>
                                        <p:cTn id="19" dur="500"/>
                                        <p:tgtEl>
                                          <p:spTgt spid="13314">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a:xfrm>
            <a:off x="468313" y="981075"/>
            <a:ext cx="8229600" cy="1143000"/>
          </a:xfrm>
        </p:spPr>
        <p:txBody>
          <a:bodyPr/>
          <a:lstStyle/>
          <a:p>
            <a:pPr algn="l" eaLnBrk="1" hangingPunct="1"/>
            <a:r>
              <a:rPr lang="zh-CN" altLang="en-US" sz="3600" smtClean="0">
                <a:solidFill>
                  <a:srgbClr val="FFFF00"/>
                </a:solidFill>
                <a:ea typeface="黑体" pitchFamily="49" charset="-122"/>
              </a:rPr>
              <a:t>三、区域经济增长阶段理论</a:t>
            </a:r>
          </a:p>
        </p:txBody>
      </p:sp>
      <p:sp>
        <p:nvSpPr>
          <p:cNvPr id="43012" name="Rectangle 4"/>
          <p:cNvSpPr>
            <a:spLocks noGrp="1" noChangeArrowheads="1"/>
          </p:cNvSpPr>
          <p:nvPr>
            <p:ph type="body" idx="1"/>
          </p:nvPr>
        </p:nvSpPr>
        <p:spPr>
          <a:xfrm>
            <a:off x="457200" y="2349500"/>
            <a:ext cx="8686800" cy="2981325"/>
          </a:xfrm>
          <a:noFill/>
        </p:spPr>
        <p:txBody>
          <a:bodyPr/>
          <a:lstStyle/>
          <a:p>
            <a:pPr eaLnBrk="1" hangingPunct="1">
              <a:lnSpc>
                <a:spcPct val="135000"/>
              </a:lnSpc>
              <a:buFontTx/>
              <a:buNone/>
            </a:pPr>
            <a:r>
              <a:rPr lang="zh-CN" altLang="en-US" smtClean="0">
                <a:solidFill>
                  <a:schemeClr val="bg1"/>
                </a:solidFill>
                <a:ea typeface="黑体" pitchFamily="49" charset="-122"/>
              </a:rPr>
              <a:t>（一）胡佛</a:t>
            </a:r>
            <a:r>
              <a:rPr lang="en-US" altLang="zh-CN" smtClean="0">
                <a:solidFill>
                  <a:schemeClr val="bg1"/>
                </a:solidFill>
                <a:latin typeface="华文细黑" pitchFamily="2" charset="-122"/>
                <a:ea typeface="黑体" pitchFamily="49" charset="-122"/>
              </a:rPr>
              <a:t>—</a:t>
            </a:r>
            <a:r>
              <a:rPr lang="zh-CN" altLang="en-US" smtClean="0">
                <a:solidFill>
                  <a:schemeClr val="bg1"/>
                </a:solidFill>
                <a:ea typeface="黑体" pitchFamily="49" charset="-122"/>
              </a:rPr>
              <a:t>费希儿的区域经济增长阶段理论</a:t>
            </a:r>
          </a:p>
          <a:p>
            <a:pPr eaLnBrk="1" hangingPunct="1">
              <a:lnSpc>
                <a:spcPct val="135000"/>
              </a:lnSpc>
              <a:buFontTx/>
              <a:buNone/>
            </a:pPr>
            <a:r>
              <a:rPr lang="zh-CN" altLang="en-US" smtClean="0">
                <a:solidFill>
                  <a:schemeClr val="bg1"/>
                </a:solidFill>
                <a:ea typeface="黑体" pitchFamily="49" charset="-122"/>
              </a:rPr>
              <a:t>（二）罗斯托的经济增长阶段理论</a:t>
            </a:r>
          </a:p>
          <a:p>
            <a:pPr eaLnBrk="1" hangingPunct="1">
              <a:lnSpc>
                <a:spcPct val="135000"/>
              </a:lnSpc>
              <a:buFontTx/>
              <a:buNone/>
            </a:pPr>
            <a:r>
              <a:rPr lang="zh-CN" altLang="en-US" smtClean="0">
                <a:solidFill>
                  <a:schemeClr val="bg1"/>
                </a:solidFill>
                <a:ea typeface="黑体" pitchFamily="49" charset="-122"/>
              </a:rPr>
              <a:t>（三）我国学者提出的区域经济增长阶段理论</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3012">
                                            <p:txEl>
                                              <p:pRg st="0" end="0"/>
                                            </p:txEl>
                                          </p:spTgt>
                                        </p:tgtEl>
                                        <p:attrNameLst>
                                          <p:attrName>style.visibility</p:attrName>
                                        </p:attrNameLst>
                                      </p:cBhvr>
                                      <p:to>
                                        <p:strVal val="visible"/>
                                      </p:to>
                                    </p:set>
                                    <p:anim calcmode="lin" valueType="num">
                                      <p:cBhvr additive="base">
                                        <p:cTn id="7" dur="500" fill="hold"/>
                                        <p:tgtEl>
                                          <p:spTgt spid="4301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301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3012">
                                            <p:txEl>
                                              <p:pRg st="1" end="1"/>
                                            </p:txEl>
                                          </p:spTgt>
                                        </p:tgtEl>
                                        <p:attrNameLst>
                                          <p:attrName>style.visibility</p:attrName>
                                        </p:attrNameLst>
                                      </p:cBhvr>
                                      <p:to>
                                        <p:strVal val="visible"/>
                                      </p:to>
                                    </p:set>
                                    <p:anim calcmode="lin" valueType="num">
                                      <p:cBhvr additive="base">
                                        <p:cTn id="13" dur="500" fill="hold"/>
                                        <p:tgtEl>
                                          <p:spTgt spid="43012">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301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43012">
                                            <p:txEl>
                                              <p:pRg st="2" end="2"/>
                                            </p:txEl>
                                          </p:spTgt>
                                        </p:tgtEl>
                                        <p:attrNameLst>
                                          <p:attrName>style.visibility</p:attrName>
                                        </p:attrNameLst>
                                      </p:cBhvr>
                                      <p:to>
                                        <p:strVal val="visible"/>
                                      </p:to>
                                    </p:set>
                                    <p:anim calcmode="lin" valueType="num">
                                      <p:cBhvr additive="base">
                                        <p:cTn id="19" dur="500" fill="hold"/>
                                        <p:tgtEl>
                                          <p:spTgt spid="43012">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3012">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012"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34" name="Picture 5" descr="经济增长阶段"/>
          <p:cNvPicPr>
            <a:picLocks noGrp="1" noChangeAspect="1" noChangeArrowheads="1"/>
          </p:cNvPicPr>
          <p:nvPr>
            <p:ph/>
          </p:nvPr>
        </p:nvPicPr>
        <p:blipFill>
          <a:blip r:embed="rId2" cstate="print"/>
          <a:srcRect/>
          <a:stretch>
            <a:fillRect/>
          </a:stretch>
        </p:blipFill>
        <p:spPr>
          <a:xfrm>
            <a:off x="1476375" y="188913"/>
            <a:ext cx="6265863" cy="6102350"/>
          </a:xfrm>
        </p:spPr>
      </p:pic>
      <p:sp>
        <p:nvSpPr>
          <p:cNvPr id="18435" name="Text Box 6"/>
          <p:cNvSpPr txBox="1">
            <a:spLocks noChangeArrowheads="1"/>
          </p:cNvSpPr>
          <p:nvPr/>
        </p:nvSpPr>
        <p:spPr bwMode="auto">
          <a:xfrm>
            <a:off x="1671638" y="6329363"/>
            <a:ext cx="6419850" cy="366712"/>
          </a:xfrm>
          <a:prstGeom prst="rect">
            <a:avLst/>
          </a:prstGeom>
          <a:noFill/>
          <a:ln w="9525">
            <a:noFill/>
            <a:miter lim="800000"/>
            <a:headEnd/>
            <a:tailEnd/>
          </a:ln>
        </p:spPr>
        <p:txBody>
          <a:bodyPr wrap="none">
            <a:spAutoFit/>
          </a:bodyPr>
          <a:lstStyle/>
          <a:p>
            <a:r>
              <a:rPr lang="zh-CN" altLang="en-US">
                <a:solidFill>
                  <a:schemeClr val="bg1"/>
                </a:solidFill>
              </a:rPr>
              <a:t>张连城</a:t>
            </a:r>
            <a:r>
              <a:rPr lang="en-US" altLang="zh-CN">
                <a:solidFill>
                  <a:schemeClr val="bg1"/>
                </a:solidFill>
              </a:rPr>
              <a:t>,</a:t>
            </a:r>
            <a:r>
              <a:rPr lang="zh-CN" altLang="en-US">
                <a:solidFill>
                  <a:schemeClr val="bg1"/>
                </a:solidFill>
              </a:rPr>
              <a:t>当前我国所处经济增长阶段研究</a:t>
            </a:r>
            <a:r>
              <a:rPr lang="en-US" altLang="zh-CN">
                <a:solidFill>
                  <a:schemeClr val="bg1"/>
                </a:solidFill>
              </a:rPr>
              <a:t>. </a:t>
            </a:r>
            <a:r>
              <a:rPr lang="zh-CN" altLang="en-US">
                <a:solidFill>
                  <a:schemeClr val="bg1"/>
                </a:solidFill>
              </a:rPr>
              <a:t>人民日报，</a:t>
            </a:r>
            <a:r>
              <a:rPr lang="en-US" altLang="zh-CN">
                <a:solidFill>
                  <a:schemeClr val="bg1"/>
                </a:solidFill>
              </a:rPr>
              <a:t>2007.9.28</a:t>
            </a: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4"/>
          <p:cNvSpPr>
            <a:spLocks noGrp="1" noChangeArrowheads="1"/>
          </p:cNvSpPr>
          <p:nvPr>
            <p:ph type="title"/>
          </p:nvPr>
        </p:nvSpPr>
        <p:spPr>
          <a:xfrm>
            <a:off x="611188" y="4941888"/>
            <a:ext cx="8229600" cy="1143000"/>
          </a:xfrm>
        </p:spPr>
        <p:txBody>
          <a:bodyPr/>
          <a:lstStyle/>
          <a:p>
            <a:pPr algn="l" eaLnBrk="1" hangingPunct="1">
              <a:lnSpc>
                <a:spcPct val="125000"/>
              </a:lnSpc>
            </a:pPr>
            <a:r>
              <a:rPr lang="zh-CN" altLang="en-US" sz="2000" smtClean="0">
                <a:solidFill>
                  <a:schemeClr val="bg1"/>
                </a:solidFill>
              </a:rPr>
              <a:t>从</a:t>
            </a:r>
            <a:r>
              <a:rPr lang="en-US" altLang="zh-CN" sz="2000" smtClean="0">
                <a:solidFill>
                  <a:schemeClr val="bg1"/>
                </a:solidFill>
              </a:rPr>
              <a:t>1978-2009</a:t>
            </a:r>
            <a:r>
              <a:rPr lang="zh-CN" altLang="en-US" sz="2000" smtClean="0">
                <a:solidFill>
                  <a:schemeClr val="bg1"/>
                </a:solidFill>
              </a:rPr>
              <a:t>年，我国经济运行出现了</a:t>
            </a:r>
            <a:r>
              <a:rPr lang="en-US" altLang="zh-CN" sz="2000" smtClean="0">
                <a:solidFill>
                  <a:schemeClr val="bg1"/>
                </a:solidFill>
              </a:rPr>
              <a:t>4</a:t>
            </a:r>
            <a:r>
              <a:rPr lang="zh-CN" altLang="en-US" sz="2000" smtClean="0">
                <a:solidFill>
                  <a:schemeClr val="bg1"/>
                </a:solidFill>
              </a:rPr>
              <a:t>个波峰和</a:t>
            </a:r>
            <a:r>
              <a:rPr lang="en-US" altLang="zh-CN" sz="2000" smtClean="0">
                <a:solidFill>
                  <a:schemeClr val="bg1"/>
                </a:solidFill>
              </a:rPr>
              <a:t>4</a:t>
            </a:r>
            <a:r>
              <a:rPr lang="zh-CN" altLang="en-US" sz="2000" smtClean="0">
                <a:solidFill>
                  <a:schemeClr val="bg1"/>
                </a:solidFill>
              </a:rPr>
              <a:t>个波谷。按波谷计算本轮经济周期始于</a:t>
            </a:r>
            <a:r>
              <a:rPr lang="en-US" altLang="zh-CN" sz="2000" smtClean="0">
                <a:solidFill>
                  <a:schemeClr val="bg1"/>
                </a:solidFill>
              </a:rPr>
              <a:t>1999</a:t>
            </a:r>
            <a:r>
              <a:rPr lang="zh-CN" altLang="en-US" sz="2000" smtClean="0">
                <a:solidFill>
                  <a:schemeClr val="bg1"/>
                </a:solidFill>
              </a:rPr>
              <a:t>年，应当止于</a:t>
            </a:r>
            <a:r>
              <a:rPr lang="en-US" altLang="zh-CN" sz="2000" smtClean="0">
                <a:solidFill>
                  <a:schemeClr val="bg1"/>
                </a:solidFill>
              </a:rPr>
              <a:t>2009</a:t>
            </a:r>
            <a:r>
              <a:rPr lang="zh-CN" altLang="en-US" sz="2000" smtClean="0">
                <a:solidFill>
                  <a:schemeClr val="bg1"/>
                </a:solidFill>
              </a:rPr>
              <a:t>年。按波峰计算，本轮经济周期始于</a:t>
            </a:r>
            <a:r>
              <a:rPr lang="en-US" altLang="zh-CN" sz="2000" smtClean="0">
                <a:solidFill>
                  <a:schemeClr val="bg1"/>
                </a:solidFill>
              </a:rPr>
              <a:t>1992</a:t>
            </a:r>
            <a:r>
              <a:rPr lang="zh-CN" altLang="en-US" sz="2000" smtClean="0">
                <a:solidFill>
                  <a:schemeClr val="bg1"/>
                </a:solidFill>
              </a:rPr>
              <a:t>年，止于</a:t>
            </a:r>
            <a:r>
              <a:rPr lang="en-US" altLang="zh-CN" sz="2000" smtClean="0">
                <a:solidFill>
                  <a:schemeClr val="bg1"/>
                </a:solidFill>
              </a:rPr>
              <a:t>2007</a:t>
            </a:r>
            <a:r>
              <a:rPr lang="zh-CN" altLang="en-US" sz="2000" smtClean="0">
                <a:solidFill>
                  <a:schemeClr val="bg1"/>
                </a:solidFill>
              </a:rPr>
              <a:t>年。周期的波长长达</a:t>
            </a:r>
            <a:r>
              <a:rPr lang="en-US" altLang="zh-CN" sz="2000" smtClean="0">
                <a:solidFill>
                  <a:schemeClr val="bg1"/>
                </a:solidFill>
              </a:rPr>
              <a:t>15</a:t>
            </a:r>
            <a:r>
              <a:rPr lang="zh-CN" altLang="en-US" sz="2000" smtClean="0">
                <a:solidFill>
                  <a:schemeClr val="bg1"/>
                </a:solidFill>
              </a:rPr>
              <a:t>年之久，形成一个开口很大的</a:t>
            </a:r>
            <a:r>
              <a:rPr lang="en-US" altLang="zh-CN" sz="2000" smtClean="0">
                <a:solidFill>
                  <a:schemeClr val="bg1"/>
                </a:solidFill>
              </a:rPr>
              <a:t>V</a:t>
            </a:r>
            <a:r>
              <a:rPr lang="zh-CN" altLang="en-US" sz="2000" smtClean="0">
                <a:solidFill>
                  <a:schemeClr val="bg1"/>
                </a:solidFill>
              </a:rPr>
              <a:t>字形。</a:t>
            </a:r>
            <a:r>
              <a:rPr lang="zh-CN" altLang="en-US" sz="2400" smtClean="0"/>
              <a:t> </a:t>
            </a:r>
          </a:p>
        </p:txBody>
      </p:sp>
      <p:pic>
        <p:nvPicPr>
          <p:cNvPr id="19459" name="Picture 6" descr="中国经济增长周期"/>
          <p:cNvPicPr>
            <a:picLocks noGrp="1" noChangeAspect="1" noChangeArrowheads="1"/>
          </p:cNvPicPr>
          <p:nvPr>
            <p:ph idx="1"/>
          </p:nvPr>
        </p:nvPicPr>
        <p:blipFill>
          <a:blip r:embed="rId3" cstate="print"/>
          <a:srcRect/>
          <a:stretch>
            <a:fillRect/>
          </a:stretch>
        </p:blipFill>
        <p:spPr>
          <a:xfrm>
            <a:off x="684213" y="260350"/>
            <a:ext cx="8064500" cy="4289425"/>
          </a:xfrm>
        </p:spPr>
      </p:pic>
    </p:spTree>
  </p:cSld>
  <p:clrMapOvr>
    <a:masterClrMapping/>
  </p:clrMapOvr>
</p:sld>
</file>

<file path=ppt/theme/theme1.xml><?xml version="1.0" encoding="utf-8"?>
<a:theme xmlns:a="http://schemas.openxmlformats.org/drawingml/2006/main" name="默认设计模板">
  <a:themeElements>
    <a:clrScheme name="默认设计模板 14">
      <a:dk1>
        <a:srgbClr val="FFFFFF"/>
      </a:dk1>
      <a:lt1>
        <a:srgbClr val="FFFFFF"/>
      </a:lt1>
      <a:dk2>
        <a:srgbClr val="FFFFFF"/>
      </a:dk2>
      <a:lt2>
        <a:srgbClr val="808080"/>
      </a:lt2>
      <a:accent1>
        <a:srgbClr val="BBE0E3"/>
      </a:accent1>
      <a:accent2>
        <a:srgbClr val="333399"/>
      </a:accent2>
      <a:accent3>
        <a:srgbClr val="FFFFFF"/>
      </a:accent3>
      <a:accent4>
        <a:srgbClr val="DADADA"/>
      </a:accent4>
      <a:accent5>
        <a:srgbClr val="DAEDEF"/>
      </a:accent5>
      <a:accent6>
        <a:srgbClr val="2D2D8A"/>
      </a:accent6>
      <a:hlink>
        <a:srgbClr val="FFFFFF"/>
      </a:hlink>
      <a:folHlink>
        <a:srgbClr val="FFFFFF"/>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默认设计模板 13">
        <a:dk1>
          <a:srgbClr val="FFFFFF"/>
        </a:dk1>
        <a:lt1>
          <a:srgbClr val="FFFFFF"/>
        </a:lt1>
        <a:dk2>
          <a:srgbClr val="FFFFFF"/>
        </a:dk2>
        <a:lt2>
          <a:srgbClr val="808080"/>
        </a:lt2>
        <a:accent1>
          <a:srgbClr val="BBE0E3"/>
        </a:accent1>
        <a:accent2>
          <a:srgbClr val="333399"/>
        </a:accent2>
        <a:accent3>
          <a:srgbClr val="FFFFFF"/>
        </a:accent3>
        <a:accent4>
          <a:srgbClr val="DADADA"/>
        </a:accent4>
        <a:accent5>
          <a:srgbClr val="DAEDEF"/>
        </a:accent5>
        <a:accent6>
          <a:srgbClr val="2D2D8A"/>
        </a:accent6>
        <a:hlink>
          <a:srgbClr val="009999"/>
        </a:hlink>
        <a:folHlink>
          <a:srgbClr val="FFFFFF"/>
        </a:folHlink>
      </a:clrScheme>
      <a:clrMap bg1="lt1" tx1="dk1" bg2="lt2" tx2="dk2" accent1="accent1" accent2="accent2" accent3="accent3" accent4="accent4" accent5="accent5" accent6="accent6" hlink="hlink" folHlink="folHlink"/>
    </a:extraClrScheme>
    <a:extraClrScheme>
      <a:clrScheme name="默认设计模板 14">
        <a:dk1>
          <a:srgbClr val="FFFFFF"/>
        </a:dk1>
        <a:lt1>
          <a:srgbClr val="FFFFFF"/>
        </a:lt1>
        <a:dk2>
          <a:srgbClr val="FFFFFF"/>
        </a:dk2>
        <a:lt2>
          <a:srgbClr val="808080"/>
        </a:lt2>
        <a:accent1>
          <a:srgbClr val="BBE0E3"/>
        </a:accent1>
        <a:accent2>
          <a:srgbClr val="333399"/>
        </a:accent2>
        <a:accent3>
          <a:srgbClr val="FFFFFF"/>
        </a:accent3>
        <a:accent4>
          <a:srgbClr val="DADADA"/>
        </a:accent4>
        <a:accent5>
          <a:srgbClr val="DAEDEF"/>
        </a:accent5>
        <a:accent6>
          <a:srgbClr val="2D2D8A"/>
        </a:accent6>
        <a:hlink>
          <a:srgbClr val="FFFFFF"/>
        </a:hlink>
        <a:folHlink>
          <a:srgbClr val="FFFFFF"/>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5629</TotalTime>
  <Words>1926</Words>
  <Application>Microsoft Office PowerPoint</Application>
  <PresentationFormat>全屏显示(4:3)</PresentationFormat>
  <Paragraphs>93</Paragraphs>
  <Slides>18</Slides>
  <Notes>1</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18</vt:i4>
      </vt:variant>
    </vt:vector>
  </HeadingPairs>
  <TitlesOfParts>
    <vt:vector size="25" baseType="lpstr">
      <vt:lpstr>Arial</vt:lpstr>
      <vt:lpstr>宋体</vt:lpstr>
      <vt:lpstr>Calibri</vt:lpstr>
      <vt:lpstr>黑体</vt:lpstr>
      <vt:lpstr>Wingdings</vt:lpstr>
      <vt:lpstr>华文细黑</vt:lpstr>
      <vt:lpstr>默认设计模板</vt:lpstr>
      <vt:lpstr>第6章  区域经济发展 第1节 区域经济增长  </vt:lpstr>
      <vt:lpstr>幻灯片 2</vt:lpstr>
      <vt:lpstr>区域经济增长概念</vt:lpstr>
      <vt:lpstr>幻灯片 4</vt:lpstr>
      <vt:lpstr>幻灯片 5</vt:lpstr>
      <vt:lpstr>一、区域经济增长因素</vt:lpstr>
      <vt:lpstr>幻灯片 7</vt:lpstr>
      <vt:lpstr>幻灯片 8</vt:lpstr>
      <vt:lpstr>二、区域经济增长机制 </vt:lpstr>
      <vt:lpstr>幻灯片 10</vt:lpstr>
      <vt:lpstr>幻灯片 11</vt:lpstr>
      <vt:lpstr>（二）循环积累因果原理</vt:lpstr>
      <vt:lpstr>（三）乘数作用和加速原理</vt:lpstr>
      <vt:lpstr>幻灯片 14</vt:lpstr>
      <vt:lpstr>幻灯片 15</vt:lpstr>
      <vt:lpstr>三、区域经济增长阶段理论</vt:lpstr>
      <vt:lpstr>幻灯片 17</vt:lpstr>
      <vt:lpstr>从1978-2009年，我国经济运行出现了4个波峰和4个波谷。按波谷计算本轮经济周期始于1999年，应当止于2009年。按波峰计算，本轮经济周期始于1992年，止于2007年。周期的波长长达15年之久，形成一个开口很大的V字形。 </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第2章  第5节  交通及其对经济活动区位的一般影响</dc:title>
  <dc:creator>asd</dc:creator>
  <cp:lastModifiedBy>xbany</cp:lastModifiedBy>
  <cp:revision>218</cp:revision>
  <dcterms:created xsi:type="dcterms:W3CDTF">2004-06-12T14:48:10Z</dcterms:created>
  <dcterms:modified xsi:type="dcterms:W3CDTF">2020-02-11T13:55:27Z</dcterms:modified>
</cp:coreProperties>
</file>