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30"/>
  </p:notesMasterIdLst>
  <p:sldIdLst>
    <p:sldId id="295" r:id="rId2"/>
    <p:sldId id="294" r:id="rId3"/>
    <p:sldId id="293" r:id="rId4"/>
    <p:sldId id="285" r:id="rId5"/>
    <p:sldId id="301" r:id="rId6"/>
    <p:sldId id="302" r:id="rId7"/>
    <p:sldId id="303" r:id="rId8"/>
    <p:sldId id="304" r:id="rId9"/>
    <p:sldId id="305" r:id="rId10"/>
    <p:sldId id="306" r:id="rId11"/>
    <p:sldId id="307" r:id="rId12"/>
    <p:sldId id="308" r:id="rId13"/>
    <p:sldId id="319" r:id="rId14"/>
    <p:sldId id="310" r:id="rId15"/>
    <p:sldId id="320" r:id="rId16"/>
    <p:sldId id="300" r:id="rId17"/>
    <p:sldId id="311" r:id="rId18"/>
    <p:sldId id="312" r:id="rId19"/>
    <p:sldId id="313" r:id="rId20"/>
    <p:sldId id="321" r:id="rId21"/>
    <p:sldId id="309" r:id="rId22"/>
    <p:sldId id="322" r:id="rId23"/>
    <p:sldId id="314" r:id="rId24"/>
    <p:sldId id="315" r:id="rId25"/>
    <p:sldId id="316" r:id="rId26"/>
    <p:sldId id="317" r:id="rId27"/>
    <p:sldId id="318" r:id="rId28"/>
    <p:sldId id="276" r:id="rId29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54"/>
    <a:srgbClr val="FFFF00"/>
    <a:srgbClr val="FF33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658" y="-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3012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923F8CA1-35DB-4BDD-9D9F-1FBD73CBFF2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6413"/>
            <a:chOff x="0" y="0"/>
            <a:chExt cx="5760" cy="4319"/>
          </a:xfrm>
        </p:grpSpPr>
        <p:sp>
          <p:nvSpPr>
            <p:cNvPr id="5" name="Freeform 3"/>
            <p:cNvSpPr>
              <a:spLocks/>
            </p:cNvSpPr>
            <p:nvPr/>
          </p:nvSpPr>
          <p:spPr bwMode="hidden">
            <a:xfrm>
              <a:off x="0" y="12"/>
              <a:ext cx="5758" cy="3273"/>
            </a:xfrm>
            <a:custGeom>
              <a:avLst/>
              <a:gdLst/>
              <a:ahLst/>
              <a:cxnLst>
                <a:cxn ang="0">
                  <a:pos x="3193" y="1816"/>
                </a:cxn>
                <a:cxn ang="0">
                  <a:pos x="0" y="0"/>
                </a:cxn>
                <a:cxn ang="0">
                  <a:pos x="0" y="522"/>
                </a:cxn>
                <a:cxn ang="0">
                  <a:pos x="3037" y="1978"/>
                </a:cxn>
                <a:cxn ang="0">
                  <a:pos x="5740" y="3273"/>
                </a:cxn>
                <a:cxn ang="0">
                  <a:pos x="5740" y="3267"/>
                </a:cxn>
                <a:cxn ang="0">
                  <a:pos x="3193" y="1816"/>
                </a:cxn>
                <a:cxn ang="0">
                  <a:pos x="3193" y="1816"/>
                </a:cxn>
              </a:cxnLst>
              <a:rect l="0" t="0" r="r" b="b"/>
              <a:pathLst>
                <a:path w="5740" h="3273">
                  <a:moveTo>
                    <a:pt x="3193" y="1816"/>
                  </a:moveTo>
                  <a:lnTo>
                    <a:pt x="0" y="0"/>
                  </a:lnTo>
                  <a:lnTo>
                    <a:pt x="0" y="522"/>
                  </a:lnTo>
                  <a:lnTo>
                    <a:pt x="3037" y="1978"/>
                  </a:lnTo>
                  <a:lnTo>
                    <a:pt x="5740" y="3273"/>
                  </a:lnTo>
                  <a:lnTo>
                    <a:pt x="5740" y="3267"/>
                  </a:lnTo>
                  <a:lnTo>
                    <a:pt x="3193" y="1816"/>
                  </a:lnTo>
                  <a:lnTo>
                    <a:pt x="3193" y="181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3529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6" name="Freeform 4"/>
            <p:cNvSpPr>
              <a:spLocks/>
            </p:cNvSpPr>
            <p:nvPr/>
          </p:nvSpPr>
          <p:spPr bwMode="hidden">
            <a:xfrm>
              <a:off x="149" y="0"/>
              <a:ext cx="5609" cy="3243"/>
            </a:xfrm>
            <a:custGeom>
              <a:avLst/>
              <a:gdLst/>
              <a:ahLst/>
              <a:cxnLst>
                <a:cxn ang="0">
                  <a:pos x="3163" y="1714"/>
                </a:cxn>
                <a:cxn ang="0">
                  <a:pos x="431" y="0"/>
                </a:cxn>
                <a:cxn ang="0">
                  <a:pos x="0" y="0"/>
                </a:cxn>
                <a:cxn ang="0">
                  <a:pos x="3086" y="1786"/>
                </a:cxn>
                <a:cxn ang="0">
                  <a:pos x="5591" y="3243"/>
                </a:cxn>
                <a:cxn ang="0">
                  <a:pos x="5591" y="3237"/>
                </a:cxn>
                <a:cxn ang="0">
                  <a:pos x="3163" y="1714"/>
                </a:cxn>
                <a:cxn ang="0">
                  <a:pos x="3163" y="1714"/>
                </a:cxn>
              </a:cxnLst>
              <a:rect l="0" t="0" r="r" b="b"/>
              <a:pathLst>
                <a:path w="5591" h="3243">
                  <a:moveTo>
                    <a:pt x="3163" y="1714"/>
                  </a:moveTo>
                  <a:lnTo>
                    <a:pt x="431" y="0"/>
                  </a:lnTo>
                  <a:lnTo>
                    <a:pt x="0" y="0"/>
                  </a:lnTo>
                  <a:lnTo>
                    <a:pt x="3086" y="1786"/>
                  </a:lnTo>
                  <a:lnTo>
                    <a:pt x="5591" y="3243"/>
                  </a:lnTo>
                  <a:lnTo>
                    <a:pt x="5591" y="3237"/>
                  </a:lnTo>
                  <a:lnTo>
                    <a:pt x="3163" y="1714"/>
                  </a:lnTo>
                  <a:lnTo>
                    <a:pt x="3163" y="1714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7" name="Freeform 5"/>
            <p:cNvSpPr>
              <a:spLocks/>
            </p:cNvSpPr>
            <p:nvPr/>
          </p:nvSpPr>
          <p:spPr bwMode="hidden">
            <a:xfrm>
              <a:off x="0" y="3433"/>
              <a:ext cx="4038" cy="191"/>
            </a:xfrm>
            <a:custGeom>
              <a:avLst/>
              <a:gdLst/>
              <a:ahLst/>
              <a:cxnLst>
                <a:cxn ang="0">
                  <a:pos x="0" y="156"/>
                </a:cxn>
                <a:cxn ang="0">
                  <a:pos x="4042" y="192"/>
                </a:cxn>
                <a:cxn ang="0">
                  <a:pos x="4042" y="144"/>
                </a:cxn>
                <a:cxn ang="0">
                  <a:pos x="0" y="0"/>
                </a:cxn>
                <a:cxn ang="0">
                  <a:pos x="0" y="156"/>
                </a:cxn>
                <a:cxn ang="0">
                  <a:pos x="0" y="156"/>
                </a:cxn>
              </a:cxnLst>
              <a:rect l="0" t="0" r="r" b="b"/>
              <a:pathLst>
                <a:path w="4042" h="192">
                  <a:moveTo>
                    <a:pt x="0" y="156"/>
                  </a:moveTo>
                  <a:lnTo>
                    <a:pt x="4042" y="192"/>
                  </a:lnTo>
                  <a:lnTo>
                    <a:pt x="4042" y="144"/>
                  </a:lnTo>
                  <a:lnTo>
                    <a:pt x="0" y="0"/>
                  </a:lnTo>
                  <a:lnTo>
                    <a:pt x="0" y="156"/>
                  </a:lnTo>
                  <a:lnTo>
                    <a:pt x="0" y="15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5686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8" name="Freeform 6"/>
            <p:cNvSpPr>
              <a:spLocks/>
            </p:cNvSpPr>
            <p:nvPr/>
          </p:nvSpPr>
          <p:spPr bwMode="hidden">
            <a:xfrm>
              <a:off x="4038" y="3577"/>
              <a:ext cx="1720" cy="65"/>
            </a:xfrm>
            <a:custGeom>
              <a:avLst/>
              <a:gdLst/>
              <a:ahLst/>
              <a:cxnLst>
                <a:cxn ang="0">
                  <a:pos x="1722" y="66"/>
                </a:cxn>
                <a:cxn ang="0">
                  <a:pos x="1722" y="60"/>
                </a:cxn>
                <a:cxn ang="0">
                  <a:pos x="0" y="0"/>
                </a:cxn>
                <a:cxn ang="0">
                  <a:pos x="0" y="48"/>
                </a:cxn>
                <a:cxn ang="0">
                  <a:pos x="1722" y="66"/>
                </a:cxn>
                <a:cxn ang="0">
                  <a:pos x="1722" y="66"/>
                </a:cxn>
              </a:cxnLst>
              <a:rect l="0" t="0" r="r" b="b"/>
              <a:pathLst>
                <a:path w="1722" h="66">
                  <a:moveTo>
                    <a:pt x="1722" y="66"/>
                  </a:moveTo>
                  <a:lnTo>
                    <a:pt x="1722" y="6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1722" y="66"/>
                  </a:lnTo>
                  <a:lnTo>
                    <a:pt x="172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9" name="Freeform 7"/>
            <p:cNvSpPr>
              <a:spLocks/>
            </p:cNvSpPr>
            <p:nvPr/>
          </p:nvSpPr>
          <p:spPr bwMode="hidden">
            <a:xfrm>
              <a:off x="0" y="3726"/>
              <a:ext cx="4784" cy="329"/>
            </a:xfrm>
            <a:custGeom>
              <a:avLst/>
              <a:gdLst/>
              <a:ahLst/>
              <a:cxnLst>
                <a:cxn ang="0">
                  <a:pos x="0" y="329"/>
                </a:cxn>
                <a:cxn ang="0">
                  <a:pos x="4789" y="77"/>
                </a:cxn>
                <a:cxn ang="0">
                  <a:pos x="4789" y="0"/>
                </a:cxn>
                <a:cxn ang="0">
                  <a:pos x="0" y="107"/>
                </a:cxn>
                <a:cxn ang="0">
                  <a:pos x="0" y="329"/>
                </a:cxn>
                <a:cxn ang="0">
                  <a:pos x="0" y="329"/>
                </a:cxn>
              </a:cxnLst>
              <a:rect l="0" t="0" r="r" b="b"/>
              <a:pathLst>
                <a:path w="4789" h="329">
                  <a:moveTo>
                    <a:pt x="0" y="329"/>
                  </a:moveTo>
                  <a:lnTo>
                    <a:pt x="4789" y="77"/>
                  </a:lnTo>
                  <a:lnTo>
                    <a:pt x="4789" y="0"/>
                  </a:lnTo>
                  <a:lnTo>
                    <a:pt x="0" y="107"/>
                  </a:lnTo>
                  <a:lnTo>
                    <a:pt x="0" y="329"/>
                  </a:lnTo>
                  <a:lnTo>
                    <a:pt x="0" y="329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1961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10" name="Freeform 8"/>
            <p:cNvSpPr>
              <a:spLocks/>
            </p:cNvSpPr>
            <p:nvPr/>
          </p:nvSpPr>
          <p:spPr bwMode="hidden">
            <a:xfrm>
              <a:off x="4784" y="3702"/>
              <a:ext cx="974" cy="101"/>
            </a:xfrm>
            <a:custGeom>
              <a:avLst/>
              <a:gdLst/>
              <a:ahLst/>
              <a:cxnLst>
                <a:cxn ang="0">
                  <a:pos x="975" y="48"/>
                </a:cxn>
                <a:cxn ang="0">
                  <a:pos x="975" y="0"/>
                </a:cxn>
                <a:cxn ang="0">
                  <a:pos x="0" y="24"/>
                </a:cxn>
                <a:cxn ang="0">
                  <a:pos x="0" y="101"/>
                </a:cxn>
                <a:cxn ang="0">
                  <a:pos x="975" y="48"/>
                </a:cxn>
                <a:cxn ang="0">
                  <a:pos x="975" y="48"/>
                </a:cxn>
              </a:cxnLst>
              <a:rect l="0" t="0" r="r" b="b"/>
              <a:pathLst>
                <a:path w="975" h="101">
                  <a:moveTo>
                    <a:pt x="975" y="48"/>
                  </a:moveTo>
                  <a:lnTo>
                    <a:pt x="975" y="0"/>
                  </a:lnTo>
                  <a:lnTo>
                    <a:pt x="0" y="24"/>
                  </a:lnTo>
                  <a:lnTo>
                    <a:pt x="0" y="101"/>
                  </a:lnTo>
                  <a:lnTo>
                    <a:pt x="975" y="48"/>
                  </a:lnTo>
                  <a:lnTo>
                    <a:pt x="975" y="48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11" name="Freeform 9"/>
            <p:cNvSpPr>
              <a:spLocks/>
            </p:cNvSpPr>
            <p:nvPr/>
          </p:nvSpPr>
          <p:spPr bwMode="hidden">
            <a:xfrm>
              <a:off x="3619" y="3815"/>
              <a:ext cx="2139" cy="198"/>
            </a:xfrm>
            <a:custGeom>
              <a:avLst/>
              <a:gdLst/>
              <a:ahLst/>
              <a:cxnLst>
                <a:cxn ang="0">
                  <a:pos x="2141" y="0"/>
                </a:cxn>
                <a:cxn ang="0">
                  <a:pos x="0" y="156"/>
                </a:cxn>
                <a:cxn ang="0">
                  <a:pos x="0" y="198"/>
                </a:cxn>
                <a:cxn ang="0">
                  <a:pos x="2141" y="0"/>
                </a:cxn>
                <a:cxn ang="0">
                  <a:pos x="2141" y="0"/>
                </a:cxn>
              </a:cxnLst>
              <a:rect l="0" t="0" r="r" b="b"/>
              <a:pathLst>
                <a:path w="2141" h="198">
                  <a:moveTo>
                    <a:pt x="2141" y="0"/>
                  </a:moveTo>
                  <a:lnTo>
                    <a:pt x="0" y="156"/>
                  </a:lnTo>
                  <a:lnTo>
                    <a:pt x="0" y="198"/>
                  </a:lnTo>
                  <a:lnTo>
                    <a:pt x="2141" y="0"/>
                  </a:lnTo>
                  <a:lnTo>
                    <a:pt x="2141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12" name="Freeform 10"/>
            <p:cNvSpPr>
              <a:spLocks/>
            </p:cNvSpPr>
            <p:nvPr/>
          </p:nvSpPr>
          <p:spPr bwMode="hidden">
            <a:xfrm>
              <a:off x="0" y="3971"/>
              <a:ext cx="3619" cy="348"/>
            </a:xfrm>
            <a:custGeom>
              <a:avLst/>
              <a:gdLst/>
              <a:ahLst/>
              <a:cxnLst>
                <a:cxn ang="0">
                  <a:pos x="0" y="348"/>
                </a:cxn>
                <a:cxn ang="0">
                  <a:pos x="311" y="348"/>
                </a:cxn>
                <a:cxn ang="0">
                  <a:pos x="3623" y="42"/>
                </a:cxn>
                <a:cxn ang="0">
                  <a:pos x="3623" y="0"/>
                </a:cxn>
                <a:cxn ang="0">
                  <a:pos x="0" y="264"/>
                </a:cxn>
                <a:cxn ang="0">
                  <a:pos x="0" y="348"/>
                </a:cxn>
                <a:cxn ang="0">
                  <a:pos x="0" y="348"/>
                </a:cxn>
              </a:cxnLst>
              <a:rect l="0" t="0" r="r" b="b"/>
              <a:pathLst>
                <a:path w="3623" h="348">
                  <a:moveTo>
                    <a:pt x="0" y="348"/>
                  </a:moveTo>
                  <a:lnTo>
                    <a:pt x="311" y="348"/>
                  </a:lnTo>
                  <a:lnTo>
                    <a:pt x="3623" y="42"/>
                  </a:lnTo>
                  <a:lnTo>
                    <a:pt x="3623" y="0"/>
                  </a:lnTo>
                  <a:lnTo>
                    <a:pt x="0" y="264"/>
                  </a:lnTo>
                  <a:lnTo>
                    <a:pt x="0" y="348"/>
                  </a:lnTo>
                  <a:lnTo>
                    <a:pt x="0" y="3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13" name="Freeform 11"/>
            <p:cNvSpPr>
              <a:spLocks/>
            </p:cNvSpPr>
            <p:nvPr/>
          </p:nvSpPr>
          <p:spPr bwMode="hidden">
            <a:xfrm>
              <a:off x="2097" y="4043"/>
              <a:ext cx="2514" cy="276"/>
            </a:xfrm>
            <a:custGeom>
              <a:avLst/>
              <a:gdLst/>
              <a:ahLst/>
              <a:cxnLst>
                <a:cxn ang="0">
                  <a:pos x="2182" y="276"/>
                </a:cxn>
                <a:cxn ang="0">
                  <a:pos x="2517" y="204"/>
                </a:cxn>
                <a:cxn ang="0">
                  <a:pos x="2260" y="0"/>
                </a:cxn>
                <a:cxn ang="0">
                  <a:pos x="0" y="276"/>
                </a:cxn>
                <a:cxn ang="0">
                  <a:pos x="2182" y="276"/>
                </a:cxn>
                <a:cxn ang="0">
                  <a:pos x="2182" y="276"/>
                </a:cxn>
              </a:cxnLst>
              <a:rect l="0" t="0" r="r" b="b"/>
              <a:pathLst>
                <a:path w="2517" h="276">
                  <a:moveTo>
                    <a:pt x="2182" y="276"/>
                  </a:moveTo>
                  <a:lnTo>
                    <a:pt x="2517" y="204"/>
                  </a:lnTo>
                  <a:lnTo>
                    <a:pt x="2260" y="0"/>
                  </a:lnTo>
                  <a:lnTo>
                    <a:pt x="0" y="276"/>
                  </a:lnTo>
                  <a:lnTo>
                    <a:pt x="2182" y="276"/>
                  </a:lnTo>
                  <a:lnTo>
                    <a:pt x="2182" y="276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14" name="Freeform 12"/>
            <p:cNvSpPr>
              <a:spLocks/>
            </p:cNvSpPr>
            <p:nvPr/>
          </p:nvSpPr>
          <p:spPr bwMode="hidden">
            <a:xfrm>
              <a:off x="4354" y="3869"/>
              <a:ext cx="1404" cy="378"/>
            </a:xfrm>
            <a:custGeom>
              <a:avLst/>
              <a:gdLst/>
              <a:ahLst/>
              <a:cxnLst>
                <a:cxn ang="0">
                  <a:pos x="1405" y="126"/>
                </a:cxn>
                <a:cxn ang="0">
                  <a:pos x="1405" y="0"/>
                </a:cxn>
                <a:cxn ang="0">
                  <a:pos x="0" y="174"/>
                </a:cxn>
                <a:cxn ang="0">
                  <a:pos x="257" y="378"/>
                </a:cxn>
                <a:cxn ang="0">
                  <a:pos x="1405" y="126"/>
                </a:cxn>
                <a:cxn ang="0">
                  <a:pos x="1405" y="126"/>
                </a:cxn>
              </a:cxnLst>
              <a:rect l="0" t="0" r="r" b="b"/>
              <a:pathLst>
                <a:path w="1405" h="378">
                  <a:moveTo>
                    <a:pt x="1405" y="126"/>
                  </a:moveTo>
                  <a:lnTo>
                    <a:pt x="1405" y="0"/>
                  </a:lnTo>
                  <a:lnTo>
                    <a:pt x="0" y="174"/>
                  </a:lnTo>
                  <a:lnTo>
                    <a:pt x="257" y="378"/>
                  </a:lnTo>
                  <a:lnTo>
                    <a:pt x="1405" y="126"/>
                  </a:lnTo>
                  <a:lnTo>
                    <a:pt x="1405" y="12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6863"/>
                    <a:invGamma/>
                  </a:schemeClr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15" name="Freeform 13"/>
            <p:cNvSpPr>
              <a:spLocks/>
            </p:cNvSpPr>
            <p:nvPr/>
          </p:nvSpPr>
          <p:spPr bwMode="hidden">
            <a:xfrm>
              <a:off x="5030" y="3151"/>
              <a:ext cx="728" cy="240"/>
            </a:xfrm>
            <a:custGeom>
              <a:avLst/>
              <a:gdLst/>
              <a:ahLst/>
              <a:cxnLst>
                <a:cxn ang="0">
                  <a:pos x="729" y="240"/>
                </a:cxn>
                <a:cxn ang="0">
                  <a:pos x="0" y="0"/>
                </a:cxn>
                <a:cxn ang="0">
                  <a:pos x="0" y="6"/>
                </a:cxn>
                <a:cxn ang="0">
                  <a:pos x="729" y="240"/>
                </a:cxn>
                <a:cxn ang="0">
                  <a:pos x="729" y="240"/>
                </a:cxn>
              </a:cxnLst>
              <a:rect l="0" t="0" r="r" b="b"/>
              <a:pathLst>
                <a:path w="729" h="240">
                  <a:moveTo>
                    <a:pt x="729" y="24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729" y="240"/>
                  </a:lnTo>
                  <a:lnTo>
                    <a:pt x="729" y="24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0" y="1486"/>
              <a:ext cx="5030" cy="1671"/>
            </a:xfrm>
            <a:custGeom>
              <a:avLst/>
              <a:gdLst/>
              <a:ahLst/>
              <a:cxnLst>
                <a:cxn ang="0">
                  <a:pos x="0" y="72"/>
                </a:cxn>
                <a:cxn ang="0">
                  <a:pos x="5035" y="1672"/>
                </a:cxn>
                <a:cxn ang="0">
                  <a:pos x="5035" y="1666"/>
                </a:cxn>
                <a:cxn ang="0">
                  <a:pos x="0" y="0"/>
                </a:cxn>
                <a:cxn ang="0">
                  <a:pos x="0" y="72"/>
                </a:cxn>
                <a:cxn ang="0">
                  <a:pos x="0" y="72"/>
                </a:cxn>
              </a:cxnLst>
              <a:rect l="0" t="0" r="r" b="b"/>
              <a:pathLst>
                <a:path w="5035" h="1672">
                  <a:moveTo>
                    <a:pt x="0" y="72"/>
                  </a:moveTo>
                  <a:lnTo>
                    <a:pt x="5035" y="1672"/>
                  </a:lnTo>
                  <a:lnTo>
                    <a:pt x="5035" y="1666"/>
                  </a:lnTo>
                  <a:lnTo>
                    <a:pt x="0" y="0"/>
                  </a:lnTo>
                  <a:lnTo>
                    <a:pt x="0" y="72"/>
                  </a:lnTo>
                  <a:lnTo>
                    <a:pt x="0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451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17" name="Freeform 15"/>
            <p:cNvSpPr>
              <a:spLocks/>
            </p:cNvSpPr>
            <p:nvPr/>
          </p:nvSpPr>
          <p:spPr bwMode="hidden">
            <a:xfrm>
              <a:off x="5030" y="3049"/>
              <a:ext cx="728" cy="318"/>
            </a:xfrm>
            <a:custGeom>
              <a:avLst/>
              <a:gdLst/>
              <a:ahLst/>
              <a:cxnLst>
                <a:cxn ang="0">
                  <a:pos x="729" y="318"/>
                </a:cxn>
                <a:cxn ang="0">
                  <a:pos x="729" y="312"/>
                </a:cxn>
                <a:cxn ang="0">
                  <a:pos x="0" y="0"/>
                </a:cxn>
                <a:cxn ang="0">
                  <a:pos x="0" y="54"/>
                </a:cxn>
                <a:cxn ang="0">
                  <a:pos x="729" y="318"/>
                </a:cxn>
                <a:cxn ang="0">
                  <a:pos x="729" y="318"/>
                </a:cxn>
              </a:cxnLst>
              <a:rect l="0" t="0" r="r" b="b"/>
              <a:pathLst>
                <a:path w="729" h="318">
                  <a:moveTo>
                    <a:pt x="729" y="318"/>
                  </a:moveTo>
                  <a:lnTo>
                    <a:pt x="729" y="312"/>
                  </a:lnTo>
                  <a:lnTo>
                    <a:pt x="0" y="0"/>
                  </a:lnTo>
                  <a:lnTo>
                    <a:pt x="0" y="54"/>
                  </a:lnTo>
                  <a:lnTo>
                    <a:pt x="729" y="318"/>
                  </a:lnTo>
                  <a:lnTo>
                    <a:pt x="729" y="3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18" name="Freeform 16"/>
            <p:cNvSpPr>
              <a:spLocks/>
            </p:cNvSpPr>
            <p:nvPr/>
          </p:nvSpPr>
          <p:spPr bwMode="hidden">
            <a:xfrm>
              <a:off x="0" y="916"/>
              <a:ext cx="5030" cy="2187"/>
            </a:xfrm>
            <a:custGeom>
              <a:avLst/>
              <a:gdLst/>
              <a:ahLst/>
              <a:cxnLst>
                <a:cxn ang="0">
                  <a:pos x="0" y="396"/>
                </a:cxn>
                <a:cxn ang="0">
                  <a:pos x="5035" y="2188"/>
                </a:cxn>
                <a:cxn ang="0">
                  <a:pos x="5035" y="2134"/>
                </a:cxn>
                <a:cxn ang="0">
                  <a:pos x="0" y="0"/>
                </a:cxn>
                <a:cxn ang="0">
                  <a:pos x="0" y="396"/>
                </a:cxn>
                <a:cxn ang="0">
                  <a:pos x="0" y="396"/>
                </a:cxn>
              </a:cxnLst>
              <a:rect l="0" t="0" r="r" b="b"/>
              <a:pathLst>
                <a:path w="5035" h="2188">
                  <a:moveTo>
                    <a:pt x="0" y="396"/>
                  </a:moveTo>
                  <a:lnTo>
                    <a:pt x="5035" y="2188"/>
                  </a:lnTo>
                  <a:lnTo>
                    <a:pt x="5035" y="2134"/>
                  </a:lnTo>
                  <a:lnTo>
                    <a:pt x="0" y="0"/>
                  </a:lnTo>
                  <a:lnTo>
                    <a:pt x="0" y="396"/>
                  </a:lnTo>
                  <a:lnTo>
                    <a:pt x="0" y="39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19" name="Freeform 17"/>
            <p:cNvSpPr>
              <a:spLocks/>
            </p:cNvSpPr>
            <p:nvPr/>
          </p:nvSpPr>
          <p:spPr bwMode="hidden">
            <a:xfrm>
              <a:off x="2294" y="0"/>
              <a:ext cx="3159" cy="272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145" y="2727"/>
                </a:cxn>
                <a:cxn ang="0">
                  <a:pos x="3163" y="2704"/>
                </a:cxn>
                <a:cxn ang="0">
                  <a:pos x="102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163" h="2727">
                  <a:moveTo>
                    <a:pt x="0" y="0"/>
                  </a:moveTo>
                  <a:lnTo>
                    <a:pt x="3145" y="2727"/>
                  </a:lnTo>
                  <a:lnTo>
                    <a:pt x="3163" y="2704"/>
                  </a:lnTo>
                  <a:lnTo>
                    <a:pt x="10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980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20" name="Freeform 18"/>
            <p:cNvSpPr>
              <a:spLocks/>
            </p:cNvSpPr>
            <p:nvPr/>
          </p:nvSpPr>
          <p:spPr bwMode="hidden">
            <a:xfrm>
              <a:off x="5435" y="2702"/>
              <a:ext cx="323" cy="299"/>
            </a:xfrm>
            <a:custGeom>
              <a:avLst/>
              <a:gdLst/>
              <a:ahLst/>
              <a:cxnLst>
                <a:cxn ang="0">
                  <a:pos x="323" y="299"/>
                </a:cxn>
                <a:cxn ang="0">
                  <a:pos x="323" y="263"/>
                </a:cxn>
                <a:cxn ang="0">
                  <a:pos x="18" y="0"/>
                </a:cxn>
                <a:cxn ang="0">
                  <a:pos x="0" y="23"/>
                </a:cxn>
                <a:cxn ang="0">
                  <a:pos x="323" y="299"/>
                </a:cxn>
                <a:cxn ang="0">
                  <a:pos x="323" y="299"/>
                </a:cxn>
              </a:cxnLst>
              <a:rect l="0" t="0" r="r" b="b"/>
              <a:pathLst>
                <a:path w="323" h="299">
                  <a:moveTo>
                    <a:pt x="323" y="299"/>
                  </a:moveTo>
                  <a:lnTo>
                    <a:pt x="323" y="263"/>
                  </a:lnTo>
                  <a:lnTo>
                    <a:pt x="18" y="0"/>
                  </a:lnTo>
                  <a:lnTo>
                    <a:pt x="0" y="23"/>
                  </a:lnTo>
                  <a:lnTo>
                    <a:pt x="323" y="299"/>
                  </a:lnTo>
                  <a:lnTo>
                    <a:pt x="323" y="29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4118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21" name="Freeform 19"/>
            <p:cNvSpPr>
              <a:spLocks/>
            </p:cNvSpPr>
            <p:nvPr/>
          </p:nvSpPr>
          <p:spPr bwMode="hidden">
            <a:xfrm>
              <a:off x="5477" y="2588"/>
              <a:ext cx="281" cy="335"/>
            </a:xfrm>
            <a:custGeom>
              <a:avLst/>
              <a:gdLst/>
              <a:ahLst/>
              <a:cxnLst>
                <a:cxn ang="0">
                  <a:pos x="281" y="335"/>
                </a:cxn>
                <a:cxn ang="0">
                  <a:pos x="281" y="173"/>
                </a:cxn>
                <a:cxn ang="0">
                  <a:pos x="96" y="0"/>
                </a:cxn>
                <a:cxn ang="0">
                  <a:pos x="0" y="90"/>
                </a:cxn>
                <a:cxn ang="0">
                  <a:pos x="281" y="335"/>
                </a:cxn>
                <a:cxn ang="0">
                  <a:pos x="281" y="335"/>
                </a:cxn>
              </a:cxnLst>
              <a:rect l="0" t="0" r="r" b="b"/>
              <a:pathLst>
                <a:path w="281" h="335">
                  <a:moveTo>
                    <a:pt x="281" y="335"/>
                  </a:moveTo>
                  <a:lnTo>
                    <a:pt x="281" y="173"/>
                  </a:lnTo>
                  <a:lnTo>
                    <a:pt x="96" y="0"/>
                  </a:lnTo>
                  <a:lnTo>
                    <a:pt x="0" y="90"/>
                  </a:lnTo>
                  <a:lnTo>
                    <a:pt x="281" y="335"/>
                  </a:lnTo>
                  <a:lnTo>
                    <a:pt x="281" y="335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22" name="Freeform 20"/>
            <p:cNvSpPr>
              <a:spLocks/>
            </p:cNvSpPr>
            <p:nvPr/>
          </p:nvSpPr>
          <p:spPr bwMode="hidden">
            <a:xfrm>
              <a:off x="2454" y="0"/>
              <a:ext cx="3119" cy="267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026" y="2680"/>
                </a:cxn>
                <a:cxn ang="0">
                  <a:pos x="3122" y="2590"/>
                </a:cxn>
                <a:cxn ang="0">
                  <a:pos x="383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122" h="2680">
                  <a:moveTo>
                    <a:pt x="0" y="0"/>
                  </a:moveTo>
                  <a:lnTo>
                    <a:pt x="3026" y="2680"/>
                  </a:lnTo>
                  <a:lnTo>
                    <a:pt x="3122" y="2590"/>
                  </a:lnTo>
                  <a:lnTo>
                    <a:pt x="38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23" name="Freeform 21"/>
            <p:cNvSpPr>
              <a:spLocks/>
            </p:cNvSpPr>
            <p:nvPr/>
          </p:nvSpPr>
          <p:spPr bwMode="hidden">
            <a:xfrm>
              <a:off x="5626" y="2534"/>
              <a:ext cx="132" cy="132"/>
            </a:xfrm>
            <a:custGeom>
              <a:avLst/>
              <a:gdLst/>
              <a:ahLst/>
              <a:cxnLst>
                <a:cxn ang="0">
                  <a:pos x="132" y="132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132" y="132"/>
                </a:cxn>
                <a:cxn ang="0">
                  <a:pos x="132" y="132"/>
                </a:cxn>
              </a:cxnLst>
              <a:rect l="0" t="0" r="r" b="b"/>
              <a:pathLst>
                <a:path w="132" h="132">
                  <a:moveTo>
                    <a:pt x="132" y="132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32" y="132"/>
                  </a:lnTo>
                  <a:lnTo>
                    <a:pt x="132" y="132"/>
                  </a:lnTo>
                  <a:close/>
                </a:path>
              </a:pathLst>
            </a:custGeom>
            <a:solidFill>
              <a:srgbClr val="FF9999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24" name="Freeform 22"/>
            <p:cNvSpPr>
              <a:spLocks/>
            </p:cNvSpPr>
            <p:nvPr/>
          </p:nvSpPr>
          <p:spPr bwMode="hidden">
            <a:xfrm>
              <a:off x="3112" y="0"/>
              <a:ext cx="2514" cy="253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517" y="2536"/>
                </a:cxn>
                <a:cxn ang="0">
                  <a:pos x="2517" y="2536"/>
                </a:cxn>
                <a:cxn ang="0">
                  <a:pos x="66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517" h="2536">
                  <a:moveTo>
                    <a:pt x="0" y="0"/>
                  </a:moveTo>
                  <a:lnTo>
                    <a:pt x="2517" y="2536"/>
                  </a:lnTo>
                  <a:lnTo>
                    <a:pt x="2517" y="2536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1373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25" name="Freeform 23"/>
            <p:cNvSpPr>
              <a:spLocks/>
            </p:cNvSpPr>
            <p:nvPr/>
          </p:nvSpPr>
          <p:spPr bwMode="hidden">
            <a:xfrm>
              <a:off x="3488" y="0"/>
              <a:ext cx="2198" cy="248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188" y="2482"/>
                </a:cxn>
                <a:cxn ang="0">
                  <a:pos x="2200" y="2476"/>
                </a:cxn>
                <a:cxn ang="0">
                  <a:pos x="317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200" h="2482">
                  <a:moveTo>
                    <a:pt x="0" y="0"/>
                  </a:moveTo>
                  <a:lnTo>
                    <a:pt x="2188" y="2482"/>
                  </a:lnTo>
                  <a:lnTo>
                    <a:pt x="2200" y="2476"/>
                  </a:lnTo>
                  <a:lnTo>
                    <a:pt x="31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26" name="Freeform 24"/>
            <p:cNvSpPr>
              <a:spLocks/>
            </p:cNvSpPr>
            <p:nvPr/>
          </p:nvSpPr>
          <p:spPr bwMode="hidden">
            <a:xfrm>
              <a:off x="5674" y="2474"/>
              <a:ext cx="84" cy="96"/>
            </a:xfrm>
            <a:custGeom>
              <a:avLst/>
              <a:gdLst/>
              <a:ahLst/>
              <a:cxnLst>
                <a:cxn ang="0">
                  <a:pos x="84" y="96"/>
                </a:cxn>
                <a:cxn ang="0">
                  <a:pos x="84" y="90"/>
                </a:cxn>
                <a:cxn ang="0">
                  <a:pos x="12" y="0"/>
                </a:cxn>
                <a:cxn ang="0">
                  <a:pos x="0" y="6"/>
                </a:cxn>
                <a:cxn ang="0">
                  <a:pos x="84" y="96"/>
                </a:cxn>
                <a:cxn ang="0">
                  <a:pos x="84" y="96"/>
                </a:cxn>
              </a:cxnLst>
              <a:rect l="0" t="0" r="r" b="b"/>
              <a:pathLst>
                <a:path w="84" h="96">
                  <a:moveTo>
                    <a:pt x="84" y="96"/>
                  </a:moveTo>
                  <a:lnTo>
                    <a:pt x="84" y="9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84" y="96"/>
                  </a:lnTo>
                  <a:lnTo>
                    <a:pt x="84" y="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27" name="Freeform 25"/>
            <p:cNvSpPr>
              <a:spLocks/>
            </p:cNvSpPr>
            <p:nvPr/>
          </p:nvSpPr>
          <p:spPr bwMode="hidden">
            <a:xfrm>
              <a:off x="5603" y="850"/>
              <a:ext cx="155" cy="516"/>
            </a:xfrm>
            <a:custGeom>
              <a:avLst/>
              <a:gdLst/>
              <a:ahLst/>
              <a:cxnLst>
                <a:cxn ang="0">
                  <a:pos x="155" y="516"/>
                </a:cxn>
                <a:cxn ang="0">
                  <a:pos x="155" y="204"/>
                </a:cxn>
                <a:cxn ang="0">
                  <a:pos x="77" y="0"/>
                </a:cxn>
                <a:cxn ang="0">
                  <a:pos x="0" y="192"/>
                </a:cxn>
                <a:cxn ang="0">
                  <a:pos x="155" y="516"/>
                </a:cxn>
                <a:cxn ang="0">
                  <a:pos x="155" y="516"/>
                </a:cxn>
              </a:cxnLst>
              <a:rect l="0" t="0" r="r" b="b"/>
              <a:pathLst>
                <a:path w="155" h="516">
                  <a:moveTo>
                    <a:pt x="155" y="516"/>
                  </a:moveTo>
                  <a:lnTo>
                    <a:pt x="155" y="204"/>
                  </a:lnTo>
                  <a:lnTo>
                    <a:pt x="77" y="0"/>
                  </a:lnTo>
                  <a:lnTo>
                    <a:pt x="0" y="192"/>
                  </a:lnTo>
                  <a:lnTo>
                    <a:pt x="155" y="516"/>
                  </a:lnTo>
                  <a:lnTo>
                    <a:pt x="155" y="516"/>
                  </a:lnTo>
                  <a:close/>
                </a:path>
              </a:pathLst>
            </a:custGeom>
            <a:solidFill>
              <a:schemeClr val="bg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hidden">
            <a:xfrm>
              <a:off x="5107" y="0"/>
              <a:ext cx="573" cy="104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97" y="1043"/>
                </a:cxn>
                <a:cxn ang="0">
                  <a:pos x="574" y="851"/>
                </a:cxn>
                <a:cxn ang="0">
                  <a:pos x="251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74" h="1043">
                  <a:moveTo>
                    <a:pt x="0" y="0"/>
                  </a:moveTo>
                  <a:lnTo>
                    <a:pt x="497" y="1043"/>
                  </a:lnTo>
                  <a:lnTo>
                    <a:pt x="574" y="851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29" name="Freeform 27"/>
            <p:cNvSpPr>
              <a:spLocks/>
            </p:cNvSpPr>
            <p:nvPr/>
          </p:nvSpPr>
          <p:spPr bwMode="hidden">
            <a:xfrm>
              <a:off x="5411" y="0"/>
              <a:ext cx="341" cy="796"/>
            </a:xfrm>
            <a:custGeom>
              <a:avLst/>
              <a:gdLst/>
              <a:ahLst/>
              <a:cxnLst>
                <a:cxn ang="0">
                  <a:pos x="144" y="0"/>
                </a:cxn>
                <a:cxn ang="0">
                  <a:pos x="0" y="0"/>
                </a:cxn>
                <a:cxn ang="0">
                  <a:pos x="287" y="797"/>
                </a:cxn>
                <a:cxn ang="0">
                  <a:pos x="341" y="653"/>
                </a:cxn>
                <a:cxn ang="0">
                  <a:pos x="144" y="0"/>
                </a:cxn>
                <a:cxn ang="0">
                  <a:pos x="144" y="0"/>
                </a:cxn>
              </a:cxnLst>
              <a:rect l="0" t="0" r="r" b="b"/>
              <a:pathLst>
                <a:path w="341" h="797">
                  <a:moveTo>
                    <a:pt x="144" y="0"/>
                  </a:moveTo>
                  <a:lnTo>
                    <a:pt x="0" y="0"/>
                  </a:lnTo>
                  <a:lnTo>
                    <a:pt x="287" y="797"/>
                  </a:lnTo>
                  <a:lnTo>
                    <a:pt x="341" y="653"/>
                  </a:lnTo>
                  <a:lnTo>
                    <a:pt x="144" y="0"/>
                  </a:lnTo>
                  <a:lnTo>
                    <a:pt x="144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980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30" name="Freeform 28"/>
            <p:cNvSpPr>
              <a:spLocks/>
            </p:cNvSpPr>
            <p:nvPr/>
          </p:nvSpPr>
          <p:spPr bwMode="hidden">
            <a:xfrm>
              <a:off x="5698" y="653"/>
              <a:ext cx="60" cy="311"/>
            </a:xfrm>
            <a:custGeom>
              <a:avLst/>
              <a:gdLst/>
              <a:ahLst/>
              <a:cxnLst>
                <a:cxn ang="0">
                  <a:pos x="0" y="144"/>
                </a:cxn>
                <a:cxn ang="0">
                  <a:pos x="60" y="312"/>
                </a:cxn>
                <a:cxn ang="0">
                  <a:pos x="60" y="6"/>
                </a:cxn>
                <a:cxn ang="0">
                  <a:pos x="54" y="0"/>
                </a:cxn>
                <a:cxn ang="0">
                  <a:pos x="0" y="144"/>
                </a:cxn>
                <a:cxn ang="0">
                  <a:pos x="0" y="144"/>
                </a:cxn>
              </a:cxnLst>
              <a:rect l="0" t="0" r="r" b="b"/>
              <a:pathLst>
                <a:path w="60" h="312">
                  <a:moveTo>
                    <a:pt x="0" y="144"/>
                  </a:moveTo>
                  <a:lnTo>
                    <a:pt x="60" y="312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0" y="144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chemeClr val="bg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31" name="Freeform 29"/>
            <p:cNvSpPr>
              <a:spLocks/>
            </p:cNvSpPr>
            <p:nvPr/>
          </p:nvSpPr>
          <p:spPr bwMode="hidden">
            <a:xfrm>
              <a:off x="2" y="1601"/>
              <a:ext cx="5752" cy="1864"/>
            </a:xfrm>
            <a:custGeom>
              <a:avLst/>
              <a:gdLst/>
              <a:ahLst/>
              <a:cxnLst>
                <a:cxn ang="0">
                  <a:pos x="0" y="371"/>
                </a:cxn>
                <a:cxn ang="0">
                  <a:pos x="5740" y="1864"/>
                </a:cxn>
                <a:cxn ang="0">
                  <a:pos x="5740" y="1834"/>
                </a:cxn>
                <a:cxn ang="0">
                  <a:pos x="0" y="0"/>
                </a:cxn>
                <a:cxn ang="0">
                  <a:pos x="0" y="371"/>
                </a:cxn>
                <a:cxn ang="0">
                  <a:pos x="0" y="371"/>
                </a:cxn>
              </a:cxnLst>
              <a:rect l="0" t="0" r="r" b="b"/>
              <a:pathLst>
                <a:path w="5740" h="1864">
                  <a:moveTo>
                    <a:pt x="0" y="371"/>
                  </a:moveTo>
                  <a:lnTo>
                    <a:pt x="5740" y="1864"/>
                  </a:lnTo>
                  <a:lnTo>
                    <a:pt x="5740" y="1834"/>
                  </a:lnTo>
                  <a:lnTo>
                    <a:pt x="0" y="0"/>
                  </a:lnTo>
                  <a:lnTo>
                    <a:pt x="0" y="371"/>
                  </a:lnTo>
                  <a:lnTo>
                    <a:pt x="0" y="371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352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32" name="Freeform 30"/>
            <p:cNvSpPr>
              <a:spLocks/>
            </p:cNvSpPr>
            <p:nvPr/>
          </p:nvSpPr>
          <p:spPr bwMode="hidden">
            <a:xfrm>
              <a:off x="5754" y="3483"/>
              <a:ext cx="6" cy="6"/>
            </a:xfrm>
            <a:custGeom>
              <a:avLst/>
              <a:gdLst/>
              <a:ahLst/>
              <a:cxnLst>
                <a:cxn ang="0">
                  <a:pos x="6" y="6"/>
                </a:cxn>
                <a:cxn ang="0">
                  <a:pos x="0" y="0"/>
                </a:cxn>
                <a:cxn ang="0">
                  <a:pos x="0" y="6"/>
                </a:cxn>
                <a:cxn ang="0">
                  <a:pos x="6" y="6"/>
                </a:cxn>
                <a:cxn ang="0">
                  <a:pos x="6" y="6"/>
                </a:cxn>
              </a:cxnLst>
              <a:rect l="0" t="0" r="r" b="b"/>
              <a:pathLst>
                <a:path w="6" h="6">
                  <a:moveTo>
                    <a:pt x="6" y="6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18FF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33" name="Freeform 31"/>
            <p:cNvSpPr>
              <a:spLocks/>
            </p:cNvSpPr>
            <p:nvPr/>
          </p:nvSpPr>
          <p:spPr bwMode="hidden">
            <a:xfrm>
              <a:off x="2" y="2152"/>
              <a:ext cx="5752" cy="1337"/>
            </a:xfrm>
            <a:custGeom>
              <a:avLst/>
              <a:gdLst/>
              <a:ahLst/>
              <a:cxnLst>
                <a:cxn ang="0">
                  <a:pos x="0" y="366"/>
                </a:cxn>
                <a:cxn ang="0">
                  <a:pos x="5740" y="1337"/>
                </a:cxn>
                <a:cxn ang="0">
                  <a:pos x="5740" y="1331"/>
                </a:cxn>
                <a:cxn ang="0">
                  <a:pos x="0" y="0"/>
                </a:cxn>
                <a:cxn ang="0">
                  <a:pos x="0" y="366"/>
                </a:cxn>
                <a:cxn ang="0">
                  <a:pos x="0" y="366"/>
                </a:cxn>
              </a:cxnLst>
              <a:rect l="0" t="0" r="r" b="b"/>
              <a:pathLst>
                <a:path w="5740" h="1337">
                  <a:moveTo>
                    <a:pt x="0" y="366"/>
                  </a:moveTo>
                  <a:lnTo>
                    <a:pt x="5740" y="1337"/>
                  </a:lnTo>
                  <a:lnTo>
                    <a:pt x="5740" y="1331"/>
                  </a:lnTo>
                  <a:lnTo>
                    <a:pt x="0" y="0"/>
                  </a:lnTo>
                  <a:lnTo>
                    <a:pt x="0" y="366"/>
                  </a:lnTo>
                  <a:lnTo>
                    <a:pt x="0" y="366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34" name="Freeform 32"/>
            <p:cNvSpPr>
              <a:spLocks/>
            </p:cNvSpPr>
            <p:nvPr/>
          </p:nvSpPr>
          <p:spPr bwMode="hidden">
            <a:xfrm>
              <a:off x="2" y="3177"/>
              <a:ext cx="5752" cy="414"/>
            </a:xfrm>
            <a:custGeom>
              <a:avLst/>
              <a:gdLst/>
              <a:ahLst/>
              <a:cxnLst>
                <a:cxn ang="0">
                  <a:pos x="0" y="48"/>
                </a:cxn>
                <a:cxn ang="0">
                  <a:pos x="5740" y="414"/>
                </a:cxn>
                <a:cxn ang="0">
                  <a:pos x="5740" y="402"/>
                </a:cxn>
                <a:cxn ang="0">
                  <a:pos x="0" y="0"/>
                </a:cxn>
                <a:cxn ang="0">
                  <a:pos x="0" y="48"/>
                </a:cxn>
                <a:cxn ang="0">
                  <a:pos x="0" y="48"/>
                </a:cxn>
              </a:cxnLst>
              <a:rect l="0" t="0" r="r" b="b"/>
              <a:pathLst>
                <a:path w="5740" h="414">
                  <a:moveTo>
                    <a:pt x="0" y="48"/>
                  </a:moveTo>
                  <a:lnTo>
                    <a:pt x="5740" y="414"/>
                  </a:lnTo>
                  <a:lnTo>
                    <a:pt x="5740" y="402"/>
                  </a:ln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35" name="Freeform 33"/>
            <p:cNvSpPr>
              <a:spLocks/>
            </p:cNvSpPr>
            <p:nvPr/>
          </p:nvSpPr>
          <p:spPr bwMode="hidden">
            <a:xfrm>
              <a:off x="1297" y="0"/>
              <a:ext cx="4457" cy="317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448" y="3177"/>
                </a:cxn>
                <a:cxn ang="0">
                  <a:pos x="4448" y="3153"/>
                </a:cxn>
                <a:cxn ang="0">
                  <a:pos x="125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4448" h="3177">
                  <a:moveTo>
                    <a:pt x="0" y="0"/>
                  </a:moveTo>
                  <a:lnTo>
                    <a:pt x="4448" y="3177"/>
                  </a:lnTo>
                  <a:lnTo>
                    <a:pt x="4448" y="3153"/>
                  </a:lnTo>
                  <a:lnTo>
                    <a:pt x="12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862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36" name="Freeform 34"/>
            <p:cNvSpPr>
              <a:spLocks/>
            </p:cNvSpPr>
            <p:nvPr/>
          </p:nvSpPr>
          <p:spPr bwMode="hidden">
            <a:xfrm>
              <a:off x="3321" y="0"/>
              <a:ext cx="2433" cy="261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428" y="2614"/>
                </a:cxn>
                <a:cxn ang="0">
                  <a:pos x="2428" y="2608"/>
                </a:cxn>
                <a:cxn ang="0">
                  <a:pos x="66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428" h="2614">
                  <a:moveTo>
                    <a:pt x="0" y="0"/>
                  </a:moveTo>
                  <a:lnTo>
                    <a:pt x="2428" y="2614"/>
                  </a:lnTo>
                  <a:lnTo>
                    <a:pt x="2428" y="2608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37" name="Freeform 35"/>
            <p:cNvSpPr>
              <a:spLocks/>
            </p:cNvSpPr>
            <p:nvPr/>
          </p:nvSpPr>
          <p:spPr bwMode="hidden">
            <a:xfrm>
              <a:off x="3950" y="0"/>
              <a:ext cx="1804" cy="2464"/>
            </a:xfrm>
            <a:custGeom>
              <a:avLst/>
              <a:gdLst/>
              <a:ahLst/>
              <a:cxnLst>
                <a:cxn ang="0">
                  <a:pos x="485" y="0"/>
                </a:cxn>
                <a:cxn ang="0">
                  <a:pos x="0" y="0"/>
                </a:cxn>
                <a:cxn ang="0">
                  <a:pos x="1800" y="2464"/>
                </a:cxn>
                <a:cxn ang="0">
                  <a:pos x="1800" y="2248"/>
                </a:cxn>
                <a:cxn ang="0">
                  <a:pos x="1794" y="2248"/>
                </a:cxn>
                <a:cxn ang="0">
                  <a:pos x="485" y="0"/>
                </a:cxn>
                <a:cxn ang="0">
                  <a:pos x="485" y="0"/>
                </a:cxn>
              </a:cxnLst>
              <a:rect l="0" t="0" r="r" b="b"/>
              <a:pathLst>
                <a:path w="1800" h="2464">
                  <a:moveTo>
                    <a:pt x="485" y="0"/>
                  </a:moveTo>
                  <a:lnTo>
                    <a:pt x="0" y="0"/>
                  </a:lnTo>
                  <a:lnTo>
                    <a:pt x="1800" y="2464"/>
                  </a:lnTo>
                  <a:lnTo>
                    <a:pt x="1800" y="2248"/>
                  </a:lnTo>
                  <a:lnTo>
                    <a:pt x="1794" y="2248"/>
                  </a:lnTo>
                  <a:lnTo>
                    <a:pt x="485" y="0"/>
                  </a:lnTo>
                  <a:lnTo>
                    <a:pt x="48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38" name="Freeform 36"/>
            <p:cNvSpPr>
              <a:spLocks/>
            </p:cNvSpPr>
            <p:nvPr/>
          </p:nvSpPr>
          <p:spPr bwMode="hidden">
            <a:xfrm>
              <a:off x="4519" y="0"/>
              <a:ext cx="1235" cy="207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232" y="2074"/>
                </a:cxn>
                <a:cxn ang="0">
                  <a:pos x="1232" y="2038"/>
                </a:cxn>
                <a:cxn ang="0">
                  <a:pos x="42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232" h="2074">
                  <a:moveTo>
                    <a:pt x="0" y="0"/>
                  </a:moveTo>
                  <a:lnTo>
                    <a:pt x="1232" y="2074"/>
                  </a:lnTo>
                  <a:lnTo>
                    <a:pt x="1232" y="2038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764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39" name="Freeform 37"/>
            <p:cNvSpPr>
              <a:spLocks/>
            </p:cNvSpPr>
            <p:nvPr/>
          </p:nvSpPr>
          <p:spPr bwMode="hidden">
            <a:xfrm>
              <a:off x="4694" y="0"/>
              <a:ext cx="1060" cy="193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058" y="1936"/>
                </a:cxn>
                <a:cxn ang="0">
                  <a:pos x="1058" y="1930"/>
                </a:cxn>
                <a:cxn ang="0">
                  <a:pos x="54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058" h="1936">
                  <a:moveTo>
                    <a:pt x="0" y="0"/>
                  </a:moveTo>
                  <a:lnTo>
                    <a:pt x="1058" y="1936"/>
                  </a:lnTo>
                  <a:lnTo>
                    <a:pt x="1058" y="1930"/>
                  </a:lnTo>
                  <a:lnTo>
                    <a:pt x="5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40" name="Freeform 38"/>
            <p:cNvSpPr>
              <a:spLocks/>
            </p:cNvSpPr>
            <p:nvPr/>
          </p:nvSpPr>
          <p:spPr bwMode="hidden">
            <a:xfrm>
              <a:off x="4981" y="0"/>
              <a:ext cx="773" cy="1487"/>
            </a:xfrm>
            <a:custGeom>
              <a:avLst/>
              <a:gdLst/>
              <a:ahLst/>
              <a:cxnLst>
                <a:cxn ang="0">
                  <a:pos x="771" y="1433"/>
                </a:cxn>
                <a:cxn ang="0">
                  <a:pos x="42" y="0"/>
                </a:cxn>
                <a:cxn ang="0">
                  <a:pos x="0" y="0"/>
                </a:cxn>
                <a:cxn ang="0">
                  <a:pos x="771" y="1487"/>
                </a:cxn>
                <a:cxn ang="0">
                  <a:pos x="771" y="1433"/>
                </a:cxn>
                <a:cxn ang="0">
                  <a:pos x="771" y="1433"/>
                </a:cxn>
              </a:cxnLst>
              <a:rect l="0" t="0" r="r" b="b"/>
              <a:pathLst>
                <a:path w="771" h="1487">
                  <a:moveTo>
                    <a:pt x="771" y="1433"/>
                  </a:moveTo>
                  <a:lnTo>
                    <a:pt x="42" y="0"/>
                  </a:lnTo>
                  <a:lnTo>
                    <a:pt x="0" y="0"/>
                  </a:lnTo>
                  <a:lnTo>
                    <a:pt x="771" y="1487"/>
                  </a:lnTo>
                  <a:lnTo>
                    <a:pt x="771" y="1433"/>
                  </a:lnTo>
                  <a:lnTo>
                    <a:pt x="771" y="1433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882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grpSp>
          <p:nvGrpSpPr>
            <p:cNvPr id="41" name="Group 39"/>
            <p:cNvGrpSpPr>
              <a:grpSpLocks/>
            </p:cNvGrpSpPr>
            <p:nvPr userDrawn="1"/>
          </p:nvGrpSpPr>
          <p:grpSpPr bwMode="auto">
            <a:xfrm>
              <a:off x="0" y="1632"/>
              <a:ext cx="5758" cy="1858"/>
              <a:chOff x="0" y="1632"/>
              <a:chExt cx="5758" cy="1858"/>
            </a:xfrm>
          </p:grpSpPr>
          <p:sp>
            <p:nvSpPr>
              <p:cNvPr id="42" name="Freeform 40"/>
              <p:cNvSpPr>
                <a:spLocks/>
              </p:cNvSpPr>
              <p:nvPr/>
            </p:nvSpPr>
            <p:spPr bwMode="hidden">
              <a:xfrm>
                <a:off x="0" y="1632"/>
                <a:ext cx="3670" cy="1313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366"/>
                  </a:cxn>
                  <a:cxn ang="0">
                    <a:pos x="3635" y="1313"/>
                  </a:cxn>
                  <a:cxn ang="0">
                    <a:pos x="3647" y="1235"/>
                  </a:cxn>
                  <a:cxn ang="0">
                    <a:pos x="3659" y="1163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3659" h="1313">
                    <a:moveTo>
                      <a:pt x="0" y="0"/>
                    </a:moveTo>
                    <a:lnTo>
                      <a:pt x="0" y="366"/>
                    </a:lnTo>
                    <a:lnTo>
                      <a:pt x="3635" y="1313"/>
                    </a:lnTo>
                    <a:lnTo>
                      <a:pt x="3647" y="1235"/>
                    </a:lnTo>
                    <a:lnTo>
                      <a:pt x="3659" y="1163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72549"/>
                      <a:invGamma/>
                    </a:schemeClr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Arial" charset="0"/>
                  <a:ea typeface="宋体" charset="-122"/>
                </a:endParaRPr>
              </a:p>
            </p:txBody>
          </p:sp>
          <p:sp>
            <p:nvSpPr>
              <p:cNvPr id="43" name="Freeform 41"/>
              <p:cNvSpPr>
                <a:spLocks/>
              </p:cNvSpPr>
              <p:nvPr/>
            </p:nvSpPr>
            <p:spPr bwMode="hidden">
              <a:xfrm>
                <a:off x="3646" y="2795"/>
                <a:ext cx="2112" cy="695"/>
              </a:xfrm>
              <a:custGeom>
                <a:avLst/>
                <a:gdLst/>
                <a:ahLst/>
                <a:cxnLst>
                  <a:cxn ang="0">
                    <a:pos x="2105" y="665"/>
                  </a:cxn>
                  <a:cxn ang="0">
                    <a:pos x="24" y="0"/>
                  </a:cxn>
                  <a:cxn ang="0">
                    <a:pos x="12" y="72"/>
                  </a:cxn>
                  <a:cxn ang="0">
                    <a:pos x="0" y="150"/>
                  </a:cxn>
                  <a:cxn ang="0">
                    <a:pos x="2105" y="695"/>
                  </a:cxn>
                  <a:cxn ang="0">
                    <a:pos x="2105" y="665"/>
                  </a:cxn>
                  <a:cxn ang="0">
                    <a:pos x="2105" y="665"/>
                  </a:cxn>
                </a:cxnLst>
                <a:rect l="0" t="0" r="r" b="b"/>
                <a:pathLst>
                  <a:path w="2105" h="695">
                    <a:moveTo>
                      <a:pt x="2105" y="665"/>
                    </a:moveTo>
                    <a:lnTo>
                      <a:pt x="24" y="0"/>
                    </a:lnTo>
                    <a:lnTo>
                      <a:pt x="12" y="72"/>
                    </a:lnTo>
                    <a:lnTo>
                      <a:pt x="0" y="150"/>
                    </a:lnTo>
                    <a:lnTo>
                      <a:pt x="2105" y="695"/>
                    </a:lnTo>
                    <a:lnTo>
                      <a:pt x="2105" y="665"/>
                    </a:lnTo>
                    <a:lnTo>
                      <a:pt x="2105" y="6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tint val="90980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Arial" charset="0"/>
                  <a:ea typeface="宋体" charset="-122"/>
                </a:endParaRPr>
              </a:p>
            </p:txBody>
          </p:sp>
        </p:grpSp>
      </p:grpSp>
      <p:sp>
        <p:nvSpPr>
          <p:cNvPr id="14378" name="Rectangle 42"/>
          <p:cNvSpPr>
            <a:spLocks noGrp="1" noChangeArrowheads="1"/>
          </p:cNvSpPr>
          <p:nvPr>
            <p:ph type="ctrTitle" sz="quarter"/>
          </p:nvPr>
        </p:nvSpPr>
        <p:spPr>
          <a:xfrm>
            <a:off x="457200" y="1600200"/>
            <a:ext cx="8229600" cy="1828800"/>
          </a:xfrm>
        </p:spPr>
        <p:txBody>
          <a:bodyPr/>
          <a:lstStyle>
            <a:lvl1pPr>
              <a:defRPr sz="48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4379" name="Rectangle 4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3600"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4" name="Rectangle 44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5" name="Rectangle 4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6" name="Rectangle 4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EE61DC-0C2C-421D-92FE-5C7093A4CAD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C0A9B5-CFAE-4C52-AD89-73E92CFF37D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871590-0803-4D92-AB73-19B52CBE359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E15D05-827E-4F92-B73B-A246A25DF7F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4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4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423334-D862-479D-93F8-DD3930B2FE5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05F07B-4831-4375-84CF-B4E4ADA8AB8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4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8F9F6A-9A57-4AF1-A742-F94D64F25C9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495729-1DCF-499E-AD09-1A8C5FC2127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3C6673-92ED-4BC8-A862-3326BA83211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8D324-25A8-481F-ADAC-354C7A0415C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3E3ED7-E018-4ED8-B18A-A4568A8883A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7813"/>
            <a:ext cx="8229600" cy="585311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Rectangle 4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F9CA8D-8BA9-4F31-AEAF-A35A8360B14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>
            <a:grpSpLocks/>
          </p:cNvGrpSpPr>
          <p:nvPr/>
        </p:nvGrpSpPr>
        <p:grpSpPr bwMode="auto">
          <a:xfrm>
            <a:off x="0" y="0"/>
            <a:ext cx="9144000" cy="6856413"/>
            <a:chOff x="0" y="0"/>
            <a:chExt cx="5760" cy="4319"/>
          </a:xfrm>
        </p:grpSpPr>
        <p:sp>
          <p:nvSpPr>
            <p:cNvPr id="13315" name="Freeform 3"/>
            <p:cNvSpPr>
              <a:spLocks/>
            </p:cNvSpPr>
            <p:nvPr/>
          </p:nvSpPr>
          <p:spPr bwMode="hidden">
            <a:xfrm>
              <a:off x="0" y="12"/>
              <a:ext cx="5758" cy="3273"/>
            </a:xfrm>
            <a:custGeom>
              <a:avLst/>
              <a:gdLst/>
              <a:ahLst/>
              <a:cxnLst>
                <a:cxn ang="0">
                  <a:pos x="3193" y="1816"/>
                </a:cxn>
                <a:cxn ang="0">
                  <a:pos x="0" y="0"/>
                </a:cxn>
                <a:cxn ang="0">
                  <a:pos x="0" y="522"/>
                </a:cxn>
                <a:cxn ang="0">
                  <a:pos x="3037" y="1978"/>
                </a:cxn>
                <a:cxn ang="0">
                  <a:pos x="5740" y="3273"/>
                </a:cxn>
                <a:cxn ang="0">
                  <a:pos x="5740" y="3267"/>
                </a:cxn>
                <a:cxn ang="0">
                  <a:pos x="3193" y="1816"/>
                </a:cxn>
                <a:cxn ang="0">
                  <a:pos x="3193" y="1816"/>
                </a:cxn>
              </a:cxnLst>
              <a:rect l="0" t="0" r="r" b="b"/>
              <a:pathLst>
                <a:path w="5740" h="3273">
                  <a:moveTo>
                    <a:pt x="3193" y="1816"/>
                  </a:moveTo>
                  <a:lnTo>
                    <a:pt x="0" y="0"/>
                  </a:lnTo>
                  <a:lnTo>
                    <a:pt x="0" y="522"/>
                  </a:lnTo>
                  <a:lnTo>
                    <a:pt x="3037" y="1978"/>
                  </a:lnTo>
                  <a:lnTo>
                    <a:pt x="5740" y="3273"/>
                  </a:lnTo>
                  <a:lnTo>
                    <a:pt x="5740" y="3267"/>
                  </a:lnTo>
                  <a:lnTo>
                    <a:pt x="3193" y="1816"/>
                  </a:lnTo>
                  <a:lnTo>
                    <a:pt x="3193" y="181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3529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13316" name="Freeform 4"/>
            <p:cNvSpPr>
              <a:spLocks/>
            </p:cNvSpPr>
            <p:nvPr/>
          </p:nvSpPr>
          <p:spPr bwMode="hidden">
            <a:xfrm>
              <a:off x="149" y="0"/>
              <a:ext cx="5609" cy="3243"/>
            </a:xfrm>
            <a:custGeom>
              <a:avLst/>
              <a:gdLst/>
              <a:ahLst/>
              <a:cxnLst>
                <a:cxn ang="0">
                  <a:pos x="3163" y="1714"/>
                </a:cxn>
                <a:cxn ang="0">
                  <a:pos x="431" y="0"/>
                </a:cxn>
                <a:cxn ang="0">
                  <a:pos x="0" y="0"/>
                </a:cxn>
                <a:cxn ang="0">
                  <a:pos x="3086" y="1786"/>
                </a:cxn>
                <a:cxn ang="0">
                  <a:pos x="5591" y="3243"/>
                </a:cxn>
                <a:cxn ang="0">
                  <a:pos x="5591" y="3237"/>
                </a:cxn>
                <a:cxn ang="0">
                  <a:pos x="3163" y="1714"/>
                </a:cxn>
                <a:cxn ang="0">
                  <a:pos x="3163" y="1714"/>
                </a:cxn>
              </a:cxnLst>
              <a:rect l="0" t="0" r="r" b="b"/>
              <a:pathLst>
                <a:path w="5591" h="3243">
                  <a:moveTo>
                    <a:pt x="3163" y="1714"/>
                  </a:moveTo>
                  <a:lnTo>
                    <a:pt x="431" y="0"/>
                  </a:lnTo>
                  <a:lnTo>
                    <a:pt x="0" y="0"/>
                  </a:lnTo>
                  <a:lnTo>
                    <a:pt x="3086" y="1786"/>
                  </a:lnTo>
                  <a:lnTo>
                    <a:pt x="5591" y="3243"/>
                  </a:lnTo>
                  <a:lnTo>
                    <a:pt x="5591" y="3237"/>
                  </a:lnTo>
                  <a:lnTo>
                    <a:pt x="3163" y="1714"/>
                  </a:lnTo>
                  <a:lnTo>
                    <a:pt x="3163" y="1714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13317" name="Freeform 5"/>
            <p:cNvSpPr>
              <a:spLocks/>
            </p:cNvSpPr>
            <p:nvPr/>
          </p:nvSpPr>
          <p:spPr bwMode="hidden">
            <a:xfrm>
              <a:off x="0" y="3433"/>
              <a:ext cx="4038" cy="191"/>
            </a:xfrm>
            <a:custGeom>
              <a:avLst/>
              <a:gdLst/>
              <a:ahLst/>
              <a:cxnLst>
                <a:cxn ang="0">
                  <a:pos x="0" y="156"/>
                </a:cxn>
                <a:cxn ang="0">
                  <a:pos x="4042" y="192"/>
                </a:cxn>
                <a:cxn ang="0">
                  <a:pos x="4042" y="144"/>
                </a:cxn>
                <a:cxn ang="0">
                  <a:pos x="0" y="0"/>
                </a:cxn>
                <a:cxn ang="0">
                  <a:pos x="0" y="156"/>
                </a:cxn>
                <a:cxn ang="0">
                  <a:pos x="0" y="156"/>
                </a:cxn>
              </a:cxnLst>
              <a:rect l="0" t="0" r="r" b="b"/>
              <a:pathLst>
                <a:path w="4042" h="192">
                  <a:moveTo>
                    <a:pt x="0" y="156"/>
                  </a:moveTo>
                  <a:lnTo>
                    <a:pt x="4042" y="192"/>
                  </a:lnTo>
                  <a:lnTo>
                    <a:pt x="4042" y="144"/>
                  </a:lnTo>
                  <a:lnTo>
                    <a:pt x="0" y="0"/>
                  </a:lnTo>
                  <a:lnTo>
                    <a:pt x="0" y="156"/>
                  </a:lnTo>
                  <a:lnTo>
                    <a:pt x="0" y="15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5686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13318" name="Freeform 6"/>
            <p:cNvSpPr>
              <a:spLocks/>
            </p:cNvSpPr>
            <p:nvPr/>
          </p:nvSpPr>
          <p:spPr bwMode="hidden">
            <a:xfrm>
              <a:off x="4038" y="3577"/>
              <a:ext cx="1720" cy="65"/>
            </a:xfrm>
            <a:custGeom>
              <a:avLst/>
              <a:gdLst/>
              <a:ahLst/>
              <a:cxnLst>
                <a:cxn ang="0">
                  <a:pos x="1722" y="66"/>
                </a:cxn>
                <a:cxn ang="0">
                  <a:pos x="1722" y="60"/>
                </a:cxn>
                <a:cxn ang="0">
                  <a:pos x="0" y="0"/>
                </a:cxn>
                <a:cxn ang="0">
                  <a:pos x="0" y="48"/>
                </a:cxn>
                <a:cxn ang="0">
                  <a:pos x="1722" y="66"/>
                </a:cxn>
                <a:cxn ang="0">
                  <a:pos x="1722" y="66"/>
                </a:cxn>
              </a:cxnLst>
              <a:rect l="0" t="0" r="r" b="b"/>
              <a:pathLst>
                <a:path w="1722" h="66">
                  <a:moveTo>
                    <a:pt x="1722" y="66"/>
                  </a:moveTo>
                  <a:lnTo>
                    <a:pt x="1722" y="6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1722" y="66"/>
                  </a:lnTo>
                  <a:lnTo>
                    <a:pt x="172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13319" name="Freeform 7"/>
            <p:cNvSpPr>
              <a:spLocks/>
            </p:cNvSpPr>
            <p:nvPr/>
          </p:nvSpPr>
          <p:spPr bwMode="hidden">
            <a:xfrm>
              <a:off x="0" y="3726"/>
              <a:ext cx="4784" cy="329"/>
            </a:xfrm>
            <a:custGeom>
              <a:avLst/>
              <a:gdLst/>
              <a:ahLst/>
              <a:cxnLst>
                <a:cxn ang="0">
                  <a:pos x="0" y="329"/>
                </a:cxn>
                <a:cxn ang="0">
                  <a:pos x="4789" y="77"/>
                </a:cxn>
                <a:cxn ang="0">
                  <a:pos x="4789" y="0"/>
                </a:cxn>
                <a:cxn ang="0">
                  <a:pos x="0" y="107"/>
                </a:cxn>
                <a:cxn ang="0">
                  <a:pos x="0" y="329"/>
                </a:cxn>
                <a:cxn ang="0">
                  <a:pos x="0" y="329"/>
                </a:cxn>
              </a:cxnLst>
              <a:rect l="0" t="0" r="r" b="b"/>
              <a:pathLst>
                <a:path w="4789" h="329">
                  <a:moveTo>
                    <a:pt x="0" y="329"/>
                  </a:moveTo>
                  <a:lnTo>
                    <a:pt x="4789" y="77"/>
                  </a:lnTo>
                  <a:lnTo>
                    <a:pt x="4789" y="0"/>
                  </a:lnTo>
                  <a:lnTo>
                    <a:pt x="0" y="107"/>
                  </a:lnTo>
                  <a:lnTo>
                    <a:pt x="0" y="329"/>
                  </a:lnTo>
                  <a:lnTo>
                    <a:pt x="0" y="329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1961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13320" name="Freeform 8"/>
            <p:cNvSpPr>
              <a:spLocks/>
            </p:cNvSpPr>
            <p:nvPr/>
          </p:nvSpPr>
          <p:spPr bwMode="hidden">
            <a:xfrm>
              <a:off x="4784" y="3702"/>
              <a:ext cx="974" cy="101"/>
            </a:xfrm>
            <a:custGeom>
              <a:avLst/>
              <a:gdLst/>
              <a:ahLst/>
              <a:cxnLst>
                <a:cxn ang="0">
                  <a:pos x="975" y="48"/>
                </a:cxn>
                <a:cxn ang="0">
                  <a:pos x="975" y="0"/>
                </a:cxn>
                <a:cxn ang="0">
                  <a:pos x="0" y="24"/>
                </a:cxn>
                <a:cxn ang="0">
                  <a:pos x="0" y="101"/>
                </a:cxn>
                <a:cxn ang="0">
                  <a:pos x="975" y="48"/>
                </a:cxn>
                <a:cxn ang="0">
                  <a:pos x="975" y="48"/>
                </a:cxn>
              </a:cxnLst>
              <a:rect l="0" t="0" r="r" b="b"/>
              <a:pathLst>
                <a:path w="975" h="101">
                  <a:moveTo>
                    <a:pt x="975" y="48"/>
                  </a:moveTo>
                  <a:lnTo>
                    <a:pt x="975" y="0"/>
                  </a:lnTo>
                  <a:lnTo>
                    <a:pt x="0" y="24"/>
                  </a:lnTo>
                  <a:lnTo>
                    <a:pt x="0" y="101"/>
                  </a:lnTo>
                  <a:lnTo>
                    <a:pt x="975" y="48"/>
                  </a:lnTo>
                  <a:lnTo>
                    <a:pt x="975" y="48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13321" name="Freeform 9"/>
            <p:cNvSpPr>
              <a:spLocks/>
            </p:cNvSpPr>
            <p:nvPr/>
          </p:nvSpPr>
          <p:spPr bwMode="hidden">
            <a:xfrm>
              <a:off x="3619" y="3815"/>
              <a:ext cx="2139" cy="198"/>
            </a:xfrm>
            <a:custGeom>
              <a:avLst/>
              <a:gdLst/>
              <a:ahLst/>
              <a:cxnLst>
                <a:cxn ang="0">
                  <a:pos x="2141" y="0"/>
                </a:cxn>
                <a:cxn ang="0">
                  <a:pos x="0" y="156"/>
                </a:cxn>
                <a:cxn ang="0">
                  <a:pos x="0" y="198"/>
                </a:cxn>
                <a:cxn ang="0">
                  <a:pos x="2141" y="0"/>
                </a:cxn>
                <a:cxn ang="0">
                  <a:pos x="2141" y="0"/>
                </a:cxn>
              </a:cxnLst>
              <a:rect l="0" t="0" r="r" b="b"/>
              <a:pathLst>
                <a:path w="2141" h="198">
                  <a:moveTo>
                    <a:pt x="2141" y="0"/>
                  </a:moveTo>
                  <a:lnTo>
                    <a:pt x="0" y="156"/>
                  </a:lnTo>
                  <a:lnTo>
                    <a:pt x="0" y="198"/>
                  </a:lnTo>
                  <a:lnTo>
                    <a:pt x="2141" y="0"/>
                  </a:lnTo>
                  <a:lnTo>
                    <a:pt x="2141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13322" name="Freeform 10"/>
            <p:cNvSpPr>
              <a:spLocks/>
            </p:cNvSpPr>
            <p:nvPr/>
          </p:nvSpPr>
          <p:spPr bwMode="hidden">
            <a:xfrm>
              <a:off x="0" y="3971"/>
              <a:ext cx="3619" cy="348"/>
            </a:xfrm>
            <a:custGeom>
              <a:avLst/>
              <a:gdLst/>
              <a:ahLst/>
              <a:cxnLst>
                <a:cxn ang="0">
                  <a:pos x="0" y="348"/>
                </a:cxn>
                <a:cxn ang="0">
                  <a:pos x="311" y="348"/>
                </a:cxn>
                <a:cxn ang="0">
                  <a:pos x="3623" y="42"/>
                </a:cxn>
                <a:cxn ang="0">
                  <a:pos x="3623" y="0"/>
                </a:cxn>
                <a:cxn ang="0">
                  <a:pos x="0" y="264"/>
                </a:cxn>
                <a:cxn ang="0">
                  <a:pos x="0" y="348"/>
                </a:cxn>
                <a:cxn ang="0">
                  <a:pos x="0" y="348"/>
                </a:cxn>
              </a:cxnLst>
              <a:rect l="0" t="0" r="r" b="b"/>
              <a:pathLst>
                <a:path w="3623" h="348">
                  <a:moveTo>
                    <a:pt x="0" y="348"/>
                  </a:moveTo>
                  <a:lnTo>
                    <a:pt x="311" y="348"/>
                  </a:lnTo>
                  <a:lnTo>
                    <a:pt x="3623" y="42"/>
                  </a:lnTo>
                  <a:lnTo>
                    <a:pt x="3623" y="0"/>
                  </a:lnTo>
                  <a:lnTo>
                    <a:pt x="0" y="264"/>
                  </a:lnTo>
                  <a:lnTo>
                    <a:pt x="0" y="348"/>
                  </a:lnTo>
                  <a:lnTo>
                    <a:pt x="0" y="3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13323" name="Freeform 11"/>
            <p:cNvSpPr>
              <a:spLocks/>
            </p:cNvSpPr>
            <p:nvPr/>
          </p:nvSpPr>
          <p:spPr bwMode="hidden">
            <a:xfrm>
              <a:off x="2097" y="4043"/>
              <a:ext cx="2514" cy="276"/>
            </a:xfrm>
            <a:custGeom>
              <a:avLst/>
              <a:gdLst/>
              <a:ahLst/>
              <a:cxnLst>
                <a:cxn ang="0">
                  <a:pos x="2182" y="276"/>
                </a:cxn>
                <a:cxn ang="0">
                  <a:pos x="2517" y="204"/>
                </a:cxn>
                <a:cxn ang="0">
                  <a:pos x="2260" y="0"/>
                </a:cxn>
                <a:cxn ang="0">
                  <a:pos x="0" y="276"/>
                </a:cxn>
                <a:cxn ang="0">
                  <a:pos x="2182" y="276"/>
                </a:cxn>
                <a:cxn ang="0">
                  <a:pos x="2182" y="276"/>
                </a:cxn>
              </a:cxnLst>
              <a:rect l="0" t="0" r="r" b="b"/>
              <a:pathLst>
                <a:path w="2517" h="276">
                  <a:moveTo>
                    <a:pt x="2182" y="276"/>
                  </a:moveTo>
                  <a:lnTo>
                    <a:pt x="2517" y="204"/>
                  </a:lnTo>
                  <a:lnTo>
                    <a:pt x="2260" y="0"/>
                  </a:lnTo>
                  <a:lnTo>
                    <a:pt x="0" y="276"/>
                  </a:lnTo>
                  <a:lnTo>
                    <a:pt x="2182" y="276"/>
                  </a:lnTo>
                  <a:lnTo>
                    <a:pt x="2182" y="276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13324" name="Freeform 12"/>
            <p:cNvSpPr>
              <a:spLocks/>
            </p:cNvSpPr>
            <p:nvPr/>
          </p:nvSpPr>
          <p:spPr bwMode="hidden">
            <a:xfrm>
              <a:off x="4354" y="3869"/>
              <a:ext cx="1404" cy="378"/>
            </a:xfrm>
            <a:custGeom>
              <a:avLst/>
              <a:gdLst/>
              <a:ahLst/>
              <a:cxnLst>
                <a:cxn ang="0">
                  <a:pos x="1405" y="126"/>
                </a:cxn>
                <a:cxn ang="0">
                  <a:pos x="1405" y="0"/>
                </a:cxn>
                <a:cxn ang="0">
                  <a:pos x="0" y="174"/>
                </a:cxn>
                <a:cxn ang="0">
                  <a:pos x="257" y="378"/>
                </a:cxn>
                <a:cxn ang="0">
                  <a:pos x="1405" y="126"/>
                </a:cxn>
                <a:cxn ang="0">
                  <a:pos x="1405" y="126"/>
                </a:cxn>
              </a:cxnLst>
              <a:rect l="0" t="0" r="r" b="b"/>
              <a:pathLst>
                <a:path w="1405" h="378">
                  <a:moveTo>
                    <a:pt x="1405" y="126"/>
                  </a:moveTo>
                  <a:lnTo>
                    <a:pt x="1405" y="0"/>
                  </a:lnTo>
                  <a:lnTo>
                    <a:pt x="0" y="174"/>
                  </a:lnTo>
                  <a:lnTo>
                    <a:pt x="257" y="378"/>
                  </a:lnTo>
                  <a:lnTo>
                    <a:pt x="1405" y="126"/>
                  </a:lnTo>
                  <a:lnTo>
                    <a:pt x="1405" y="12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6863"/>
                    <a:invGamma/>
                  </a:schemeClr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13325" name="Freeform 13"/>
            <p:cNvSpPr>
              <a:spLocks/>
            </p:cNvSpPr>
            <p:nvPr/>
          </p:nvSpPr>
          <p:spPr bwMode="hidden">
            <a:xfrm>
              <a:off x="5030" y="3151"/>
              <a:ext cx="728" cy="240"/>
            </a:xfrm>
            <a:custGeom>
              <a:avLst/>
              <a:gdLst/>
              <a:ahLst/>
              <a:cxnLst>
                <a:cxn ang="0">
                  <a:pos x="729" y="240"/>
                </a:cxn>
                <a:cxn ang="0">
                  <a:pos x="0" y="0"/>
                </a:cxn>
                <a:cxn ang="0">
                  <a:pos x="0" y="6"/>
                </a:cxn>
                <a:cxn ang="0">
                  <a:pos x="729" y="240"/>
                </a:cxn>
                <a:cxn ang="0">
                  <a:pos x="729" y="240"/>
                </a:cxn>
              </a:cxnLst>
              <a:rect l="0" t="0" r="r" b="b"/>
              <a:pathLst>
                <a:path w="729" h="240">
                  <a:moveTo>
                    <a:pt x="729" y="24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729" y="240"/>
                  </a:lnTo>
                  <a:lnTo>
                    <a:pt x="729" y="24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13326" name="Freeform 14"/>
            <p:cNvSpPr>
              <a:spLocks/>
            </p:cNvSpPr>
            <p:nvPr/>
          </p:nvSpPr>
          <p:spPr bwMode="hidden">
            <a:xfrm>
              <a:off x="0" y="1486"/>
              <a:ext cx="5030" cy="1671"/>
            </a:xfrm>
            <a:custGeom>
              <a:avLst/>
              <a:gdLst/>
              <a:ahLst/>
              <a:cxnLst>
                <a:cxn ang="0">
                  <a:pos x="0" y="72"/>
                </a:cxn>
                <a:cxn ang="0">
                  <a:pos x="5035" y="1672"/>
                </a:cxn>
                <a:cxn ang="0">
                  <a:pos x="5035" y="1666"/>
                </a:cxn>
                <a:cxn ang="0">
                  <a:pos x="0" y="0"/>
                </a:cxn>
                <a:cxn ang="0">
                  <a:pos x="0" y="72"/>
                </a:cxn>
                <a:cxn ang="0">
                  <a:pos x="0" y="72"/>
                </a:cxn>
              </a:cxnLst>
              <a:rect l="0" t="0" r="r" b="b"/>
              <a:pathLst>
                <a:path w="5035" h="1672">
                  <a:moveTo>
                    <a:pt x="0" y="72"/>
                  </a:moveTo>
                  <a:lnTo>
                    <a:pt x="5035" y="1672"/>
                  </a:lnTo>
                  <a:lnTo>
                    <a:pt x="5035" y="1666"/>
                  </a:lnTo>
                  <a:lnTo>
                    <a:pt x="0" y="0"/>
                  </a:lnTo>
                  <a:lnTo>
                    <a:pt x="0" y="72"/>
                  </a:lnTo>
                  <a:lnTo>
                    <a:pt x="0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451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13327" name="Freeform 15"/>
            <p:cNvSpPr>
              <a:spLocks/>
            </p:cNvSpPr>
            <p:nvPr/>
          </p:nvSpPr>
          <p:spPr bwMode="hidden">
            <a:xfrm>
              <a:off x="5030" y="3049"/>
              <a:ext cx="728" cy="318"/>
            </a:xfrm>
            <a:custGeom>
              <a:avLst/>
              <a:gdLst/>
              <a:ahLst/>
              <a:cxnLst>
                <a:cxn ang="0">
                  <a:pos x="729" y="318"/>
                </a:cxn>
                <a:cxn ang="0">
                  <a:pos x="729" y="312"/>
                </a:cxn>
                <a:cxn ang="0">
                  <a:pos x="0" y="0"/>
                </a:cxn>
                <a:cxn ang="0">
                  <a:pos x="0" y="54"/>
                </a:cxn>
                <a:cxn ang="0">
                  <a:pos x="729" y="318"/>
                </a:cxn>
                <a:cxn ang="0">
                  <a:pos x="729" y="318"/>
                </a:cxn>
              </a:cxnLst>
              <a:rect l="0" t="0" r="r" b="b"/>
              <a:pathLst>
                <a:path w="729" h="318">
                  <a:moveTo>
                    <a:pt x="729" y="318"/>
                  </a:moveTo>
                  <a:lnTo>
                    <a:pt x="729" y="312"/>
                  </a:lnTo>
                  <a:lnTo>
                    <a:pt x="0" y="0"/>
                  </a:lnTo>
                  <a:lnTo>
                    <a:pt x="0" y="54"/>
                  </a:lnTo>
                  <a:lnTo>
                    <a:pt x="729" y="318"/>
                  </a:lnTo>
                  <a:lnTo>
                    <a:pt x="729" y="3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13328" name="Freeform 16"/>
            <p:cNvSpPr>
              <a:spLocks/>
            </p:cNvSpPr>
            <p:nvPr/>
          </p:nvSpPr>
          <p:spPr bwMode="hidden">
            <a:xfrm>
              <a:off x="0" y="916"/>
              <a:ext cx="5030" cy="2187"/>
            </a:xfrm>
            <a:custGeom>
              <a:avLst/>
              <a:gdLst/>
              <a:ahLst/>
              <a:cxnLst>
                <a:cxn ang="0">
                  <a:pos x="0" y="396"/>
                </a:cxn>
                <a:cxn ang="0">
                  <a:pos x="5035" y="2188"/>
                </a:cxn>
                <a:cxn ang="0">
                  <a:pos x="5035" y="2134"/>
                </a:cxn>
                <a:cxn ang="0">
                  <a:pos x="0" y="0"/>
                </a:cxn>
                <a:cxn ang="0">
                  <a:pos x="0" y="396"/>
                </a:cxn>
                <a:cxn ang="0">
                  <a:pos x="0" y="396"/>
                </a:cxn>
              </a:cxnLst>
              <a:rect l="0" t="0" r="r" b="b"/>
              <a:pathLst>
                <a:path w="5035" h="2188">
                  <a:moveTo>
                    <a:pt x="0" y="396"/>
                  </a:moveTo>
                  <a:lnTo>
                    <a:pt x="5035" y="2188"/>
                  </a:lnTo>
                  <a:lnTo>
                    <a:pt x="5035" y="2134"/>
                  </a:lnTo>
                  <a:lnTo>
                    <a:pt x="0" y="0"/>
                  </a:lnTo>
                  <a:lnTo>
                    <a:pt x="0" y="396"/>
                  </a:lnTo>
                  <a:lnTo>
                    <a:pt x="0" y="39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13329" name="Freeform 17"/>
            <p:cNvSpPr>
              <a:spLocks/>
            </p:cNvSpPr>
            <p:nvPr/>
          </p:nvSpPr>
          <p:spPr bwMode="hidden">
            <a:xfrm>
              <a:off x="2294" y="0"/>
              <a:ext cx="3159" cy="272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145" y="2727"/>
                </a:cxn>
                <a:cxn ang="0">
                  <a:pos x="3163" y="2704"/>
                </a:cxn>
                <a:cxn ang="0">
                  <a:pos x="102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163" h="2727">
                  <a:moveTo>
                    <a:pt x="0" y="0"/>
                  </a:moveTo>
                  <a:lnTo>
                    <a:pt x="3145" y="2727"/>
                  </a:lnTo>
                  <a:lnTo>
                    <a:pt x="3163" y="2704"/>
                  </a:lnTo>
                  <a:lnTo>
                    <a:pt x="10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980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13330" name="Freeform 18"/>
            <p:cNvSpPr>
              <a:spLocks/>
            </p:cNvSpPr>
            <p:nvPr/>
          </p:nvSpPr>
          <p:spPr bwMode="hidden">
            <a:xfrm>
              <a:off x="5435" y="2702"/>
              <a:ext cx="323" cy="299"/>
            </a:xfrm>
            <a:custGeom>
              <a:avLst/>
              <a:gdLst/>
              <a:ahLst/>
              <a:cxnLst>
                <a:cxn ang="0">
                  <a:pos x="323" y="299"/>
                </a:cxn>
                <a:cxn ang="0">
                  <a:pos x="323" y="263"/>
                </a:cxn>
                <a:cxn ang="0">
                  <a:pos x="18" y="0"/>
                </a:cxn>
                <a:cxn ang="0">
                  <a:pos x="0" y="23"/>
                </a:cxn>
                <a:cxn ang="0">
                  <a:pos x="323" y="299"/>
                </a:cxn>
                <a:cxn ang="0">
                  <a:pos x="323" y="299"/>
                </a:cxn>
              </a:cxnLst>
              <a:rect l="0" t="0" r="r" b="b"/>
              <a:pathLst>
                <a:path w="323" h="299">
                  <a:moveTo>
                    <a:pt x="323" y="299"/>
                  </a:moveTo>
                  <a:lnTo>
                    <a:pt x="323" y="263"/>
                  </a:lnTo>
                  <a:lnTo>
                    <a:pt x="18" y="0"/>
                  </a:lnTo>
                  <a:lnTo>
                    <a:pt x="0" y="23"/>
                  </a:lnTo>
                  <a:lnTo>
                    <a:pt x="323" y="299"/>
                  </a:lnTo>
                  <a:lnTo>
                    <a:pt x="323" y="29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4118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13331" name="Freeform 19"/>
            <p:cNvSpPr>
              <a:spLocks/>
            </p:cNvSpPr>
            <p:nvPr/>
          </p:nvSpPr>
          <p:spPr bwMode="hidden">
            <a:xfrm>
              <a:off x="5477" y="2588"/>
              <a:ext cx="281" cy="335"/>
            </a:xfrm>
            <a:custGeom>
              <a:avLst/>
              <a:gdLst/>
              <a:ahLst/>
              <a:cxnLst>
                <a:cxn ang="0">
                  <a:pos x="281" y="335"/>
                </a:cxn>
                <a:cxn ang="0">
                  <a:pos x="281" y="173"/>
                </a:cxn>
                <a:cxn ang="0">
                  <a:pos x="96" y="0"/>
                </a:cxn>
                <a:cxn ang="0">
                  <a:pos x="0" y="90"/>
                </a:cxn>
                <a:cxn ang="0">
                  <a:pos x="281" y="335"/>
                </a:cxn>
                <a:cxn ang="0">
                  <a:pos x="281" y="335"/>
                </a:cxn>
              </a:cxnLst>
              <a:rect l="0" t="0" r="r" b="b"/>
              <a:pathLst>
                <a:path w="281" h="335">
                  <a:moveTo>
                    <a:pt x="281" y="335"/>
                  </a:moveTo>
                  <a:lnTo>
                    <a:pt x="281" y="173"/>
                  </a:lnTo>
                  <a:lnTo>
                    <a:pt x="96" y="0"/>
                  </a:lnTo>
                  <a:lnTo>
                    <a:pt x="0" y="90"/>
                  </a:lnTo>
                  <a:lnTo>
                    <a:pt x="281" y="335"/>
                  </a:lnTo>
                  <a:lnTo>
                    <a:pt x="281" y="335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13332" name="Freeform 20"/>
            <p:cNvSpPr>
              <a:spLocks/>
            </p:cNvSpPr>
            <p:nvPr/>
          </p:nvSpPr>
          <p:spPr bwMode="hidden">
            <a:xfrm>
              <a:off x="2454" y="0"/>
              <a:ext cx="3119" cy="267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026" y="2680"/>
                </a:cxn>
                <a:cxn ang="0">
                  <a:pos x="3122" y="2590"/>
                </a:cxn>
                <a:cxn ang="0">
                  <a:pos x="383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122" h="2680">
                  <a:moveTo>
                    <a:pt x="0" y="0"/>
                  </a:moveTo>
                  <a:lnTo>
                    <a:pt x="3026" y="2680"/>
                  </a:lnTo>
                  <a:lnTo>
                    <a:pt x="3122" y="2590"/>
                  </a:lnTo>
                  <a:lnTo>
                    <a:pt x="38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13333" name="Freeform 21"/>
            <p:cNvSpPr>
              <a:spLocks/>
            </p:cNvSpPr>
            <p:nvPr/>
          </p:nvSpPr>
          <p:spPr bwMode="hidden">
            <a:xfrm>
              <a:off x="5626" y="2534"/>
              <a:ext cx="132" cy="132"/>
            </a:xfrm>
            <a:custGeom>
              <a:avLst/>
              <a:gdLst/>
              <a:ahLst/>
              <a:cxnLst>
                <a:cxn ang="0">
                  <a:pos x="132" y="132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132" y="132"/>
                </a:cxn>
                <a:cxn ang="0">
                  <a:pos x="132" y="132"/>
                </a:cxn>
              </a:cxnLst>
              <a:rect l="0" t="0" r="r" b="b"/>
              <a:pathLst>
                <a:path w="132" h="132">
                  <a:moveTo>
                    <a:pt x="132" y="132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32" y="132"/>
                  </a:lnTo>
                  <a:lnTo>
                    <a:pt x="132" y="132"/>
                  </a:lnTo>
                  <a:close/>
                </a:path>
              </a:pathLst>
            </a:custGeom>
            <a:solidFill>
              <a:srgbClr val="FF9999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13334" name="Freeform 22"/>
            <p:cNvSpPr>
              <a:spLocks/>
            </p:cNvSpPr>
            <p:nvPr/>
          </p:nvSpPr>
          <p:spPr bwMode="hidden">
            <a:xfrm>
              <a:off x="3112" y="0"/>
              <a:ext cx="2514" cy="253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517" y="2536"/>
                </a:cxn>
                <a:cxn ang="0">
                  <a:pos x="2517" y="2536"/>
                </a:cxn>
                <a:cxn ang="0">
                  <a:pos x="66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517" h="2536">
                  <a:moveTo>
                    <a:pt x="0" y="0"/>
                  </a:moveTo>
                  <a:lnTo>
                    <a:pt x="2517" y="2536"/>
                  </a:lnTo>
                  <a:lnTo>
                    <a:pt x="2517" y="2536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1373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13335" name="Freeform 23"/>
            <p:cNvSpPr>
              <a:spLocks/>
            </p:cNvSpPr>
            <p:nvPr/>
          </p:nvSpPr>
          <p:spPr bwMode="hidden">
            <a:xfrm>
              <a:off x="3488" y="0"/>
              <a:ext cx="2198" cy="248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188" y="2482"/>
                </a:cxn>
                <a:cxn ang="0">
                  <a:pos x="2200" y="2476"/>
                </a:cxn>
                <a:cxn ang="0">
                  <a:pos x="317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200" h="2482">
                  <a:moveTo>
                    <a:pt x="0" y="0"/>
                  </a:moveTo>
                  <a:lnTo>
                    <a:pt x="2188" y="2482"/>
                  </a:lnTo>
                  <a:lnTo>
                    <a:pt x="2200" y="2476"/>
                  </a:lnTo>
                  <a:lnTo>
                    <a:pt x="31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13336" name="Freeform 24"/>
            <p:cNvSpPr>
              <a:spLocks/>
            </p:cNvSpPr>
            <p:nvPr/>
          </p:nvSpPr>
          <p:spPr bwMode="hidden">
            <a:xfrm>
              <a:off x="5674" y="2474"/>
              <a:ext cx="84" cy="96"/>
            </a:xfrm>
            <a:custGeom>
              <a:avLst/>
              <a:gdLst/>
              <a:ahLst/>
              <a:cxnLst>
                <a:cxn ang="0">
                  <a:pos x="84" y="96"/>
                </a:cxn>
                <a:cxn ang="0">
                  <a:pos x="84" y="90"/>
                </a:cxn>
                <a:cxn ang="0">
                  <a:pos x="12" y="0"/>
                </a:cxn>
                <a:cxn ang="0">
                  <a:pos x="0" y="6"/>
                </a:cxn>
                <a:cxn ang="0">
                  <a:pos x="84" y="96"/>
                </a:cxn>
                <a:cxn ang="0">
                  <a:pos x="84" y="96"/>
                </a:cxn>
              </a:cxnLst>
              <a:rect l="0" t="0" r="r" b="b"/>
              <a:pathLst>
                <a:path w="84" h="96">
                  <a:moveTo>
                    <a:pt x="84" y="96"/>
                  </a:moveTo>
                  <a:lnTo>
                    <a:pt x="84" y="9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84" y="96"/>
                  </a:lnTo>
                  <a:lnTo>
                    <a:pt x="84" y="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13337" name="Freeform 25"/>
            <p:cNvSpPr>
              <a:spLocks/>
            </p:cNvSpPr>
            <p:nvPr/>
          </p:nvSpPr>
          <p:spPr bwMode="hidden">
            <a:xfrm>
              <a:off x="5603" y="850"/>
              <a:ext cx="155" cy="516"/>
            </a:xfrm>
            <a:custGeom>
              <a:avLst/>
              <a:gdLst/>
              <a:ahLst/>
              <a:cxnLst>
                <a:cxn ang="0">
                  <a:pos x="155" y="516"/>
                </a:cxn>
                <a:cxn ang="0">
                  <a:pos x="155" y="204"/>
                </a:cxn>
                <a:cxn ang="0">
                  <a:pos x="77" y="0"/>
                </a:cxn>
                <a:cxn ang="0">
                  <a:pos x="0" y="192"/>
                </a:cxn>
                <a:cxn ang="0">
                  <a:pos x="155" y="516"/>
                </a:cxn>
                <a:cxn ang="0">
                  <a:pos x="155" y="516"/>
                </a:cxn>
              </a:cxnLst>
              <a:rect l="0" t="0" r="r" b="b"/>
              <a:pathLst>
                <a:path w="155" h="516">
                  <a:moveTo>
                    <a:pt x="155" y="516"/>
                  </a:moveTo>
                  <a:lnTo>
                    <a:pt x="155" y="204"/>
                  </a:lnTo>
                  <a:lnTo>
                    <a:pt x="77" y="0"/>
                  </a:lnTo>
                  <a:lnTo>
                    <a:pt x="0" y="192"/>
                  </a:lnTo>
                  <a:lnTo>
                    <a:pt x="155" y="516"/>
                  </a:lnTo>
                  <a:lnTo>
                    <a:pt x="155" y="516"/>
                  </a:lnTo>
                  <a:close/>
                </a:path>
              </a:pathLst>
            </a:custGeom>
            <a:solidFill>
              <a:schemeClr val="bg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13338" name="Freeform 26"/>
            <p:cNvSpPr>
              <a:spLocks/>
            </p:cNvSpPr>
            <p:nvPr/>
          </p:nvSpPr>
          <p:spPr bwMode="hidden">
            <a:xfrm>
              <a:off x="5107" y="0"/>
              <a:ext cx="573" cy="104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97" y="1043"/>
                </a:cxn>
                <a:cxn ang="0">
                  <a:pos x="574" y="851"/>
                </a:cxn>
                <a:cxn ang="0">
                  <a:pos x="251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74" h="1043">
                  <a:moveTo>
                    <a:pt x="0" y="0"/>
                  </a:moveTo>
                  <a:lnTo>
                    <a:pt x="497" y="1043"/>
                  </a:lnTo>
                  <a:lnTo>
                    <a:pt x="574" y="851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13339" name="Freeform 27"/>
            <p:cNvSpPr>
              <a:spLocks/>
            </p:cNvSpPr>
            <p:nvPr/>
          </p:nvSpPr>
          <p:spPr bwMode="hidden">
            <a:xfrm>
              <a:off x="5411" y="0"/>
              <a:ext cx="341" cy="796"/>
            </a:xfrm>
            <a:custGeom>
              <a:avLst/>
              <a:gdLst/>
              <a:ahLst/>
              <a:cxnLst>
                <a:cxn ang="0">
                  <a:pos x="144" y="0"/>
                </a:cxn>
                <a:cxn ang="0">
                  <a:pos x="0" y="0"/>
                </a:cxn>
                <a:cxn ang="0">
                  <a:pos x="287" y="797"/>
                </a:cxn>
                <a:cxn ang="0">
                  <a:pos x="341" y="653"/>
                </a:cxn>
                <a:cxn ang="0">
                  <a:pos x="144" y="0"/>
                </a:cxn>
                <a:cxn ang="0">
                  <a:pos x="144" y="0"/>
                </a:cxn>
              </a:cxnLst>
              <a:rect l="0" t="0" r="r" b="b"/>
              <a:pathLst>
                <a:path w="341" h="797">
                  <a:moveTo>
                    <a:pt x="144" y="0"/>
                  </a:moveTo>
                  <a:lnTo>
                    <a:pt x="0" y="0"/>
                  </a:lnTo>
                  <a:lnTo>
                    <a:pt x="287" y="797"/>
                  </a:lnTo>
                  <a:lnTo>
                    <a:pt x="341" y="653"/>
                  </a:lnTo>
                  <a:lnTo>
                    <a:pt x="144" y="0"/>
                  </a:lnTo>
                  <a:lnTo>
                    <a:pt x="144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980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13340" name="Freeform 28"/>
            <p:cNvSpPr>
              <a:spLocks/>
            </p:cNvSpPr>
            <p:nvPr/>
          </p:nvSpPr>
          <p:spPr bwMode="hidden">
            <a:xfrm>
              <a:off x="5698" y="653"/>
              <a:ext cx="60" cy="311"/>
            </a:xfrm>
            <a:custGeom>
              <a:avLst/>
              <a:gdLst/>
              <a:ahLst/>
              <a:cxnLst>
                <a:cxn ang="0">
                  <a:pos x="0" y="144"/>
                </a:cxn>
                <a:cxn ang="0">
                  <a:pos x="60" y="312"/>
                </a:cxn>
                <a:cxn ang="0">
                  <a:pos x="60" y="6"/>
                </a:cxn>
                <a:cxn ang="0">
                  <a:pos x="54" y="0"/>
                </a:cxn>
                <a:cxn ang="0">
                  <a:pos x="0" y="144"/>
                </a:cxn>
                <a:cxn ang="0">
                  <a:pos x="0" y="144"/>
                </a:cxn>
              </a:cxnLst>
              <a:rect l="0" t="0" r="r" b="b"/>
              <a:pathLst>
                <a:path w="60" h="312">
                  <a:moveTo>
                    <a:pt x="0" y="144"/>
                  </a:moveTo>
                  <a:lnTo>
                    <a:pt x="60" y="312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0" y="144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chemeClr val="bg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13341" name="Freeform 29"/>
            <p:cNvSpPr>
              <a:spLocks/>
            </p:cNvSpPr>
            <p:nvPr/>
          </p:nvSpPr>
          <p:spPr bwMode="hidden">
            <a:xfrm>
              <a:off x="2" y="1601"/>
              <a:ext cx="5752" cy="1864"/>
            </a:xfrm>
            <a:custGeom>
              <a:avLst/>
              <a:gdLst/>
              <a:ahLst/>
              <a:cxnLst>
                <a:cxn ang="0">
                  <a:pos x="0" y="371"/>
                </a:cxn>
                <a:cxn ang="0">
                  <a:pos x="5740" y="1864"/>
                </a:cxn>
                <a:cxn ang="0">
                  <a:pos x="5740" y="1834"/>
                </a:cxn>
                <a:cxn ang="0">
                  <a:pos x="0" y="0"/>
                </a:cxn>
                <a:cxn ang="0">
                  <a:pos x="0" y="371"/>
                </a:cxn>
                <a:cxn ang="0">
                  <a:pos x="0" y="371"/>
                </a:cxn>
              </a:cxnLst>
              <a:rect l="0" t="0" r="r" b="b"/>
              <a:pathLst>
                <a:path w="5740" h="1864">
                  <a:moveTo>
                    <a:pt x="0" y="371"/>
                  </a:moveTo>
                  <a:lnTo>
                    <a:pt x="5740" y="1864"/>
                  </a:lnTo>
                  <a:lnTo>
                    <a:pt x="5740" y="1834"/>
                  </a:lnTo>
                  <a:lnTo>
                    <a:pt x="0" y="0"/>
                  </a:lnTo>
                  <a:lnTo>
                    <a:pt x="0" y="371"/>
                  </a:lnTo>
                  <a:lnTo>
                    <a:pt x="0" y="371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352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13342" name="Freeform 30"/>
            <p:cNvSpPr>
              <a:spLocks/>
            </p:cNvSpPr>
            <p:nvPr/>
          </p:nvSpPr>
          <p:spPr bwMode="hidden">
            <a:xfrm>
              <a:off x="5754" y="3483"/>
              <a:ext cx="6" cy="6"/>
            </a:xfrm>
            <a:custGeom>
              <a:avLst/>
              <a:gdLst/>
              <a:ahLst/>
              <a:cxnLst>
                <a:cxn ang="0">
                  <a:pos x="6" y="6"/>
                </a:cxn>
                <a:cxn ang="0">
                  <a:pos x="0" y="0"/>
                </a:cxn>
                <a:cxn ang="0">
                  <a:pos x="0" y="6"/>
                </a:cxn>
                <a:cxn ang="0">
                  <a:pos x="6" y="6"/>
                </a:cxn>
                <a:cxn ang="0">
                  <a:pos x="6" y="6"/>
                </a:cxn>
              </a:cxnLst>
              <a:rect l="0" t="0" r="r" b="b"/>
              <a:pathLst>
                <a:path w="6" h="6">
                  <a:moveTo>
                    <a:pt x="6" y="6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18FF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13343" name="Freeform 31"/>
            <p:cNvSpPr>
              <a:spLocks/>
            </p:cNvSpPr>
            <p:nvPr/>
          </p:nvSpPr>
          <p:spPr bwMode="hidden">
            <a:xfrm>
              <a:off x="2" y="2152"/>
              <a:ext cx="5752" cy="1337"/>
            </a:xfrm>
            <a:custGeom>
              <a:avLst/>
              <a:gdLst/>
              <a:ahLst/>
              <a:cxnLst>
                <a:cxn ang="0">
                  <a:pos x="0" y="366"/>
                </a:cxn>
                <a:cxn ang="0">
                  <a:pos x="5740" y="1337"/>
                </a:cxn>
                <a:cxn ang="0">
                  <a:pos x="5740" y="1331"/>
                </a:cxn>
                <a:cxn ang="0">
                  <a:pos x="0" y="0"/>
                </a:cxn>
                <a:cxn ang="0">
                  <a:pos x="0" y="366"/>
                </a:cxn>
                <a:cxn ang="0">
                  <a:pos x="0" y="366"/>
                </a:cxn>
              </a:cxnLst>
              <a:rect l="0" t="0" r="r" b="b"/>
              <a:pathLst>
                <a:path w="5740" h="1337">
                  <a:moveTo>
                    <a:pt x="0" y="366"/>
                  </a:moveTo>
                  <a:lnTo>
                    <a:pt x="5740" y="1337"/>
                  </a:lnTo>
                  <a:lnTo>
                    <a:pt x="5740" y="1331"/>
                  </a:lnTo>
                  <a:lnTo>
                    <a:pt x="0" y="0"/>
                  </a:lnTo>
                  <a:lnTo>
                    <a:pt x="0" y="366"/>
                  </a:lnTo>
                  <a:lnTo>
                    <a:pt x="0" y="366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13344" name="Freeform 32"/>
            <p:cNvSpPr>
              <a:spLocks/>
            </p:cNvSpPr>
            <p:nvPr/>
          </p:nvSpPr>
          <p:spPr bwMode="hidden">
            <a:xfrm>
              <a:off x="2" y="3177"/>
              <a:ext cx="5752" cy="414"/>
            </a:xfrm>
            <a:custGeom>
              <a:avLst/>
              <a:gdLst/>
              <a:ahLst/>
              <a:cxnLst>
                <a:cxn ang="0">
                  <a:pos x="0" y="48"/>
                </a:cxn>
                <a:cxn ang="0">
                  <a:pos x="5740" y="414"/>
                </a:cxn>
                <a:cxn ang="0">
                  <a:pos x="5740" y="402"/>
                </a:cxn>
                <a:cxn ang="0">
                  <a:pos x="0" y="0"/>
                </a:cxn>
                <a:cxn ang="0">
                  <a:pos x="0" y="48"/>
                </a:cxn>
                <a:cxn ang="0">
                  <a:pos x="0" y="48"/>
                </a:cxn>
              </a:cxnLst>
              <a:rect l="0" t="0" r="r" b="b"/>
              <a:pathLst>
                <a:path w="5740" h="414">
                  <a:moveTo>
                    <a:pt x="0" y="48"/>
                  </a:moveTo>
                  <a:lnTo>
                    <a:pt x="5740" y="414"/>
                  </a:lnTo>
                  <a:lnTo>
                    <a:pt x="5740" y="402"/>
                  </a:ln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13345" name="Freeform 33"/>
            <p:cNvSpPr>
              <a:spLocks/>
            </p:cNvSpPr>
            <p:nvPr/>
          </p:nvSpPr>
          <p:spPr bwMode="hidden">
            <a:xfrm>
              <a:off x="1297" y="0"/>
              <a:ext cx="4457" cy="317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448" y="3177"/>
                </a:cxn>
                <a:cxn ang="0">
                  <a:pos x="4448" y="3153"/>
                </a:cxn>
                <a:cxn ang="0">
                  <a:pos x="125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4448" h="3177">
                  <a:moveTo>
                    <a:pt x="0" y="0"/>
                  </a:moveTo>
                  <a:lnTo>
                    <a:pt x="4448" y="3177"/>
                  </a:lnTo>
                  <a:lnTo>
                    <a:pt x="4448" y="3153"/>
                  </a:lnTo>
                  <a:lnTo>
                    <a:pt x="12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862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13346" name="Freeform 34"/>
            <p:cNvSpPr>
              <a:spLocks/>
            </p:cNvSpPr>
            <p:nvPr/>
          </p:nvSpPr>
          <p:spPr bwMode="hidden">
            <a:xfrm>
              <a:off x="3321" y="0"/>
              <a:ext cx="2433" cy="261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428" y="2614"/>
                </a:cxn>
                <a:cxn ang="0">
                  <a:pos x="2428" y="2608"/>
                </a:cxn>
                <a:cxn ang="0">
                  <a:pos x="66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428" h="2614">
                  <a:moveTo>
                    <a:pt x="0" y="0"/>
                  </a:moveTo>
                  <a:lnTo>
                    <a:pt x="2428" y="2614"/>
                  </a:lnTo>
                  <a:lnTo>
                    <a:pt x="2428" y="2608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13347" name="Freeform 35"/>
            <p:cNvSpPr>
              <a:spLocks/>
            </p:cNvSpPr>
            <p:nvPr/>
          </p:nvSpPr>
          <p:spPr bwMode="hidden">
            <a:xfrm>
              <a:off x="3950" y="0"/>
              <a:ext cx="1804" cy="2464"/>
            </a:xfrm>
            <a:custGeom>
              <a:avLst/>
              <a:gdLst/>
              <a:ahLst/>
              <a:cxnLst>
                <a:cxn ang="0">
                  <a:pos x="485" y="0"/>
                </a:cxn>
                <a:cxn ang="0">
                  <a:pos x="0" y="0"/>
                </a:cxn>
                <a:cxn ang="0">
                  <a:pos x="1800" y="2464"/>
                </a:cxn>
                <a:cxn ang="0">
                  <a:pos x="1800" y="2248"/>
                </a:cxn>
                <a:cxn ang="0">
                  <a:pos x="1794" y="2248"/>
                </a:cxn>
                <a:cxn ang="0">
                  <a:pos x="485" y="0"/>
                </a:cxn>
                <a:cxn ang="0">
                  <a:pos x="485" y="0"/>
                </a:cxn>
              </a:cxnLst>
              <a:rect l="0" t="0" r="r" b="b"/>
              <a:pathLst>
                <a:path w="1800" h="2464">
                  <a:moveTo>
                    <a:pt x="485" y="0"/>
                  </a:moveTo>
                  <a:lnTo>
                    <a:pt x="0" y="0"/>
                  </a:lnTo>
                  <a:lnTo>
                    <a:pt x="1800" y="2464"/>
                  </a:lnTo>
                  <a:lnTo>
                    <a:pt x="1800" y="2248"/>
                  </a:lnTo>
                  <a:lnTo>
                    <a:pt x="1794" y="2248"/>
                  </a:lnTo>
                  <a:lnTo>
                    <a:pt x="485" y="0"/>
                  </a:lnTo>
                  <a:lnTo>
                    <a:pt x="48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13348" name="Freeform 36"/>
            <p:cNvSpPr>
              <a:spLocks/>
            </p:cNvSpPr>
            <p:nvPr/>
          </p:nvSpPr>
          <p:spPr bwMode="hidden">
            <a:xfrm>
              <a:off x="4519" y="0"/>
              <a:ext cx="1235" cy="207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232" y="2074"/>
                </a:cxn>
                <a:cxn ang="0">
                  <a:pos x="1232" y="2038"/>
                </a:cxn>
                <a:cxn ang="0">
                  <a:pos x="42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232" h="2074">
                  <a:moveTo>
                    <a:pt x="0" y="0"/>
                  </a:moveTo>
                  <a:lnTo>
                    <a:pt x="1232" y="2074"/>
                  </a:lnTo>
                  <a:lnTo>
                    <a:pt x="1232" y="2038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764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13349" name="Freeform 37"/>
            <p:cNvSpPr>
              <a:spLocks/>
            </p:cNvSpPr>
            <p:nvPr/>
          </p:nvSpPr>
          <p:spPr bwMode="hidden">
            <a:xfrm>
              <a:off x="4694" y="0"/>
              <a:ext cx="1060" cy="193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058" y="1936"/>
                </a:cxn>
                <a:cxn ang="0">
                  <a:pos x="1058" y="1930"/>
                </a:cxn>
                <a:cxn ang="0">
                  <a:pos x="54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058" h="1936">
                  <a:moveTo>
                    <a:pt x="0" y="0"/>
                  </a:moveTo>
                  <a:lnTo>
                    <a:pt x="1058" y="1936"/>
                  </a:lnTo>
                  <a:lnTo>
                    <a:pt x="1058" y="1930"/>
                  </a:lnTo>
                  <a:lnTo>
                    <a:pt x="5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13350" name="Freeform 38"/>
            <p:cNvSpPr>
              <a:spLocks/>
            </p:cNvSpPr>
            <p:nvPr/>
          </p:nvSpPr>
          <p:spPr bwMode="hidden">
            <a:xfrm>
              <a:off x="4981" y="0"/>
              <a:ext cx="773" cy="1487"/>
            </a:xfrm>
            <a:custGeom>
              <a:avLst/>
              <a:gdLst/>
              <a:ahLst/>
              <a:cxnLst>
                <a:cxn ang="0">
                  <a:pos x="771" y="1433"/>
                </a:cxn>
                <a:cxn ang="0">
                  <a:pos x="42" y="0"/>
                </a:cxn>
                <a:cxn ang="0">
                  <a:pos x="0" y="0"/>
                </a:cxn>
                <a:cxn ang="0">
                  <a:pos x="771" y="1487"/>
                </a:cxn>
                <a:cxn ang="0">
                  <a:pos x="771" y="1433"/>
                </a:cxn>
                <a:cxn ang="0">
                  <a:pos x="771" y="1433"/>
                </a:cxn>
              </a:cxnLst>
              <a:rect l="0" t="0" r="r" b="b"/>
              <a:pathLst>
                <a:path w="771" h="1487">
                  <a:moveTo>
                    <a:pt x="771" y="1433"/>
                  </a:moveTo>
                  <a:lnTo>
                    <a:pt x="42" y="0"/>
                  </a:lnTo>
                  <a:lnTo>
                    <a:pt x="0" y="0"/>
                  </a:lnTo>
                  <a:lnTo>
                    <a:pt x="771" y="1487"/>
                  </a:lnTo>
                  <a:lnTo>
                    <a:pt x="771" y="1433"/>
                  </a:lnTo>
                  <a:lnTo>
                    <a:pt x="771" y="1433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882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grpSp>
          <p:nvGrpSpPr>
            <p:cNvPr id="1068" name="Group 39"/>
            <p:cNvGrpSpPr>
              <a:grpSpLocks/>
            </p:cNvGrpSpPr>
            <p:nvPr userDrawn="1"/>
          </p:nvGrpSpPr>
          <p:grpSpPr bwMode="auto">
            <a:xfrm>
              <a:off x="0" y="1632"/>
              <a:ext cx="5758" cy="1858"/>
              <a:chOff x="0" y="1632"/>
              <a:chExt cx="5758" cy="1858"/>
            </a:xfrm>
          </p:grpSpPr>
          <p:sp>
            <p:nvSpPr>
              <p:cNvPr id="13352" name="Freeform 40"/>
              <p:cNvSpPr>
                <a:spLocks/>
              </p:cNvSpPr>
              <p:nvPr/>
            </p:nvSpPr>
            <p:spPr bwMode="hidden">
              <a:xfrm>
                <a:off x="0" y="1632"/>
                <a:ext cx="3670" cy="1313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366"/>
                  </a:cxn>
                  <a:cxn ang="0">
                    <a:pos x="3635" y="1313"/>
                  </a:cxn>
                  <a:cxn ang="0">
                    <a:pos x="3647" y="1235"/>
                  </a:cxn>
                  <a:cxn ang="0">
                    <a:pos x="3659" y="1163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3659" h="1313">
                    <a:moveTo>
                      <a:pt x="0" y="0"/>
                    </a:moveTo>
                    <a:lnTo>
                      <a:pt x="0" y="366"/>
                    </a:lnTo>
                    <a:lnTo>
                      <a:pt x="3635" y="1313"/>
                    </a:lnTo>
                    <a:lnTo>
                      <a:pt x="3647" y="1235"/>
                    </a:lnTo>
                    <a:lnTo>
                      <a:pt x="3659" y="1163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72549"/>
                      <a:invGamma/>
                    </a:schemeClr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Arial" charset="0"/>
                  <a:ea typeface="宋体" charset="-122"/>
                </a:endParaRPr>
              </a:p>
            </p:txBody>
          </p:sp>
          <p:sp>
            <p:nvSpPr>
              <p:cNvPr id="13353" name="Freeform 41"/>
              <p:cNvSpPr>
                <a:spLocks/>
              </p:cNvSpPr>
              <p:nvPr/>
            </p:nvSpPr>
            <p:spPr bwMode="hidden">
              <a:xfrm>
                <a:off x="3646" y="2795"/>
                <a:ext cx="2112" cy="695"/>
              </a:xfrm>
              <a:custGeom>
                <a:avLst/>
                <a:gdLst/>
                <a:ahLst/>
                <a:cxnLst>
                  <a:cxn ang="0">
                    <a:pos x="2105" y="665"/>
                  </a:cxn>
                  <a:cxn ang="0">
                    <a:pos x="24" y="0"/>
                  </a:cxn>
                  <a:cxn ang="0">
                    <a:pos x="12" y="72"/>
                  </a:cxn>
                  <a:cxn ang="0">
                    <a:pos x="0" y="150"/>
                  </a:cxn>
                  <a:cxn ang="0">
                    <a:pos x="2105" y="695"/>
                  </a:cxn>
                  <a:cxn ang="0">
                    <a:pos x="2105" y="665"/>
                  </a:cxn>
                  <a:cxn ang="0">
                    <a:pos x="2105" y="665"/>
                  </a:cxn>
                </a:cxnLst>
                <a:rect l="0" t="0" r="r" b="b"/>
                <a:pathLst>
                  <a:path w="2105" h="695">
                    <a:moveTo>
                      <a:pt x="2105" y="665"/>
                    </a:moveTo>
                    <a:lnTo>
                      <a:pt x="24" y="0"/>
                    </a:lnTo>
                    <a:lnTo>
                      <a:pt x="12" y="72"/>
                    </a:lnTo>
                    <a:lnTo>
                      <a:pt x="0" y="150"/>
                    </a:lnTo>
                    <a:lnTo>
                      <a:pt x="2105" y="695"/>
                    </a:lnTo>
                    <a:lnTo>
                      <a:pt x="2105" y="665"/>
                    </a:lnTo>
                    <a:lnTo>
                      <a:pt x="2105" y="6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tint val="90980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Arial" charset="0"/>
                  <a:ea typeface="宋体" charset="-122"/>
                </a:endParaRPr>
              </a:p>
            </p:txBody>
          </p:sp>
        </p:grpSp>
      </p:grpSp>
      <p:sp>
        <p:nvSpPr>
          <p:cNvPr id="13354" name="Rectangle 4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3355" name="Rectangle 4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3356" name="Rectangle 4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357" name="Rectangle 4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358" name="Rectangle 4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E012E861-4A23-47D9-B46F-1A393FC6DA2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765" r:id="rId1"/>
    <p:sldLayoutId id="2147483766" r:id="rId2"/>
    <p:sldLayoutId id="2147483767" r:id="rId3"/>
    <p:sldLayoutId id="2147483768" r:id="rId4"/>
    <p:sldLayoutId id="2147483769" r:id="rId5"/>
    <p:sldLayoutId id="2147483770" r:id="rId6"/>
    <p:sldLayoutId id="2147483771" r:id="rId7"/>
    <p:sldLayoutId id="2147483772" r:id="rId8"/>
    <p:sldLayoutId id="2147483773" r:id="rId9"/>
    <p:sldLayoutId id="2147483774" r:id="rId10"/>
    <p:sldLayoutId id="2147483775" r:id="rId11"/>
    <p:sldLayoutId id="2147483776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0000"/>
        <a:buFont typeface="Wingdings" pitchFamily="2" charset="2"/>
        <a:buBlip>
          <a:blip r:embed="rId14"/>
        </a:buBlip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itchFamily="2" charset="2"/>
        <a:buBlip>
          <a:blip r:embed="rId15"/>
        </a:buBlip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20.xml"/><Relationship Id="rId2" Type="http://schemas.openxmlformats.org/officeDocument/2006/relationships/slide" Target="slide1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" Target="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slide" Target="slide1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" Target="slide1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40" name="Rectangle 4"/>
          <p:cNvSpPr>
            <a:spLocks noGrp="1" noChangeArrowheads="1"/>
          </p:cNvSpPr>
          <p:nvPr>
            <p:ph type="ctrTitle"/>
          </p:nvPr>
        </p:nvSpPr>
        <p:spPr>
          <a:xfrm>
            <a:off x="323850" y="1600200"/>
            <a:ext cx="8820150" cy="18288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dirty="0" smtClean="0">
                <a:latin typeface="黑体" pitchFamily="2" charset="-122"/>
                <a:ea typeface="黑体" pitchFamily="2" charset="-122"/>
              </a:rPr>
              <a:t>第</a:t>
            </a:r>
            <a:r>
              <a:rPr lang="en-US" altLang="zh-CN" sz="4000" dirty="0" smtClean="0">
                <a:latin typeface="黑体" pitchFamily="2" charset="-122"/>
                <a:ea typeface="黑体" pitchFamily="2" charset="-122"/>
              </a:rPr>
              <a:t>2</a:t>
            </a:r>
            <a:r>
              <a:rPr lang="zh-CN" altLang="en-US" sz="4000" dirty="0" smtClean="0">
                <a:latin typeface="黑体" pitchFamily="2" charset="-122"/>
                <a:ea typeface="黑体" pitchFamily="2" charset="-122"/>
              </a:rPr>
              <a:t>章   第</a:t>
            </a:r>
            <a:r>
              <a:rPr lang="en-US" altLang="zh-CN" sz="4000" dirty="0" smtClean="0">
                <a:latin typeface="黑体" pitchFamily="2" charset="-122"/>
                <a:ea typeface="黑体" pitchFamily="2" charset="-122"/>
              </a:rPr>
              <a:t>3</a:t>
            </a:r>
            <a:r>
              <a:rPr lang="zh-CN" altLang="en-US" sz="4000" dirty="0" smtClean="0">
                <a:latin typeface="黑体" pitchFamily="2" charset="-122"/>
                <a:ea typeface="黑体" pitchFamily="2" charset="-122"/>
              </a:rPr>
              <a:t>节</a:t>
            </a:r>
          </a:p>
        </p:txBody>
      </p:sp>
      <p:sp>
        <p:nvSpPr>
          <p:cNvPr id="91141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971550" y="3933825"/>
            <a:ext cx="7704138" cy="17526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经济因素及技术因素对经济活动</a:t>
            </a:r>
            <a:endParaRPr lang="en-US" altLang="zh-CN" dirty="0" smtClean="0">
              <a:latin typeface="黑体" pitchFamily="2" charset="-122"/>
              <a:ea typeface="黑体" pitchFamily="2" charset="-122"/>
            </a:endParaRPr>
          </a:p>
          <a:p>
            <a:pPr eaLnBrk="1" hangingPunct="1">
              <a:defRPr/>
            </a:pPr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区位的影响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31913" y="1844675"/>
            <a:ext cx="7067550" cy="3313113"/>
          </a:xfrm>
        </p:spPr>
        <p:txBody>
          <a:bodyPr/>
          <a:lstStyle/>
          <a:p>
            <a:pPr eaLnBrk="1" hangingPunct="1">
              <a:lnSpc>
                <a:spcPct val="145000"/>
              </a:lnSpc>
              <a:buFont typeface="Wingdings" pitchFamily="2" charset="2"/>
              <a:buNone/>
              <a:defRPr/>
            </a:pPr>
            <a:r>
              <a:rPr lang="zh-CN" altLang="en-US" sz="2800" dirty="0" smtClean="0">
                <a:ea typeface="黑体" pitchFamily="2" charset="-122"/>
              </a:rPr>
              <a:t>一、资本因子对经济区位的影响</a:t>
            </a:r>
          </a:p>
          <a:p>
            <a:pPr eaLnBrk="1" hangingPunct="1">
              <a:lnSpc>
                <a:spcPct val="145000"/>
              </a:lnSpc>
              <a:buFont typeface="Wingdings" pitchFamily="2" charset="2"/>
              <a:buNone/>
              <a:defRPr/>
            </a:pPr>
            <a:r>
              <a:rPr lang="zh-CN" altLang="en-US" sz="2800" dirty="0" smtClean="0">
                <a:ea typeface="黑体" pitchFamily="2" charset="-122"/>
              </a:rPr>
              <a:t>二、劳动因子对经济区位的影响</a:t>
            </a:r>
          </a:p>
          <a:p>
            <a:pPr eaLnBrk="1" hangingPunct="1">
              <a:lnSpc>
                <a:spcPct val="145000"/>
              </a:lnSpc>
              <a:buFont typeface="Wingdings" pitchFamily="2" charset="2"/>
              <a:buNone/>
              <a:defRPr/>
            </a:pPr>
            <a:r>
              <a:rPr lang="zh-CN" altLang="en-US" sz="2800" dirty="0" smtClean="0">
                <a:ea typeface="黑体" pitchFamily="2" charset="-122"/>
              </a:rPr>
              <a:t>三、市场因素对对经济活动区位的影响</a:t>
            </a:r>
            <a:endParaRPr lang="en-US" altLang="zh-CN" sz="2800" dirty="0" smtClean="0">
              <a:ea typeface="黑体" pitchFamily="2" charset="-122"/>
            </a:endParaRPr>
          </a:p>
          <a:p>
            <a:pPr eaLnBrk="1" hangingPunct="1">
              <a:lnSpc>
                <a:spcPct val="145000"/>
              </a:lnSpc>
              <a:buFont typeface="Wingdings" pitchFamily="2" charset="2"/>
              <a:buNone/>
              <a:defRPr/>
            </a:pPr>
            <a:r>
              <a:rPr lang="zh-CN" altLang="en-US" sz="2800" dirty="0" smtClean="0">
                <a:ea typeface="黑体" pitchFamily="2" charset="-122"/>
              </a:rPr>
              <a:t>四、技术因素对经济活动区位的影响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908050"/>
            <a:ext cx="8686800" cy="647700"/>
          </a:xfrm>
        </p:spPr>
        <p:txBody>
          <a:bodyPr/>
          <a:lstStyle/>
          <a:p>
            <a:pPr algn="l" eaLnBrk="1" hangingPunct="1">
              <a:defRPr/>
            </a:pPr>
            <a:r>
              <a:rPr lang="zh-CN" altLang="en-US" sz="3600" dirty="0" smtClean="0">
                <a:solidFill>
                  <a:srgbClr val="FFFF00"/>
                </a:solidFill>
                <a:ea typeface="黑体" pitchFamily="2" charset="-122"/>
              </a:rPr>
              <a:t>一、资本因子对经济活动区位的影响</a:t>
            </a:r>
            <a:r>
              <a:rPr lang="zh-CN" altLang="en-US" sz="3600" dirty="0" smtClean="0">
                <a:solidFill>
                  <a:srgbClr val="FFFF00"/>
                </a:solidFill>
              </a:rPr>
              <a:t/>
            </a:r>
            <a:br>
              <a:rPr lang="zh-CN" altLang="en-US" sz="3600" dirty="0" smtClean="0">
                <a:solidFill>
                  <a:srgbClr val="FFFF00"/>
                </a:solidFill>
              </a:rPr>
            </a:br>
            <a:endParaRPr lang="zh-CN" altLang="en-US" sz="3600" dirty="0" smtClean="0">
              <a:solidFill>
                <a:srgbClr val="FFFF00"/>
              </a:solidFill>
            </a:endParaRPr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188" y="1700213"/>
            <a:ext cx="8229600" cy="4537075"/>
          </a:xfrm>
        </p:spPr>
        <p:txBody>
          <a:bodyPr/>
          <a:lstStyle/>
          <a:p>
            <a:pPr marL="609600" indent="-609600" eaLnBrk="1" hangingPunct="1">
              <a:lnSpc>
                <a:spcPct val="130000"/>
              </a:lnSpc>
              <a:buFont typeface="Wingdings" pitchFamily="2" charset="2"/>
              <a:buAutoNum type="arabicPeriod"/>
              <a:defRPr/>
            </a:pPr>
            <a:r>
              <a:rPr lang="zh-CN" altLang="en-US" smtClean="0">
                <a:latin typeface="黑体" pitchFamily="2" charset="-122"/>
                <a:ea typeface="黑体" pitchFamily="2" charset="-122"/>
              </a:rPr>
              <a:t>固定资本的影响</a:t>
            </a:r>
            <a:r>
              <a:rPr lang="en-US" altLang="zh-CN" smtClean="0">
                <a:latin typeface="华文细黑"/>
                <a:ea typeface="黑体" pitchFamily="2" charset="-122"/>
              </a:rPr>
              <a:t>——</a:t>
            </a:r>
            <a:r>
              <a:rPr lang="zh-CN" altLang="en-US" smtClean="0">
                <a:latin typeface="黑体" pitchFamily="2" charset="-122"/>
                <a:ea typeface="黑体" pitchFamily="2" charset="-122"/>
              </a:rPr>
              <a:t>地理惯性</a:t>
            </a:r>
          </a:p>
          <a:p>
            <a:pPr marL="609600" indent="-609600" eaLnBrk="1" hangingPunct="1">
              <a:lnSpc>
                <a:spcPct val="130000"/>
              </a:lnSpc>
              <a:buFont typeface="Wingdings" pitchFamily="2" charset="2"/>
              <a:buAutoNum type="arabicPeriod"/>
              <a:defRPr/>
            </a:pPr>
            <a:r>
              <a:rPr lang="zh-CN" altLang="en-US" smtClean="0">
                <a:latin typeface="黑体" pitchFamily="2" charset="-122"/>
                <a:ea typeface="黑体" pitchFamily="2" charset="-122"/>
              </a:rPr>
              <a:t>金融资本的影响</a:t>
            </a:r>
          </a:p>
          <a:p>
            <a:pPr marL="609600" indent="-609600" eaLnBrk="1" hangingPunct="1">
              <a:lnSpc>
                <a:spcPct val="130000"/>
              </a:lnSpc>
              <a:buFont typeface="Wingdings" pitchFamily="2" charset="2"/>
              <a:buNone/>
              <a:defRPr/>
            </a:pPr>
            <a:r>
              <a:rPr lang="zh-CN" altLang="en-US" smtClean="0">
                <a:latin typeface="黑体" pitchFamily="2" charset="-122"/>
                <a:ea typeface="黑体" pitchFamily="2" charset="-122"/>
              </a:rPr>
              <a:t>（</a:t>
            </a:r>
            <a:r>
              <a:rPr lang="en-US" altLang="zh-CN" smtClean="0">
                <a:latin typeface="黑体" pitchFamily="2" charset="-122"/>
                <a:ea typeface="黑体" pitchFamily="2" charset="-122"/>
              </a:rPr>
              <a:t>1</a:t>
            </a:r>
            <a:r>
              <a:rPr lang="zh-CN" altLang="en-US" smtClean="0">
                <a:latin typeface="黑体" pitchFamily="2" charset="-122"/>
                <a:ea typeface="黑体" pitchFamily="2" charset="-122"/>
              </a:rPr>
              <a:t>）融资条件对经济活动的影响</a:t>
            </a:r>
          </a:p>
          <a:p>
            <a:pPr marL="609600" indent="-609600" eaLnBrk="1" hangingPunct="1">
              <a:lnSpc>
                <a:spcPct val="130000"/>
              </a:lnSpc>
              <a:buFont typeface="Wingdings" pitchFamily="2" charset="2"/>
              <a:buNone/>
              <a:defRPr/>
            </a:pPr>
            <a:r>
              <a:rPr lang="zh-CN" altLang="en-US" smtClean="0">
                <a:latin typeface="黑体" pitchFamily="2" charset="-122"/>
                <a:ea typeface="黑体" pitchFamily="2" charset="-122"/>
              </a:rPr>
              <a:t>（</a:t>
            </a:r>
            <a:r>
              <a:rPr lang="en-US" altLang="zh-CN" smtClean="0">
                <a:latin typeface="黑体" pitchFamily="2" charset="-122"/>
                <a:ea typeface="黑体" pitchFamily="2" charset="-122"/>
              </a:rPr>
              <a:t>2</a:t>
            </a:r>
            <a:r>
              <a:rPr lang="zh-CN" altLang="en-US" smtClean="0">
                <a:latin typeface="黑体" pitchFamily="2" charset="-122"/>
                <a:ea typeface="黑体" pitchFamily="2" charset="-122"/>
              </a:rPr>
              <a:t>）资本总是流向能充分获利的区域</a:t>
            </a:r>
          </a:p>
          <a:p>
            <a:pPr marL="609600" indent="-609600" eaLnBrk="1" hangingPunct="1">
              <a:lnSpc>
                <a:spcPct val="130000"/>
              </a:lnSpc>
              <a:buFont typeface="Wingdings" pitchFamily="2" charset="2"/>
              <a:buNone/>
              <a:defRPr/>
            </a:pPr>
            <a:r>
              <a:rPr lang="zh-CN" altLang="en-US" smtClean="0">
                <a:latin typeface="黑体" pitchFamily="2" charset="-122"/>
                <a:ea typeface="黑体" pitchFamily="2" charset="-122"/>
              </a:rPr>
              <a:t>（</a:t>
            </a:r>
            <a:r>
              <a:rPr lang="en-US" altLang="zh-CN" smtClean="0">
                <a:latin typeface="黑体" pitchFamily="2" charset="-122"/>
                <a:ea typeface="黑体" pitchFamily="2" charset="-122"/>
              </a:rPr>
              <a:t>3</a:t>
            </a:r>
            <a:r>
              <a:rPr lang="zh-CN" altLang="en-US" smtClean="0">
                <a:latin typeface="黑体" pitchFamily="2" charset="-122"/>
                <a:ea typeface="黑体" pitchFamily="2" charset="-122"/>
              </a:rPr>
              <a:t>）风险资本市场是高新技术产业区位选择的关键</a:t>
            </a:r>
          </a:p>
          <a:p>
            <a:pPr marL="609600" indent="-609600" eaLnBrk="1" hangingPunct="1">
              <a:buFont typeface="Wingdings" pitchFamily="2" charset="2"/>
              <a:buNone/>
              <a:defRPr/>
            </a:pPr>
            <a:endParaRPr lang="en-US" altLang="zh-CN" smtClean="0"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4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4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4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4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49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49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49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49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995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62" name="Rectangle 10"/>
          <p:cNvSpPr>
            <a:spLocks noGrp="1" noChangeArrowheads="1"/>
          </p:cNvSpPr>
          <p:nvPr>
            <p:ph type="title"/>
          </p:nvPr>
        </p:nvSpPr>
        <p:spPr>
          <a:xfrm>
            <a:off x="468313" y="549275"/>
            <a:ext cx="8229600" cy="1143000"/>
          </a:xfrm>
        </p:spPr>
        <p:txBody>
          <a:bodyPr/>
          <a:lstStyle/>
          <a:p>
            <a:pPr algn="l" eaLnBrk="1" hangingPunct="1">
              <a:defRPr/>
            </a:pPr>
            <a:r>
              <a:rPr lang="zh-CN" altLang="en-US" sz="4000" dirty="0" smtClean="0">
                <a:solidFill>
                  <a:srgbClr val="FFFF00"/>
                </a:solidFill>
                <a:ea typeface="黑体" pitchFamily="2" charset="-122"/>
              </a:rPr>
              <a:t>二、劳动因子对经济区位的影响</a:t>
            </a:r>
          </a:p>
        </p:txBody>
      </p:sp>
      <p:sp>
        <p:nvSpPr>
          <p:cNvPr id="74763" name="Rectangle 11"/>
          <p:cNvSpPr>
            <a:spLocks noGrp="1" noChangeArrowheads="1"/>
          </p:cNvSpPr>
          <p:nvPr>
            <p:ph type="body" idx="1"/>
          </p:nvPr>
        </p:nvSpPr>
        <p:spPr>
          <a:xfrm>
            <a:off x="2051050" y="1989138"/>
            <a:ext cx="5554663" cy="4103687"/>
          </a:xfrm>
        </p:spPr>
        <p:txBody>
          <a:bodyPr/>
          <a:lstStyle/>
          <a:p>
            <a:pPr marL="609600" indent="-609600" eaLnBrk="1" hangingPunct="1">
              <a:lnSpc>
                <a:spcPct val="140000"/>
              </a:lnSpc>
              <a:buFont typeface="Wingdings" pitchFamily="2" charset="2"/>
              <a:buAutoNum type="arabicPeriod"/>
              <a:defRPr/>
            </a:pPr>
            <a:r>
              <a:rPr lang="zh-CN" altLang="en-US" sz="2800" dirty="0" smtClean="0">
                <a:ea typeface="黑体" pitchFamily="2" charset="-122"/>
              </a:rPr>
              <a:t>劳动力数量</a:t>
            </a:r>
          </a:p>
          <a:p>
            <a:pPr marL="609600" indent="-609600" eaLnBrk="1" hangingPunct="1">
              <a:lnSpc>
                <a:spcPct val="140000"/>
              </a:lnSpc>
              <a:buFont typeface="Wingdings" pitchFamily="2" charset="2"/>
              <a:buAutoNum type="arabicPeriod"/>
              <a:defRPr/>
            </a:pPr>
            <a:r>
              <a:rPr lang="zh-CN" altLang="en-US" sz="2800" dirty="0" smtClean="0">
                <a:ea typeface="黑体" pitchFamily="2" charset="-122"/>
              </a:rPr>
              <a:t>劳动力素质</a:t>
            </a:r>
          </a:p>
          <a:p>
            <a:pPr marL="609600" indent="-609600" eaLnBrk="1" hangingPunct="1">
              <a:lnSpc>
                <a:spcPct val="140000"/>
              </a:lnSpc>
              <a:buFont typeface="Wingdings" pitchFamily="2" charset="2"/>
              <a:buAutoNum type="arabicPeriod"/>
              <a:defRPr/>
            </a:pPr>
            <a:r>
              <a:rPr lang="zh-CN" altLang="en-US" sz="2800" dirty="0" smtClean="0">
                <a:ea typeface="黑体" pitchFamily="2" charset="-122"/>
              </a:rPr>
              <a:t>劳动力成本</a:t>
            </a:r>
          </a:p>
          <a:p>
            <a:pPr marL="609600" indent="-609600" eaLnBrk="1" hangingPunct="1">
              <a:lnSpc>
                <a:spcPct val="140000"/>
              </a:lnSpc>
              <a:buFont typeface="Wingdings" pitchFamily="2" charset="2"/>
              <a:buAutoNum type="arabicPeriod"/>
              <a:defRPr/>
            </a:pPr>
            <a:r>
              <a:rPr lang="zh-CN" altLang="en-US" sz="2800" dirty="0" smtClean="0">
                <a:ea typeface="黑体" pitchFamily="2" charset="-122"/>
              </a:rPr>
              <a:t>劳动力移动</a:t>
            </a:r>
          </a:p>
          <a:p>
            <a:pPr marL="609600" indent="-609600" eaLnBrk="1" hangingPunct="1">
              <a:lnSpc>
                <a:spcPct val="140000"/>
              </a:lnSpc>
              <a:buFont typeface="Wingdings" pitchFamily="2" charset="2"/>
              <a:buNone/>
              <a:defRPr/>
            </a:pPr>
            <a:r>
              <a:rPr lang="zh-CN" altLang="en-US" sz="2800" dirty="0" smtClean="0">
                <a:ea typeface="黑体" pitchFamily="2" charset="-122"/>
              </a:rPr>
              <a:t>      </a:t>
            </a:r>
            <a:r>
              <a:rPr lang="zh-CN" altLang="en-US" sz="2400" dirty="0" smtClean="0">
                <a:solidFill>
                  <a:schemeClr val="hlink"/>
                </a:solidFill>
                <a:ea typeface="黑体" pitchFamily="2" charset="-122"/>
              </a:rPr>
              <a:t>为什么在闽南打工人员中来自福建山区的比重低？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47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47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47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47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47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47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47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47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47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47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6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0" y="1628775"/>
            <a:ext cx="8229600" cy="4525963"/>
          </a:xfrm>
        </p:spPr>
        <p:txBody>
          <a:bodyPr/>
          <a:lstStyle/>
          <a:p>
            <a:pPr>
              <a:lnSpc>
                <a:spcPct val="150000"/>
              </a:lnSpc>
              <a:buFontTx/>
              <a:buNone/>
              <a:defRPr/>
            </a:pPr>
            <a:r>
              <a:rPr lang="zh-CN" altLang="en-US" dirty="0" smtClean="0">
                <a:solidFill>
                  <a:schemeClr val="tx2"/>
                </a:solidFill>
                <a:ea typeface="黑体" pitchFamily="49" charset="-122"/>
              </a:rPr>
              <a:t>（一）市</a:t>
            </a:r>
            <a:r>
              <a:rPr lang="zh-CN" altLang="en-US" dirty="0">
                <a:solidFill>
                  <a:schemeClr val="tx2"/>
                </a:solidFill>
                <a:ea typeface="黑体" pitchFamily="49" charset="-122"/>
              </a:rPr>
              <a:t>场经济的基本特征、作用与缺陷</a:t>
            </a:r>
          </a:p>
          <a:p>
            <a:pPr>
              <a:lnSpc>
                <a:spcPct val="150000"/>
              </a:lnSpc>
              <a:buFontTx/>
              <a:buNone/>
              <a:defRPr/>
            </a:pPr>
            <a:r>
              <a:rPr lang="zh-CN" altLang="en-US" dirty="0" smtClean="0">
                <a:solidFill>
                  <a:schemeClr val="tx2"/>
                </a:solidFill>
                <a:ea typeface="黑体" pitchFamily="49" charset="-122"/>
              </a:rPr>
              <a:t>（二）市</a:t>
            </a:r>
            <a:r>
              <a:rPr lang="zh-CN" altLang="en-US" dirty="0">
                <a:solidFill>
                  <a:schemeClr val="tx2"/>
                </a:solidFill>
                <a:ea typeface="黑体" pitchFamily="49" charset="-122"/>
              </a:rPr>
              <a:t>场规模对经济活动区位的影响</a:t>
            </a:r>
          </a:p>
          <a:p>
            <a:pPr>
              <a:lnSpc>
                <a:spcPct val="150000"/>
              </a:lnSpc>
              <a:buFontTx/>
              <a:buNone/>
              <a:defRPr/>
            </a:pPr>
            <a:r>
              <a:rPr lang="zh-CN" altLang="en-US" dirty="0" smtClean="0">
                <a:solidFill>
                  <a:schemeClr val="tx2"/>
                </a:solidFill>
                <a:ea typeface="黑体" pitchFamily="49" charset="-122"/>
              </a:rPr>
              <a:t>（三）市</a:t>
            </a:r>
            <a:r>
              <a:rPr lang="zh-CN" altLang="en-US" dirty="0">
                <a:solidFill>
                  <a:schemeClr val="tx2"/>
                </a:solidFill>
                <a:ea typeface="黑体" pitchFamily="49" charset="-122"/>
              </a:rPr>
              <a:t>场战略对经济活动区位的影响</a:t>
            </a:r>
          </a:p>
          <a:p>
            <a:pPr>
              <a:lnSpc>
                <a:spcPct val="150000"/>
              </a:lnSpc>
              <a:buFontTx/>
              <a:buNone/>
              <a:defRPr/>
            </a:pPr>
            <a:r>
              <a:rPr lang="zh-CN" altLang="en-US" dirty="0" smtClean="0">
                <a:solidFill>
                  <a:schemeClr val="tx2"/>
                </a:solidFill>
                <a:ea typeface="黑体" pitchFamily="49" charset="-122"/>
              </a:rPr>
              <a:t>（四）市场特</a:t>
            </a:r>
            <a:r>
              <a:rPr lang="zh-CN" altLang="en-US" dirty="0">
                <a:solidFill>
                  <a:schemeClr val="tx2"/>
                </a:solidFill>
                <a:ea typeface="黑体" pitchFamily="49" charset="-122"/>
              </a:rPr>
              <a:t>性对经济活动区位的影响</a:t>
            </a:r>
          </a:p>
          <a:p>
            <a:pPr>
              <a:lnSpc>
                <a:spcPct val="150000"/>
              </a:lnSpc>
              <a:buFontTx/>
              <a:buNone/>
              <a:defRPr/>
            </a:pPr>
            <a:r>
              <a:rPr lang="zh-CN" altLang="en-US" dirty="0" smtClean="0">
                <a:solidFill>
                  <a:schemeClr val="tx2"/>
                </a:solidFill>
                <a:ea typeface="黑体" pitchFamily="49" charset="-122"/>
              </a:rPr>
              <a:t>（五）市场环境对</a:t>
            </a:r>
            <a:r>
              <a:rPr lang="zh-CN" altLang="en-US" dirty="0">
                <a:solidFill>
                  <a:schemeClr val="tx2"/>
                </a:solidFill>
                <a:ea typeface="黑体" pitchFamily="49" charset="-122"/>
              </a:rPr>
              <a:t>经济活动区位的影响</a:t>
            </a:r>
          </a:p>
          <a:p>
            <a:pPr>
              <a:buFontTx/>
              <a:buNone/>
              <a:defRPr/>
            </a:pPr>
            <a:endParaRPr lang="en-US" altLang="zh-CN" dirty="0">
              <a:solidFill>
                <a:schemeClr val="bg1"/>
              </a:solidFill>
              <a:ea typeface="黑体" pitchFamily="49" charset="-122"/>
            </a:endParaRPr>
          </a:p>
        </p:txBody>
      </p:sp>
      <p:sp>
        <p:nvSpPr>
          <p:cNvPr id="3" name="Rectangle 10"/>
          <p:cNvSpPr>
            <a:spLocks noGrp="1" noChangeArrowheads="1"/>
          </p:cNvSpPr>
          <p:nvPr>
            <p:ph type="title"/>
          </p:nvPr>
        </p:nvSpPr>
        <p:spPr>
          <a:xfrm>
            <a:off x="468313" y="333375"/>
            <a:ext cx="8229600" cy="1143000"/>
          </a:xfrm>
        </p:spPr>
        <p:txBody>
          <a:bodyPr/>
          <a:lstStyle/>
          <a:p>
            <a:pPr algn="l" eaLnBrk="1" hangingPunct="1">
              <a:defRPr/>
            </a:pPr>
            <a:r>
              <a:rPr lang="zh-CN" altLang="en-US" sz="4000" dirty="0" smtClean="0">
                <a:solidFill>
                  <a:srgbClr val="FFFF00"/>
                </a:solidFill>
                <a:ea typeface="黑体" pitchFamily="2" charset="-122"/>
              </a:rPr>
              <a:t>三、市场因素对经济区位的影响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476250"/>
            <a:ext cx="8569325" cy="850900"/>
          </a:xfrm>
        </p:spPr>
        <p:txBody>
          <a:bodyPr/>
          <a:lstStyle/>
          <a:p>
            <a:pPr algn="l">
              <a:defRPr/>
            </a:pPr>
            <a:r>
              <a:rPr lang="zh-CN" altLang="en-US" sz="3600" dirty="0" smtClean="0">
                <a:solidFill>
                  <a:srgbClr val="FFFF00"/>
                </a:solidFill>
                <a:ea typeface="黑体" pitchFamily="49" charset="-122"/>
              </a:rPr>
              <a:t>（一）市</a:t>
            </a:r>
            <a:r>
              <a:rPr lang="zh-CN" altLang="en-US" sz="3600" dirty="0">
                <a:solidFill>
                  <a:srgbClr val="FFFF00"/>
                </a:solidFill>
                <a:ea typeface="黑体" pitchFamily="49" charset="-122"/>
              </a:rPr>
              <a:t>场经济的基本特征、作用与缺陷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557338"/>
            <a:ext cx="8496300" cy="4895850"/>
          </a:xfrm>
        </p:spPr>
        <p:txBody>
          <a:bodyPr/>
          <a:lstStyle/>
          <a:p>
            <a:pPr>
              <a:lnSpc>
                <a:spcPct val="135000"/>
              </a:lnSpc>
              <a:buFontTx/>
              <a:buNone/>
              <a:defRPr/>
            </a:pPr>
            <a:r>
              <a:rPr lang="en-US" altLang="zh-CN" sz="2800" dirty="0">
                <a:solidFill>
                  <a:schemeClr val="tx2"/>
                </a:solidFill>
                <a:latin typeface="黑体" pitchFamily="49" charset="-122"/>
                <a:ea typeface="黑体" pitchFamily="49" charset="-122"/>
              </a:rPr>
              <a:t>1.</a:t>
            </a:r>
            <a:r>
              <a:rPr lang="zh-CN" altLang="en-US" sz="2800" dirty="0">
                <a:solidFill>
                  <a:schemeClr val="tx2"/>
                </a:solidFill>
                <a:latin typeface="黑体" pitchFamily="49" charset="-122"/>
                <a:ea typeface="黑体" pitchFamily="49" charset="-122"/>
              </a:rPr>
              <a:t>市场经济的基本特征</a:t>
            </a:r>
          </a:p>
          <a:p>
            <a:pPr>
              <a:lnSpc>
                <a:spcPct val="135000"/>
              </a:lnSpc>
              <a:buFontTx/>
              <a:buNone/>
              <a:defRPr/>
            </a:pPr>
            <a:r>
              <a:rPr lang="zh-CN" altLang="en-US" sz="2800" dirty="0">
                <a:solidFill>
                  <a:schemeClr val="tx2"/>
                </a:solidFill>
                <a:latin typeface="黑体" pitchFamily="49" charset="-122"/>
                <a:ea typeface="黑体" pitchFamily="49" charset="-122"/>
              </a:rPr>
              <a:t> </a:t>
            </a:r>
            <a:r>
              <a:rPr lang="zh-CN" altLang="en-US" sz="2400" dirty="0">
                <a:solidFill>
                  <a:schemeClr val="tx2"/>
                </a:solidFill>
                <a:latin typeface="黑体" pitchFamily="49" charset="-122"/>
                <a:ea typeface="黑体" pitchFamily="49" charset="-122"/>
              </a:rPr>
              <a:t>（</a:t>
            </a:r>
            <a:r>
              <a:rPr lang="en-US" altLang="zh-CN" sz="2400" dirty="0">
                <a:solidFill>
                  <a:schemeClr val="tx2"/>
                </a:solidFill>
                <a:latin typeface="黑体" pitchFamily="49" charset="-122"/>
                <a:ea typeface="黑体" pitchFamily="49" charset="-122"/>
              </a:rPr>
              <a:t>1</a:t>
            </a:r>
            <a:r>
              <a:rPr lang="zh-CN" altLang="en-US" sz="2400" dirty="0">
                <a:solidFill>
                  <a:schemeClr val="tx2"/>
                </a:solidFill>
                <a:latin typeface="黑体" pitchFamily="49" charset="-122"/>
                <a:ea typeface="黑体" pitchFamily="49" charset="-122"/>
              </a:rPr>
              <a:t>）具有经营自主性的企业是市场经济存在的前提；</a:t>
            </a:r>
          </a:p>
          <a:p>
            <a:pPr>
              <a:lnSpc>
                <a:spcPct val="135000"/>
              </a:lnSpc>
              <a:buFontTx/>
              <a:buNone/>
              <a:defRPr/>
            </a:pPr>
            <a:r>
              <a:rPr lang="zh-CN" altLang="en-US" sz="2400" dirty="0">
                <a:solidFill>
                  <a:schemeClr val="tx2"/>
                </a:solidFill>
                <a:latin typeface="黑体" pitchFamily="49" charset="-122"/>
                <a:ea typeface="黑体" pitchFamily="49" charset="-122"/>
              </a:rPr>
              <a:t> （</a:t>
            </a:r>
            <a:r>
              <a:rPr lang="en-US" altLang="zh-CN" sz="2400" dirty="0">
                <a:solidFill>
                  <a:schemeClr val="tx2"/>
                </a:solidFill>
                <a:latin typeface="黑体" pitchFamily="49" charset="-122"/>
                <a:ea typeface="黑体" pitchFamily="49" charset="-122"/>
              </a:rPr>
              <a:t>2</a:t>
            </a:r>
            <a:r>
              <a:rPr lang="zh-CN" altLang="en-US" sz="2400" dirty="0">
                <a:solidFill>
                  <a:schemeClr val="tx2"/>
                </a:solidFill>
                <a:latin typeface="黑体" pitchFamily="49" charset="-122"/>
                <a:ea typeface="黑体" pitchFamily="49" charset="-122"/>
              </a:rPr>
              <a:t>）在商品交换中通行的平等关系是市场经济运行的基本规则；</a:t>
            </a:r>
          </a:p>
          <a:p>
            <a:pPr>
              <a:lnSpc>
                <a:spcPct val="135000"/>
              </a:lnSpc>
              <a:buFontTx/>
              <a:buNone/>
              <a:defRPr/>
            </a:pPr>
            <a:r>
              <a:rPr lang="zh-CN" altLang="en-US" sz="2400" dirty="0">
                <a:solidFill>
                  <a:schemeClr val="tx2"/>
                </a:solidFill>
                <a:latin typeface="黑体" pitchFamily="49" charset="-122"/>
                <a:ea typeface="黑体" pitchFamily="49" charset="-122"/>
              </a:rPr>
              <a:t> （</a:t>
            </a:r>
            <a:r>
              <a:rPr lang="en-US" altLang="zh-CN" sz="2400" dirty="0">
                <a:solidFill>
                  <a:schemeClr val="tx2"/>
                </a:solidFill>
                <a:latin typeface="黑体" pitchFamily="49" charset="-122"/>
                <a:ea typeface="黑体" pitchFamily="49" charset="-122"/>
              </a:rPr>
              <a:t>3</a:t>
            </a:r>
            <a:r>
              <a:rPr lang="zh-CN" altLang="en-US" sz="2400" dirty="0">
                <a:solidFill>
                  <a:schemeClr val="tx2"/>
                </a:solidFill>
                <a:latin typeface="黑体" pitchFamily="49" charset="-122"/>
                <a:ea typeface="黑体" pitchFamily="49" charset="-122"/>
              </a:rPr>
              <a:t>）竞争是市场经济存在和发展的内在动力机制；</a:t>
            </a:r>
          </a:p>
          <a:p>
            <a:pPr>
              <a:lnSpc>
                <a:spcPct val="135000"/>
              </a:lnSpc>
              <a:buFontTx/>
              <a:buNone/>
              <a:defRPr/>
            </a:pPr>
            <a:r>
              <a:rPr lang="zh-CN" altLang="en-US" sz="2400" dirty="0">
                <a:solidFill>
                  <a:schemeClr val="tx2"/>
                </a:solidFill>
                <a:latin typeface="黑体" pitchFamily="49" charset="-122"/>
                <a:ea typeface="黑体" pitchFamily="49" charset="-122"/>
              </a:rPr>
              <a:t> （</a:t>
            </a:r>
            <a:r>
              <a:rPr lang="en-US" altLang="zh-CN" sz="2400" dirty="0">
                <a:solidFill>
                  <a:schemeClr val="tx2"/>
                </a:solidFill>
                <a:latin typeface="黑体" pitchFamily="49" charset="-122"/>
                <a:ea typeface="黑体" pitchFamily="49" charset="-122"/>
              </a:rPr>
              <a:t>4</a:t>
            </a:r>
            <a:r>
              <a:rPr lang="zh-CN" altLang="en-US" sz="2400" dirty="0">
                <a:solidFill>
                  <a:schemeClr val="tx2"/>
                </a:solidFill>
                <a:latin typeface="黑体" pitchFamily="49" charset="-122"/>
                <a:ea typeface="黑体" pitchFamily="49" charset="-122"/>
              </a:rPr>
              <a:t>）开放性是市场经济发展的本性；</a:t>
            </a:r>
          </a:p>
          <a:p>
            <a:pPr>
              <a:lnSpc>
                <a:spcPct val="135000"/>
              </a:lnSpc>
              <a:buFontTx/>
              <a:buNone/>
              <a:defRPr/>
            </a:pPr>
            <a:r>
              <a:rPr lang="zh-CN" altLang="en-US" sz="2400" dirty="0">
                <a:solidFill>
                  <a:schemeClr val="tx2"/>
                </a:solidFill>
                <a:latin typeface="黑体" pitchFamily="49" charset="-122"/>
                <a:ea typeface="黑体" pitchFamily="49" charset="-122"/>
              </a:rPr>
              <a:t> （</a:t>
            </a:r>
            <a:r>
              <a:rPr lang="en-US" altLang="zh-CN" sz="2400" dirty="0">
                <a:solidFill>
                  <a:schemeClr val="tx2"/>
                </a:solidFill>
                <a:latin typeface="黑体" pitchFamily="49" charset="-122"/>
                <a:ea typeface="黑体" pitchFamily="49" charset="-122"/>
              </a:rPr>
              <a:t>5</a:t>
            </a:r>
            <a:r>
              <a:rPr lang="zh-CN" altLang="en-US" sz="2400" dirty="0">
                <a:solidFill>
                  <a:schemeClr val="tx2"/>
                </a:solidFill>
                <a:latin typeface="黑体" pitchFamily="49" charset="-122"/>
                <a:ea typeface="黑体" pitchFamily="49" charset="-122"/>
              </a:rPr>
              <a:t>）健全的法制是市场经济存在和发展的内在要求；</a:t>
            </a:r>
          </a:p>
          <a:p>
            <a:pPr>
              <a:lnSpc>
                <a:spcPct val="135000"/>
              </a:lnSpc>
              <a:buFontTx/>
              <a:buNone/>
              <a:defRPr/>
            </a:pPr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  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9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7450" y="981075"/>
            <a:ext cx="7499350" cy="5145088"/>
          </a:xfrm>
        </p:spPr>
        <p:txBody>
          <a:bodyPr/>
          <a:lstStyle/>
          <a:p>
            <a:pPr>
              <a:lnSpc>
                <a:spcPct val="145000"/>
              </a:lnSpc>
              <a:buFontTx/>
              <a:buNone/>
              <a:defRPr/>
            </a:pPr>
            <a:r>
              <a:rPr lang="en-US" altLang="zh-CN" sz="3600" dirty="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2. </a:t>
            </a:r>
            <a:r>
              <a:rPr lang="zh-CN" altLang="en-US" sz="3600" dirty="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市场经济的基本作用</a:t>
            </a:r>
          </a:p>
          <a:p>
            <a:pPr>
              <a:lnSpc>
                <a:spcPct val="145000"/>
              </a:lnSpc>
              <a:buFontTx/>
              <a:buNone/>
              <a:defRPr/>
            </a:pPr>
            <a:r>
              <a:rPr lang="zh-CN" altLang="en-US" dirty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 </a:t>
            </a:r>
            <a:r>
              <a:rPr lang="zh-CN" altLang="en-US" dirty="0">
                <a:solidFill>
                  <a:schemeClr val="tx2"/>
                </a:solidFill>
                <a:latin typeface="黑体" pitchFamily="49" charset="-122"/>
                <a:ea typeface="黑体" pitchFamily="49" charset="-122"/>
              </a:rPr>
              <a:t>（</a:t>
            </a:r>
            <a:r>
              <a:rPr lang="en-US" altLang="zh-CN" dirty="0">
                <a:solidFill>
                  <a:schemeClr val="tx2"/>
                </a:solidFill>
                <a:latin typeface="黑体" pitchFamily="49" charset="-122"/>
                <a:ea typeface="黑体" pitchFamily="49" charset="-122"/>
              </a:rPr>
              <a:t>1</a:t>
            </a:r>
            <a:r>
              <a:rPr lang="zh-CN" altLang="en-US" dirty="0">
                <a:solidFill>
                  <a:schemeClr val="tx2"/>
                </a:solidFill>
                <a:latin typeface="黑体" pitchFamily="49" charset="-122"/>
                <a:ea typeface="黑体" pitchFamily="49" charset="-122"/>
              </a:rPr>
              <a:t>）进行社会资源配置</a:t>
            </a:r>
          </a:p>
          <a:p>
            <a:pPr>
              <a:lnSpc>
                <a:spcPct val="145000"/>
              </a:lnSpc>
              <a:buFontTx/>
              <a:buNone/>
              <a:defRPr/>
            </a:pPr>
            <a:r>
              <a:rPr lang="zh-CN" altLang="en-US" dirty="0">
                <a:solidFill>
                  <a:schemeClr val="tx2"/>
                </a:solidFill>
                <a:latin typeface="黑体" pitchFamily="49" charset="-122"/>
                <a:ea typeface="黑体" pitchFamily="49" charset="-122"/>
              </a:rPr>
              <a:t> （</a:t>
            </a:r>
            <a:r>
              <a:rPr lang="en-US" altLang="zh-CN" dirty="0">
                <a:solidFill>
                  <a:schemeClr val="tx2"/>
                </a:solidFill>
                <a:latin typeface="黑体" pitchFamily="49" charset="-122"/>
                <a:ea typeface="黑体" pitchFamily="49" charset="-122"/>
              </a:rPr>
              <a:t>2</a:t>
            </a:r>
            <a:r>
              <a:rPr lang="zh-CN" altLang="en-US" dirty="0">
                <a:solidFill>
                  <a:schemeClr val="tx2"/>
                </a:solidFill>
                <a:latin typeface="黑体" pitchFamily="49" charset="-122"/>
                <a:ea typeface="黑体" pitchFamily="49" charset="-122"/>
              </a:rPr>
              <a:t>）促进技术进步和生产效率的提高</a:t>
            </a:r>
          </a:p>
          <a:p>
            <a:pPr>
              <a:lnSpc>
                <a:spcPct val="145000"/>
              </a:lnSpc>
              <a:buFontTx/>
              <a:buNone/>
              <a:defRPr/>
            </a:pPr>
            <a:r>
              <a:rPr lang="zh-CN" altLang="en-US" dirty="0">
                <a:solidFill>
                  <a:schemeClr val="tx2"/>
                </a:solidFill>
                <a:latin typeface="黑体" pitchFamily="49" charset="-122"/>
                <a:ea typeface="黑体" pitchFamily="49" charset="-122"/>
              </a:rPr>
              <a:t> （</a:t>
            </a:r>
            <a:r>
              <a:rPr lang="en-US" altLang="zh-CN" dirty="0">
                <a:solidFill>
                  <a:schemeClr val="tx2"/>
                </a:solidFill>
                <a:latin typeface="黑体" pitchFamily="49" charset="-122"/>
                <a:ea typeface="黑体" pitchFamily="49" charset="-122"/>
              </a:rPr>
              <a:t>3</a:t>
            </a:r>
            <a:r>
              <a:rPr lang="zh-CN" altLang="en-US" dirty="0">
                <a:solidFill>
                  <a:schemeClr val="tx2"/>
                </a:solidFill>
                <a:latin typeface="黑体" pitchFamily="49" charset="-122"/>
                <a:ea typeface="黑体" pitchFamily="49" charset="-122"/>
              </a:rPr>
              <a:t>）推动产业结构升级和优化</a:t>
            </a:r>
          </a:p>
          <a:p>
            <a:pPr>
              <a:lnSpc>
                <a:spcPct val="145000"/>
              </a:lnSpc>
              <a:buFontTx/>
              <a:buNone/>
              <a:defRPr/>
            </a:pPr>
            <a:r>
              <a:rPr lang="zh-CN" altLang="en-US" dirty="0">
                <a:solidFill>
                  <a:schemeClr val="tx2"/>
                </a:solidFill>
                <a:latin typeface="黑体" pitchFamily="49" charset="-122"/>
                <a:ea typeface="黑体" pitchFamily="49" charset="-122"/>
              </a:rPr>
              <a:t> （</a:t>
            </a:r>
            <a:r>
              <a:rPr lang="en-US" altLang="zh-CN" dirty="0">
                <a:solidFill>
                  <a:schemeClr val="tx2"/>
                </a:solidFill>
                <a:latin typeface="黑体" pitchFamily="49" charset="-122"/>
                <a:ea typeface="黑体" pitchFamily="49" charset="-122"/>
              </a:rPr>
              <a:t>4</a:t>
            </a:r>
            <a:r>
              <a:rPr lang="zh-CN" altLang="en-US" dirty="0">
                <a:solidFill>
                  <a:schemeClr val="tx2"/>
                </a:solidFill>
                <a:latin typeface="黑体" pitchFamily="49" charset="-122"/>
                <a:ea typeface="黑体" pitchFamily="49" charset="-122"/>
              </a:rPr>
              <a:t>）按照效率的原则调节社会收入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81075"/>
            <a:ext cx="8686800" cy="5434013"/>
          </a:xfrm>
        </p:spPr>
        <p:txBody>
          <a:bodyPr/>
          <a:lstStyle/>
          <a:p>
            <a:pPr>
              <a:lnSpc>
                <a:spcPct val="130000"/>
              </a:lnSpc>
              <a:buFontTx/>
              <a:buNone/>
              <a:defRPr/>
            </a:pPr>
            <a:r>
              <a:rPr lang="en-US" altLang="zh-CN" dirty="0">
                <a:solidFill>
                  <a:srgbClr val="FFFF00"/>
                </a:solidFill>
              </a:rPr>
              <a:t>3.</a:t>
            </a:r>
            <a:r>
              <a:rPr lang="zh-CN" altLang="en-US" dirty="0">
                <a:solidFill>
                  <a:srgbClr val="FFFF00"/>
                </a:solidFill>
                <a:ea typeface="黑体" pitchFamily="49" charset="-122"/>
              </a:rPr>
              <a:t>市场经济的主要缺陷</a:t>
            </a:r>
          </a:p>
          <a:p>
            <a:pPr>
              <a:lnSpc>
                <a:spcPct val="130000"/>
              </a:lnSpc>
              <a:buFontTx/>
              <a:buNone/>
              <a:defRPr/>
            </a:pP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zh-CN" altLang="en-US" sz="2800" dirty="0">
                <a:solidFill>
                  <a:schemeClr val="tx2"/>
                </a:solidFill>
              </a:rPr>
              <a:t>（</a:t>
            </a:r>
            <a:r>
              <a:rPr lang="en-US" altLang="zh-CN" sz="2800" dirty="0">
                <a:solidFill>
                  <a:schemeClr val="tx2"/>
                </a:solidFill>
                <a:latin typeface="黑体" pitchFamily="49" charset="-122"/>
                <a:ea typeface="黑体" pitchFamily="49" charset="-122"/>
              </a:rPr>
              <a:t>1</a:t>
            </a:r>
            <a:r>
              <a:rPr lang="zh-CN" altLang="en-US" sz="2800" dirty="0">
                <a:solidFill>
                  <a:schemeClr val="tx2"/>
                </a:solidFill>
                <a:latin typeface="黑体" pitchFamily="49" charset="-122"/>
                <a:ea typeface="黑体" pitchFamily="49" charset="-122"/>
              </a:rPr>
              <a:t>）市场调节功能的本身缺陷；</a:t>
            </a:r>
          </a:p>
          <a:p>
            <a:pPr>
              <a:lnSpc>
                <a:spcPct val="130000"/>
              </a:lnSpc>
              <a:buFontTx/>
              <a:buNone/>
              <a:defRPr/>
            </a:pPr>
            <a:r>
              <a:rPr lang="zh-CN" altLang="en-US" sz="2800" dirty="0">
                <a:solidFill>
                  <a:schemeClr val="tx2"/>
                </a:solidFill>
                <a:latin typeface="黑体" pitchFamily="49" charset="-122"/>
                <a:ea typeface="黑体" pitchFamily="49" charset="-122"/>
              </a:rPr>
              <a:t> （</a:t>
            </a:r>
            <a:r>
              <a:rPr lang="en-US" altLang="zh-CN" sz="2800" dirty="0">
                <a:solidFill>
                  <a:schemeClr val="tx2"/>
                </a:solidFill>
                <a:latin typeface="黑体" pitchFamily="49" charset="-122"/>
                <a:ea typeface="黑体" pitchFamily="49" charset="-122"/>
              </a:rPr>
              <a:t>2</a:t>
            </a:r>
            <a:r>
              <a:rPr lang="zh-CN" altLang="en-US" sz="2800" dirty="0">
                <a:solidFill>
                  <a:schemeClr val="tx2"/>
                </a:solidFill>
                <a:latin typeface="黑体" pitchFamily="49" charset="-122"/>
                <a:ea typeface="黑体" pitchFamily="49" charset="-122"/>
              </a:rPr>
              <a:t>）市场本身不能有效解决宏观经济的平衡问题；</a:t>
            </a:r>
          </a:p>
          <a:p>
            <a:pPr>
              <a:lnSpc>
                <a:spcPct val="130000"/>
              </a:lnSpc>
              <a:buFontTx/>
              <a:buNone/>
              <a:defRPr/>
            </a:pPr>
            <a:r>
              <a:rPr lang="zh-CN" altLang="en-US" sz="2800" dirty="0">
                <a:solidFill>
                  <a:schemeClr val="tx2"/>
                </a:solidFill>
                <a:latin typeface="黑体" pitchFamily="49" charset="-122"/>
                <a:ea typeface="黑体" pitchFamily="49" charset="-122"/>
              </a:rPr>
              <a:t> （</a:t>
            </a:r>
            <a:r>
              <a:rPr lang="en-US" altLang="zh-CN" sz="2800" dirty="0">
                <a:solidFill>
                  <a:schemeClr val="tx2"/>
                </a:solidFill>
                <a:latin typeface="黑体" pitchFamily="49" charset="-122"/>
                <a:ea typeface="黑体" pitchFamily="49" charset="-122"/>
              </a:rPr>
              <a:t>3</a:t>
            </a:r>
            <a:r>
              <a:rPr lang="zh-CN" altLang="en-US" sz="2800" dirty="0">
                <a:solidFill>
                  <a:schemeClr val="tx2"/>
                </a:solidFill>
                <a:latin typeface="黑体" pitchFamily="49" charset="-122"/>
                <a:ea typeface="黑体" pitchFamily="49" charset="-122"/>
              </a:rPr>
              <a:t>）市场不能有效反映国民经济发展的长远目标；</a:t>
            </a:r>
          </a:p>
          <a:p>
            <a:pPr>
              <a:lnSpc>
                <a:spcPct val="130000"/>
              </a:lnSpc>
              <a:buFontTx/>
              <a:buNone/>
              <a:defRPr/>
            </a:pPr>
            <a:r>
              <a:rPr lang="zh-CN" altLang="en-US" sz="2800" dirty="0">
                <a:solidFill>
                  <a:schemeClr val="tx2"/>
                </a:solidFill>
                <a:latin typeface="黑体" pitchFamily="49" charset="-122"/>
                <a:ea typeface="黑体" pitchFamily="49" charset="-122"/>
              </a:rPr>
              <a:t> （</a:t>
            </a:r>
            <a:r>
              <a:rPr lang="en-US" altLang="zh-CN" sz="2800" dirty="0">
                <a:solidFill>
                  <a:schemeClr val="tx2"/>
                </a:solidFill>
                <a:latin typeface="黑体" pitchFamily="49" charset="-122"/>
                <a:ea typeface="黑体" pitchFamily="49" charset="-122"/>
              </a:rPr>
              <a:t>4</a:t>
            </a:r>
            <a:r>
              <a:rPr lang="zh-CN" altLang="en-US" sz="2800" dirty="0">
                <a:solidFill>
                  <a:schemeClr val="tx2"/>
                </a:solidFill>
                <a:latin typeface="黑体" pitchFamily="49" charset="-122"/>
                <a:ea typeface="黑体" pitchFamily="49" charset="-122"/>
              </a:rPr>
              <a:t>）市场不能消除竞争中出现的垄断；</a:t>
            </a:r>
          </a:p>
          <a:p>
            <a:pPr>
              <a:lnSpc>
                <a:spcPct val="130000"/>
              </a:lnSpc>
              <a:buFontTx/>
              <a:buNone/>
              <a:defRPr/>
            </a:pPr>
            <a:r>
              <a:rPr lang="zh-CN" altLang="en-US" sz="2800" dirty="0">
                <a:solidFill>
                  <a:schemeClr val="tx2"/>
                </a:solidFill>
                <a:latin typeface="黑体" pitchFamily="49" charset="-122"/>
                <a:ea typeface="黑体" pitchFamily="49" charset="-122"/>
              </a:rPr>
              <a:t> （</a:t>
            </a:r>
            <a:r>
              <a:rPr lang="en-US" altLang="zh-CN" sz="2800" dirty="0">
                <a:solidFill>
                  <a:schemeClr val="tx2"/>
                </a:solidFill>
                <a:latin typeface="黑体" pitchFamily="49" charset="-122"/>
                <a:ea typeface="黑体" pitchFamily="49" charset="-122"/>
              </a:rPr>
              <a:t>5</a:t>
            </a:r>
            <a:r>
              <a:rPr lang="zh-CN" altLang="en-US" sz="2800" dirty="0">
                <a:solidFill>
                  <a:schemeClr val="tx2"/>
                </a:solidFill>
                <a:latin typeface="黑体" pitchFamily="49" charset="-122"/>
                <a:ea typeface="黑体" pitchFamily="49" charset="-122"/>
              </a:rPr>
              <a:t>）市场无法对公共产品进行有效调节；</a:t>
            </a:r>
          </a:p>
          <a:p>
            <a:pPr>
              <a:lnSpc>
                <a:spcPct val="130000"/>
              </a:lnSpc>
              <a:buFontTx/>
              <a:buNone/>
              <a:defRPr/>
            </a:pPr>
            <a:r>
              <a:rPr lang="zh-CN" altLang="en-US" sz="2800" dirty="0">
                <a:solidFill>
                  <a:schemeClr val="tx2"/>
                </a:solidFill>
                <a:latin typeface="黑体" pitchFamily="49" charset="-122"/>
                <a:ea typeface="黑体" pitchFamily="49" charset="-122"/>
              </a:rPr>
              <a:t> （</a:t>
            </a:r>
            <a:r>
              <a:rPr lang="en-US" altLang="zh-CN" sz="2800" dirty="0">
                <a:solidFill>
                  <a:schemeClr val="tx2"/>
                </a:solidFill>
                <a:latin typeface="黑体" pitchFamily="49" charset="-122"/>
                <a:ea typeface="黑体" pitchFamily="49" charset="-122"/>
              </a:rPr>
              <a:t>6</a:t>
            </a:r>
            <a:r>
              <a:rPr lang="zh-CN" altLang="en-US" sz="2800" dirty="0">
                <a:solidFill>
                  <a:schemeClr val="tx2"/>
                </a:solidFill>
                <a:latin typeface="黑体" pitchFamily="49" charset="-122"/>
                <a:ea typeface="黑体" pitchFamily="49" charset="-122"/>
              </a:rPr>
              <a:t>）市场调节会导致收入分配中的两级分化；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922337"/>
          </a:xfrm>
        </p:spPr>
        <p:txBody>
          <a:bodyPr/>
          <a:lstStyle/>
          <a:p>
            <a:pPr algn="l">
              <a:defRPr/>
            </a:pPr>
            <a:r>
              <a:rPr lang="zh-CN" altLang="en-US" sz="3600" dirty="0" smtClean="0">
                <a:solidFill>
                  <a:srgbClr val="FFFF00"/>
                </a:solidFill>
                <a:ea typeface="黑体" pitchFamily="49" charset="-122"/>
              </a:rPr>
              <a:t>（二）市</a:t>
            </a:r>
            <a:r>
              <a:rPr lang="zh-CN" altLang="en-US" sz="3600" dirty="0">
                <a:solidFill>
                  <a:srgbClr val="FFFF00"/>
                </a:solidFill>
                <a:ea typeface="黑体" pitchFamily="49" charset="-122"/>
              </a:rPr>
              <a:t>场规模对经济活动区位的影响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41438"/>
            <a:ext cx="8686800" cy="4784725"/>
          </a:xfrm>
        </p:spPr>
        <p:txBody>
          <a:bodyPr/>
          <a:lstStyle/>
          <a:p>
            <a:pPr marL="609600" indent="-609600">
              <a:lnSpc>
                <a:spcPct val="140000"/>
              </a:lnSpc>
              <a:buFontTx/>
              <a:buAutoNum type="arabicPeriod"/>
              <a:defRPr/>
            </a:pPr>
            <a:r>
              <a:rPr lang="zh-CN" altLang="en-US" dirty="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内部规模经济（发生在单一企业）</a:t>
            </a:r>
          </a:p>
          <a:p>
            <a:pPr marL="609600" indent="-609600">
              <a:lnSpc>
                <a:spcPct val="140000"/>
              </a:lnSpc>
              <a:buFontTx/>
              <a:buNone/>
              <a:defRPr/>
            </a:pPr>
            <a:r>
              <a:rPr lang="zh-CN" altLang="en-US" dirty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  </a:t>
            </a:r>
            <a:r>
              <a:rPr lang="zh-CN" altLang="en-US" dirty="0">
                <a:solidFill>
                  <a:schemeClr val="tx2"/>
                </a:solidFill>
                <a:latin typeface="黑体" pitchFamily="49" charset="-122"/>
                <a:ea typeface="黑体" pitchFamily="49" charset="-122"/>
              </a:rPr>
              <a:t>（</a:t>
            </a:r>
            <a:r>
              <a:rPr lang="en-US" altLang="zh-CN" dirty="0">
                <a:solidFill>
                  <a:schemeClr val="tx2"/>
                </a:solidFill>
                <a:latin typeface="黑体" pitchFamily="49" charset="-122"/>
                <a:ea typeface="黑体" pitchFamily="49" charset="-122"/>
              </a:rPr>
              <a:t>1</a:t>
            </a:r>
            <a:r>
              <a:rPr lang="zh-CN" altLang="en-US" dirty="0">
                <a:solidFill>
                  <a:schemeClr val="tx2"/>
                </a:solidFill>
                <a:latin typeface="黑体" pitchFamily="49" charset="-122"/>
                <a:ea typeface="黑体" pitchFamily="49" charset="-122"/>
              </a:rPr>
              <a:t>）降低生产初始成本；</a:t>
            </a:r>
          </a:p>
          <a:p>
            <a:pPr marL="609600" indent="-609600">
              <a:lnSpc>
                <a:spcPct val="140000"/>
              </a:lnSpc>
              <a:buFontTx/>
              <a:buNone/>
              <a:defRPr/>
            </a:pPr>
            <a:r>
              <a:rPr lang="zh-CN" altLang="en-US" dirty="0">
                <a:solidFill>
                  <a:schemeClr val="tx2"/>
                </a:solidFill>
                <a:latin typeface="黑体" pitchFamily="49" charset="-122"/>
                <a:ea typeface="黑体" pitchFamily="49" charset="-122"/>
              </a:rPr>
              <a:t>  （</a:t>
            </a:r>
            <a:r>
              <a:rPr lang="en-US" altLang="zh-CN" dirty="0">
                <a:solidFill>
                  <a:schemeClr val="tx2"/>
                </a:solidFill>
                <a:latin typeface="黑体" pitchFamily="49" charset="-122"/>
                <a:ea typeface="黑体" pitchFamily="49" charset="-122"/>
              </a:rPr>
              <a:t>2</a:t>
            </a:r>
            <a:r>
              <a:rPr lang="zh-CN" altLang="en-US" dirty="0">
                <a:solidFill>
                  <a:schemeClr val="tx2"/>
                </a:solidFill>
                <a:latin typeface="黑体" pitchFamily="49" charset="-122"/>
                <a:ea typeface="黑体" pitchFamily="49" charset="-122"/>
              </a:rPr>
              <a:t>）提高劳动力经济</a:t>
            </a:r>
          </a:p>
          <a:p>
            <a:pPr marL="609600" indent="-609600">
              <a:lnSpc>
                <a:spcPct val="140000"/>
              </a:lnSpc>
              <a:buFontTx/>
              <a:buNone/>
              <a:defRPr/>
            </a:pPr>
            <a:r>
              <a:rPr lang="en-US" altLang="zh-CN" dirty="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2. </a:t>
            </a:r>
            <a:r>
              <a:rPr lang="zh-CN" altLang="en-US" dirty="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外部规模经济（不同企业在特定区位集中）</a:t>
            </a:r>
          </a:p>
          <a:p>
            <a:pPr marL="609600" indent="-609600">
              <a:lnSpc>
                <a:spcPct val="140000"/>
              </a:lnSpc>
              <a:buFontTx/>
              <a:buNone/>
              <a:defRPr/>
            </a:pPr>
            <a:r>
              <a:rPr lang="zh-CN" altLang="en-US" dirty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  </a:t>
            </a:r>
            <a:r>
              <a:rPr lang="zh-CN" altLang="en-US" dirty="0">
                <a:solidFill>
                  <a:schemeClr val="tx2"/>
                </a:solidFill>
                <a:latin typeface="黑体" pitchFamily="49" charset="-122"/>
                <a:ea typeface="黑体" pitchFamily="49" charset="-122"/>
              </a:rPr>
              <a:t>（</a:t>
            </a:r>
            <a:r>
              <a:rPr lang="en-US" altLang="zh-CN" dirty="0">
                <a:solidFill>
                  <a:schemeClr val="tx2"/>
                </a:solidFill>
                <a:latin typeface="黑体" pitchFamily="49" charset="-122"/>
                <a:ea typeface="黑体" pitchFamily="49" charset="-122"/>
              </a:rPr>
              <a:t>1</a:t>
            </a:r>
            <a:r>
              <a:rPr lang="zh-CN" altLang="en-US" dirty="0">
                <a:solidFill>
                  <a:schemeClr val="tx2"/>
                </a:solidFill>
                <a:latin typeface="黑体" pitchFamily="49" charset="-122"/>
                <a:ea typeface="黑体" pitchFamily="49" charset="-122"/>
              </a:rPr>
              <a:t>）工业专门化经济（区位化经济）</a:t>
            </a:r>
          </a:p>
          <a:p>
            <a:pPr marL="609600" indent="-609600">
              <a:lnSpc>
                <a:spcPct val="140000"/>
              </a:lnSpc>
              <a:buFontTx/>
              <a:buNone/>
              <a:defRPr/>
            </a:pPr>
            <a:r>
              <a:rPr lang="zh-CN" altLang="en-US" dirty="0">
                <a:solidFill>
                  <a:schemeClr val="tx2"/>
                </a:solidFill>
                <a:latin typeface="黑体" pitchFamily="49" charset="-122"/>
                <a:ea typeface="黑体" pitchFamily="49" charset="-122"/>
              </a:rPr>
              <a:t>  （</a:t>
            </a:r>
            <a:r>
              <a:rPr lang="en-US" altLang="zh-CN" dirty="0">
                <a:solidFill>
                  <a:schemeClr val="tx2"/>
                </a:solidFill>
                <a:latin typeface="黑体" pitchFamily="49" charset="-122"/>
                <a:ea typeface="黑体" pitchFamily="49" charset="-122"/>
              </a:rPr>
              <a:t>2</a:t>
            </a:r>
            <a:r>
              <a:rPr lang="zh-CN" altLang="en-US" dirty="0">
                <a:solidFill>
                  <a:schemeClr val="tx2"/>
                </a:solidFill>
                <a:latin typeface="黑体" pitchFamily="49" charset="-122"/>
                <a:ea typeface="黑体" pitchFamily="49" charset="-122"/>
              </a:rPr>
              <a:t>）地方专门化经济（城市化经济）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692150"/>
            <a:ext cx="8229600" cy="1143000"/>
          </a:xfrm>
        </p:spPr>
        <p:txBody>
          <a:bodyPr/>
          <a:lstStyle/>
          <a:p>
            <a:pPr algn="l">
              <a:defRPr/>
            </a:pPr>
            <a:r>
              <a:rPr lang="zh-CN" altLang="en-US" sz="3600" dirty="0" smtClean="0">
                <a:solidFill>
                  <a:srgbClr val="FFFF00"/>
                </a:solidFill>
                <a:ea typeface="黑体" pitchFamily="49" charset="-122"/>
              </a:rPr>
              <a:t>（三）市</a:t>
            </a:r>
            <a:r>
              <a:rPr lang="zh-CN" altLang="en-US" sz="3600" dirty="0">
                <a:solidFill>
                  <a:srgbClr val="FFFF00"/>
                </a:solidFill>
                <a:ea typeface="黑体" pitchFamily="49" charset="-122"/>
              </a:rPr>
              <a:t>场战略对经济活动区位的影响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19250" y="2565400"/>
            <a:ext cx="6562725" cy="2836863"/>
          </a:xfrm>
        </p:spPr>
        <p:txBody>
          <a:bodyPr/>
          <a:lstStyle/>
          <a:p>
            <a:pPr>
              <a:lnSpc>
                <a:spcPct val="200000"/>
              </a:lnSpc>
              <a:buFont typeface="Wingdings" pitchFamily="2" charset="2"/>
              <a:buChar char="Ø"/>
              <a:defRPr/>
            </a:pPr>
            <a:r>
              <a:rPr lang="zh-CN" altLang="en-US" dirty="0">
                <a:solidFill>
                  <a:schemeClr val="tx2"/>
                </a:solidFill>
                <a:ea typeface="黑体" pitchFamily="49" charset="-122"/>
              </a:rPr>
              <a:t>价格竞争</a:t>
            </a:r>
          </a:p>
          <a:p>
            <a:pPr>
              <a:lnSpc>
                <a:spcPct val="200000"/>
              </a:lnSpc>
              <a:buFont typeface="Wingdings" pitchFamily="2" charset="2"/>
              <a:buChar char="Ø"/>
              <a:defRPr/>
            </a:pPr>
            <a:r>
              <a:rPr lang="zh-CN" altLang="en-US" dirty="0">
                <a:solidFill>
                  <a:schemeClr val="tx2"/>
                </a:solidFill>
                <a:ea typeface="黑体" pitchFamily="49" charset="-122"/>
              </a:rPr>
              <a:t>非价格竞争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765175"/>
            <a:ext cx="8229600" cy="1066800"/>
          </a:xfrm>
        </p:spPr>
        <p:txBody>
          <a:bodyPr/>
          <a:lstStyle/>
          <a:p>
            <a:pPr algn="l">
              <a:defRPr/>
            </a:pPr>
            <a:r>
              <a:rPr lang="zh-CN" altLang="en-US" sz="3600" dirty="0" smtClean="0">
                <a:solidFill>
                  <a:srgbClr val="FFFF00"/>
                </a:solidFill>
                <a:ea typeface="黑体" pitchFamily="49" charset="-122"/>
              </a:rPr>
              <a:t>（四）市</a:t>
            </a:r>
            <a:r>
              <a:rPr lang="zh-CN" altLang="en-US" sz="3600" dirty="0">
                <a:solidFill>
                  <a:srgbClr val="FFFF00"/>
                </a:solidFill>
                <a:ea typeface="黑体" pitchFamily="49" charset="-122"/>
              </a:rPr>
              <a:t>场特性对经济活动区位的影响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2349500"/>
            <a:ext cx="8002587" cy="3268663"/>
          </a:xfrm>
        </p:spPr>
        <p:txBody>
          <a:bodyPr/>
          <a:lstStyle/>
          <a:p>
            <a:pPr>
              <a:buFont typeface="Wingdings" pitchFamily="2" charset="2"/>
              <a:buChar char="Ø"/>
              <a:defRPr/>
            </a:pPr>
            <a:r>
              <a:rPr lang="zh-CN" altLang="en-US" dirty="0">
                <a:solidFill>
                  <a:schemeClr val="tx2"/>
                </a:solidFill>
                <a:ea typeface="黑体" pitchFamily="49" charset="-122"/>
              </a:rPr>
              <a:t>市场规模与内容差别对经济活动区位产生影响</a:t>
            </a:r>
          </a:p>
          <a:p>
            <a:pPr>
              <a:buFont typeface="Wingdings" pitchFamily="2" charset="2"/>
              <a:buNone/>
              <a:defRPr/>
            </a:pPr>
            <a:endParaRPr lang="zh-CN" altLang="en-US" dirty="0">
              <a:solidFill>
                <a:schemeClr val="tx2"/>
              </a:solidFill>
              <a:ea typeface="黑体" pitchFamily="49" charset="-122"/>
            </a:endParaRPr>
          </a:p>
          <a:p>
            <a:pPr>
              <a:buFont typeface="Wingdings" pitchFamily="2" charset="2"/>
              <a:buChar char="Ø"/>
              <a:defRPr/>
            </a:pPr>
            <a:r>
              <a:rPr lang="zh-CN" altLang="en-US" dirty="0">
                <a:solidFill>
                  <a:schemeClr val="tx2"/>
                </a:solidFill>
                <a:ea typeface="黑体" pitchFamily="49" charset="-122"/>
              </a:rPr>
              <a:t>市场特性变化对经济活动区位产生影响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9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49275"/>
            <a:ext cx="8686800" cy="1143000"/>
          </a:xfrm>
        </p:spPr>
        <p:txBody>
          <a:bodyPr/>
          <a:lstStyle/>
          <a:p>
            <a:pPr algn="l">
              <a:defRPr/>
            </a:pPr>
            <a:r>
              <a:rPr lang="zh-CN" altLang="en-US" sz="3600" dirty="0" smtClean="0">
                <a:solidFill>
                  <a:srgbClr val="FFFF00"/>
                </a:solidFill>
                <a:ea typeface="黑体" pitchFamily="49" charset="-122"/>
              </a:rPr>
              <a:t>（五）市场环境对</a:t>
            </a:r>
            <a:r>
              <a:rPr lang="zh-CN" altLang="en-US" sz="3600" dirty="0">
                <a:solidFill>
                  <a:srgbClr val="FFFF00"/>
                </a:solidFill>
                <a:ea typeface="黑体" pitchFamily="49" charset="-122"/>
              </a:rPr>
              <a:t>经济活动区位的影响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16013" y="1773238"/>
            <a:ext cx="6769100" cy="4535487"/>
          </a:xfrm>
        </p:spPr>
        <p:txBody>
          <a:bodyPr/>
          <a:lstStyle/>
          <a:p>
            <a:pPr>
              <a:lnSpc>
                <a:spcPct val="170000"/>
              </a:lnSpc>
              <a:buFont typeface="Wingdings" pitchFamily="2" charset="2"/>
              <a:buChar char="Ø"/>
              <a:defRPr/>
            </a:pPr>
            <a:r>
              <a:rPr lang="zh-CN" altLang="en-US" sz="2000" dirty="0">
                <a:solidFill>
                  <a:schemeClr val="tx2"/>
                </a:solidFill>
                <a:latin typeface="黑体" pitchFamily="49" charset="-122"/>
                <a:ea typeface="黑体" pitchFamily="49" charset="-122"/>
              </a:rPr>
              <a:t>市场竞争环境</a:t>
            </a:r>
          </a:p>
          <a:p>
            <a:pPr lvl="1">
              <a:lnSpc>
                <a:spcPct val="170000"/>
              </a:lnSpc>
              <a:buFont typeface="Wingdings" pitchFamily="2" charset="2"/>
              <a:buChar char="Ø"/>
              <a:defRPr/>
            </a:pPr>
            <a:r>
              <a:rPr lang="zh-CN" altLang="en-US" sz="1800" dirty="0">
                <a:solidFill>
                  <a:schemeClr val="tx2"/>
                </a:solidFill>
                <a:latin typeface="黑体" pitchFamily="49" charset="-122"/>
                <a:ea typeface="黑体" pitchFamily="49" charset="-122"/>
              </a:rPr>
              <a:t>促使企业精心设计和制作开发新产品，加快更新换代 </a:t>
            </a:r>
          </a:p>
          <a:p>
            <a:pPr lvl="1">
              <a:lnSpc>
                <a:spcPct val="170000"/>
              </a:lnSpc>
              <a:buFont typeface="Wingdings" pitchFamily="2" charset="2"/>
              <a:buChar char="Ø"/>
              <a:defRPr/>
            </a:pPr>
            <a:r>
              <a:rPr lang="zh-CN" altLang="en-US" sz="1800" dirty="0">
                <a:solidFill>
                  <a:schemeClr val="tx2"/>
                </a:solidFill>
                <a:latin typeface="黑体" pitchFamily="49" charset="-122"/>
                <a:ea typeface="黑体" pitchFamily="49" charset="-122"/>
              </a:rPr>
              <a:t>迫使企业不断采用最先进的科学技术，提高劳动生产率</a:t>
            </a:r>
          </a:p>
          <a:p>
            <a:pPr lvl="1">
              <a:lnSpc>
                <a:spcPct val="170000"/>
              </a:lnSpc>
              <a:buFont typeface="Wingdings" pitchFamily="2" charset="2"/>
              <a:buChar char="Ø"/>
              <a:defRPr/>
            </a:pPr>
            <a:r>
              <a:rPr lang="zh-CN" altLang="en-US" sz="1800" dirty="0">
                <a:solidFill>
                  <a:schemeClr val="tx2"/>
                </a:solidFill>
                <a:latin typeface="黑体" pitchFamily="49" charset="-122"/>
                <a:ea typeface="黑体" pitchFamily="49" charset="-122"/>
              </a:rPr>
              <a:t>企业必须对客户服务周到，保住竞争优势 </a:t>
            </a:r>
          </a:p>
          <a:p>
            <a:pPr lvl="1">
              <a:lnSpc>
                <a:spcPct val="170000"/>
              </a:lnSpc>
              <a:buFont typeface="Wingdings" pitchFamily="2" charset="2"/>
              <a:buChar char="Ø"/>
              <a:defRPr/>
            </a:pPr>
            <a:r>
              <a:rPr lang="zh-CN" altLang="en-US" sz="1800" dirty="0">
                <a:solidFill>
                  <a:schemeClr val="tx2"/>
                </a:solidFill>
                <a:latin typeface="黑体" pitchFamily="49" charset="-122"/>
                <a:ea typeface="黑体" pitchFamily="49" charset="-122"/>
              </a:rPr>
              <a:t>企业不断创新，保持技术领先 </a:t>
            </a:r>
          </a:p>
          <a:p>
            <a:pPr lvl="1">
              <a:lnSpc>
                <a:spcPct val="170000"/>
              </a:lnSpc>
              <a:buFont typeface="Wingdings" pitchFamily="2" charset="2"/>
              <a:buChar char="Ø"/>
              <a:defRPr/>
            </a:pPr>
            <a:r>
              <a:rPr lang="zh-CN" altLang="en-US" sz="1800" dirty="0">
                <a:solidFill>
                  <a:schemeClr val="tx2"/>
                </a:solidFill>
                <a:latin typeface="黑体" pitchFamily="49" charset="-122"/>
                <a:ea typeface="黑体" pitchFamily="49" charset="-122"/>
              </a:rPr>
              <a:t>企业必须注重市场研究，开拓市场，发展和培养消费者</a:t>
            </a:r>
            <a:r>
              <a:rPr lang="zh-CN" altLang="en-US" sz="1600" dirty="0">
                <a:solidFill>
                  <a:schemeClr val="tx2"/>
                </a:solidFill>
                <a:latin typeface="黑体" pitchFamily="49" charset="-122"/>
                <a:ea typeface="黑体" pitchFamily="49" charset="-122"/>
              </a:rPr>
              <a:t>    </a:t>
            </a:r>
          </a:p>
          <a:p>
            <a:pPr>
              <a:lnSpc>
                <a:spcPct val="170000"/>
              </a:lnSpc>
              <a:buFont typeface="Wingdings" pitchFamily="2" charset="2"/>
              <a:buChar char="Ø"/>
              <a:defRPr/>
            </a:pPr>
            <a:r>
              <a:rPr lang="zh-CN" altLang="en-US" sz="2000" dirty="0">
                <a:solidFill>
                  <a:schemeClr val="tx2"/>
                </a:solidFill>
                <a:latin typeface="黑体" pitchFamily="49" charset="-122"/>
                <a:ea typeface="黑体" pitchFamily="49" charset="-122"/>
              </a:rPr>
              <a:t>市场秩序和管理</a:t>
            </a:r>
          </a:p>
          <a:p>
            <a:pPr>
              <a:lnSpc>
                <a:spcPct val="170000"/>
              </a:lnSpc>
              <a:buFont typeface="Wingdings" pitchFamily="2" charset="2"/>
              <a:buChar char="Ø"/>
              <a:defRPr/>
            </a:pPr>
            <a:r>
              <a:rPr lang="zh-CN" altLang="en-US" sz="2000" dirty="0">
                <a:solidFill>
                  <a:schemeClr val="tx2"/>
                </a:solidFill>
                <a:latin typeface="黑体" pitchFamily="49" charset="-122"/>
                <a:ea typeface="黑体" pitchFamily="49" charset="-122"/>
              </a:rPr>
              <a:t>市场意识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02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02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76375" y="1844675"/>
            <a:ext cx="6788150" cy="3887788"/>
          </a:xfrm>
        </p:spPr>
        <p:txBody>
          <a:bodyPr/>
          <a:lstStyle/>
          <a:p>
            <a:pPr eaLnBrk="1" hangingPunct="1">
              <a:lnSpc>
                <a:spcPct val="155000"/>
              </a:lnSpc>
              <a:buFont typeface="Wingdings" pitchFamily="2" charset="2"/>
              <a:buChar char="Ø"/>
              <a:defRPr/>
            </a:pPr>
            <a:r>
              <a:rPr lang="zh-CN" altLang="en-US" sz="2800" dirty="0" smtClean="0">
                <a:ea typeface="黑体" pitchFamily="2" charset="-122"/>
              </a:rPr>
              <a:t>技术与技术创新</a:t>
            </a:r>
            <a:endParaRPr lang="en-US" altLang="zh-CN" sz="2800" dirty="0" smtClean="0">
              <a:ea typeface="黑体" pitchFamily="2" charset="-122"/>
            </a:endParaRPr>
          </a:p>
          <a:p>
            <a:pPr eaLnBrk="1" hangingPunct="1">
              <a:lnSpc>
                <a:spcPct val="155000"/>
              </a:lnSpc>
              <a:buFont typeface="Wingdings" pitchFamily="2" charset="2"/>
              <a:buChar char="Ø"/>
              <a:defRPr/>
            </a:pPr>
            <a:r>
              <a:rPr lang="zh-CN" altLang="en-US" sz="2800" dirty="0" smtClean="0">
                <a:ea typeface="黑体" pitchFamily="2" charset="-122"/>
              </a:rPr>
              <a:t>技术研发与应用对经济活动区位影响</a:t>
            </a:r>
            <a:endParaRPr lang="en-US" altLang="zh-CN" sz="2800" dirty="0" smtClean="0">
              <a:ea typeface="黑体" pitchFamily="2" charset="-122"/>
            </a:endParaRPr>
          </a:p>
          <a:p>
            <a:pPr eaLnBrk="1" hangingPunct="1">
              <a:lnSpc>
                <a:spcPct val="155000"/>
              </a:lnSpc>
              <a:buFont typeface="Wingdings" pitchFamily="2" charset="2"/>
              <a:buChar char="Ø"/>
              <a:defRPr/>
            </a:pPr>
            <a:r>
              <a:rPr lang="zh-CN" altLang="en-US" sz="2800" dirty="0" smtClean="0">
                <a:ea typeface="黑体" pitchFamily="2" charset="-122"/>
              </a:rPr>
              <a:t>信息技术对经济活动区位影响</a:t>
            </a:r>
            <a:endParaRPr lang="en-US" altLang="zh-CN" sz="2800" dirty="0" smtClean="0">
              <a:ea typeface="黑体" pitchFamily="2" charset="-122"/>
            </a:endParaRPr>
          </a:p>
          <a:p>
            <a:pPr eaLnBrk="1" hangingPunct="1">
              <a:lnSpc>
                <a:spcPct val="155000"/>
              </a:lnSpc>
              <a:buFont typeface="Wingdings" pitchFamily="2" charset="2"/>
              <a:buChar char="Ø"/>
              <a:defRPr/>
            </a:pPr>
            <a:r>
              <a:rPr lang="zh-CN" altLang="en-US" sz="2800" dirty="0" smtClean="0">
                <a:ea typeface="黑体" pitchFamily="2" charset="-122"/>
              </a:rPr>
              <a:t>区域创新网络</a:t>
            </a:r>
            <a:endParaRPr lang="en-US" altLang="zh-CN" sz="2800" dirty="0" smtClean="0">
              <a:ea typeface="黑体" pitchFamily="2" charset="-122"/>
            </a:endParaRPr>
          </a:p>
          <a:p>
            <a:pPr eaLnBrk="1" hangingPunct="1">
              <a:lnSpc>
                <a:spcPct val="155000"/>
              </a:lnSpc>
              <a:buFont typeface="Wingdings" pitchFamily="2" charset="2"/>
              <a:buChar char="Ø"/>
              <a:defRPr/>
            </a:pPr>
            <a:endParaRPr lang="zh-CN" altLang="en-US" sz="2000" dirty="0" smtClean="0">
              <a:solidFill>
                <a:schemeClr val="bg1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395288" y="260350"/>
            <a:ext cx="8229600" cy="919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zh-CN" altLang="en-US" sz="3600" ker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黑体" pitchFamily="2" charset="-122"/>
                <a:cs typeface="+mj-cs"/>
              </a:rPr>
              <a:t>四、技术因素对经济活动区位的影响</a:t>
            </a:r>
            <a:endParaRPr lang="zh-CN" altLang="en-US" sz="3600" kern="0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j-lt"/>
              <a:ea typeface="黑体" pitchFamily="2" charset="-122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1268413"/>
            <a:ext cx="8229600" cy="561975"/>
          </a:xfrm>
        </p:spPr>
        <p:txBody>
          <a:bodyPr/>
          <a:lstStyle/>
          <a:p>
            <a:pPr marL="342900" indent="-342900" algn="l" eaLnBrk="1" hangingPunct="1">
              <a:lnSpc>
                <a:spcPct val="120000"/>
              </a:lnSpc>
              <a:spcBef>
                <a:spcPts val="1200"/>
              </a:spcBef>
              <a:buClr>
                <a:schemeClr val="hlink"/>
              </a:buClr>
              <a:buSzPct val="90000"/>
              <a:buFontTx/>
              <a:buBlip>
                <a:blip r:embed="rId2"/>
              </a:buBlip>
              <a:defRPr/>
            </a:pPr>
            <a:r>
              <a:rPr lang="zh-CN" altLang="en-US" sz="2800" dirty="0" smtClean="0">
                <a:solidFill>
                  <a:schemeClr val="tx1"/>
                </a:solidFill>
                <a:latin typeface="+mn-lt"/>
                <a:ea typeface="黑体" pitchFamily="2" charset="-122"/>
                <a:cs typeface="+mn-cs"/>
              </a:rPr>
              <a:t>技术与技术创新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916113"/>
            <a:ext cx="8229600" cy="4752975"/>
          </a:xfrm>
        </p:spPr>
        <p:txBody>
          <a:bodyPr/>
          <a:lstStyle/>
          <a:p>
            <a:pPr eaLnBrk="1" hangingPunct="1">
              <a:lnSpc>
                <a:spcPct val="155000"/>
              </a:lnSpc>
              <a:buFont typeface="Wingdings" pitchFamily="2" charset="2"/>
              <a:buChar char="Ø"/>
              <a:defRPr/>
            </a:pPr>
            <a:r>
              <a:rPr lang="zh-CN" altLang="en-US" sz="2000" dirty="0" smtClean="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广义的技术</a:t>
            </a:r>
            <a:r>
              <a:rPr lang="en-US" altLang="zh-CN" sz="2000" dirty="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:</a:t>
            </a:r>
            <a:r>
              <a:rPr lang="zh-CN" altLang="en-US" sz="2000" dirty="0" smtClean="0">
                <a:latin typeface="黑体" pitchFamily="49" charset="-122"/>
                <a:ea typeface="黑体" pitchFamily="49" charset="-122"/>
              </a:rPr>
              <a:t>人类认识和改造客观世界的能力</a:t>
            </a:r>
            <a:r>
              <a:rPr lang="zh-CN" altLang="en-US" sz="2000" dirty="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 </a:t>
            </a:r>
          </a:p>
          <a:p>
            <a:pPr eaLnBrk="1" hangingPunct="1">
              <a:lnSpc>
                <a:spcPct val="155000"/>
              </a:lnSpc>
              <a:buFont typeface="Wingdings" pitchFamily="2" charset="2"/>
              <a:buChar char="Ø"/>
              <a:defRPr/>
            </a:pPr>
            <a:r>
              <a:rPr lang="zh-CN" altLang="en-US" sz="2000" dirty="0" smtClean="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狭义的技术</a:t>
            </a:r>
            <a:r>
              <a:rPr lang="en-US" altLang="zh-CN" sz="2000" dirty="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:</a:t>
            </a:r>
            <a:r>
              <a:rPr lang="zh-CN" altLang="en-US" sz="2000" dirty="0" smtClean="0">
                <a:latin typeface="黑体" pitchFamily="49" charset="-122"/>
                <a:ea typeface="黑体" pitchFamily="49" charset="-122"/>
              </a:rPr>
              <a:t>生产过程中所运用的各种工艺操作方法，生产工具等设备、工艺流程、作业方法和技能。包括</a:t>
            </a:r>
            <a:r>
              <a:rPr lang="en-US" altLang="zh-CN" sz="2000" dirty="0" smtClean="0">
                <a:latin typeface="黑体" pitchFamily="49" charset="-122"/>
                <a:ea typeface="黑体" pitchFamily="49" charset="-122"/>
              </a:rPr>
              <a:t>A </a:t>
            </a:r>
            <a:r>
              <a:rPr lang="zh-CN" altLang="en-US" sz="2000" dirty="0" smtClean="0">
                <a:latin typeface="黑体" pitchFamily="49" charset="-122"/>
                <a:ea typeface="黑体" pitchFamily="49" charset="-122"/>
              </a:rPr>
              <a:t>知识、经验等精神范畴的内容，是技术的软件，技术的决定性因素；</a:t>
            </a:r>
            <a:r>
              <a:rPr lang="en-US" altLang="zh-CN" sz="2000" dirty="0" smtClean="0">
                <a:latin typeface="黑体" pitchFamily="49" charset="-122"/>
                <a:ea typeface="黑体" pitchFamily="49" charset="-122"/>
              </a:rPr>
              <a:t>B </a:t>
            </a:r>
            <a:r>
              <a:rPr lang="zh-CN" altLang="en-US" sz="2000" dirty="0" smtClean="0">
                <a:latin typeface="黑体" pitchFamily="49" charset="-122"/>
                <a:ea typeface="黑体" pitchFamily="49" charset="-122"/>
              </a:rPr>
              <a:t>工具、装备等物质方面的内容，技术的硬件，技术的物化。 </a:t>
            </a:r>
            <a:endParaRPr lang="zh-CN" altLang="en-US" sz="2000" dirty="0" smtClean="0">
              <a:solidFill>
                <a:schemeClr val="bg1"/>
              </a:solidFill>
              <a:latin typeface="黑体" pitchFamily="49" charset="-122"/>
              <a:ea typeface="黑体" pitchFamily="49" charset="-122"/>
            </a:endParaRPr>
          </a:p>
          <a:p>
            <a:pPr eaLnBrk="1" hangingPunct="1">
              <a:lnSpc>
                <a:spcPct val="155000"/>
              </a:lnSpc>
              <a:buFont typeface="Wingdings" pitchFamily="2" charset="2"/>
              <a:buChar char="Ø"/>
              <a:defRPr/>
            </a:pPr>
            <a:r>
              <a:rPr lang="zh-CN" altLang="en-US" sz="2000" dirty="0" smtClean="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技术创新</a:t>
            </a:r>
            <a:r>
              <a:rPr lang="en-US" altLang="zh-CN" sz="2000" dirty="0" smtClean="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:</a:t>
            </a:r>
            <a:r>
              <a:rPr lang="zh-CN" altLang="en-US" sz="2000" dirty="0" smtClean="0">
                <a:latin typeface="黑体" pitchFamily="49" charset="-122"/>
                <a:ea typeface="黑体" pitchFamily="49" charset="-122"/>
              </a:rPr>
              <a:t>技术发展中的突破，是技术领域发生的根本性的、对技术本身和经济活动有着广泛而深刻影响的重大变化。</a:t>
            </a:r>
            <a:r>
              <a:rPr lang="zh-CN" altLang="en-US" sz="2000" dirty="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 </a:t>
            </a:r>
          </a:p>
          <a:p>
            <a:pPr eaLnBrk="1" hangingPunct="1">
              <a:lnSpc>
                <a:spcPct val="155000"/>
              </a:lnSpc>
              <a:buFont typeface="Wingdings" pitchFamily="2" charset="2"/>
              <a:buChar char="Ø"/>
              <a:defRPr/>
            </a:pPr>
            <a:r>
              <a:rPr lang="zh-CN" altLang="en-US" sz="2000" dirty="0" smtClean="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技术创新的表现</a:t>
            </a:r>
            <a:r>
              <a:rPr lang="en-US" altLang="zh-CN" sz="2000" dirty="0" smtClean="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:</a:t>
            </a:r>
            <a:r>
              <a:rPr lang="zh-CN" altLang="en-US" sz="2000" dirty="0" smtClean="0">
                <a:latin typeface="黑体" pitchFamily="49" charset="-122"/>
                <a:ea typeface="黑体" pitchFamily="49" charset="-122"/>
              </a:rPr>
              <a:t>发现新的可用资源、创造新的生产工艺、发明新的生产方法、产生新的经营管理思想及相应的操作方法等。</a:t>
            </a:r>
            <a:r>
              <a:rPr lang="zh-CN" altLang="en-US" sz="2000" dirty="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 </a:t>
            </a: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395288" y="260350"/>
            <a:ext cx="8229600" cy="919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zh-CN" altLang="en-US" sz="3600" ker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黑体" pitchFamily="2" charset="-122"/>
                <a:cs typeface="+mj-cs"/>
              </a:rPr>
              <a:t>四、技术因素对经济活动区位的影响</a:t>
            </a:r>
            <a:endParaRPr lang="zh-CN" altLang="en-US" sz="3600" kern="0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j-lt"/>
              <a:ea typeface="黑体" pitchFamily="2" charset="-122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76375" y="1844675"/>
            <a:ext cx="6788150" cy="3887788"/>
          </a:xfrm>
        </p:spPr>
        <p:txBody>
          <a:bodyPr/>
          <a:lstStyle/>
          <a:p>
            <a:pPr eaLnBrk="1" hangingPunct="1">
              <a:lnSpc>
                <a:spcPct val="155000"/>
              </a:lnSpc>
              <a:buFont typeface="Wingdings" pitchFamily="2" charset="2"/>
              <a:buChar char="Ø"/>
              <a:defRPr/>
            </a:pPr>
            <a:r>
              <a:rPr lang="zh-CN" altLang="en-US" sz="2800" dirty="0" smtClean="0">
                <a:ea typeface="黑体" pitchFamily="2" charset="-122"/>
              </a:rPr>
              <a:t>技术与技术创新</a:t>
            </a:r>
            <a:endParaRPr lang="en-US" altLang="zh-CN" sz="2800" dirty="0" smtClean="0">
              <a:ea typeface="黑体" pitchFamily="2" charset="-122"/>
            </a:endParaRPr>
          </a:p>
          <a:p>
            <a:pPr eaLnBrk="1" hangingPunct="1">
              <a:lnSpc>
                <a:spcPct val="155000"/>
              </a:lnSpc>
              <a:buFont typeface="Wingdings" pitchFamily="2" charset="2"/>
              <a:buChar char="Ø"/>
              <a:defRPr/>
            </a:pPr>
            <a:r>
              <a:rPr lang="zh-CN" altLang="en-US" sz="2800" dirty="0" smtClean="0">
                <a:solidFill>
                  <a:srgbClr val="FFC000"/>
                </a:solidFill>
                <a:ea typeface="黑体" pitchFamily="2" charset="-122"/>
              </a:rPr>
              <a:t>技术研发与应用对经济活动区位影响</a:t>
            </a:r>
            <a:endParaRPr lang="en-US" altLang="zh-CN" sz="2800" dirty="0" smtClean="0">
              <a:solidFill>
                <a:srgbClr val="FFC000"/>
              </a:solidFill>
              <a:ea typeface="黑体" pitchFamily="2" charset="-122"/>
            </a:endParaRPr>
          </a:p>
          <a:p>
            <a:pPr eaLnBrk="1" hangingPunct="1">
              <a:lnSpc>
                <a:spcPct val="155000"/>
              </a:lnSpc>
              <a:buFont typeface="Wingdings" pitchFamily="2" charset="2"/>
              <a:buChar char="Ø"/>
              <a:defRPr/>
            </a:pPr>
            <a:r>
              <a:rPr lang="zh-CN" altLang="en-US" sz="2800" dirty="0" smtClean="0">
                <a:ea typeface="黑体" pitchFamily="2" charset="-122"/>
              </a:rPr>
              <a:t>信息技术对经济活动区位影响</a:t>
            </a:r>
            <a:endParaRPr lang="en-US" altLang="zh-CN" sz="2800" dirty="0" smtClean="0">
              <a:ea typeface="黑体" pitchFamily="2" charset="-122"/>
            </a:endParaRPr>
          </a:p>
          <a:p>
            <a:pPr eaLnBrk="1" hangingPunct="1">
              <a:lnSpc>
                <a:spcPct val="155000"/>
              </a:lnSpc>
              <a:buFont typeface="Wingdings" pitchFamily="2" charset="2"/>
              <a:buChar char="Ø"/>
              <a:defRPr/>
            </a:pPr>
            <a:r>
              <a:rPr lang="zh-CN" altLang="en-US" sz="2800" dirty="0" smtClean="0">
                <a:ea typeface="黑体" pitchFamily="2" charset="-122"/>
              </a:rPr>
              <a:t>区域创新网络</a:t>
            </a:r>
            <a:endParaRPr lang="en-US" altLang="zh-CN" sz="2800" dirty="0" smtClean="0">
              <a:ea typeface="黑体" pitchFamily="2" charset="-122"/>
            </a:endParaRPr>
          </a:p>
          <a:p>
            <a:pPr eaLnBrk="1" hangingPunct="1">
              <a:lnSpc>
                <a:spcPct val="155000"/>
              </a:lnSpc>
              <a:buFont typeface="Wingdings" pitchFamily="2" charset="2"/>
              <a:buChar char="Ø"/>
              <a:defRPr/>
            </a:pPr>
            <a:endParaRPr lang="zh-CN" altLang="en-US" sz="2000" dirty="0" smtClean="0">
              <a:solidFill>
                <a:schemeClr val="bg1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395288" y="260350"/>
            <a:ext cx="8229600" cy="919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zh-CN" altLang="en-US" sz="3600" ker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黑体" pitchFamily="2" charset="-122"/>
                <a:cs typeface="+mj-cs"/>
              </a:rPr>
              <a:t>四、技术因素对经济活动区位的影响</a:t>
            </a:r>
            <a:endParaRPr lang="zh-CN" altLang="en-US" sz="3600" kern="0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j-lt"/>
              <a:ea typeface="黑体" pitchFamily="2" charset="-122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919162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600" dirty="0" smtClean="0">
                <a:solidFill>
                  <a:srgbClr val="FFFF00"/>
                </a:solidFill>
                <a:ea typeface="黑体" pitchFamily="2" charset="-122"/>
              </a:rPr>
              <a:t>四、技术因素对经济活动区位的影响</a:t>
            </a:r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268413"/>
            <a:ext cx="8207375" cy="5040312"/>
          </a:xfrm>
        </p:spPr>
        <p:txBody>
          <a:bodyPr/>
          <a:lstStyle/>
          <a:p>
            <a:pPr eaLnBrk="1" hangingPunct="1">
              <a:lnSpc>
                <a:spcPct val="120000"/>
              </a:lnSpc>
              <a:spcBef>
                <a:spcPts val="1200"/>
              </a:spcBef>
              <a:defRPr/>
            </a:pPr>
            <a:r>
              <a:rPr lang="zh-CN" altLang="en-US" sz="2800" dirty="0" smtClean="0">
                <a:ea typeface="黑体" pitchFamily="2" charset="-122"/>
              </a:rPr>
              <a:t>技术研发与应用对经济活动区位影响</a:t>
            </a:r>
            <a:endParaRPr lang="en-US" altLang="zh-CN" sz="2800" dirty="0" smtClean="0">
              <a:ea typeface="黑体" pitchFamily="2" charset="-122"/>
            </a:endParaRPr>
          </a:p>
          <a:p>
            <a:pPr lvl="1" eaLnBrk="1" hangingPunct="1">
              <a:lnSpc>
                <a:spcPct val="120000"/>
              </a:lnSpc>
              <a:spcBef>
                <a:spcPts val="1200"/>
              </a:spcBef>
              <a:defRPr/>
            </a:pPr>
            <a:r>
              <a:rPr lang="zh-CN" altLang="en-US" sz="2400" dirty="0" smtClean="0">
                <a:ea typeface="黑体" pitchFamily="2" charset="-122"/>
              </a:rPr>
              <a:t>新技术的采用</a:t>
            </a:r>
          </a:p>
          <a:p>
            <a:pPr lvl="2" eaLnBrk="1" hangingPunct="1">
              <a:lnSpc>
                <a:spcPct val="120000"/>
              </a:lnSpc>
              <a:spcBef>
                <a:spcPts val="1200"/>
              </a:spcBef>
              <a:defRPr/>
            </a:pPr>
            <a:r>
              <a:rPr lang="zh-CN" altLang="en-US" sz="2000" dirty="0" smtClean="0">
                <a:ea typeface="黑体" pitchFamily="2" charset="-122"/>
              </a:rPr>
              <a:t>出现新的经济活动</a:t>
            </a:r>
          </a:p>
          <a:p>
            <a:pPr lvl="2" eaLnBrk="1" hangingPunct="1">
              <a:lnSpc>
                <a:spcPct val="120000"/>
              </a:lnSpc>
              <a:spcBef>
                <a:spcPts val="1200"/>
              </a:spcBef>
              <a:defRPr/>
            </a:pPr>
            <a:r>
              <a:rPr lang="zh-CN" altLang="en-US" sz="2000" dirty="0" smtClean="0">
                <a:ea typeface="黑体" pitchFamily="2" charset="-122"/>
              </a:rPr>
              <a:t>改变经济活动中的生产要素组合，</a:t>
            </a:r>
            <a:r>
              <a:rPr lang="zh-CN" altLang="en-US" sz="2000" dirty="0" smtClean="0">
                <a:ea typeface="黑体" pitchFamily="2" charset="-122"/>
                <a:hlinkClick r:id="rId2" action="ppaction://hlinksldjump"/>
              </a:rPr>
              <a:t>改变区位选择成本或效率</a:t>
            </a:r>
            <a:endParaRPr lang="zh-CN" altLang="en-US" sz="2000" dirty="0" smtClean="0">
              <a:ea typeface="黑体" pitchFamily="2" charset="-122"/>
            </a:endParaRPr>
          </a:p>
          <a:p>
            <a:pPr lvl="1" eaLnBrk="1" hangingPunct="1">
              <a:lnSpc>
                <a:spcPct val="120000"/>
              </a:lnSpc>
              <a:spcBef>
                <a:spcPts val="1200"/>
              </a:spcBef>
              <a:defRPr/>
            </a:pPr>
            <a:r>
              <a:rPr lang="zh-CN" altLang="en-US" sz="2400" dirty="0" smtClean="0">
                <a:ea typeface="黑体" pitchFamily="2" charset="-122"/>
              </a:rPr>
              <a:t>技术与知识具有明显的地理集中，尤其对技术（知识）密集型产业影响大</a:t>
            </a:r>
          </a:p>
          <a:p>
            <a:pPr lvl="1" eaLnBrk="1" hangingPunct="1">
              <a:lnSpc>
                <a:spcPct val="120000"/>
              </a:lnSpc>
              <a:spcBef>
                <a:spcPts val="1200"/>
              </a:spcBef>
              <a:defRPr/>
            </a:pPr>
            <a:r>
              <a:rPr lang="zh-CN" altLang="en-US" sz="2400" dirty="0" smtClean="0">
                <a:ea typeface="黑体" pitchFamily="2" charset="-122"/>
              </a:rPr>
              <a:t>技术交流可以产生溢出效应，但本质上具有“黏性”，形成产业集聚区</a:t>
            </a:r>
          </a:p>
          <a:p>
            <a:pPr lvl="1" eaLnBrk="1" hangingPunct="1">
              <a:lnSpc>
                <a:spcPct val="120000"/>
              </a:lnSpc>
              <a:spcBef>
                <a:spcPts val="1200"/>
              </a:spcBef>
              <a:defRPr/>
            </a:pPr>
            <a:r>
              <a:rPr lang="zh-CN" altLang="en-US" sz="2400" dirty="0" smtClean="0">
                <a:ea typeface="黑体" pitchFamily="2" charset="-122"/>
              </a:rPr>
              <a:t>高技术园区是一种新的空间组织形态</a:t>
            </a:r>
          </a:p>
        </p:txBody>
      </p:sp>
      <p:sp>
        <p:nvSpPr>
          <p:cNvPr id="4" name="下箭头 3">
            <a:hlinkClick r:id="rId3" action="ppaction://hlinksldjump"/>
          </p:cNvPr>
          <p:cNvSpPr/>
          <p:nvPr/>
        </p:nvSpPr>
        <p:spPr>
          <a:xfrm>
            <a:off x="8172450" y="6453188"/>
            <a:ext cx="215900" cy="144462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908050"/>
            <a:ext cx="8229600" cy="5184775"/>
          </a:xfrm>
        </p:spPr>
        <p:txBody>
          <a:bodyPr/>
          <a:lstStyle/>
          <a:p>
            <a:pPr eaLnBrk="1" hangingPunct="1">
              <a:lnSpc>
                <a:spcPct val="140000"/>
              </a:lnSpc>
              <a:buFontTx/>
              <a:buNone/>
              <a:defRPr/>
            </a:pPr>
            <a:r>
              <a:rPr lang="zh-CN" altLang="en-US" sz="2800" b="1" dirty="0" smtClean="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（</a:t>
            </a:r>
            <a:r>
              <a:rPr lang="en-US" altLang="zh-CN" sz="2800" b="1" dirty="0" smtClean="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1</a:t>
            </a:r>
            <a:r>
              <a:rPr lang="zh-CN" altLang="en-US" sz="2800" b="1" dirty="0" smtClean="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）人类生产布局随着生产力提高而发生变化</a:t>
            </a:r>
            <a:endParaRPr lang="zh-CN" altLang="en-US" sz="2800" dirty="0" smtClean="0">
              <a:solidFill>
                <a:srgbClr val="FFFF00"/>
              </a:solidFill>
              <a:latin typeface="黑体" pitchFamily="49" charset="-122"/>
              <a:ea typeface="黑体" pitchFamily="49" charset="-122"/>
            </a:endParaRPr>
          </a:p>
          <a:p>
            <a:pPr eaLnBrk="1" hangingPunct="1">
              <a:lnSpc>
                <a:spcPct val="140000"/>
              </a:lnSpc>
              <a:defRPr/>
            </a:pPr>
            <a:r>
              <a:rPr lang="zh-CN" altLang="en-US" sz="2800" dirty="0" smtClean="0">
                <a:latin typeface="黑体" pitchFamily="49" charset="-122"/>
                <a:ea typeface="黑体" pitchFamily="49" charset="-122"/>
              </a:rPr>
              <a:t>产业革命前，水力、畜力，小作坊，布局河流两岸；</a:t>
            </a:r>
          </a:p>
          <a:p>
            <a:pPr eaLnBrk="1" hangingPunct="1">
              <a:lnSpc>
                <a:spcPct val="140000"/>
              </a:lnSpc>
              <a:defRPr/>
            </a:pPr>
            <a:r>
              <a:rPr lang="zh-CN" altLang="en-US" sz="2800" dirty="0" smtClean="0">
                <a:latin typeface="黑体" pitchFamily="49" charset="-122"/>
                <a:ea typeface="黑体" pitchFamily="49" charset="-122"/>
              </a:rPr>
              <a:t>产业革命，火车，蒸汽机，工厂分布于煤铁、枢纽，分散→集中；</a:t>
            </a:r>
          </a:p>
          <a:p>
            <a:pPr eaLnBrk="1" hangingPunct="1">
              <a:lnSpc>
                <a:spcPct val="140000"/>
              </a:lnSpc>
              <a:defRPr/>
            </a:pPr>
            <a:r>
              <a:rPr lang="zh-CN" altLang="en-US" sz="2800" dirty="0" smtClean="0">
                <a:latin typeface="黑体" pitchFamily="49" charset="-122"/>
                <a:ea typeface="黑体" pitchFamily="49" charset="-122"/>
              </a:rPr>
              <a:t>电力使用，输电技术发展，缩小了空间和距离对产业布局的束缚 ，工厂分布集中→分散。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4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4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4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4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4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4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4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4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692150"/>
            <a:ext cx="8229600" cy="5721350"/>
          </a:xfrm>
        </p:spPr>
        <p:txBody>
          <a:bodyPr/>
          <a:lstStyle/>
          <a:p>
            <a:pPr eaLnBrk="1" hangingPunct="1">
              <a:lnSpc>
                <a:spcPct val="105000"/>
              </a:lnSpc>
              <a:defRPr/>
            </a:pPr>
            <a:r>
              <a:rPr lang="en-US" altLang="zh-CN" sz="2400" b="1" dirty="0" smtClean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A</a:t>
            </a:r>
            <a:r>
              <a:rPr lang="en-US" altLang="zh-CN" sz="2400" dirty="0" smtClean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 18</a:t>
            </a:r>
            <a:r>
              <a:rPr lang="zh-CN" altLang="en-US" sz="2400" dirty="0" smtClean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世纪前，</a:t>
            </a:r>
            <a:r>
              <a:rPr lang="zh-CN" altLang="en-US" sz="2400" dirty="0" smtClean="0">
                <a:latin typeface="Times New Roman" pitchFamily="18" charset="0"/>
                <a:ea typeface="黑体" pitchFamily="49" charset="-122"/>
              </a:rPr>
              <a:t>木炭炼铁，森林、铁矿为制约主要条件。欧洲钢铁工业集中在森林资源、铁矿资源丰富、水运方便的地区。如前苏联乌拉尔、瑞典；</a:t>
            </a:r>
            <a:endParaRPr lang="zh-CN" altLang="en-US" sz="2400" b="1" dirty="0" smtClean="0">
              <a:latin typeface="Times New Roman" pitchFamily="18" charset="0"/>
              <a:ea typeface="黑体" pitchFamily="49" charset="-122"/>
            </a:endParaRPr>
          </a:p>
          <a:p>
            <a:pPr eaLnBrk="1" hangingPunct="1">
              <a:lnSpc>
                <a:spcPct val="105000"/>
              </a:lnSpc>
              <a:defRPr/>
            </a:pPr>
            <a:r>
              <a:rPr lang="en-US" altLang="zh-CN" sz="2400" b="1" dirty="0" smtClean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B</a:t>
            </a:r>
            <a:r>
              <a:rPr lang="en-US" altLang="zh-CN" sz="2400" dirty="0" smtClean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 19</a:t>
            </a:r>
            <a:r>
              <a:rPr lang="zh-CN" altLang="en-US" sz="2400" dirty="0" smtClean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世纪</a:t>
            </a:r>
            <a:r>
              <a:rPr lang="zh-CN" altLang="en-US" sz="2400" dirty="0" smtClean="0">
                <a:latin typeface="Times New Roman" pitchFamily="18" charset="0"/>
                <a:ea typeface="黑体" pitchFamily="49" charset="-122"/>
              </a:rPr>
              <a:t>，焦炭炼铁，</a:t>
            </a:r>
            <a:r>
              <a:rPr lang="en-US" altLang="zh-CN" sz="2400" dirty="0" smtClean="0">
                <a:latin typeface="Times New Roman" pitchFamily="18" charset="0"/>
                <a:ea typeface="黑体" pitchFamily="49" charset="-122"/>
              </a:rPr>
              <a:t>1</a:t>
            </a:r>
            <a:r>
              <a:rPr lang="zh-CN" altLang="en-US" sz="2400" dirty="0" smtClean="0">
                <a:latin typeface="Times New Roman" pitchFamily="18" charset="0"/>
                <a:ea typeface="黑体" pitchFamily="49" charset="-122"/>
              </a:rPr>
              <a:t>吨铁 </a:t>
            </a:r>
            <a:r>
              <a:rPr lang="en-US" altLang="zh-CN" sz="2400" dirty="0" smtClean="0">
                <a:latin typeface="Times New Roman" pitchFamily="18" charset="0"/>
                <a:ea typeface="黑体" pitchFamily="49" charset="-122"/>
              </a:rPr>
              <a:t>= 8~10</a:t>
            </a:r>
            <a:r>
              <a:rPr lang="zh-CN" altLang="en-US" sz="2400" dirty="0" smtClean="0">
                <a:latin typeface="Times New Roman" pitchFamily="18" charset="0"/>
                <a:ea typeface="黑体" pitchFamily="49" charset="-122"/>
              </a:rPr>
              <a:t>吨煤＋</a:t>
            </a:r>
            <a:r>
              <a:rPr lang="en-US" altLang="zh-CN" sz="2400" dirty="0" smtClean="0">
                <a:latin typeface="Times New Roman" pitchFamily="18" charset="0"/>
                <a:ea typeface="黑体" pitchFamily="49" charset="-122"/>
              </a:rPr>
              <a:t>2</a:t>
            </a:r>
            <a:r>
              <a:rPr lang="zh-CN" altLang="en-US" sz="2400" dirty="0" smtClean="0">
                <a:latin typeface="Times New Roman" pitchFamily="18" charset="0"/>
                <a:ea typeface="黑体" pitchFamily="49" charset="-122"/>
              </a:rPr>
              <a:t>吨富铁矿，炼焦煤成为主要限制因素。钢铁工业中心转移到：英国中部伯明翰、德国鲁尔、美国匹兹堡等。</a:t>
            </a:r>
            <a:endParaRPr lang="zh-CN" altLang="en-US" sz="2400" b="1" dirty="0" smtClean="0">
              <a:latin typeface="Times New Roman" pitchFamily="18" charset="0"/>
              <a:ea typeface="黑体" pitchFamily="49" charset="-122"/>
            </a:endParaRPr>
          </a:p>
          <a:p>
            <a:pPr eaLnBrk="1" hangingPunct="1">
              <a:lnSpc>
                <a:spcPct val="105000"/>
              </a:lnSpc>
              <a:defRPr/>
            </a:pPr>
            <a:r>
              <a:rPr lang="en-US" altLang="zh-CN" sz="2400" b="1" dirty="0" smtClean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C </a:t>
            </a:r>
            <a:r>
              <a:rPr lang="en-US" altLang="zh-CN" sz="2400" dirty="0" smtClean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20</a:t>
            </a:r>
            <a:r>
              <a:rPr lang="zh-CN" altLang="en-US" sz="2400" dirty="0" smtClean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世纪</a:t>
            </a:r>
            <a:r>
              <a:rPr lang="zh-CN" altLang="en-US" sz="2400" dirty="0" smtClean="0">
                <a:latin typeface="Times New Roman" pitchFamily="18" charset="0"/>
                <a:ea typeface="黑体" pitchFamily="49" charset="-122"/>
              </a:rPr>
              <a:t>，技术提高，焦比下降，耗煤减少。同时，配煤技术提高，煤的来源多样化。钢铁工业基地向铁矿区转移。前苏联的乌拉尔地区第二次成为重要的钢铁工业基地。</a:t>
            </a:r>
          </a:p>
          <a:p>
            <a:pPr eaLnBrk="1" hangingPunct="1">
              <a:lnSpc>
                <a:spcPct val="105000"/>
              </a:lnSpc>
              <a:defRPr/>
            </a:pPr>
            <a:r>
              <a:rPr lang="en-US" altLang="zh-CN" sz="2400" b="1" dirty="0" smtClean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D </a:t>
            </a:r>
            <a:r>
              <a:rPr lang="zh-CN" altLang="en-US" sz="2400" dirty="0" smtClean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近几十年来，</a:t>
            </a:r>
            <a:r>
              <a:rPr lang="zh-CN" altLang="en-US" sz="2400" dirty="0" smtClean="0">
                <a:latin typeface="Times New Roman" pitchFamily="18" charset="0"/>
                <a:ea typeface="黑体" pitchFamily="49" charset="-122"/>
              </a:rPr>
              <a:t>随着大型运矿船、运煤船出现，海运成本下降。同时采铁技术提高，成本下降，使得沿海海运方便地区也可以得到廉价的煤、铁发展钢铁工业。如日本的福山、水岛、鹿岛、君津四厂。德国的不来梅、中国上海宝钢等。 </a:t>
            </a:r>
          </a:p>
        </p:txBody>
      </p:sp>
      <p:sp>
        <p:nvSpPr>
          <p:cNvPr id="31747" name="Text Box 4"/>
          <p:cNvSpPr txBox="1">
            <a:spLocks noChangeArrowheads="1"/>
          </p:cNvSpPr>
          <p:nvPr/>
        </p:nvSpPr>
        <p:spPr bwMode="auto">
          <a:xfrm>
            <a:off x="684213" y="188913"/>
            <a:ext cx="184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zh-CN" altLang="zh-CN"/>
          </a:p>
        </p:txBody>
      </p:sp>
      <p:sp>
        <p:nvSpPr>
          <p:cNvPr id="31748" name="Text Box 5"/>
          <p:cNvSpPr txBox="1">
            <a:spLocks noChangeArrowheads="1"/>
          </p:cNvSpPr>
          <p:nvPr/>
        </p:nvSpPr>
        <p:spPr bwMode="auto">
          <a:xfrm>
            <a:off x="735013" y="188913"/>
            <a:ext cx="399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40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（</a:t>
            </a:r>
            <a:r>
              <a:rPr lang="en-US" altLang="zh-CN" sz="240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2</a:t>
            </a:r>
            <a:r>
              <a:rPr lang="zh-CN" altLang="en-US" sz="240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）钢铁工业发展的阶段性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5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5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5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5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5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5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5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5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844675"/>
            <a:ext cx="8229600" cy="3240088"/>
          </a:xfrm>
        </p:spPr>
        <p:txBody>
          <a:bodyPr/>
          <a:lstStyle/>
          <a:p>
            <a:pPr eaLnBrk="1" hangingPunct="1">
              <a:lnSpc>
                <a:spcPct val="145000"/>
              </a:lnSpc>
              <a:buFontTx/>
              <a:buNone/>
              <a:defRPr/>
            </a:pPr>
            <a:r>
              <a:rPr lang="zh-CN" altLang="en-US" sz="2800" dirty="0" smtClean="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（</a:t>
            </a:r>
            <a:r>
              <a:rPr lang="en-US" altLang="zh-CN" sz="2800" dirty="0" smtClean="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3</a:t>
            </a:r>
            <a:r>
              <a:rPr lang="zh-CN" altLang="en-US" sz="2800" dirty="0" smtClean="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）引起产业布局出现向若干地区转移的趋势</a:t>
            </a:r>
          </a:p>
          <a:p>
            <a:pPr eaLnBrk="1" hangingPunct="1">
              <a:lnSpc>
                <a:spcPct val="145000"/>
              </a:lnSpc>
              <a:defRPr/>
            </a:pPr>
            <a:r>
              <a:rPr lang="en-US" altLang="zh-CN" sz="2800" dirty="0" smtClean="0">
                <a:latin typeface="黑体" pitchFamily="49" charset="-122"/>
                <a:ea typeface="黑体" pitchFamily="49" charset="-122"/>
              </a:rPr>
              <a:t>A </a:t>
            </a:r>
            <a:r>
              <a:rPr lang="en-US" altLang="zh-CN" sz="2800" dirty="0" smtClean="0">
                <a:latin typeface="华文细黑" pitchFamily="2" charset="-122"/>
                <a:ea typeface="黑体" pitchFamily="49" charset="-122"/>
              </a:rPr>
              <a:t>“</a:t>
            </a:r>
            <a:r>
              <a:rPr lang="zh-CN" altLang="en-US" sz="2800" dirty="0" smtClean="0">
                <a:latin typeface="黑体" pitchFamily="49" charset="-122"/>
                <a:ea typeface="黑体" pitchFamily="49" charset="-122"/>
              </a:rPr>
              <a:t>夕阳工业</a:t>
            </a:r>
            <a:r>
              <a:rPr lang="zh-CN" altLang="en-US" sz="2800" dirty="0" smtClean="0">
                <a:latin typeface="华文细黑" pitchFamily="2" charset="-122"/>
                <a:ea typeface="黑体" pitchFamily="49" charset="-122"/>
              </a:rPr>
              <a:t>”</a:t>
            </a:r>
            <a:r>
              <a:rPr lang="zh-CN" altLang="en-US" sz="2800" dirty="0" smtClean="0">
                <a:latin typeface="黑体" pitchFamily="49" charset="-122"/>
                <a:ea typeface="黑体" pitchFamily="49" charset="-122"/>
              </a:rPr>
              <a:t> →发展中国家</a:t>
            </a:r>
          </a:p>
          <a:p>
            <a:pPr eaLnBrk="1" hangingPunct="1">
              <a:lnSpc>
                <a:spcPct val="145000"/>
              </a:lnSpc>
              <a:defRPr/>
            </a:pPr>
            <a:r>
              <a:rPr lang="en-US" altLang="zh-CN" sz="2800" dirty="0" smtClean="0">
                <a:latin typeface="黑体" pitchFamily="49" charset="-122"/>
                <a:ea typeface="黑体" pitchFamily="49" charset="-122"/>
              </a:rPr>
              <a:t>B    </a:t>
            </a:r>
            <a:r>
              <a:rPr lang="zh-CN" altLang="en-US" sz="2800" dirty="0" smtClean="0">
                <a:latin typeface="黑体" pitchFamily="49" charset="-122"/>
                <a:ea typeface="黑体" pitchFamily="49" charset="-122"/>
              </a:rPr>
              <a:t>主要工业中心</a:t>
            </a:r>
            <a:r>
              <a:rPr lang="zh-CN" altLang="en-US" sz="2800" dirty="0" smtClean="0">
                <a:latin typeface="华文细黑" pitchFamily="2" charset="-122"/>
                <a:ea typeface="黑体" pitchFamily="49" charset="-122"/>
              </a:rPr>
              <a:t>“</a:t>
            </a:r>
            <a:r>
              <a:rPr lang="zh-CN" altLang="en-US" sz="2800" dirty="0" smtClean="0">
                <a:latin typeface="黑体" pitchFamily="49" charset="-122"/>
                <a:ea typeface="黑体" pitchFamily="49" charset="-122"/>
              </a:rPr>
              <a:t>煤铁复合型</a:t>
            </a:r>
            <a:r>
              <a:rPr lang="zh-CN" altLang="en-US" sz="2800" dirty="0" smtClean="0">
                <a:latin typeface="华文细黑" pitchFamily="2" charset="-122"/>
                <a:ea typeface="黑体" pitchFamily="49" charset="-122"/>
              </a:rPr>
              <a:t>”</a:t>
            </a:r>
            <a:r>
              <a:rPr lang="zh-CN" altLang="en-US" sz="2800" dirty="0" smtClean="0">
                <a:latin typeface="黑体" pitchFamily="49" charset="-122"/>
                <a:ea typeface="黑体" pitchFamily="49" charset="-122"/>
              </a:rPr>
              <a:t> →</a:t>
            </a:r>
            <a:r>
              <a:rPr lang="zh-CN" altLang="en-US" sz="2800" dirty="0" smtClean="0">
                <a:latin typeface="华文细黑" pitchFamily="2" charset="-122"/>
                <a:ea typeface="黑体" pitchFamily="49" charset="-122"/>
              </a:rPr>
              <a:t>“</a:t>
            </a:r>
            <a:r>
              <a:rPr lang="zh-CN" altLang="en-US" sz="2800" dirty="0" smtClean="0">
                <a:latin typeface="黑体" pitchFamily="49" charset="-122"/>
                <a:ea typeface="黑体" pitchFamily="49" charset="-122"/>
              </a:rPr>
              <a:t>沿海型</a:t>
            </a:r>
            <a:r>
              <a:rPr lang="zh-CN" altLang="en-US" sz="2800" dirty="0" smtClean="0">
                <a:latin typeface="华文细黑" pitchFamily="2" charset="-122"/>
                <a:ea typeface="黑体" pitchFamily="49" charset="-122"/>
              </a:rPr>
              <a:t>”</a:t>
            </a:r>
            <a:r>
              <a:rPr lang="zh-CN" altLang="en-US" sz="2800" dirty="0" smtClean="0">
                <a:latin typeface="黑体" pitchFamily="49" charset="-122"/>
                <a:ea typeface="黑体" pitchFamily="49" charset="-122"/>
              </a:rPr>
              <a:t> →</a:t>
            </a:r>
            <a:r>
              <a:rPr lang="zh-CN" altLang="en-US" sz="2800" dirty="0" smtClean="0">
                <a:latin typeface="华文细黑" pitchFamily="2" charset="-122"/>
                <a:ea typeface="黑体" pitchFamily="49" charset="-122"/>
              </a:rPr>
              <a:t>“</a:t>
            </a:r>
            <a:r>
              <a:rPr lang="zh-CN" altLang="en-US" sz="2800" dirty="0" smtClean="0">
                <a:latin typeface="黑体" pitchFamily="49" charset="-122"/>
                <a:ea typeface="黑体" pitchFamily="49" charset="-122"/>
              </a:rPr>
              <a:t>临空型</a:t>
            </a:r>
            <a:r>
              <a:rPr lang="zh-CN" altLang="en-US" sz="2800" dirty="0" smtClean="0">
                <a:latin typeface="华文细黑" pitchFamily="2" charset="-122"/>
                <a:ea typeface="黑体" pitchFamily="49" charset="-122"/>
              </a:rPr>
              <a:t>”</a:t>
            </a:r>
            <a:r>
              <a:rPr lang="zh-CN" altLang="en-US" sz="2800" dirty="0" smtClean="0">
                <a:latin typeface="黑体" pitchFamily="49" charset="-122"/>
                <a:ea typeface="黑体" pitchFamily="49" charset="-122"/>
              </a:rPr>
              <a:t>布局的趋向。</a:t>
            </a:r>
          </a:p>
        </p:txBody>
      </p:sp>
      <p:sp>
        <p:nvSpPr>
          <p:cNvPr id="3" name="上箭头 2">
            <a:hlinkClick r:id="rId2" action="ppaction://hlinksldjump"/>
          </p:cNvPr>
          <p:cNvSpPr/>
          <p:nvPr/>
        </p:nvSpPr>
        <p:spPr>
          <a:xfrm>
            <a:off x="8243888" y="6308725"/>
            <a:ext cx="215900" cy="144463"/>
          </a:xfrm>
          <a:prstGeom prst="upArrow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76375" y="1844675"/>
            <a:ext cx="6788150" cy="3887788"/>
          </a:xfrm>
        </p:spPr>
        <p:txBody>
          <a:bodyPr/>
          <a:lstStyle/>
          <a:p>
            <a:pPr eaLnBrk="1" hangingPunct="1">
              <a:lnSpc>
                <a:spcPct val="155000"/>
              </a:lnSpc>
              <a:buFont typeface="Wingdings" pitchFamily="2" charset="2"/>
              <a:buChar char="Ø"/>
              <a:defRPr/>
            </a:pPr>
            <a:r>
              <a:rPr lang="zh-CN" altLang="en-US" sz="2800" dirty="0" smtClean="0">
                <a:ea typeface="黑体" pitchFamily="2" charset="-122"/>
              </a:rPr>
              <a:t>技术与技术创新</a:t>
            </a:r>
            <a:endParaRPr lang="en-US" altLang="zh-CN" sz="2800" dirty="0" smtClean="0">
              <a:ea typeface="黑体" pitchFamily="2" charset="-122"/>
            </a:endParaRPr>
          </a:p>
          <a:p>
            <a:pPr eaLnBrk="1" hangingPunct="1">
              <a:lnSpc>
                <a:spcPct val="155000"/>
              </a:lnSpc>
              <a:buFont typeface="Wingdings" pitchFamily="2" charset="2"/>
              <a:buChar char="Ø"/>
              <a:defRPr/>
            </a:pPr>
            <a:r>
              <a:rPr lang="zh-CN" altLang="en-US" sz="2800" dirty="0" smtClean="0">
                <a:ea typeface="黑体" pitchFamily="2" charset="-122"/>
              </a:rPr>
              <a:t>技术研发与应用对经济活动区位影响</a:t>
            </a:r>
            <a:endParaRPr lang="en-US" altLang="zh-CN" sz="2800" dirty="0" smtClean="0">
              <a:ea typeface="黑体" pitchFamily="2" charset="-122"/>
            </a:endParaRPr>
          </a:p>
          <a:p>
            <a:pPr eaLnBrk="1" hangingPunct="1">
              <a:lnSpc>
                <a:spcPct val="155000"/>
              </a:lnSpc>
              <a:buFont typeface="Wingdings" pitchFamily="2" charset="2"/>
              <a:buChar char="Ø"/>
              <a:defRPr/>
            </a:pPr>
            <a:r>
              <a:rPr lang="zh-CN" altLang="en-US" sz="2800" dirty="0" smtClean="0">
                <a:solidFill>
                  <a:srgbClr val="FFC000"/>
                </a:solidFill>
                <a:ea typeface="黑体" pitchFamily="2" charset="-122"/>
              </a:rPr>
              <a:t>信息技术对经济活动区位影响</a:t>
            </a:r>
            <a:endParaRPr lang="en-US" altLang="zh-CN" sz="2800" dirty="0" smtClean="0">
              <a:solidFill>
                <a:srgbClr val="FFC000"/>
              </a:solidFill>
              <a:ea typeface="黑体" pitchFamily="2" charset="-122"/>
            </a:endParaRPr>
          </a:p>
          <a:p>
            <a:pPr eaLnBrk="1" hangingPunct="1">
              <a:lnSpc>
                <a:spcPct val="155000"/>
              </a:lnSpc>
              <a:buFont typeface="Wingdings" pitchFamily="2" charset="2"/>
              <a:buChar char="Ø"/>
              <a:defRPr/>
            </a:pPr>
            <a:r>
              <a:rPr lang="zh-CN" altLang="en-US" sz="2800" dirty="0" smtClean="0">
                <a:ea typeface="黑体" pitchFamily="2" charset="-122"/>
              </a:rPr>
              <a:t>区域创新网络</a:t>
            </a:r>
            <a:endParaRPr lang="en-US" altLang="zh-CN" sz="2800" dirty="0" smtClean="0">
              <a:ea typeface="黑体" pitchFamily="2" charset="-122"/>
            </a:endParaRPr>
          </a:p>
          <a:p>
            <a:pPr eaLnBrk="1" hangingPunct="1">
              <a:lnSpc>
                <a:spcPct val="155000"/>
              </a:lnSpc>
              <a:buFont typeface="Wingdings" pitchFamily="2" charset="2"/>
              <a:buChar char="Ø"/>
              <a:defRPr/>
            </a:pPr>
            <a:endParaRPr lang="zh-CN" altLang="en-US" sz="2000" dirty="0" smtClean="0">
              <a:solidFill>
                <a:schemeClr val="bg1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395288" y="260350"/>
            <a:ext cx="8229600" cy="919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zh-CN" altLang="en-US" sz="3600" ker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黑体" pitchFamily="2" charset="-122"/>
                <a:cs typeface="+mj-cs"/>
              </a:rPr>
              <a:t>四、技术因素对经济活动区位的影响</a:t>
            </a:r>
            <a:endParaRPr lang="zh-CN" altLang="en-US" sz="3600" kern="0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j-lt"/>
              <a:ea typeface="黑体" pitchFamily="2" charset="-122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 txBox="1">
            <a:spLocks noChangeArrowheads="1"/>
          </p:cNvSpPr>
          <p:nvPr/>
        </p:nvSpPr>
        <p:spPr>
          <a:xfrm>
            <a:off x="684213" y="836613"/>
            <a:ext cx="8207375" cy="5472112"/>
          </a:xfrm>
          <a:prstGeom prst="rect">
            <a:avLst/>
          </a:prstGeom>
        </p:spPr>
        <p:txBody>
          <a:bodyPr/>
          <a:lstStyle/>
          <a:p>
            <a:pPr marL="342900" indent="-342900">
              <a:lnSpc>
                <a:spcPct val="120000"/>
              </a:lnSpc>
              <a:spcBef>
                <a:spcPts val="1200"/>
              </a:spcBef>
              <a:buClr>
                <a:schemeClr val="hlink"/>
              </a:buClr>
              <a:buSzPct val="90000"/>
              <a:buFont typeface="Wingdings" pitchFamily="2" charset="2"/>
              <a:buBlip>
                <a:blip r:embed="rId2"/>
              </a:buBlip>
              <a:defRPr/>
            </a:pPr>
            <a:r>
              <a:rPr lang="zh-CN" altLang="en-US" sz="2800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黑体" pitchFamily="2" charset="-122"/>
              </a:rPr>
              <a:t>信息技术对经济活动区位影响</a:t>
            </a:r>
            <a:endParaRPr lang="en-US" altLang="zh-CN" sz="2800" kern="0" dirty="0">
              <a:effectLst>
                <a:outerShdw blurRad="38100" dist="38100" dir="2700000" algn="tl">
                  <a:srgbClr val="000000"/>
                </a:outerShdw>
              </a:effectLst>
              <a:latin typeface="+mn-lt"/>
              <a:ea typeface="黑体" pitchFamily="2" charset="-122"/>
            </a:endParaRPr>
          </a:p>
          <a:p>
            <a:pPr marL="742950" lvl="1" indent="-285750">
              <a:lnSpc>
                <a:spcPct val="120000"/>
              </a:lnSpc>
              <a:spcBef>
                <a:spcPts val="1200"/>
              </a:spcBef>
              <a:buFontTx/>
              <a:buChar char="–"/>
              <a:defRPr/>
            </a:pPr>
            <a:r>
              <a:rPr lang="zh-CN" altLang="en-US" sz="2400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黑体" pitchFamily="2" charset="-122"/>
              </a:rPr>
              <a:t>信息技术：</a:t>
            </a:r>
          </a:p>
          <a:p>
            <a:pPr marL="1143000" lvl="2" indent="-228600">
              <a:lnSpc>
                <a:spcPct val="120000"/>
              </a:lnSpc>
              <a:spcBef>
                <a:spcPts val="1200"/>
              </a:spcBef>
              <a:buClr>
                <a:schemeClr val="accent2"/>
              </a:buClr>
              <a:buSzPct val="90000"/>
              <a:buFont typeface="Wingdings" pitchFamily="2" charset="2"/>
              <a:buBlip>
                <a:blip r:embed="rId3"/>
              </a:buBlip>
              <a:defRPr/>
            </a:pPr>
            <a:r>
              <a:rPr lang="zh-CN" altLang="en-US" sz="2000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黑体" pitchFamily="2" charset="-122"/>
              </a:rPr>
              <a:t>信息搜索技术、信息传输技术、信息呈现技术、信息使用技术</a:t>
            </a:r>
          </a:p>
          <a:p>
            <a:pPr marL="742950" lvl="1" indent="-285750">
              <a:lnSpc>
                <a:spcPct val="120000"/>
              </a:lnSpc>
              <a:spcBef>
                <a:spcPts val="1200"/>
              </a:spcBef>
              <a:buFontTx/>
              <a:buChar char="–"/>
              <a:defRPr/>
            </a:pPr>
            <a:r>
              <a:rPr lang="zh-CN" altLang="en-US" sz="2400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黑体" pitchFamily="2" charset="-122"/>
              </a:rPr>
              <a:t>信息技术能够降低企业成本、影响经济活动区位选择</a:t>
            </a:r>
            <a:endParaRPr lang="en-US" altLang="zh-CN" sz="2400" kern="0" dirty="0">
              <a:effectLst>
                <a:outerShdw blurRad="38100" dist="38100" dir="2700000" algn="tl">
                  <a:srgbClr val="000000"/>
                </a:outerShdw>
              </a:effectLst>
              <a:latin typeface="+mn-lt"/>
              <a:ea typeface="黑体" pitchFamily="2" charset="-122"/>
            </a:endParaRPr>
          </a:p>
          <a:p>
            <a:pPr marL="742950" lvl="1" indent="-285750">
              <a:lnSpc>
                <a:spcPct val="120000"/>
              </a:lnSpc>
              <a:spcBef>
                <a:spcPts val="1200"/>
              </a:spcBef>
              <a:buFontTx/>
              <a:buChar char="–"/>
              <a:defRPr/>
            </a:pPr>
            <a:r>
              <a:rPr lang="zh-CN" altLang="en-US" sz="2400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黑体" pitchFamily="2" charset="-122"/>
              </a:rPr>
              <a:t>信息技术改变传统区位因子的重要性</a:t>
            </a:r>
            <a:endParaRPr lang="en-US" altLang="zh-CN" sz="2400" kern="0" dirty="0">
              <a:effectLst>
                <a:outerShdw blurRad="38100" dist="38100" dir="2700000" algn="tl">
                  <a:srgbClr val="000000"/>
                </a:outerShdw>
              </a:effectLst>
              <a:latin typeface="+mn-lt"/>
              <a:ea typeface="黑体" pitchFamily="2" charset="-122"/>
            </a:endParaRPr>
          </a:p>
          <a:p>
            <a:pPr marL="1143000" lvl="2" indent="-228600">
              <a:lnSpc>
                <a:spcPct val="120000"/>
              </a:lnSpc>
              <a:spcBef>
                <a:spcPts val="1200"/>
              </a:spcBef>
              <a:buClr>
                <a:schemeClr val="accent2"/>
              </a:buClr>
              <a:buSzPct val="90000"/>
              <a:buFontTx/>
              <a:buBlip>
                <a:blip r:embed="rId3"/>
              </a:buBlip>
              <a:defRPr/>
            </a:pPr>
            <a:r>
              <a:rPr lang="zh-CN" altLang="en-US" sz="2000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黑体" pitchFamily="2" charset="-122"/>
              </a:rPr>
              <a:t>生产要素（除土地）作用相对下降，制度文化作用上升</a:t>
            </a:r>
          </a:p>
          <a:p>
            <a:pPr marL="742950" lvl="1" indent="-285750">
              <a:lnSpc>
                <a:spcPct val="120000"/>
              </a:lnSpc>
              <a:spcBef>
                <a:spcPts val="1200"/>
              </a:spcBef>
              <a:buFontTx/>
              <a:buChar char="–"/>
              <a:defRPr/>
            </a:pPr>
            <a:r>
              <a:rPr lang="zh-CN" altLang="en-US" sz="2400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黑体" pitchFamily="2" charset="-122"/>
              </a:rPr>
              <a:t>“互联网</a:t>
            </a:r>
            <a:r>
              <a:rPr lang="en-US" altLang="zh-CN" sz="2400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黑体" pitchFamily="2" charset="-122"/>
              </a:rPr>
              <a:t>+</a:t>
            </a:r>
            <a:r>
              <a:rPr lang="zh-CN" altLang="en-US" sz="2400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黑体" pitchFamily="2" charset="-122"/>
              </a:rPr>
              <a:t>”是影响经济活动的高级形态</a:t>
            </a:r>
            <a:endParaRPr lang="en-US" altLang="zh-CN" sz="2400" kern="0" dirty="0">
              <a:effectLst>
                <a:outerShdw blurRad="38100" dist="38100" dir="2700000" algn="tl">
                  <a:srgbClr val="000000"/>
                </a:outerShdw>
              </a:effectLst>
              <a:latin typeface="+mn-lt"/>
              <a:ea typeface="黑体" pitchFamily="2" charset="-122"/>
            </a:endParaRPr>
          </a:p>
          <a:p>
            <a:pPr marL="1143000" lvl="2" indent="-228600">
              <a:lnSpc>
                <a:spcPct val="120000"/>
              </a:lnSpc>
              <a:spcBef>
                <a:spcPts val="1200"/>
              </a:spcBef>
              <a:buClr>
                <a:schemeClr val="accent2"/>
              </a:buClr>
              <a:buSzPct val="90000"/>
              <a:buFontTx/>
              <a:buBlip>
                <a:blip r:embed="rId3"/>
              </a:buBlip>
              <a:defRPr/>
            </a:pPr>
            <a:r>
              <a:rPr lang="zh-CN" altLang="en-US" sz="2000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黑体" pitchFamily="2" charset="-122"/>
              </a:rPr>
              <a:t>互联网与传统产业业态融合催生新的产业业态</a:t>
            </a:r>
            <a:endParaRPr lang="en-US" altLang="zh-CN" sz="2000" kern="0" dirty="0">
              <a:effectLst>
                <a:outerShdw blurRad="38100" dist="38100" dir="2700000" algn="tl">
                  <a:srgbClr val="000000"/>
                </a:outerShdw>
              </a:effectLst>
              <a:latin typeface="+mn-lt"/>
              <a:ea typeface="黑体" pitchFamily="2" charset="-122"/>
            </a:endParaRPr>
          </a:p>
          <a:p>
            <a:pPr marL="1143000" lvl="2" indent="-228600">
              <a:lnSpc>
                <a:spcPct val="120000"/>
              </a:lnSpc>
              <a:spcBef>
                <a:spcPts val="1200"/>
              </a:spcBef>
              <a:buClr>
                <a:schemeClr val="accent2"/>
              </a:buClr>
              <a:buSzPct val="90000"/>
              <a:buFontTx/>
              <a:buBlip>
                <a:blip r:embed="rId3"/>
              </a:buBlip>
              <a:defRPr/>
            </a:pPr>
            <a:r>
              <a:rPr lang="zh-CN" altLang="en-US" sz="2000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黑体" pitchFamily="2" charset="-122"/>
              </a:rPr>
              <a:t>“互联网</a:t>
            </a:r>
            <a:r>
              <a:rPr lang="en-US" altLang="zh-CN" sz="2000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黑体" pitchFamily="2" charset="-122"/>
              </a:rPr>
              <a:t>+</a:t>
            </a:r>
            <a:r>
              <a:rPr lang="zh-CN" altLang="en-US" sz="2000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黑体" pitchFamily="2" charset="-122"/>
              </a:rPr>
              <a:t>”改变传统产业区位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76375" y="1844675"/>
            <a:ext cx="6788150" cy="3887788"/>
          </a:xfrm>
        </p:spPr>
        <p:txBody>
          <a:bodyPr/>
          <a:lstStyle/>
          <a:p>
            <a:pPr eaLnBrk="1" hangingPunct="1">
              <a:lnSpc>
                <a:spcPct val="155000"/>
              </a:lnSpc>
              <a:buFont typeface="Wingdings" pitchFamily="2" charset="2"/>
              <a:buChar char="Ø"/>
              <a:defRPr/>
            </a:pPr>
            <a:r>
              <a:rPr lang="zh-CN" altLang="en-US" sz="2800" dirty="0" smtClean="0">
                <a:ea typeface="黑体" pitchFamily="2" charset="-122"/>
              </a:rPr>
              <a:t>技术与技术创新</a:t>
            </a:r>
            <a:endParaRPr lang="en-US" altLang="zh-CN" sz="2800" dirty="0" smtClean="0">
              <a:ea typeface="黑体" pitchFamily="2" charset="-122"/>
            </a:endParaRPr>
          </a:p>
          <a:p>
            <a:pPr eaLnBrk="1" hangingPunct="1">
              <a:lnSpc>
                <a:spcPct val="155000"/>
              </a:lnSpc>
              <a:buFont typeface="Wingdings" pitchFamily="2" charset="2"/>
              <a:buChar char="Ø"/>
              <a:defRPr/>
            </a:pPr>
            <a:r>
              <a:rPr lang="zh-CN" altLang="en-US" sz="2800" dirty="0" smtClean="0">
                <a:ea typeface="黑体" pitchFamily="2" charset="-122"/>
              </a:rPr>
              <a:t>技术研发与应用对经济活动区位影响</a:t>
            </a:r>
            <a:endParaRPr lang="en-US" altLang="zh-CN" sz="2800" dirty="0" smtClean="0">
              <a:ea typeface="黑体" pitchFamily="2" charset="-122"/>
            </a:endParaRPr>
          </a:p>
          <a:p>
            <a:pPr eaLnBrk="1" hangingPunct="1">
              <a:lnSpc>
                <a:spcPct val="155000"/>
              </a:lnSpc>
              <a:buFont typeface="Wingdings" pitchFamily="2" charset="2"/>
              <a:buChar char="Ø"/>
              <a:defRPr/>
            </a:pPr>
            <a:r>
              <a:rPr lang="zh-CN" altLang="en-US" sz="2800" dirty="0" smtClean="0">
                <a:ea typeface="黑体" pitchFamily="2" charset="-122"/>
              </a:rPr>
              <a:t>信息技术对经济活动区位影响</a:t>
            </a:r>
            <a:endParaRPr lang="en-US" altLang="zh-CN" sz="2800" dirty="0" smtClean="0">
              <a:ea typeface="黑体" pitchFamily="2" charset="-122"/>
            </a:endParaRPr>
          </a:p>
          <a:p>
            <a:pPr eaLnBrk="1" hangingPunct="1">
              <a:lnSpc>
                <a:spcPct val="155000"/>
              </a:lnSpc>
              <a:buFont typeface="Wingdings" pitchFamily="2" charset="2"/>
              <a:buChar char="Ø"/>
              <a:defRPr/>
            </a:pPr>
            <a:r>
              <a:rPr lang="zh-CN" altLang="en-US" sz="2800" dirty="0" smtClean="0">
                <a:solidFill>
                  <a:srgbClr val="FFC000"/>
                </a:solidFill>
                <a:ea typeface="黑体" pitchFamily="2" charset="-122"/>
              </a:rPr>
              <a:t>区域创新网络</a:t>
            </a:r>
            <a:endParaRPr lang="en-US" altLang="zh-CN" sz="2800" dirty="0" smtClean="0">
              <a:solidFill>
                <a:srgbClr val="FFC000"/>
              </a:solidFill>
              <a:ea typeface="黑体" pitchFamily="2" charset="-122"/>
            </a:endParaRPr>
          </a:p>
          <a:p>
            <a:pPr eaLnBrk="1" hangingPunct="1">
              <a:lnSpc>
                <a:spcPct val="155000"/>
              </a:lnSpc>
              <a:buFont typeface="Wingdings" pitchFamily="2" charset="2"/>
              <a:buChar char="Ø"/>
              <a:defRPr/>
            </a:pPr>
            <a:endParaRPr lang="zh-CN" altLang="en-US" sz="2000" dirty="0" smtClean="0">
              <a:solidFill>
                <a:schemeClr val="bg1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395288" y="260350"/>
            <a:ext cx="8229600" cy="919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zh-CN" altLang="en-US" sz="3600" ker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黑体" pitchFamily="2" charset="-122"/>
                <a:cs typeface="+mj-cs"/>
              </a:rPr>
              <a:t>四、技术因素对经济活动区位的影响</a:t>
            </a:r>
            <a:endParaRPr lang="zh-CN" altLang="en-US" sz="3600" kern="0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j-lt"/>
              <a:ea typeface="黑体" pitchFamily="2" charset="-122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339975" y="2636838"/>
            <a:ext cx="5483225" cy="2908300"/>
          </a:xfrm>
        </p:spPr>
        <p:txBody>
          <a:bodyPr/>
          <a:lstStyle/>
          <a:p>
            <a:pPr eaLnBrk="1" hangingPunct="1">
              <a:lnSpc>
                <a:spcPct val="145000"/>
              </a:lnSpc>
              <a:defRPr/>
            </a:pPr>
            <a:r>
              <a:rPr lang="zh-CN" altLang="en-US" dirty="0" smtClean="0">
                <a:solidFill>
                  <a:schemeClr val="bg1"/>
                </a:solidFill>
                <a:ea typeface="黑体" pitchFamily="49" charset="-122"/>
                <a:hlinkClick r:id="rId2" action="ppaction://hlinksldjump"/>
              </a:rPr>
              <a:t>概念</a:t>
            </a:r>
            <a:endParaRPr lang="zh-CN" altLang="en-US" dirty="0" smtClean="0">
              <a:solidFill>
                <a:schemeClr val="bg1"/>
              </a:solidFill>
              <a:ea typeface="黑体" pitchFamily="49" charset="-122"/>
            </a:endParaRPr>
          </a:p>
          <a:p>
            <a:pPr eaLnBrk="1" hangingPunct="1">
              <a:lnSpc>
                <a:spcPct val="145000"/>
              </a:lnSpc>
              <a:defRPr/>
            </a:pPr>
            <a:r>
              <a:rPr lang="zh-CN" altLang="en-US" dirty="0" smtClean="0">
                <a:solidFill>
                  <a:schemeClr val="bg1"/>
                </a:solidFill>
                <a:ea typeface="黑体" pitchFamily="49" charset="-122"/>
                <a:hlinkClick r:id="rId3" action="ppaction://hlinksldjump"/>
              </a:rPr>
              <a:t>组成要素</a:t>
            </a:r>
            <a:endParaRPr lang="zh-CN" altLang="en-US" dirty="0" smtClean="0">
              <a:solidFill>
                <a:schemeClr val="bg1"/>
              </a:solidFill>
              <a:ea typeface="黑体" pitchFamily="49" charset="-122"/>
            </a:endParaRPr>
          </a:p>
          <a:p>
            <a:pPr eaLnBrk="1" hangingPunct="1">
              <a:lnSpc>
                <a:spcPct val="145000"/>
              </a:lnSpc>
              <a:defRPr/>
            </a:pPr>
            <a:r>
              <a:rPr lang="zh-CN" altLang="en-US" dirty="0" smtClean="0">
                <a:solidFill>
                  <a:srgbClr val="FFFF00"/>
                </a:solidFill>
                <a:ea typeface="黑体" pitchFamily="49" charset="-122"/>
              </a:rPr>
              <a:t>特征：</a:t>
            </a:r>
            <a:r>
              <a:rPr lang="zh-CN" altLang="en-US" sz="2000" dirty="0" smtClean="0">
                <a:solidFill>
                  <a:schemeClr val="tx2"/>
                </a:solidFill>
                <a:ea typeface="黑体" pitchFamily="49" charset="-122"/>
              </a:rPr>
              <a:t>系统性、开放性、动态性、非中心化或平等性、本地化等</a:t>
            </a:r>
          </a:p>
        </p:txBody>
      </p:sp>
      <p:sp>
        <p:nvSpPr>
          <p:cNvPr id="21507" name="Rectangle 4"/>
          <p:cNvSpPr>
            <a:spLocks noGrp="1" noChangeArrowheads="1"/>
          </p:cNvSpPr>
          <p:nvPr>
            <p:ph type="title"/>
          </p:nvPr>
        </p:nvSpPr>
        <p:spPr>
          <a:xfrm>
            <a:off x="1692275" y="1196975"/>
            <a:ext cx="6337300" cy="1143000"/>
          </a:xfrm>
        </p:spPr>
        <p:txBody>
          <a:bodyPr/>
          <a:lstStyle/>
          <a:p>
            <a:pPr algn="l" eaLnBrk="1" hangingPunct="1">
              <a:defRPr/>
            </a:pPr>
            <a:r>
              <a:rPr lang="zh-CN" altLang="en-US" sz="2800" dirty="0" smtClean="0">
                <a:solidFill>
                  <a:schemeClr val="tx1"/>
                </a:solidFill>
                <a:latin typeface="+mn-lt"/>
                <a:ea typeface="黑体" pitchFamily="2" charset="-122"/>
                <a:cs typeface="+mn-cs"/>
              </a:rPr>
              <a:t>区域创新网络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916113"/>
            <a:ext cx="8229600" cy="3773487"/>
          </a:xfrm>
        </p:spPr>
        <p:txBody>
          <a:bodyPr/>
          <a:lstStyle/>
          <a:p>
            <a:pPr eaLnBrk="1" hangingPunct="1">
              <a:lnSpc>
                <a:spcPct val="145000"/>
              </a:lnSpc>
              <a:defRPr/>
            </a:pPr>
            <a:r>
              <a:rPr lang="zh-CN" altLang="en-US" sz="2800" dirty="0" smtClean="0">
                <a:solidFill>
                  <a:srgbClr val="FFFF00"/>
                </a:solidFill>
                <a:ea typeface="黑体" pitchFamily="49" charset="-122"/>
              </a:rPr>
              <a:t>区域创新网络</a:t>
            </a:r>
            <a:r>
              <a:rPr lang="zh-CN" altLang="en-US" sz="2800" dirty="0" smtClean="0">
                <a:solidFill>
                  <a:schemeClr val="tx2"/>
                </a:solidFill>
                <a:ea typeface="黑体" pitchFamily="49" charset="-122"/>
              </a:rPr>
              <a:t>：集聚在某个区域内的企业、科研机构、市场中介组织、行业组织、地方政府以及有关个人等</a:t>
            </a:r>
            <a:r>
              <a:rPr lang="zh-CN" altLang="en-US" sz="2800" dirty="0" smtClean="0">
                <a:solidFill>
                  <a:srgbClr val="FFFF00"/>
                </a:solidFill>
                <a:ea typeface="黑体" pitchFamily="49" charset="-122"/>
              </a:rPr>
              <a:t>创新主体</a:t>
            </a:r>
            <a:r>
              <a:rPr lang="zh-CN" altLang="en-US" sz="2800" dirty="0" smtClean="0">
                <a:solidFill>
                  <a:schemeClr val="tx2"/>
                </a:solidFill>
                <a:ea typeface="黑体" pitchFamily="49" charset="-122"/>
              </a:rPr>
              <a:t>，经过相互之间多渠道、多方式、多层面的长期交流与合作而形成的促进创新发生的相对稳定的</a:t>
            </a:r>
            <a:r>
              <a:rPr lang="zh-CN" altLang="en-US" sz="2800" dirty="0" smtClean="0">
                <a:solidFill>
                  <a:srgbClr val="FFFF00"/>
                </a:solidFill>
                <a:ea typeface="黑体" pitchFamily="49" charset="-122"/>
              </a:rPr>
              <a:t>关系网络</a:t>
            </a:r>
            <a:r>
              <a:rPr lang="zh-CN" altLang="en-US" sz="2800" dirty="0" smtClean="0">
                <a:solidFill>
                  <a:schemeClr val="bg1"/>
                </a:solidFill>
                <a:ea typeface="黑体" pitchFamily="49" charset="-122"/>
              </a:rPr>
              <a:t>。</a:t>
            </a:r>
          </a:p>
        </p:txBody>
      </p:sp>
      <p:sp>
        <p:nvSpPr>
          <p:cNvPr id="37891" name="AutoShape 4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8243888" y="5949950"/>
            <a:ext cx="288925" cy="215900"/>
          </a:xfrm>
          <a:prstGeom prst="upArrow">
            <a:avLst>
              <a:gd name="adj1" fmla="val 50000"/>
              <a:gd name="adj2" fmla="val 25000"/>
            </a:avLst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549275"/>
            <a:ext cx="8229600" cy="5759450"/>
          </a:xfrm>
        </p:spPr>
        <p:txBody>
          <a:bodyPr/>
          <a:lstStyle/>
          <a:p>
            <a:pPr eaLnBrk="1" hangingPunct="1">
              <a:lnSpc>
                <a:spcPct val="115000"/>
              </a:lnSpc>
              <a:defRPr/>
            </a:pPr>
            <a:r>
              <a:rPr lang="zh-CN" altLang="en-US" dirty="0" smtClean="0">
                <a:solidFill>
                  <a:srgbClr val="FFFF00"/>
                </a:solidFill>
                <a:ea typeface="黑体" pitchFamily="49" charset="-122"/>
              </a:rPr>
              <a:t>组成要素</a:t>
            </a:r>
          </a:p>
          <a:p>
            <a:pPr lvl="1" eaLnBrk="1" hangingPunct="1">
              <a:lnSpc>
                <a:spcPct val="115000"/>
              </a:lnSpc>
              <a:defRPr/>
            </a:pPr>
            <a:r>
              <a:rPr lang="zh-CN" altLang="en-US" dirty="0" smtClean="0">
                <a:solidFill>
                  <a:srgbClr val="FFFF00"/>
                </a:solidFill>
                <a:ea typeface="黑体" pitchFamily="49" charset="-122"/>
              </a:rPr>
              <a:t>创新主体：</a:t>
            </a:r>
            <a:r>
              <a:rPr lang="zh-CN" altLang="en-US" sz="2400" dirty="0" smtClean="0">
                <a:solidFill>
                  <a:schemeClr val="tx2"/>
                </a:solidFill>
                <a:ea typeface="黑体" pitchFamily="49" charset="-122"/>
              </a:rPr>
              <a:t>包括企业、大学、科研院所、市场中介组织、行业协会、地方政府等以及这些相关部门的个人</a:t>
            </a:r>
          </a:p>
          <a:p>
            <a:pPr lvl="1" eaLnBrk="1" hangingPunct="1">
              <a:lnSpc>
                <a:spcPct val="115000"/>
              </a:lnSpc>
              <a:defRPr/>
            </a:pPr>
            <a:r>
              <a:rPr lang="zh-CN" altLang="en-US" dirty="0" smtClean="0">
                <a:solidFill>
                  <a:srgbClr val="FFFF00"/>
                </a:solidFill>
                <a:ea typeface="黑体" pitchFamily="49" charset="-122"/>
              </a:rPr>
              <a:t>创新资源：</a:t>
            </a:r>
            <a:r>
              <a:rPr lang="zh-CN" altLang="en-US" sz="2400" dirty="0" smtClean="0">
                <a:solidFill>
                  <a:schemeClr val="tx2"/>
                </a:solidFill>
                <a:ea typeface="黑体" pitchFamily="49" charset="-122"/>
              </a:rPr>
              <a:t>信息、知识、政策、制度或规则，以及资金</a:t>
            </a:r>
          </a:p>
          <a:p>
            <a:pPr lvl="1" eaLnBrk="1" hangingPunct="1">
              <a:lnSpc>
                <a:spcPct val="115000"/>
              </a:lnSpc>
              <a:defRPr/>
            </a:pPr>
            <a:r>
              <a:rPr lang="zh-CN" altLang="en-US" dirty="0" smtClean="0">
                <a:solidFill>
                  <a:srgbClr val="FFFF00"/>
                </a:solidFill>
                <a:ea typeface="黑体" pitchFamily="49" charset="-122"/>
              </a:rPr>
              <a:t>关系通道：</a:t>
            </a:r>
            <a:r>
              <a:rPr lang="zh-CN" altLang="en-US" sz="2400" dirty="0" smtClean="0">
                <a:solidFill>
                  <a:schemeClr val="tx2"/>
                </a:solidFill>
                <a:ea typeface="黑体" pitchFamily="49" charset="-122"/>
              </a:rPr>
              <a:t>包括会议交流、合作协议、研讨学习活动等正式通道，以及人际交流、公共活动、休闲活动等非正式通道</a:t>
            </a:r>
          </a:p>
          <a:p>
            <a:pPr lvl="1" eaLnBrk="1" hangingPunct="1">
              <a:lnSpc>
                <a:spcPct val="115000"/>
              </a:lnSpc>
              <a:defRPr/>
            </a:pPr>
            <a:r>
              <a:rPr lang="zh-CN" altLang="en-US" dirty="0" smtClean="0">
                <a:solidFill>
                  <a:srgbClr val="FFFF00"/>
                </a:solidFill>
                <a:ea typeface="黑体" pitchFamily="49" charset="-122"/>
              </a:rPr>
              <a:t>空间：</a:t>
            </a:r>
            <a:r>
              <a:rPr lang="zh-CN" altLang="en-US" sz="2400" dirty="0" smtClean="0">
                <a:solidFill>
                  <a:schemeClr val="tx2"/>
                </a:solidFill>
                <a:ea typeface="黑体" pitchFamily="49" charset="-122"/>
              </a:rPr>
              <a:t>活动依托的地点或场所</a:t>
            </a:r>
          </a:p>
          <a:p>
            <a:pPr lvl="1" eaLnBrk="1" hangingPunct="1">
              <a:lnSpc>
                <a:spcPct val="115000"/>
              </a:lnSpc>
              <a:defRPr/>
            </a:pPr>
            <a:r>
              <a:rPr lang="zh-CN" altLang="en-US" dirty="0" smtClean="0">
                <a:solidFill>
                  <a:srgbClr val="FFFF00"/>
                </a:solidFill>
                <a:ea typeface="黑体" pitchFamily="49" charset="-122"/>
              </a:rPr>
              <a:t>结点：</a:t>
            </a:r>
            <a:r>
              <a:rPr lang="zh-CN" altLang="en-US" sz="2400" dirty="0" smtClean="0">
                <a:solidFill>
                  <a:schemeClr val="tx2"/>
                </a:solidFill>
                <a:ea typeface="黑体" pitchFamily="49" charset="-122"/>
              </a:rPr>
              <a:t>网络中的创新主体，或创新活动所产生的事物和行为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3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8975" y="333375"/>
            <a:ext cx="7585075" cy="6048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06475" y="981075"/>
            <a:ext cx="7237413" cy="4968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0963" name="AutoShape 4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8243888" y="5949950"/>
            <a:ext cx="288925" cy="215900"/>
          </a:xfrm>
          <a:prstGeom prst="upArrow">
            <a:avLst>
              <a:gd name="adj1" fmla="val 50000"/>
              <a:gd name="adj2" fmla="val 25000"/>
            </a:avLst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6" name="Picture 5" descr="back068"/>
          <p:cNvPicPr>
            <a:picLocks noChangeAspect="1" noChangeArrowheads="1"/>
          </p:cNvPicPr>
          <p:nvPr>
            <p:ph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0" y="0"/>
            <a:ext cx="9144000" cy="6669088"/>
          </a:xfrm>
          <a:noFill/>
        </p:spPr>
      </p:pic>
      <p:sp>
        <p:nvSpPr>
          <p:cNvPr id="41987" name="Text Box 6"/>
          <p:cNvSpPr txBox="1">
            <a:spLocks noChangeArrowheads="1"/>
          </p:cNvSpPr>
          <p:nvPr/>
        </p:nvSpPr>
        <p:spPr bwMode="auto">
          <a:xfrm>
            <a:off x="3779838" y="2060575"/>
            <a:ext cx="4392612" cy="155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9600">
                <a:solidFill>
                  <a:schemeClr val="bg2"/>
                </a:solidFill>
                <a:latin typeface="华文行楷" pitchFamily="2" charset="-122"/>
                <a:ea typeface="华文行楷" pitchFamily="2" charset="-122"/>
              </a:rPr>
              <a:t>谢 谢！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eam">
  <a:themeElements>
    <a:clrScheme name="Beam 10">
      <a:dk1>
        <a:srgbClr val="000080"/>
      </a:dk1>
      <a:lt1>
        <a:srgbClr val="FFFFFF"/>
      </a:lt1>
      <a:dk2>
        <a:srgbClr val="000099"/>
      </a:dk2>
      <a:lt2>
        <a:srgbClr val="FFFFFF"/>
      </a:lt2>
      <a:accent1>
        <a:srgbClr val="3366FF"/>
      </a:accent1>
      <a:accent2>
        <a:srgbClr val="7B46D0"/>
      </a:accent2>
      <a:accent3>
        <a:srgbClr val="AAAACA"/>
      </a:accent3>
      <a:accent4>
        <a:srgbClr val="DADADA"/>
      </a:accent4>
      <a:accent5>
        <a:srgbClr val="ADB8FF"/>
      </a:accent5>
      <a:accent6>
        <a:srgbClr val="6F3FBC"/>
      </a:accent6>
      <a:hlink>
        <a:srgbClr val="FDEA75"/>
      </a:hlink>
      <a:folHlink>
        <a:srgbClr val="45C984"/>
      </a:folHlink>
    </a:clrScheme>
    <a:fontScheme name="Beam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eam 1">
        <a:dk1>
          <a:srgbClr val="1A006C"/>
        </a:dk1>
        <a:lt1>
          <a:srgbClr val="FFFFFF"/>
        </a:lt1>
        <a:dk2>
          <a:srgbClr val="000066"/>
        </a:dk2>
        <a:lt2>
          <a:srgbClr val="CCCCFF"/>
        </a:lt2>
        <a:accent1>
          <a:srgbClr val="0099CC"/>
        </a:accent1>
        <a:accent2>
          <a:srgbClr val="6600CC"/>
        </a:accent2>
        <a:accent3>
          <a:srgbClr val="AAAAB8"/>
        </a:accent3>
        <a:accent4>
          <a:srgbClr val="DADADA"/>
        </a:accent4>
        <a:accent5>
          <a:srgbClr val="AACAE2"/>
        </a:accent5>
        <a:accent6>
          <a:srgbClr val="5C00B9"/>
        </a:accent6>
        <a:hlink>
          <a:srgbClr val="9999FF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2">
        <a:dk1>
          <a:srgbClr val="000080"/>
        </a:dk1>
        <a:lt1>
          <a:srgbClr val="FFFFFF"/>
        </a:lt1>
        <a:dk2>
          <a:srgbClr val="000099"/>
        </a:dk2>
        <a:lt2>
          <a:srgbClr val="FFFFFF"/>
        </a:lt2>
        <a:accent1>
          <a:srgbClr val="3366FF"/>
        </a:accent1>
        <a:accent2>
          <a:srgbClr val="7B46D0"/>
        </a:accent2>
        <a:accent3>
          <a:srgbClr val="AAAACA"/>
        </a:accent3>
        <a:accent4>
          <a:srgbClr val="DADADA"/>
        </a:accent4>
        <a:accent5>
          <a:srgbClr val="ADB8FF"/>
        </a:accent5>
        <a:accent6>
          <a:srgbClr val="6F3FBC"/>
        </a:accent6>
        <a:hlink>
          <a:srgbClr val="86D1EC"/>
        </a:hlink>
        <a:folHlink>
          <a:srgbClr val="45C98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3">
        <a:dk1>
          <a:srgbClr val="3F4873"/>
        </a:dk1>
        <a:lt1>
          <a:srgbClr val="FFFFFF"/>
        </a:lt1>
        <a:dk2>
          <a:srgbClr val="4F598D"/>
        </a:dk2>
        <a:lt2>
          <a:srgbClr val="CCECFF"/>
        </a:lt2>
        <a:accent1>
          <a:srgbClr val="0099CC"/>
        </a:accent1>
        <a:accent2>
          <a:srgbClr val="4C8470"/>
        </a:accent2>
        <a:accent3>
          <a:srgbClr val="B2B5C5"/>
        </a:accent3>
        <a:accent4>
          <a:srgbClr val="DADADA"/>
        </a:accent4>
        <a:accent5>
          <a:srgbClr val="AACAE2"/>
        </a:accent5>
        <a:accent6>
          <a:srgbClr val="447765"/>
        </a:accent6>
        <a:hlink>
          <a:srgbClr val="99CC00"/>
        </a:hlink>
        <a:folHlink>
          <a:srgbClr val="96A4C8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4">
        <a:dk1>
          <a:srgbClr val="006E6B"/>
        </a:dk1>
        <a:lt1>
          <a:srgbClr val="FFFFFF"/>
        </a:lt1>
        <a:dk2>
          <a:srgbClr val="008080"/>
        </a:dk2>
        <a:lt2>
          <a:srgbClr val="E2EFCD"/>
        </a:lt2>
        <a:accent1>
          <a:srgbClr val="33CCCC"/>
        </a:accent1>
        <a:accent2>
          <a:srgbClr val="6352B8"/>
        </a:accent2>
        <a:accent3>
          <a:srgbClr val="AAC0C0"/>
        </a:accent3>
        <a:accent4>
          <a:srgbClr val="DADADA"/>
        </a:accent4>
        <a:accent5>
          <a:srgbClr val="ADE2E2"/>
        </a:accent5>
        <a:accent6>
          <a:srgbClr val="5949A6"/>
        </a:accent6>
        <a:hlink>
          <a:srgbClr val="CCFFFF"/>
        </a:hlink>
        <a:folHlink>
          <a:srgbClr val="99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5">
        <a:dk1>
          <a:srgbClr val="48562C"/>
        </a:dk1>
        <a:lt1>
          <a:srgbClr val="FFFFFF"/>
        </a:lt1>
        <a:dk2>
          <a:srgbClr val="546434"/>
        </a:dk2>
        <a:lt2>
          <a:srgbClr val="FFFFCC"/>
        </a:lt2>
        <a:accent1>
          <a:srgbClr val="7B8A6E"/>
        </a:accent1>
        <a:accent2>
          <a:srgbClr val="527C3A"/>
        </a:accent2>
        <a:accent3>
          <a:srgbClr val="B3B8AE"/>
        </a:accent3>
        <a:accent4>
          <a:srgbClr val="DADADA"/>
        </a:accent4>
        <a:accent5>
          <a:srgbClr val="BFC4BA"/>
        </a:accent5>
        <a:accent6>
          <a:srgbClr val="497034"/>
        </a:accent6>
        <a:hlink>
          <a:srgbClr val="55B55E"/>
        </a:hlink>
        <a:folHlink>
          <a:srgbClr val="85B3B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6">
        <a:dk1>
          <a:srgbClr val="96B29E"/>
        </a:dk1>
        <a:lt1>
          <a:srgbClr val="FFFFFF"/>
        </a:lt1>
        <a:dk2>
          <a:srgbClr val="A5BDAC"/>
        </a:dk2>
        <a:lt2>
          <a:srgbClr val="FFFFCC"/>
        </a:lt2>
        <a:accent1>
          <a:srgbClr val="4E8880"/>
        </a:accent1>
        <a:accent2>
          <a:srgbClr val="2F71B9"/>
        </a:accent2>
        <a:accent3>
          <a:srgbClr val="CFDBD2"/>
        </a:accent3>
        <a:accent4>
          <a:srgbClr val="DADADA"/>
        </a:accent4>
        <a:accent5>
          <a:srgbClr val="B2C3C0"/>
        </a:accent5>
        <a:accent6>
          <a:srgbClr val="2A66A7"/>
        </a:accent6>
        <a:hlink>
          <a:srgbClr val="9DC0E7"/>
        </a:hlink>
        <a:folHlink>
          <a:srgbClr val="54CA8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7">
        <a:dk1>
          <a:srgbClr val="D49C00"/>
        </a:dk1>
        <a:lt1>
          <a:srgbClr val="FFFFFF"/>
        </a:lt1>
        <a:dk2>
          <a:srgbClr val="CC9900"/>
        </a:dk2>
        <a:lt2>
          <a:srgbClr val="CEBD40"/>
        </a:lt2>
        <a:accent1>
          <a:srgbClr val="CC6600"/>
        </a:accent1>
        <a:accent2>
          <a:srgbClr val="808000"/>
        </a:accent2>
        <a:accent3>
          <a:srgbClr val="E2CAAA"/>
        </a:accent3>
        <a:accent4>
          <a:srgbClr val="DADADA"/>
        </a:accent4>
        <a:accent5>
          <a:srgbClr val="E2B8AA"/>
        </a:accent5>
        <a:accent6>
          <a:srgbClr val="737300"/>
        </a:accent6>
        <a:hlink>
          <a:srgbClr val="FF99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8">
        <a:dk1>
          <a:srgbClr val="881700"/>
        </a:dk1>
        <a:lt1>
          <a:srgbClr val="FAF9E6"/>
        </a:lt1>
        <a:dk2>
          <a:srgbClr val="990000"/>
        </a:dk2>
        <a:lt2>
          <a:srgbClr val="EADC78"/>
        </a:lt2>
        <a:accent1>
          <a:srgbClr val="FF6600"/>
        </a:accent1>
        <a:accent2>
          <a:srgbClr val="B86D52"/>
        </a:accent2>
        <a:accent3>
          <a:srgbClr val="CAAAAA"/>
        </a:accent3>
        <a:accent4>
          <a:srgbClr val="D6D5C4"/>
        </a:accent4>
        <a:accent5>
          <a:srgbClr val="FFB8AA"/>
        </a:accent5>
        <a:accent6>
          <a:srgbClr val="A66249"/>
        </a:accent6>
        <a:hlink>
          <a:srgbClr val="D78D15"/>
        </a:hlink>
        <a:folHlink>
          <a:srgbClr val="C6B37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E6F5F6"/>
        </a:accent1>
        <a:accent2>
          <a:srgbClr val="A5E1A8"/>
        </a:accent2>
        <a:accent3>
          <a:srgbClr val="FFFFFF"/>
        </a:accent3>
        <a:accent4>
          <a:srgbClr val="000000"/>
        </a:accent4>
        <a:accent5>
          <a:srgbClr val="F0F9FA"/>
        </a:accent5>
        <a:accent6>
          <a:srgbClr val="95CC98"/>
        </a:accent6>
        <a:hlink>
          <a:srgbClr val="5B00B6"/>
        </a:hlink>
        <a:folHlink>
          <a:srgbClr val="34988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am 10">
        <a:dk1>
          <a:srgbClr val="000080"/>
        </a:dk1>
        <a:lt1>
          <a:srgbClr val="FFFFFF"/>
        </a:lt1>
        <a:dk2>
          <a:srgbClr val="000099"/>
        </a:dk2>
        <a:lt2>
          <a:srgbClr val="FFFFFF"/>
        </a:lt2>
        <a:accent1>
          <a:srgbClr val="3366FF"/>
        </a:accent1>
        <a:accent2>
          <a:srgbClr val="7B46D0"/>
        </a:accent2>
        <a:accent3>
          <a:srgbClr val="AAAACA"/>
        </a:accent3>
        <a:accent4>
          <a:srgbClr val="DADADA"/>
        </a:accent4>
        <a:accent5>
          <a:srgbClr val="ADB8FF"/>
        </a:accent5>
        <a:accent6>
          <a:srgbClr val="6F3FBC"/>
        </a:accent6>
        <a:hlink>
          <a:srgbClr val="FDEA75"/>
        </a:hlink>
        <a:folHlink>
          <a:srgbClr val="45C984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Cascade</Template>
  <TotalTime>2043</TotalTime>
  <Words>2624</Words>
  <Application>Microsoft Office PowerPoint</Application>
  <PresentationFormat>全屏显示(4:3)</PresentationFormat>
  <Paragraphs>135</Paragraphs>
  <Slides>28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6" baseType="lpstr">
      <vt:lpstr>Arial</vt:lpstr>
      <vt:lpstr>宋体</vt:lpstr>
      <vt:lpstr>Wingdings</vt:lpstr>
      <vt:lpstr>黑体</vt:lpstr>
      <vt:lpstr>华文细黑</vt:lpstr>
      <vt:lpstr>Times New Roman</vt:lpstr>
      <vt:lpstr>华文行楷</vt:lpstr>
      <vt:lpstr>Beam</vt:lpstr>
      <vt:lpstr>第2章   第3节</vt:lpstr>
      <vt:lpstr>幻灯片 2</vt:lpstr>
      <vt:lpstr>一、资本因子对经济活动区位的影响 </vt:lpstr>
      <vt:lpstr>二、劳动因子对经济区位的影响</vt:lpstr>
      <vt:lpstr>三、市场因素对经济区位的影响</vt:lpstr>
      <vt:lpstr>（一）市场经济的基本特征、作用与缺陷</vt:lpstr>
      <vt:lpstr>幻灯片 7</vt:lpstr>
      <vt:lpstr>幻灯片 8</vt:lpstr>
      <vt:lpstr>（二）市场规模对经济活动区位的影响</vt:lpstr>
      <vt:lpstr>（三）市场战略对经济活动区位的影响</vt:lpstr>
      <vt:lpstr>（四）市场特性对经济活动区位的影响</vt:lpstr>
      <vt:lpstr>（五）市场环境对经济活动区位的影响</vt:lpstr>
      <vt:lpstr>幻灯片 13</vt:lpstr>
      <vt:lpstr>技术与技术创新</vt:lpstr>
      <vt:lpstr>幻灯片 15</vt:lpstr>
      <vt:lpstr>四、技术因素对经济活动区位的影响</vt:lpstr>
      <vt:lpstr>幻灯片 17</vt:lpstr>
      <vt:lpstr>幻灯片 18</vt:lpstr>
      <vt:lpstr>幻灯片 19</vt:lpstr>
      <vt:lpstr>幻灯片 20</vt:lpstr>
      <vt:lpstr>幻灯片 21</vt:lpstr>
      <vt:lpstr>幻灯片 22</vt:lpstr>
      <vt:lpstr>区域创新网络</vt:lpstr>
      <vt:lpstr>幻灯片 24</vt:lpstr>
      <vt:lpstr>幻灯片 25</vt:lpstr>
      <vt:lpstr>幻灯片 26</vt:lpstr>
      <vt:lpstr>幻灯片 27</vt:lpstr>
      <vt:lpstr>幻灯片 28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乡镇企业型新产业区非农建设用地可持续发展研究  ——以福建省晋江市为例</dc:title>
  <dc:creator>asd</dc:creator>
  <cp:lastModifiedBy>xbany</cp:lastModifiedBy>
  <cp:revision>66</cp:revision>
  <dcterms:created xsi:type="dcterms:W3CDTF">2004-02-11T15:34:43Z</dcterms:created>
  <dcterms:modified xsi:type="dcterms:W3CDTF">2020-02-11T12:55:51Z</dcterms:modified>
</cp:coreProperties>
</file>