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75" r:id="rId5"/>
    <p:sldId id="276" r:id="rId6"/>
    <p:sldId id="277" r:id="rId7"/>
    <p:sldId id="278" r:id="rId8"/>
    <p:sldId id="274" r:id="rId9"/>
    <p:sldId id="279" r:id="rId10"/>
    <p:sldId id="280" r:id="rId11"/>
    <p:sldId id="281" r:id="rId12"/>
    <p:sldId id="282" r:id="rId13"/>
    <p:sldId id="264" r:id="rId14"/>
    <p:sldId id="270" r:id="rId15"/>
    <p:sldId id="265" r:id="rId16"/>
    <p:sldId id="266" r:id="rId17"/>
    <p:sldId id="267" r:id="rId18"/>
    <p:sldId id="268" r:id="rId19"/>
    <p:sldId id="269" r:id="rId20"/>
    <p:sldId id="260" r:id="rId21"/>
    <p:sldId id="283" r:id="rId22"/>
    <p:sldId id="284" r:id="rId23"/>
    <p:sldId id="259" r:id="rId24"/>
    <p:sldId id="285" r:id="rId2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000099"/>
    <a:srgbClr val="0000CC"/>
    <a:srgbClr val="66FFFF"/>
    <a:srgbClr val="FFFF00"/>
    <a:srgbClr val="FF33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658" y="-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24F181-4D1C-48AB-984A-2C878C5E71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4DDC41-93C5-4B46-B82E-418358D434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7DF786-3535-4CDA-9879-5397719D5D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D9DF7E-9C58-49BD-99B4-CF7F6E3CBC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C32CB1-9783-40A0-AD03-D2906ABF762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2AC447-C5D1-4282-8C80-3DD4631FEFC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C1FEEC-BB19-4384-B7C4-FBD2E236EE1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7CBE26-4DB3-4E22-86B1-25998C8987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DE1A08-A3E0-473F-BD97-E111C0DF4A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160153-5616-4D36-9728-8586A34CCE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A710BF-CEC7-496D-804B-137EAD90D5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A68355-AA7D-4BC1-9ACD-E981675C88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154D22-8235-43ED-9AEC-E6617DFD499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</a:defRPr>
            </a:lvl1pPr>
          </a:lstStyle>
          <a:p>
            <a:pPr>
              <a:defRPr/>
            </a:pPr>
            <a:fld id="{3F5D5148-159E-4955-8EA7-2BD62BF837C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5" Type="http://schemas.openxmlformats.org/officeDocument/2006/relationships/slide" Target="slide7.xml"/><Relationship Id="rId4" Type="http://schemas.openxmlformats.org/officeDocument/2006/relationships/slide" Target="slide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slide" Target="slide20.xml"/><Relationship Id="rId4" Type="http://schemas.openxmlformats.org/officeDocument/2006/relationships/slide" Target="slide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" Type="http://schemas.openxmlformats.org/officeDocument/2006/relationships/slide" Target="slide23.xml"/><Relationship Id="rId4" Type="http://schemas.openxmlformats.org/officeDocument/2006/relationships/slide" Target="slide2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803400"/>
          </a:xfrm>
        </p:spPr>
        <p:txBody>
          <a:bodyPr/>
          <a:lstStyle/>
          <a:p>
            <a:pPr eaLnBrk="1" hangingPunct="1"/>
            <a:r>
              <a:rPr lang="zh-CN" altLang="en-US" sz="36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lang="en-US" altLang="zh-CN" sz="36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sz="36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章  第</a:t>
            </a:r>
            <a:r>
              <a:rPr lang="en-US" altLang="zh-CN" sz="36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4</a:t>
            </a:r>
            <a:r>
              <a:rPr lang="zh-CN" altLang="en-US" sz="36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节</a:t>
            </a:r>
            <a:br>
              <a:rPr lang="zh-CN" altLang="en-US" sz="36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</a:br>
            <a:r>
              <a:rPr lang="zh-CN" altLang="en-US" sz="36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36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</a:br>
            <a:r>
              <a:rPr lang="zh-CN" altLang="en-US" sz="36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交通及其对经济活动区位的一般影响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16113"/>
            <a:ext cx="8686800" cy="3989387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FontTx/>
              <a:buNone/>
            </a:pPr>
            <a:r>
              <a:rPr lang="zh-CN" altLang="en-US" sz="3600" smtClean="0">
                <a:solidFill>
                  <a:schemeClr val="bg1"/>
                </a:solidFill>
                <a:ea typeface="黑体" pitchFamily="49" charset="-122"/>
              </a:rPr>
              <a:t>一、交通要素及其内涵</a:t>
            </a: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zh-CN" altLang="en-US" sz="3600" smtClean="0">
                <a:solidFill>
                  <a:schemeClr val="bg1"/>
                </a:solidFill>
                <a:ea typeface="黑体" pitchFamily="49" charset="-122"/>
              </a:rPr>
              <a:t>二、交通运输对区位选择影响的机理</a:t>
            </a: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zh-CN" altLang="en-US" sz="3600" smtClean="0">
                <a:solidFill>
                  <a:schemeClr val="bg1"/>
                </a:solidFill>
                <a:ea typeface="黑体" pitchFamily="49" charset="-122"/>
              </a:rPr>
              <a:t>三、交通运输方式对区位选择的影响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836613"/>
            <a:ext cx="8229600" cy="1143000"/>
          </a:xfrm>
        </p:spPr>
        <p:txBody>
          <a:bodyPr/>
          <a:lstStyle/>
          <a:p>
            <a:pPr algn="l" eaLnBrk="1" hangingPunct="1"/>
            <a:r>
              <a:rPr lang="zh-CN" altLang="en-US" sz="4000" smtClean="0">
                <a:solidFill>
                  <a:srgbClr val="FFFF00"/>
                </a:solidFill>
                <a:ea typeface="黑体" pitchFamily="49" charset="-122"/>
              </a:rPr>
              <a:t>一、交通要素及其内涵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2349500"/>
            <a:ext cx="8229600" cy="338455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buFont typeface="Wingdings" pitchFamily="2" charset="2"/>
              <a:buChar char="Ø"/>
            </a:pPr>
            <a:r>
              <a:rPr lang="zh-CN" altLang="en-US" sz="280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交通网</a:t>
            </a: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：由点与线组成（线的长与宽）</a:t>
            </a:r>
          </a:p>
          <a:p>
            <a:pPr eaLnBrk="1" hangingPunct="1">
              <a:lnSpc>
                <a:spcPct val="140000"/>
              </a:lnSpc>
              <a:buFont typeface="Wingdings" pitchFamily="2" charset="2"/>
              <a:buChar char="Ø"/>
            </a:pPr>
            <a:r>
              <a:rPr lang="zh-CN" altLang="en-US" sz="280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交通流</a:t>
            </a: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：人和物的移动（流量、流向）</a:t>
            </a:r>
          </a:p>
          <a:p>
            <a:pPr eaLnBrk="1" hangingPunct="1">
              <a:lnSpc>
                <a:spcPct val="140000"/>
              </a:lnSpc>
              <a:buFont typeface="Wingdings" pitchFamily="2" charset="2"/>
              <a:buChar char="Ø"/>
            </a:pPr>
            <a:r>
              <a:rPr lang="zh-CN" altLang="en-US" sz="280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地域</a:t>
            </a: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：区域有关交通产生的原因、结果以及促进与制约交通发展的人口、产业状况等地域条件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8229600" cy="706438"/>
          </a:xfrm>
        </p:spPr>
        <p:txBody>
          <a:bodyPr/>
          <a:lstStyle/>
          <a:p>
            <a:pPr algn="l" eaLnBrk="1" hangingPunct="1"/>
            <a:r>
              <a:rPr lang="zh-CN" altLang="en-US" sz="3200" smtClean="0">
                <a:solidFill>
                  <a:schemeClr val="bg1"/>
                </a:solidFill>
                <a:ea typeface="黑体" pitchFamily="49" charset="-122"/>
              </a:rPr>
              <a:t>二、交通运输对区位选择影响的机理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2205038"/>
            <a:ext cx="8229600" cy="3671887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FontTx/>
              <a:buNone/>
            </a:pPr>
            <a:r>
              <a:rPr lang="en-US" altLang="zh-CN" smtClean="0">
                <a:solidFill>
                  <a:srgbClr val="FFFF00"/>
                </a:solidFill>
                <a:ea typeface="黑体" pitchFamily="49" charset="-122"/>
              </a:rPr>
              <a:t>1. </a:t>
            </a:r>
            <a:r>
              <a:rPr lang="zh-CN" altLang="en-US" smtClean="0">
                <a:solidFill>
                  <a:srgbClr val="FFFF00"/>
                </a:solidFill>
                <a:ea typeface="黑体" pitchFamily="49" charset="-122"/>
              </a:rPr>
              <a:t>交通运输费用的一般特点</a:t>
            </a: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zh-CN" altLang="en-US" smtClean="0">
                <a:solidFill>
                  <a:schemeClr val="bg1"/>
                </a:solidFill>
              </a:rPr>
              <a:t>   （</a:t>
            </a:r>
            <a:r>
              <a:rPr lang="en-US" altLang="zh-CN" smtClean="0">
                <a:solidFill>
                  <a:schemeClr val="bg1"/>
                </a:solidFill>
              </a:rPr>
              <a:t>1</a:t>
            </a:r>
            <a:r>
              <a:rPr lang="zh-CN" altLang="en-US" smtClean="0">
                <a:solidFill>
                  <a:schemeClr val="bg1"/>
                </a:solidFill>
              </a:rPr>
              <a:t>）</a:t>
            </a: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hlinkClick r:id="rId2" action="ppaction://hlinksldjump"/>
              </a:rPr>
              <a:t>交通运费是运输重量与距离的函数</a:t>
            </a:r>
            <a:r>
              <a:rPr lang="zh-CN" altLang="en-US" sz="2800" smtClean="0">
                <a:solidFill>
                  <a:schemeClr val="bg1"/>
                </a:solidFill>
                <a:latin typeface="华文细黑" pitchFamily="2" charset="-122"/>
                <a:ea typeface="华文细黑" pitchFamily="2" charset="-122"/>
              </a:rPr>
              <a:t>；</a:t>
            </a: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zh-CN" altLang="en-US" sz="2800" smtClean="0">
                <a:solidFill>
                  <a:schemeClr val="bg1"/>
                </a:solidFill>
                <a:latin typeface="华文细黑" pitchFamily="2" charset="-122"/>
                <a:ea typeface="华文细黑" pitchFamily="2" charset="-122"/>
              </a:rPr>
              <a:t>  （</a:t>
            </a:r>
            <a:r>
              <a:rPr lang="en-US" altLang="zh-CN" sz="2800" smtClean="0">
                <a:solidFill>
                  <a:schemeClr val="bg1"/>
                </a:solidFill>
                <a:latin typeface="华文细黑" pitchFamily="2" charset="-122"/>
                <a:ea typeface="华文细黑" pitchFamily="2" charset="-122"/>
              </a:rPr>
              <a:t>2</a:t>
            </a:r>
            <a:r>
              <a:rPr lang="zh-CN" altLang="en-US" sz="2800" smtClean="0">
                <a:solidFill>
                  <a:schemeClr val="bg1"/>
                </a:solidFill>
                <a:latin typeface="华文细黑" pitchFamily="2" charset="-122"/>
                <a:ea typeface="华文细黑" pitchFamily="2" charset="-122"/>
              </a:rPr>
              <a:t>）</a:t>
            </a: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hlinkClick r:id="rId3" action="ppaction://hlinksldjump"/>
              </a:rPr>
              <a:t>运费构成</a:t>
            </a:r>
            <a:endParaRPr lang="zh-CN" altLang="en-US" sz="2800" smtClean="0">
              <a:solidFill>
                <a:schemeClr val="bg1"/>
              </a:solidFill>
              <a:latin typeface="黑体" pitchFamily="49" charset="-122"/>
              <a:ea typeface="黑体" pitchFamily="49" charset="-122"/>
              <a:hlinkClick r:id="rId4" action="ppaction://hlinksldjump"/>
            </a:endParaRP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zh-CN" altLang="en-US" sz="2800" smtClean="0">
                <a:solidFill>
                  <a:schemeClr val="bg1"/>
                </a:solidFill>
                <a:latin typeface="华文细黑" pitchFamily="2" charset="-122"/>
                <a:ea typeface="华文细黑" pitchFamily="2" charset="-122"/>
              </a:rPr>
              <a:t>  （</a:t>
            </a:r>
            <a:r>
              <a:rPr lang="en-US" altLang="zh-CN" sz="2800" smtClean="0">
                <a:solidFill>
                  <a:schemeClr val="bg1"/>
                </a:solidFill>
                <a:latin typeface="华文细黑" pitchFamily="2" charset="-122"/>
                <a:ea typeface="华文细黑" pitchFamily="2" charset="-122"/>
              </a:rPr>
              <a:t>3</a:t>
            </a:r>
            <a:r>
              <a:rPr lang="zh-CN" altLang="en-US" sz="2800" smtClean="0">
                <a:solidFill>
                  <a:schemeClr val="bg1"/>
                </a:solidFill>
                <a:latin typeface="华文细黑" pitchFamily="2" charset="-122"/>
                <a:ea typeface="华文细黑" pitchFamily="2" charset="-122"/>
              </a:rPr>
              <a:t>）</a:t>
            </a: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hlinkClick r:id="rId5" action="ppaction://hlinksldjump"/>
              </a:rPr>
              <a:t>不同运输方式的运费及其比较</a:t>
            </a:r>
            <a:endParaRPr lang="zh-CN" altLang="en-US" sz="2800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3600" smtClean="0">
                <a:solidFill>
                  <a:schemeClr val="tx1"/>
                </a:solidFill>
                <a:ea typeface="黑体" pitchFamily="49" charset="-122"/>
              </a:rPr>
              <a:t>韦伯工业区位论关于运费论断：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smtClean="0">
                <a:ea typeface="华文细黑" pitchFamily="2" charset="-122"/>
              </a:rPr>
              <a:t>采用区位三角形寻求经济活动运费最低点：运量最小、运距最短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smtClean="0">
                <a:ea typeface="华文细黑" pitchFamily="2" charset="-122"/>
              </a:rPr>
              <a:t>原材料系数（纯重原材料、失重原材料）</a:t>
            </a:r>
          </a:p>
        </p:txBody>
      </p:sp>
      <p:sp>
        <p:nvSpPr>
          <p:cNvPr id="7172" name="Line 4"/>
          <p:cNvSpPr>
            <a:spLocks noChangeShapeType="1"/>
          </p:cNvSpPr>
          <p:nvPr/>
        </p:nvSpPr>
        <p:spPr bwMode="auto">
          <a:xfrm flipH="1">
            <a:off x="2555875" y="3860800"/>
            <a:ext cx="1871663" cy="1655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73" name="Line 5"/>
          <p:cNvSpPr>
            <a:spLocks noChangeShapeType="1"/>
          </p:cNvSpPr>
          <p:nvPr/>
        </p:nvSpPr>
        <p:spPr bwMode="auto">
          <a:xfrm>
            <a:off x="4427538" y="3860800"/>
            <a:ext cx="1944687" cy="1728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2555875" y="5516563"/>
            <a:ext cx="3816350" cy="73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4408488" y="3448050"/>
            <a:ext cx="1238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/>
              <a:t>F</a:t>
            </a:r>
            <a:r>
              <a:rPr lang="zh-CN" altLang="en-US"/>
              <a:t>（市场）</a:t>
            </a:r>
          </a:p>
        </p:txBody>
      </p:sp>
      <p:sp>
        <p:nvSpPr>
          <p:cNvPr id="7176" name="Text Box 9"/>
          <p:cNvSpPr txBox="1">
            <a:spLocks noChangeArrowheads="1"/>
          </p:cNvSpPr>
          <p:nvPr/>
        </p:nvSpPr>
        <p:spPr bwMode="auto">
          <a:xfrm>
            <a:off x="2319338" y="5537200"/>
            <a:ext cx="164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/>
              <a:t>M1</a:t>
            </a:r>
            <a:r>
              <a:rPr lang="zh-CN" altLang="en-US"/>
              <a:t>（原材料）</a:t>
            </a:r>
          </a:p>
        </p:txBody>
      </p:sp>
      <p:sp>
        <p:nvSpPr>
          <p:cNvPr id="7177" name="Text Box 10"/>
          <p:cNvSpPr txBox="1">
            <a:spLocks noChangeArrowheads="1"/>
          </p:cNvSpPr>
          <p:nvPr/>
        </p:nvSpPr>
        <p:spPr bwMode="auto">
          <a:xfrm>
            <a:off x="6135688" y="5681663"/>
            <a:ext cx="164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/>
              <a:t>M2</a:t>
            </a:r>
            <a:r>
              <a:rPr lang="zh-CN" altLang="en-US"/>
              <a:t>（原材料）</a:t>
            </a:r>
          </a:p>
        </p:txBody>
      </p:sp>
      <p:sp>
        <p:nvSpPr>
          <p:cNvPr id="7178" name="Line 11"/>
          <p:cNvSpPr>
            <a:spLocks noChangeShapeType="1"/>
          </p:cNvSpPr>
          <p:nvPr/>
        </p:nvSpPr>
        <p:spPr bwMode="auto">
          <a:xfrm flipH="1">
            <a:off x="2555875" y="4868863"/>
            <a:ext cx="1800225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79" name="Line 12"/>
          <p:cNvSpPr>
            <a:spLocks noChangeShapeType="1"/>
          </p:cNvSpPr>
          <p:nvPr/>
        </p:nvSpPr>
        <p:spPr bwMode="auto">
          <a:xfrm flipV="1">
            <a:off x="4356100" y="3860800"/>
            <a:ext cx="71438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80" name="Line 13"/>
          <p:cNvSpPr>
            <a:spLocks noChangeShapeType="1"/>
          </p:cNvSpPr>
          <p:nvPr/>
        </p:nvSpPr>
        <p:spPr bwMode="auto">
          <a:xfrm>
            <a:off x="4356100" y="4868863"/>
            <a:ext cx="2016125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81" name="Text Box 14"/>
          <p:cNvSpPr txBox="1">
            <a:spLocks noChangeArrowheads="1"/>
          </p:cNvSpPr>
          <p:nvPr/>
        </p:nvSpPr>
        <p:spPr bwMode="auto">
          <a:xfrm>
            <a:off x="4119563" y="4960938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/>
              <a:t>P</a:t>
            </a:r>
          </a:p>
        </p:txBody>
      </p:sp>
      <p:sp>
        <p:nvSpPr>
          <p:cNvPr id="7182" name="AutoShape 15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8316913" y="6165850"/>
            <a:ext cx="215900" cy="215900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8229600" cy="1143000"/>
          </a:xfrm>
        </p:spPr>
        <p:txBody>
          <a:bodyPr/>
          <a:lstStyle/>
          <a:p>
            <a:pPr algn="l" eaLnBrk="1" hangingPunct="1"/>
            <a:r>
              <a:rPr lang="zh-CN" altLang="en-US" sz="3200" smtClean="0">
                <a:solidFill>
                  <a:srgbClr val="FFFF00"/>
                </a:solidFill>
                <a:ea typeface="黑体" pitchFamily="49" charset="-122"/>
              </a:rPr>
              <a:t>胡佛经济区位论关于运费构成：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773238"/>
            <a:ext cx="8229600" cy="4525962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smtClean="0">
                <a:solidFill>
                  <a:srgbClr val="FFFF00"/>
                </a:solidFill>
                <a:ea typeface="黑体" pitchFamily="49" charset="-122"/>
              </a:rPr>
              <a:t>线路运行费：</a:t>
            </a:r>
            <a:r>
              <a:rPr lang="zh-CN" altLang="en-US" sz="2800" smtClean="0">
                <a:ea typeface="黑体" pitchFamily="49" charset="-122"/>
              </a:rPr>
              <a:t>含牵引燃料费、运行人员工资等，是距离的函数；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smtClean="0">
                <a:solidFill>
                  <a:srgbClr val="FFFF00"/>
                </a:solidFill>
                <a:ea typeface="黑体" pitchFamily="49" charset="-122"/>
              </a:rPr>
              <a:t>站场装卸费</a:t>
            </a:r>
            <a:r>
              <a:rPr lang="zh-CN" altLang="en-US" sz="2800" smtClean="0">
                <a:ea typeface="黑体" pitchFamily="49" charset="-122"/>
              </a:rPr>
              <a:t>：含站场、码头、仓库等营业机构的经营活动与保养维修等项费用。一般将不受里程影响的站场费分摊到里程中去</a:t>
            </a:r>
            <a:r>
              <a:rPr lang="en-US" altLang="zh-CN" sz="2800" smtClean="0">
                <a:latin typeface="华文细黑" pitchFamily="2" charset="-122"/>
                <a:ea typeface="黑体" pitchFamily="49" charset="-122"/>
              </a:rPr>
              <a:t>——</a:t>
            </a:r>
            <a:r>
              <a:rPr lang="zh-CN" altLang="en-US" sz="2800" smtClean="0">
                <a:ea typeface="黑体" pitchFamily="49" charset="-122"/>
              </a:rPr>
              <a:t>单位运价递减规律</a:t>
            </a:r>
          </a:p>
        </p:txBody>
      </p:sp>
      <p:sp>
        <p:nvSpPr>
          <p:cNvPr id="8196" name="AutoShape 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8316913" y="6165850"/>
            <a:ext cx="215900" cy="215900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5" descr="不同运输方式的运输费用比较"/>
          <p:cNvPicPr>
            <a:picLocks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077913" y="274638"/>
            <a:ext cx="6988175" cy="5851525"/>
          </a:xfrm>
          <a:noFill/>
        </p:spPr>
      </p:pic>
      <p:sp>
        <p:nvSpPr>
          <p:cNvPr id="9219" name="Text Box 6"/>
          <p:cNvSpPr txBox="1">
            <a:spLocks noChangeArrowheads="1"/>
          </p:cNvSpPr>
          <p:nvPr/>
        </p:nvSpPr>
        <p:spPr bwMode="auto">
          <a:xfrm>
            <a:off x="8512175" y="5883275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E:\wsq\教学\经济地理\TU\交通基础设施对经济活动的影响.jpg"/>
          <p:cNvPicPr>
            <a:picLocks noChangeAspect="1" noChangeArrowheads="1"/>
          </p:cNvPicPr>
          <p:nvPr/>
        </p:nvPicPr>
        <p:blipFill>
          <a:blip r:embed="rId2" cstate="print"/>
          <a:srcRect t="20338" r="4662" b="5086"/>
          <a:stretch>
            <a:fillRect/>
          </a:stretch>
        </p:blipFill>
        <p:spPr bwMode="auto">
          <a:xfrm>
            <a:off x="188913" y="765175"/>
            <a:ext cx="8591550" cy="504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8229600" cy="706438"/>
          </a:xfrm>
        </p:spPr>
        <p:txBody>
          <a:bodyPr/>
          <a:lstStyle/>
          <a:p>
            <a:pPr algn="l" eaLnBrk="1" hangingPunct="1"/>
            <a:r>
              <a:rPr lang="zh-CN" altLang="en-US" sz="3200" smtClean="0">
                <a:solidFill>
                  <a:schemeClr val="bg1"/>
                </a:solidFill>
                <a:ea typeface="黑体" pitchFamily="49" charset="-122"/>
              </a:rPr>
              <a:t>二、交通运输对区位选择影响的机理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916113"/>
            <a:ext cx="8496300" cy="3457575"/>
          </a:xfrm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ts val="1800"/>
              </a:spcBef>
              <a:buFontTx/>
              <a:buNone/>
            </a:pPr>
            <a:r>
              <a:rPr lang="en-US" altLang="zh-CN" smtClean="0">
                <a:solidFill>
                  <a:srgbClr val="FFFF00"/>
                </a:solidFill>
                <a:ea typeface="黑体" pitchFamily="49" charset="-122"/>
              </a:rPr>
              <a:t>2.</a:t>
            </a:r>
            <a:r>
              <a:rPr lang="zh-CN" altLang="en-US" smtClean="0">
                <a:solidFill>
                  <a:srgbClr val="FFFF00"/>
                </a:solidFill>
                <a:ea typeface="黑体" pitchFamily="49" charset="-122"/>
              </a:rPr>
              <a:t>运费成本对区位选择的影响</a:t>
            </a:r>
          </a:p>
          <a:p>
            <a:pPr eaLnBrk="1" hangingPunct="1">
              <a:lnSpc>
                <a:spcPct val="130000"/>
              </a:lnSpc>
              <a:spcBef>
                <a:spcPts val="1800"/>
              </a:spcBef>
              <a:buFontTx/>
              <a:buNone/>
            </a:pPr>
            <a:r>
              <a:rPr lang="zh-CN" altLang="en-US" smtClean="0">
                <a:solidFill>
                  <a:schemeClr val="bg1"/>
                </a:solidFill>
              </a:rPr>
              <a:t>  （</a:t>
            </a:r>
            <a:r>
              <a:rPr lang="en-US" altLang="zh-CN" smtClean="0">
                <a:solidFill>
                  <a:schemeClr val="bg1"/>
                </a:solidFill>
              </a:rPr>
              <a:t>1</a:t>
            </a:r>
            <a:r>
              <a:rPr lang="zh-CN" altLang="en-US" smtClean="0">
                <a:solidFill>
                  <a:schemeClr val="bg1"/>
                </a:solidFill>
              </a:rPr>
              <a:t>）</a:t>
            </a: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hlinkClick r:id="rId2" action="ppaction://hlinksldjump"/>
              </a:rPr>
              <a:t>端点区位优于中间区位的原理</a:t>
            </a:r>
            <a:r>
              <a:rPr lang="zh-CN" altLang="en-US" sz="2800" smtClean="0">
                <a:solidFill>
                  <a:schemeClr val="bg1"/>
                </a:solidFill>
                <a:latin typeface="华文细黑" pitchFamily="2" charset="-122"/>
                <a:ea typeface="华文细黑" pitchFamily="2" charset="-122"/>
              </a:rPr>
              <a:t>；</a:t>
            </a:r>
          </a:p>
          <a:p>
            <a:pPr eaLnBrk="1" hangingPunct="1">
              <a:lnSpc>
                <a:spcPct val="130000"/>
              </a:lnSpc>
              <a:spcBef>
                <a:spcPts val="1800"/>
              </a:spcBef>
              <a:buFontTx/>
              <a:buNone/>
            </a:pPr>
            <a:r>
              <a:rPr lang="zh-CN" altLang="en-US" sz="2800" smtClean="0">
                <a:solidFill>
                  <a:schemeClr val="bg1"/>
                </a:solidFill>
                <a:latin typeface="华文细黑" pitchFamily="2" charset="-122"/>
                <a:ea typeface="华文细黑" pitchFamily="2" charset="-122"/>
              </a:rPr>
              <a:t> （</a:t>
            </a:r>
            <a:r>
              <a:rPr lang="en-US" altLang="zh-CN" sz="2800" smtClean="0">
                <a:solidFill>
                  <a:schemeClr val="bg1"/>
                </a:solidFill>
                <a:latin typeface="华文细黑" pitchFamily="2" charset="-122"/>
                <a:ea typeface="华文细黑" pitchFamily="2" charset="-122"/>
              </a:rPr>
              <a:t>2</a:t>
            </a:r>
            <a:r>
              <a:rPr lang="zh-CN" altLang="en-US" sz="2800" smtClean="0">
                <a:solidFill>
                  <a:schemeClr val="bg1"/>
                </a:solidFill>
                <a:latin typeface="华文细黑" pitchFamily="2" charset="-122"/>
                <a:ea typeface="华文细黑" pitchFamily="2" charset="-122"/>
              </a:rPr>
              <a:t>）</a:t>
            </a: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hlinkClick r:id="rId3" action="ppaction://hlinksldjump"/>
              </a:rPr>
              <a:t>线性运输费用的两种形式对经济活动区位影响</a:t>
            </a:r>
            <a:endParaRPr lang="en-US" altLang="zh-CN" sz="2800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130000"/>
              </a:lnSpc>
              <a:spcBef>
                <a:spcPts val="1800"/>
              </a:spcBef>
              <a:buFontTx/>
              <a:buNone/>
            </a:pPr>
            <a:r>
              <a:rPr lang="en-US" altLang="zh-CN" smtClean="0">
                <a:solidFill>
                  <a:srgbClr val="FFFF00"/>
                </a:solidFill>
                <a:ea typeface="黑体" pitchFamily="49" charset="-122"/>
              </a:rPr>
              <a:t>3.</a:t>
            </a:r>
            <a:r>
              <a:rPr lang="zh-CN" altLang="en-US" smtClean="0">
                <a:solidFill>
                  <a:srgbClr val="FFFF00"/>
                </a:solidFill>
                <a:ea typeface="黑体" pitchFamily="49" charset="-122"/>
              </a:rPr>
              <a:t>交通便捷程度对区位选择的影响</a:t>
            </a:r>
            <a:endParaRPr lang="en-US" altLang="zh-CN" smtClean="0">
              <a:solidFill>
                <a:srgbClr val="FFFF00"/>
              </a:solidFill>
              <a:ea typeface="黑体" pitchFamily="49" charset="-122"/>
            </a:endParaRPr>
          </a:p>
          <a:p>
            <a:pPr eaLnBrk="1" hangingPunct="1">
              <a:lnSpc>
                <a:spcPct val="130000"/>
              </a:lnSpc>
              <a:spcBef>
                <a:spcPts val="1800"/>
              </a:spcBef>
              <a:buFontTx/>
              <a:buNone/>
            </a:pPr>
            <a:endParaRPr lang="zh-CN" altLang="en-US" smtClean="0">
              <a:solidFill>
                <a:srgbClr val="FFFF00"/>
              </a:solidFill>
              <a:ea typeface="黑体" pitchFamily="49" charset="-122"/>
            </a:endParaRPr>
          </a:p>
        </p:txBody>
      </p:sp>
      <p:sp>
        <p:nvSpPr>
          <p:cNvPr id="4" name="右箭头 3">
            <a:hlinkClick r:id="rId4" action="ppaction://hlinksldjump"/>
          </p:cNvPr>
          <p:cNvSpPr/>
          <p:nvPr/>
        </p:nvSpPr>
        <p:spPr>
          <a:xfrm>
            <a:off x="6948488" y="4724400"/>
            <a:ext cx="215900" cy="2174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5" descr="工厂在原料地或市场的区位"/>
          <p:cNvPicPr>
            <a:picLocks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457200" y="590550"/>
            <a:ext cx="8229600" cy="5218113"/>
          </a:xfrm>
          <a:noFill/>
        </p:spPr>
      </p:pic>
      <p:sp>
        <p:nvSpPr>
          <p:cNvPr id="12291" name="Text Box 6"/>
          <p:cNvSpPr txBox="1">
            <a:spLocks noChangeArrowheads="1"/>
          </p:cNvSpPr>
          <p:nvPr/>
        </p:nvSpPr>
        <p:spPr bwMode="auto">
          <a:xfrm>
            <a:off x="2843213" y="5949950"/>
            <a:ext cx="3232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000">
                <a:ea typeface="黑体" pitchFamily="49" charset="-122"/>
              </a:rPr>
              <a:t>端点区位优于中间区位理论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5" descr="工厂在中间转运点区位"/>
          <p:cNvPicPr>
            <a:picLocks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401763" y="274638"/>
            <a:ext cx="6340475" cy="5851525"/>
          </a:xfrm>
          <a:noFill/>
        </p:spPr>
      </p:pic>
      <p:sp>
        <p:nvSpPr>
          <p:cNvPr id="13315" name="Text Box 6"/>
          <p:cNvSpPr txBox="1">
            <a:spLocks noChangeArrowheads="1"/>
          </p:cNvSpPr>
          <p:nvPr/>
        </p:nvSpPr>
        <p:spPr bwMode="auto">
          <a:xfrm>
            <a:off x="8151813" y="5883275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zh-CN"/>
          </a:p>
        </p:txBody>
      </p:sp>
      <p:sp>
        <p:nvSpPr>
          <p:cNvPr id="13316" name="AutoShape 7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7956550" y="6021388"/>
            <a:ext cx="287338" cy="215900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zh-CN">
              <a:solidFill>
                <a:srgbClr val="FF3300"/>
              </a:solidFill>
            </a:endParaRPr>
          </a:p>
        </p:txBody>
      </p:sp>
      <p:sp>
        <p:nvSpPr>
          <p:cNvPr id="13317" name="Text Box 8"/>
          <p:cNvSpPr txBox="1">
            <a:spLocks noChangeArrowheads="1"/>
          </p:cNvSpPr>
          <p:nvPr/>
        </p:nvSpPr>
        <p:spPr bwMode="auto">
          <a:xfrm>
            <a:off x="2987675" y="6237288"/>
            <a:ext cx="297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000">
                <a:ea typeface="黑体" pitchFamily="49" charset="-122"/>
              </a:rPr>
              <a:t>中间转运点区位最优理论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5" descr="运价的两种表达方式"/>
          <p:cNvPicPr>
            <a:picLocks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539750" y="188913"/>
            <a:ext cx="7993063" cy="5976937"/>
          </a:xfrm>
          <a:noFill/>
        </p:spPr>
      </p:pic>
      <p:sp>
        <p:nvSpPr>
          <p:cNvPr id="14339" name="Line 6"/>
          <p:cNvSpPr>
            <a:spLocks noChangeShapeType="1"/>
          </p:cNvSpPr>
          <p:nvPr/>
        </p:nvSpPr>
        <p:spPr bwMode="auto">
          <a:xfrm>
            <a:off x="2484438" y="4508500"/>
            <a:ext cx="0" cy="86518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40" name="Line 8"/>
          <p:cNvSpPr>
            <a:spLocks noChangeShapeType="1"/>
          </p:cNvSpPr>
          <p:nvPr/>
        </p:nvSpPr>
        <p:spPr bwMode="auto">
          <a:xfrm>
            <a:off x="4067175" y="2852738"/>
            <a:ext cx="0" cy="25923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41" name="Text Box 9"/>
          <p:cNvSpPr txBox="1">
            <a:spLocks noChangeArrowheads="1"/>
          </p:cNvSpPr>
          <p:nvPr/>
        </p:nvSpPr>
        <p:spPr bwMode="auto">
          <a:xfrm>
            <a:off x="2176463" y="53213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3300"/>
                </a:solidFill>
              </a:rPr>
              <a:t>a</a:t>
            </a:r>
          </a:p>
        </p:txBody>
      </p:sp>
      <p:sp>
        <p:nvSpPr>
          <p:cNvPr id="14342" name="Text Box 10"/>
          <p:cNvSpPr txBox="1">
            <a:spLocks noChangeArrowheads="1"/>
          </p:cNvSpPr>
          <p:nvPr/>
        </p:nvSpPr>
        <p:spPr bwMode="auto">
          <a:xfrm>
            <a:off x="2535238" y="53213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3300"/>
                </a:solidFill>
              </a:rPr>
              <a:t>b</a:t>
            </a:r>
          </a:p>
        </p:txBody>
      </p:sp>
      <p:sp>
        <p:nvSpPr>
          <p:cNvPr id="14343" name="Text Box 11"/>
          <p:cNvSpPr txBox="1">
            <a:spLocks noChangeArrowheads="1"/>
          </p:cNvSpPr>
          <p:nvPr/>
        </p:nvSpPr>
        <p:spPr bwMode="auto">
          <a:xfrm>
            <a:off x="3759200" y="5392738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3300"/>
                </a:solidFill>
              </a:rPr>
              <a:t>c</a:t>
            </a:r>
          </a:p>
        </p:txBody>
      </p:sp>
      <p:sp>
        <p:nvSpPr>
          <p:cNvPr id="14344" name="Text Box 12"/>
          <p:cNvSpPr txBox="1">
            <a:spLocks noChangeArrowheads="1"/>
          </p:cNvSpPr>
          <p:nvPr/>
        </p:nvSpPr>
        <p:spPr bwMode="auto">
          <a:xfrm>
            <a:off x="1979613" y="6184900"/>
            <a:ext cx="5060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>
                <a:ea typeface="黑体" pitchFamily="49" charset="-122"/>
              </a:rPr>
              <a:t>曲线线性运输费用与阶段式运输费用</a:t>
            </a:r>
          </a:p>
        </p:txBody>
      </p:sp>
      <p:sp>
        <p:nvSpPr>
          <p:cNvPr id="14345" name="AutoShape 7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7956550" y="6021388"/>
            <a:ext cx="287338" cy="215900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zh-CN">
              <a:solidFill>
                <a:srgbClr val="FF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 smtClean="0">
                <a:solidFill>
                  <a:srgbClr val="FFFF00"/>
                </a:solidFill>
                <a:ea typeface="黑体" pitchFamily="49" charset="-122"/>
              </a:rPr>
              <a:t>交通便捷程度对区位选择的影响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412875"/>
            <a:ext cx="8147050" cy="4525963"/>
          </a:xfrm>
        </p:spPr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zh-CN" altLang="en-US" sz="2400" smtClean="0">
                <a:latin typeface="黑体" pitchFamily="49" charset="-122"/>
                <a:ea typeface="黑体" pitchFamily="49" charset="-122"/>
                <a:hlinkClick r:id="rId3" action="ppaction://hlinksldjump"/>
              </a:rPr>
              <a:t>网络连接度</a:t>
            </a:r>
            <a:r>
              <a:rPr lang="zh-CN" altLang="en-US" sz="2400" smtClean="0">
                <a:latin typeface="黑体" pitchFamily="49" charset="-122"/>
                <a:ea typeface="黑体" pitchFamily="49" charset="-122"/>
              </a:rPr>
              <a:t>：</a:t>
            </a:r>
            <a:r>
              <a:rPr lang="zh-CN" altLang="en-US" sz="2000" smtClean="0">
                <a:latin typeface="黑体" pitchFamily="49" charset="-122"/>
                <a:ea typeface="黑体" pitchFamily="49" charset="-122"/>
              </a:rPr>
              <a:t>网络的发达程度，即网络交通运输效率，</a:t>
            </a:r>
            <a:r>
              <a:rPr lang="el-GR" altLang="zh-CN" sz="2400" smtClean="0">
                <a:latin typeface="黑体" pitchFamily="49" charset="-122"/>
                <a:ea typeface="黑体" pitchFamily="49" charset="-122"/>
              </a:rPr>
              <a:t>β</a:t>
            </a:r>
            <a:r>
              <a:rPr lang="en-US" altLang="zh-CN" sz="2400" smtClean="0">
                <a:latin typeface="黑体" pitchFamily="49" charset="-122"/>
                <a:ea typeface="黑体" pitchFamily="49" charset="-122"/>
              </a:rPr>
              <a:t>=E/V</a:t>
            </a:r>
          </a:p>
          <a:p>
            <a:pPr eaLnBrk="1" hangingPunct="1">
              <a:buFont typeface="Wingdings" pitchFamily="2" charset="2"/>
              <a:buChar char="Ø"/>
            </a:pPr>
            <a:endParaRPr lang="en-US" altLang="zh-CN" sz="2400" smtClean="0">
              <a:latin typeface="黑体" pitchFamily="49" charset="-122"/>
              <a:ea typeface="黑体" pitchFamily="49" charset="-122"/>
            </a:endParaRPr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400" smtClean="0">
                <a:latin typeface="黑体" pitchFamily="49" charset="-122"/>
                <a:ea typeface="黑体" pitchFamily="49" charset="-122"/>
                <a:hlinkClick r:id="rId4" action="ppaction://hlinksldjump"/>
              </a:rPr>
              <a:t>网络通达度</a:t>
            </a:r>
            <a:r>
              <a:rPr lang="zh-CN" altLang="en-US" sz="2400" smtClean="0">
                <a:latin typeface="黑体" pitchFamily="49" charset="-122"/>
                <a:ea typeface="黑体" pitchFamily="49" charset="-122"/>
              </a:rPr>
              <a:t>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smtClean="0">
                <a:latin typeface="黑体" pitchFamily="49" charset="-122"/>
                <a:ea typeface="黑体" pitchFamily="49" charset="-122"/>
              </a:rPr>
              <a:t>  通达指数：</a:t>
            </a:r>
            <a:r>
              <a:rPr lang="zh-CN" altLang="en-US" sz="2000" smtClean="0">
                <a:latin typeface="黑体" pitchFamily="49" charset="-122"/>
                <a:ea typeface="黑体" pitchFamily="49" charset="-122"/>
              </a:rPr>
              <a:t>网络内一个顶点到其他所有顶点的最短通路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000" smtClean="0">
              <a:latin typeface="黑体" pitchFamily="49" charset="-122"/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smtClean="0">
                <a:latin typeface="黑体" pitchFamily="49" charset="-122"/>
                <a:ea typeface="黑体" pitchFamily="49" charset="-122"/>
              </a:rPr>
              <a:t>  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smtClean="0">
                <a:latin typeface="黑体" pitchFamily="49" charset="-122"/>
                <a:ea typeface="黑体" pitchFamily="49" charset="-122"/>
              </a:rPr>
              <a:t>  分散指数：</a:t>
            </a:r>
            <a:r>
              <a:rPr lang="zh-CN" altLang="en-US" sz="2000" smtClean="0">
                <a:latin typeface="黑体" pitchFamily="49" charset="-122"/>
                <a:ea typeface="黑体" pitchFamily="49" charset="-122"/>
              </a:rPr>
              <a:t>网络系统总的通达程度和联系水平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400" smtClean="0">
              <a:latin typeface="黑体" pitchFamily="49" charset="-122"/>
              <a:ea typeface="黑体" pitchFamily="49" charset="-122"/>
            </a:endParaRPr>
          </a:p>
          <a:p>
            <a:pPr eaLnBrk="1" hangingPunct="1">
              <a:buFont typeface="Wingdings" pitchFamily="2" charset="2"/>
              <a:buChar char="Ø"/>
            </a:pPr>
            <a:endParaRPr lang="zh-CN" altLang="en-US" sz="2400" smtClean="0">
              <a:latin typeface="黑体" pitchFamily="49" charset="-122"/>
              <a:ea typeface="黑体" pitchFamily="49" charset="-122"/>
            </a:endParaRPr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400" smtClean="0">
                <a:latin typeface="黑体" pitchFamily="49" charset="-122"/>
                <a:ea typeface="黑体" pitchFamily="49" charset="-122"/>
                <a:hlinkClick r:id="rId5" action="ppaction://hlinksldjump"/>
              </a:rPr>
              <a:t>网络密度</a:t>
            </a:r>
            <a:r>
              <a:rPr lang="zh-CN" altLang="en-US" sz="2400" smtClean="0">
                <a:latin typeface="黑体" pitchFamily="49" charset="-122"/>
                <a:ea typeface="黑体" pitchFamily="49" charset="-122"/>
              </a:rPr>
              <a:t>：</a:t>
            </a:r>
            <a:r>
              <a:rPr lang="zh-CN" altLang="en-US" sz="2000" smtClean="0">
                <a:latin typeface="黑体" pitchFamily="49" charset="-122"/>
                <a:ea typeface="黑体" pitchFamily="49" charset="-122"/>
              </a:rPr>
              <a:t>单位面积内运输通路的总长度</a:t>
            </a:r>
          </a:p>
          <a:p>
            <a:pPr eaLnBrk="1" hangingPunct="1">
              <a:buFont typeface="Wingdings" pitchFamily="2" charset="2"/>
              <a:buNone/>
            </a:pPr>
            <a:endParaRPr lang="zh-CN" altLang="el-GR" sz="2400" smtClean="0">
              <a:latin typeface="宋体" pitchFamily="2" charset="-122"/>
            </a:endParaRPr>
          </a:p>
        </p:txBody>
      </p:sp>
      <p:graphicFrame>
        <p:nvGraphicFramePr>
          <p:cNvPr id="13316" name="Object 4"/>
          <p:cNvGraphicFramePr>
            <a:graphicFrameLocks noChangeAspect="1"/>
          </p:cNvGraphicFramePr>
          <p:nvPr>
            <p:ph sz="quarter" idx="2"/>
          </p:nvPr>
        </p:nvGraphicFramePr>
        <p:xfrm>
          <a:off x="2987675" y="3213100"/>
          <a:ext cx="2449513" cy="792163"/>
        </p:xfrm>
        <a:graphic>
          <a:graphicData uri="http://schemas.openxmlformats.org/presentationml/2006/ole">
            <p:oleObj spid="_x0000_s1026" name="公式" r:id="rId6" imgW="545760" imgH="431640" progId="Equation.3">
              <p:embed/>
            </p:oleObj>
          </a:graphicData>
        </a:graphic>
      </p:graphicFrame>
      <p:graphicFrame>
        <p:nvGraphicFramePr>
          <p:cNvPr id="13318" name="Object 6"/>
          <p:cNvGraphicFramePr>
            <a:graphicFrameLocks noChangeAspect="1"/>
          </p:cNvGraphicFramePr>
          <p:nvPr>
            <p:ph sz="quarter" idx="3"/>
          </p:nvPr>
        </p:nvGraphicFramePr>
        <p:xfrm>
          <a:off x="3059113" y="4437063"/>
          <a:ext cx="2449512" cy="865187"/>
        </p:xfrm>
        <a:graphic>
          <a:graphicData uri="http://schemas.openxmlformats.org/presentationml/2006/ole">
            <p:oleObj spid="_x0000_s1027" name="公式" r:id="rId7" imgW="799920" imgH="457200" progId="Equation.3">
              <p:embed/>
            </p:oleObj>
          </a:graphicData>
        </a:graphic>
      </p:graphicFrame>
      <p:sp>
        <p:nvSpPr>
          <p:cNvPr id="1030" name="Text Box 8"/>
          <p:cNvSpPr txBox="1">
            <a:spLocks noChangeArrowheads="1"/>
          </p:cNvSpPr>
          <p:nvPr/>
        </p:nvSpPr>
        <p:spPr bwMode="auto">
          <a:xfrm>
            <a:off x="7143750" y="5451475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5" descr="交通网络与拓扑图"/>
          <p:cNvPicPr>
            <a:picLocks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50825" y="188913"/>
            <a:ext cx="8642350" cy="5832475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6" descr="交通网络的连结度"/>
          <p:cNvPicPr>
            <a:picLocks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11188" y="404813"/>
            <a:ext cx="7993062" cy="5472112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5" descr="不同国家铁路网的连结度指数"/>
          <p:cNvPicPr>
            <a:picLocks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476375" y="188913"/>
            <a:ext cx="6335713" cy="6048375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5" descr="加纳公路网的演化"/>
          <p:cNvPicPr>
            <a:picLocks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692275" y="188913"/>
            <a:ext cx="6119813" cy="5903912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5" descr="加纳公路网演化的连结度指数"/>
          <p:cNvPicPr>
            <a:picLocks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339975" y="188913"/>
            <a:ext cx="4537075" cy="6335712"/>
          </a:xfrm>
          <a:noFill/>
        </p:spPr>
      </p:pic>
      <p:sp>
        <p:nvSpPr>
          <p:cNvPr id="19459" name="Text Box 6"/>
          <p:cNvSpPr txBox="1">
            <a:spLocks noChangeArrowheads="1"/>
          </p:cNvSpPr>
          <p:nvPr/>
        </p:nvSpPr>
        <p:spPr bwMode="auto">
          <a:xfrm>
            <a:off x="7359650" y="59547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zh-CN"/>
          </a:p>
        </p:txBody>
      </p:sp>
      <p:sp>
        <p:nvSpPr>
          <p:cNvPr id="19460" name="AutoShape 7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7956550" y="6021388"/>
            <a:ext cx="360363" cy="360362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zh-CN">
              <a:solidFill>
                <a:srgbClr val="FF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5" descr="两种交通网络拓扑形式的分析与比较"/>
          <p:cNvPicPr>
            <a:picLocks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95288" y="0"/>
            <a:ext cx="8424862" cy="6669088"/>
          </a:xfrm>
          <a:noFill/>
        </p:spPr>
      </p:pic>
      <p:sp>
        <p:nvSpPr>
          <p:cNvPr id="20483" name="Text Box 6"/>
          <p:cNvSpPr txBox="1">
            <a:spLocks noChangeArrowheads="1"/>
          </p:cNvSpPr>
          <p:nvPr/>
        </p:nvSpPr>
        <p:spPr bwMode="auto">
          <a:xfrm>
            <a:off x="8801100" y="6315075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zh-CN"/>
          </a:p>
        </p:txBody>
      </p:sp>
      <p:sp>
        <p:nvSpPr>
          <p:cNvPr id="20484" name="AutoShape 7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8604250" y="6165850"/>
            <a:ext cx="360363" cy="360363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zh-CN">
              <a:solidFill>
                <a:srgbClr val="FF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5" descr="不同运输方式的运输费用比较"/>
          <p:cNvPicPr>
            <a:picLocks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468313" y="1484313"/>
            <a:ext cx="5581650" cy="4675187"/>
          </a:xfrm>
          <a:noFill/>
        </p:spPr>
      </p:pic>
      <p:sp>
        <p:nvSpPr>
          <p:cNvPr id="21507" name="Text Box 6"/>
          <p:cNvSpPr txBox="1">
            <a:spLocks noChangeArrowheads="1"/>
          </p:cNvSpPr>
          <p:nvPr/>
        </p:nvSpPr>
        <p:spPr bwMode="auto">
          <a:xfrm>
            <a:off x="8512175" y="5883275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zh-CN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57200" y="274638"/>
            <a:ext cx="8229600" cy="706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3200" kern="0">
                <a:solidFill>
                  <a:schemeClr val="bg1"/>
                </a:solidFill>
                <a:latin typeface="+mn-lt"/>
                <a:ea typeface="黑体" pitchFamily="49" charset="-122"/>
              </a:rPr>
              <a:t>三、交通运输方式对区位选择的影响</a:t>
            </a:r>
            <a:endParaRPr lang="zh-CN" altLang="en-US" sz="3200" kern="0" dirty="0">
              <a:solidFill>
                <a:schemeClr val="bg1"/>
              </a:solidFill>
              <a:latin typeface="+mn-lt"/>
              <a:ea typeface="黑体" pitchFamily="49" charset="-122"/>
            </a:endParaRPr>
          </a:p>
        </p:txBody>
      </p:sp>
      <p:sp>
        <p:nvSpPr>
          <p:cNvPr id="21509" name="TextBox 5"/>
          <p:cNvSpPr txBox="1">
            <a:spLocks noChangeArrowheads="1"/>
          </p:cNvSpPr>
          <p:nvPr/>
        </p:nvSpPr>
        <p:spPr bwMode="auto">
          <a:xfrm>
            <a:off x="6443663" y="2060575"/>
            <a:ext cx="2305050" cy="232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1800"/>
              </a:spcBef>
            </a:pPr>
            <a:r>
              <a:rPr lang="zh-CN" altLang="en-US" sz="2000" b="1"/>
              <a:t>公路运输（高速公路）</a:t>
            </a:r>
            <a:endParaRPr lang="en-US" altLang="zh-CN" sz="2000" b="1"/>
          </a:p>
          <a:p>
            <a:pPr>
              <a:spcBef>
                <a:spcPts val="1800"/>
              </a:spcBef>
            </a:pPr>
            <a:r>
              <a:rPr lang="zh-CN" altLang="en-US" sz="2000" b="1"/>
              <a:t>铁路运输</a:t>
            </a:r>
            <a:r>
              <a:rPr lang="zh-CN" altLang="en-US" sz="2000" b="1">
                <a:hlinkClick r:id="rId3" action="ppaction://hlinksldjump"/>
              </a:rPr>
              <a:t>（高铁）</a:t>
            </a:r>
            <a:endParaRPr lang="en-US" altLang="zh-CN" sz="2000" b="1"/>
          </a:p>
          <a:p>
            <a:pPr>
              <a:spcBef>
                <a:spcPts val="1800"/>
              </a:spcBef>
            </a:pPr>
            <a:r>
              <a:rPr lang="zh-CN" altLang="en-US" sz="2000" b="1">
                <a:hlinkClick r:id="rId4" action="ppaction://hlinksldjump"/>
              </a:rPr>
              <a:t>水路运输</a:t>
            </a:r>
            <a:endParaRPr lang="en-US" altLang="zh-CN" sz="2000" b="1"/>
          </a:p>
          <a:p>
            <a:pPr>
              <a:spcBef>
                <a:spcPts val="1800"/>
              </a:spcBef>
            </a:pPr>
            <a:r>
              <a:rPr lang="zh-CN" altLang="en-US" sz="2000" b="1">
                <a:hlinkClick r:id="rId5" action="ppaction://hlinksldjump"/>
              </a:rPr>
              <a:t>航空运输</a:t>
            </a:r>
            <a:endParaRPr lang="zh-CN" altLang="en-US" sz="2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Grp="1"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057275" y="474663"/>
            <a:ext cx="7096125" cy="5618162"/>
          </a:xfrm>
          <a:noFill/>
        </p:spPr>
      </p:pic>
      <p:sp>
        <p:nvSpPr>
          <p:cNvPr id="22531" name="AutoShape 7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8388350" y="5805488"/>
            <a:ext cx="360363" cy="215900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zh-CN">
              <a:solidFill>
                <a:srgbClr val="FF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Grp="1"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835150" y="333375"/>
            <a:ext cx="5486400" cy="5851525"/>
          </a:xfrm>
          <a:noFill/>
        </p:spPr>
      </p:pic>
      <p:sp>
        <p:nvSpPr>
          <p:cNvPr id="23555" name="AutoShape 7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8388350" y="5805488"/>
            <a:ext cx="360363" cy="215900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zh-CN">
              <a:solidFill>
                <a:srgbClr val="FF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268413"/>
            <a:ext cx="8002587" cy="4392612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FontTx/>
              <a:buNone/>
            </a:pPr>
            <a:r>
              <a:rPr lang="zh-CN" altLang="en-US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航空运输与经济活动区位</a:t>
            </a: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zh-CN" altLang="en-US" smtClean="0">
                <a:latin typeface="黑体" pitchFamily="49" charset="-122"/>
                <a:ea typeface="黑体" pitchFamily="49" charset="-122"/>
              </a:rPr>
              <a:t>   </a:t>
            </a:r>
            <a:r>
              <a:rPr lang="en-US" altLang="zh-CN" smtClean="0">
                <a:latin typeface="黑体" pitchFamily="49" charset="-122"/>
                <a:ea typeface="黑体" pitchFamily="49" charset="-122"/>
              </a:rPr>
              <a:t>1. </a:t>
            </a:r>
            <a:r>
              <a:rPr lang="zh-CN" altLang="en-US" smtClean="0">
                <a:latin typeface="黑体" pitchFamily="49" charset="-122"/>
                <a:ea typeface="黑体" pitchFamily="49" charset="-122"/>
              </a:rPr>
              <a:t>航空港对产业布局的重要性</a:t>
            </a: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zh-CN" altLang="en-US" smtClean="0">
                <a:latin typeface="黑体" pitchFamily="49" charset="-122"/>
                <a:ea typeface="黑体" pitchFamily="49" charset="-122"/>
              </a:rPr>
              <a:t>   </a:t>
            </a:r>
            <a:r>
              <a:rPr lang="en-US" altLang="zh-CN" smtClean="0">
                <a:latin typeface="黑体" pitchFamily="49" charset="-122"/>
                <a:ea typeface="黑体" pitchFamily="49" charset="-122"/>
              </a:rPr>
              <a:t>2.</a:t>
            </a:r>
            <a:r>
              <a:rPr lang="zh-CN" altLang="en-US" smtClean="0">
                <a:latin typeface="黑体" pitchFamily="49" charset="-122"/>
                <a:ea typeface="黑体" pitchFamily="49" charset="-122"/>
              </a:rPr>
              <a:t>机场产业：</a:t>
            </a: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zh-CN" altLang="en-US" smtClean="0">
                <a:latin typeface="黑体" pitchFamily="49" charset="-122"/>
                <a:ea typeface="黑体" pitchFamily="49" charset="-122"/>
              </a:rPr>
              <a:t>     （</a:t>
            </a:r>
            <a:r>
              <a:rPr lang="en-US" altLang="zh-CN" smtClean="0"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smtClean="0">
                <a:latin typeface="黑体" pitchFamily="49" charset="-122"/>
                <a:ea typeface="黑体" pitchFamily="49" charset="-122"/>
              </a:rPr>
              <a:t>）机场业务关联产业</a:t>
            </a: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zh-CN" altLang="en-US" smtClean="0">
                <a:latin typeface="黑体" pitchFamily="49" charset="-122"/>
                <a:ea typeface="黑体" pitchFamily="49" charset="-122"/>
              </a:rPr>
              <a:t>     （</a:t>
            </a:r>
            <a:r>
              <a:rPr lang="en-US" altLang="zh-CN" smtClean="0"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smtClean="0">
                <a:latin typeface="黑体" pitchFamily="49" charset="-122"/>
                <a:ea typeface="黑体" pitchFamily="49" charset="-122"/>
              </a:rPr>
              <a:t>）机场周围地区发展的产业</a:t>
            </a: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zh-CN" altLang="en-US" smtClean="0">
                <a:latin typeface="黑体" pitchFamily="49" charset="-122"/>
                <a:ea typeface="黑体" pitchFamily="49" charset="-122"/>
              </a:rPr>
              <a:t>   </a:t>
            </a:r>
            <a:r>
              <a:rPr lang="zh-CN" altLang="en-US" sz="2800" smtClean="0">
                <a:solidFill>
                  <a:srgbClr val="66FFFF"/>
                </a:solidFill>
                <a:latin typeface="华文细黑" pitchFamily="2" charset="-122"/>
                <a:ea typeface="华文细黑" pitchFamily="2" charset="-122"/>
              </a:rPr>
              <a:t>试分析：机场建设与长乐市产业结构变化关系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Grp="1"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498600" y="274638"/>
            <a:ext cx="6107113" cy="6034087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5">
      <a:dk1>
        <a:srgbClr val="FFFFFF"/>
      </a:dk1>
      <a:lt1>
        <a:srgbClr val="FFFFFF"/>
      </a:lt1>
      <a:dk2>
        <a:srgbClr val="000000"/>
      </a:dk2>
      <a:lt2>
        <a:srgbClr val="808080"/>
      </a:lt2>
      <a:accent1>
        <a:srgbClr val="F9B7A5"/>
      </a:accent1>
      <a:accent2>
        <a:srgbClr val="333399"/>
      </a:accent2>
      <a:accent3>
        <a:srgbClr val="FFFFFF"/>
      </a:accent3>
      <a:accent4>
        <a:srgbClr val="DADADA"/>
      </a:accent4>
      <a:accent5>
        <a:srgbClr val="FBD8CF"/>
      </a:accent5>
      <a:accent6>
        <a:srgbClr val="2D2D8A"/>
      </a:accent6>
      <a:hlink>
        <a:srgbClr val="FFFFFF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FFFFFF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DADADA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14">
        <a:dk1>
          <a:srgbClr val="FFFFFF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DADADA"/>
        </a:accent4>
        <a:accent5>
          <a:srgbClr val="DAEDEF"/>
        </a:accent5>
        <a:accent6>
          <a:srgbClr val="2D2D8A"/>
        </a:accent6>
        <a:hlink>
          <a:srgbClr val="FFFFFF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15">
        <a:dk1>
          <a:srgbClr val="FFFFFF"/>
        </a:dk1>
        <a:lt1>
          <a:srgbClr val="FFFFFF"/>
        </a:lt1>
        <a:dk2>
          <a:srgbClr val="000000"/>
        </a:dk2>
        <a:lt2>
          <a:srgbClr val="808080"/>
        </a:lt2>
        <a:accent1>
          <a:srgbClr val="F9B7A5"/>
        </a:accent1>
        <a:accent2>
          <a:srgbClr val="333399"/>
        </a:accent2>
        <a:accent3>
          <a:srgbClr val="FFFFFF"/>
        </a:accent3>
        <a:accent4>
          <a:srgbClr val="DADADA"/>
        </a:accent4>
        <a:accent5>
          <a:srgbClr val="FBD8CF"/>
        </a:accent5>
        <a:accent6>
          <a:srgbClr val="2D2D8A"/>
        </a:accent6>
        <a:hlink>
          <a:srgbClr val="FFFFFF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1023</TotalTime>
  <Words>756</Words>
  <Application>Microsoft Office PowerPoint</Application>
  <PresentationFormat>全屏显示(4:3)</PresentationFormat>
  <Paragraphs>56</Paragraphs>
  <Slides>24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Arial</vt:lpstr>
      <vt:lpstr>宋体</vt:lpstr>
      <vt:lpstr>Calibri</vt:lpstr>
      <vt:lpstr>黑体</vt:lpstr>
      <vt:lpstr>Wingdings</vt:lpstr>
      <vt:lpstr>华文细黑</vt:lpstr>
      <vt:lpstr>默认设计模板</vt:lpstr>
      <vt:lpstr>Microsoft 公式 3.0</vt:lpstr>
      <vt:lpstr>第2章  第4节  交通及其对经济活动区位的一般影响</vt:lpstr>
      <vt:lpstr>幻灯片 2</vt:lpstr>
      <vt:lpstr>一、交通要素及其内涵</vt:lpstr>
      <vt:lpstr>二、交通运输对区位选择影响的机理</vt:lpstr>
      <vt:lpstr>韦伯工业区位论关于运费论断：</vt:lpstr>
      <vt:lpstr>胡佛经济区位论关于运费构成：</vt:lpstr>
      <vt:lpstr>幻灯片 7</vt:lpstr>
      <vt:lpstr>幻灯片 8</vt:lpstr>
      <vt:lpstr>二、交通运输对区位选择影响的机理</vt:lpstr>
      <vt:lpstr>幻灯片 10</vt:lpstr>
      <vt:lpstr>幻灯片 11</vt:lpstr>
      <vt:lpstr>幻灯片 12</vt:lpstr>
      <vt:lpstr>交通便捷程度对区位选择的影响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 第5节  交通及其对经济活动区位的一般影响</dc:title>
  <dc:creator>asd</dc:creator>
  <cp:lastModifiedBy>xbany</cp:lastModifiedBy>
  <cp:revision>47</cp:revision>
  <dcterms:created xsi:type="dcterms:W3CDTF">2004-06-12T14:48:10Z</dcterms:created>
  <dcterms:modified xsi:type="dcterms:W3CDTF">2020-02-11T12:57:05Z</dcterms:modified>
</cp:coreProperties>
</file>