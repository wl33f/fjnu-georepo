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85" r:id="rId6"/>
    <p:sldId id="284" r:id="rId7"/>
    <p:sldId id="260" r:id="rId8"/>
    <p:sldId id="261" r:id="rId9"/>
    <p:sldId id="278" r:id="rId10"/>
    <p:sldId id="279" r:id="rId11"/>
    <p:sldId id="280" r:id="rId12"/>
    <p:sldId id="276" r:id="rId13"/>
    <p:sldId id="277" r:id="rId14"/>
    <p:sldId id="273" r:id="rId15"/>
    <p:sldId id="286" r:id="rId16"/>
    <p:sldId id="287" r:id="rId17"/>
    <p:sldId id="288" r:id="rId18"/>
    <p:sldId id="312" r:id="rId19"/>
    <p:sldId id="262" r:id="rId20"/>
    <p:sldId id="263" r:id="rId21"/>
    <p:sldId id="289" r:id="rId22"/>
    <p:sldId id="321" r:id="rId23"/>
    <p:sldId id="322" r:id="rId24"/>
    <p:sldId id="323" r:id="rId25"/>
    <p:sldId id="324" r:id="rId26"/>
    <p:sldId id="313" r:id="rId27"/>
    <p:sldId id="314" r:id="rId28"/>
    <p:sldId id="316" r:id="rId29"/>
    <p:sldId id="317" r:id="rId30"/>
    <p:sldId id="318" r:id="rId31"/>
    <p:sldId id="320" r:id="rId32"/>
    <p:sldId id="325" r:id="rId33"/>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itchFamily="34" charset="0"/>
        <a:ea typeface="宋体" pitchFamily="2" charset="-122"/>
        <a:cs typeface="+mn-cs"/>
      </a:defRPr>
    </a:lvl1pPr>
    <a:lvl2pPr marL="457200" algn="l" rtl="0" fontAlgn="base">
      <a:spcBef>
        <a:spcPct val="0"/>
      </a:spcBef>
      <a:spcAft>
        <a:spcPct val="0"/>
      </a:spcAft>
      <a:defRPr kern="1200">
        <a:solidFill>
          <a:schemeClr val="tx1"/>
        </a:solidFill>
        <a:latin typeface="Arial" pitchFamily="34" charset="0"/>
        <a:ea typeface="宋体" pitchFamily="2" charset="-122"/>
        <a:cs typeface="+mn-cs"/>
      </a:defRPr>
    </a:lvl2pPr>
    <a:lvl3pPr marL="914400" algn="l" rtl="0" fontAlgn="base">
      <a:spcBef>
        <a:spcPct val="0"/>
      </a:spcBef>
      <a:spcAft>
        <a:spcPct val="0"/>
      </a:spcAft>
      <a:defRPr kern="1200">
        <a:solidFill>
          <a:schemeClr val="tx1"/>
        </a:solidFill>
        <a:latin typeface="Arial" pitchFamily="34" charset="0"/>
        <a:ea typeface="宋体" pitchFamily="2" charset="-122"/>
        <a:cs typeface="+mn-cs"/>
      </a:defRPr>
    </a:lvl3pPr>
    <a:lvl4pPr marL="1371600" algn="l" rtl="0" fontAlgn="base">
      <a:spcBef>
        <a:spcPct val="0"/>
      </a:spcBef>
      <a:spcAft>
        <a:spcPct val="0"/>
      </a:spcAft>
      <a:defRPr kern="1200">
        <a:solidFill>
          <a:schemeClr val="tx1"/>
        </a:solidFill>
        <a:latin typeface="Arial" pitchFamily="34" charset="0"/>
        <a:ea typeface="宋体" pitchFamily="2" charset="-122"/>
        <a:cs typeface="+mn-cs"/>
      </a:defRPr>
    </a:lvl4pPr>
    <a:lvl5pPr marL="1828800" algn="l" rtl="0" fontAlgn="base">
      <a:spcBef>
        <a:spcPct val="0"/>
      </a:spcBef>
      <a:spcAft>
        <a:spcPct val="0"/>
      </a:spcAft>
      <a:defRPr kern="1200">
        <a:solidFill>
          <a:schemeClr val="tx1"/>
        </a:solidFill>
        <a:latin typeface="Arial" pitchFamily="34" charset="0"/>
        <a:ea typeface="宋体" pitchFamily="2" charset="-122"/>
        <a:cs typeface="+mn-cs"/>
      </a:defRPr>
    </a:lvl5pPr>
    <a:lvl6pPr marL="2286000" algn="l" defTabSz="914400" rtl="0" eaLnBrk="1" latinLnBrk="0" hangingPunct="1">
      <a:defRPr kern="1200">
        <a:solidFill>
          <a:schemeClr val="tx1"/>
        </a:solidFill>
        <a:latin typeface="Arial" pitchFamily="34" charset="0"/>
        <a:ea typeface="宋体" pitchFamily="2" charset="-122"/>
        <a:cs typeface="+mn-cs"/>
      </a:defRPr>
    </a:lvl6pPr>
    <a:lvl7pPr marL="2743200" algn="l" defTabSz="914400" rtl="0" eaLnBrk="1" latinLnBrk="0" hangingPunct="1">
      <a:defRPr kern="1200">
        <a:solidFill>
          <a:schemeClr val="tx1"/>
        </a:solidFill>
        <a:latin typeface="Arial" pitchFamily="34" charset="0"/>
        <a:ea typeface="宋体" pitchFamily="2" charset="-122"/>
        <a:cs typeface="+mn-cs"/>
      </a:defRPr>
    </a:lvl7pPr>
    <a:lvl8pPr marL="3200400" algn="l" defTabSz="914400" rtl="0" eaLnBrk="1" latinLnBrk="0" hangingPunct="1">
      <a:defRPr kern="1200">
        <a:solidFill>
          <a:schemeClr val="tx1"/>
        </a:solidFill>
        <a:latin typeface="Arial" pitchFamily="34" charset="0"/>
        <a:ea typeface="宋体" pitchFamily="2" charset="-122"/>
        <a:cs typeface="+mn-cs"/>
      </a:defRPr>
    </a:lvl8pPr>
    <a:lvl9pPr marL="3657600" algn="l" defTabSz="914400" rtl="0" eaLnBrk="1" latinLnBrk="0" hangingPunct="1">
      <a:defRPr kern="1200">
        <a:solidFill>
          <a:schemeClr val="tx1"/>
        </a:solidFill>
        <a:latin typeface="Arial" pitchFamily="34" charset="0"/>
        <a:ea typeface="宋体" pitchFamily="2"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66"/>
    <a:srgbClr val="FFFF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75" autoAdjust="0"/>
    <p:restoredTop sz="94660"/>
  </p:normalViewPr>
  <p:slideViewPr>
    <p:cSldViewPr>
      <p:cViewPr varScale="1">
        <p:scale>
          <a:sx n="78" d="100"/>
          <a:sy n="78" d="100"/>
        </p:scale>
        <p:origin x="-662"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C8F76F8-634E-4363-BCC7-499A5EFF6F0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B81C5D9-9D10-4F1C-A694-56B400A88D98}"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14151F5-53CE-4EF4-9301-8F84674467D7}"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02BF4BE4-8DDC-4FC4-A9D0-B1E2B2423BB2}"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62B84964-6520-4F4A-8B6D-6CB7FA6C1414}"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78C87414-2623-4375-8580-75D9FFD42564}"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15BAC064-5A29-42FB-8CE3-23F49C30E858}"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EC73FA81-F0E0-440E-ACD5-005DE0E405F0}"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6038B57B-7582-4DA4-9EB6-D98CE1FEDC61}"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9CAFE763-BD79-4551-A87A-FFCA5347109C}"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5E55353-7D61-4E06-A7B0-3A1A475E1FD4}" type="slidenum">
              <a:rPr lang="en-US" altLang="zh-CN"/>
              <a:pPr>
                <a:defRPr/>
              </a:pPr>
              <a:t>‹#›</a:t>
            </a:fld>
            <a:endParaRPr lang="en-US" alt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15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2A3D4987-7FD1-414A-916E-3D401D5222B4}"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0066"/>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atin typeface="Arial" charset="0"/>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atin typeface="Arial" charset="0"/>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atin typeface="Arial" charset="0"/>
              </a:defRPr>
            </a:lvl1pPr>
          </a:lstStyle>
          <a:p>
            <a:pPr>
              <a:defRPr/>
            </a:pPr>
            <a:fld id="{3A7E8A0F-774C-4472-AB06-A5F4604B8097}"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ea typeface="宋体" pitchFamily="2" charset="-122"/>
        </a:defRPr>
      </a:lvl2pPr>
      <a:lvl3pPr algn="ctr" rtl="0" eaLnBrk="0" fontAlgn="base" hangingPunct="0">
        <a:spcBef>
          <a:spcPct val="0"/>
        </a:spcBef>
        <a:spcAft>
          <a:spcPct val="0"/>
        </a:spcAft>
        <a:defRPr sz="4400">
          <a:solidFill>
            <a:schemeClr val="tx2"/>
          </a:solidFill>
          <a:latin typeface="Arial" charset="0"/>
          <a:ea typeface="宋体" pitchFamily="2" charset="-122"/>
        </a:defRPr>
      </a:lvl3pPr>
      <a:lvl4pPr algn="ctr" rtl="0" eaLnBrk="0" fontAlgn="base" hangingPunct="0">
        <a:spcBef>
          <a:spcPct val="0"/>
        </a:spcBef>
        <a:spcAft>
          <a:spcPct val="0"/>
        </a:spcAft>
        <a:defRPr sz="4400">
          <a:solidFill>
            <a:schemeClr val="tx2"/>
          </a:solidFill>
          <a:latin typeface="Arial" charset="0"/>
          <a:ea typeface="宋体" pitchFamily="2" charset="-122"/>
        </a:defRPr>
      </a:lvl4pPr>
      <a:lvl5pPr algn="ctr" rtl="0" eaLnBrk="0" fontAlgn="base" hangingPunct="0">
        <a:spcBef>
          <a:spcPct val="0"/>
        </a:spcBef>
        <a:spcAft>
          <a:spcPct val="0"/>
        </a:spcAft>
        <a:defRPr sz="4400">
          <a:solidFill>
            <a:schemeClr val="tx2"/>
          </a:solidFill>
          <a:latin typeface="Arial" charset="0"/>
          <a:ea typeface="宋体" pitchFamily="2" charset="-122"/>
        </a:defRPr>
      </a:lvl5pPr>
      <a:lvl6pPr marL="457200" algn="ctr" rtl="0" fontAlgn="base">
        <a:spcBef>
          <a:spcPct val="0"/>
        </a:spcBef>
        <a:spcAft>
          <a:spcPct val="0"/>
        </a:spcAft>
        <a:defRPr sz="4400">
          <a:solidFill>
            <a:schemeClr val="tx2"/>
          </a:solidFill>
          <a:latin typeface="Arial" charset="0"/>
          <a:ea typeface="宋体" pitchFamily="2" charset="-122"/>
        </a:defRPr>
      </a:lvl6pPr>
      <a:lvl7pPr marL="914400" algn="ctr" rtl="0" fontAlgn="base">
        <a:spcBef>
          <a:spcPct val="0"/>
        </a:spcBef>
        <a:spcAft>
          <a:spcPct val="0"/>
        </a:spcAft>
        <a:defRPr sz="4400">
          <a:solidFill>
            <a:schemeClr val="tx2"/>
          </a:solidFill>
          <a:latin typeface="Arial" charset="0"/>
          <a:ea typeface="宋体" pitchFamily="2" charset="-122"/>
        </a:defRPr>
      </a:lvl7pPr>
      <a:lvl8pPr marL="1371600" algn="ctr" rtl="0" fontAlgn="base">
        <a:spcBef>
          <a:spcPct val="0"/>
        </a:spcBef>
        <a:spcAft>
          <a:spcPct val="0"/>
        </a:spcAft>
        <a:defRPr sz="4400">
          <a:solidFill>
            <a:schemeClr val="tx2"/>
          </a:solidFill>
          <a:latin typeface="Arial" charset="0"/>
          <a:ea typeface="宋体" pitchFamily="2" charset="-122"/>
        </a:defRPr>
      </a:lvl8pPr>
      <a:lvl9pPr marL="1828800" algn="ctr" rtl="0" fontAlgn="base">
        <a:spcBef>
          <a:spcPct val="0"/>
        </a:spcBef>
        <a:spcAft>
          <a:spcPct val="0"/>
        </a:spcAft>
        <a:defRPr sz="4400">
          <a:solidFill>
            <a:schemeClr val="tx2"/>
          </a:solidFill>
          <a:latin typeface="Arial" charset="0"/>
          <a:ea typeface="宋体" pitchFamily="2" charset="-122"/>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ea typeface="+mn-ea"/>
        </a:defRPr>
      </a:lvl2pPr>
      <a:lvl3pPr marL="1143000" indent="-228600" algn="l" rtl="0" eaLnBrk="0" fontAlgn="base" hangingPunct="0">
        <a:spcBef>
          <a:spcPct val="20000"/>
        </a:spcBef>
        <a:spcAft>
          <a:spcPct val="0"/>
        </a:spcAft>
        <a:buChar char="•"/>
        <a:defRPr sz="2400">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mn-lt"/>
          <a:ea typeface="+mn-ea"/>
        </a:defRPr>
      </a:lvl4pPr>
      <a:lvl5pPr marL="2057400" indent="-228600" algn="l" rtl="0" eaLnBrk="0" fontAlgn="base" hangingPunct="0">
        <a:spcBef>
          <a:spcPct val="20000"/>
        </a:spcBef>
        <a:spcAft>
          <a:spcPct val="0"/>
        </a:spcAft>
        <a:buChar char="»"/>
        <a:defRPr sz="2000">
          <a:solidFill>
            <a:schemeClr val="tx1"/>
          </a:solidFill>
          <a:latin typeface="+mn-lt"/>
          <a:ea typeface="+mn-ea"/>
        </a:defRPr>
      </a:lvl5pPr>
      <a:lvl6pPr marL="2514600" indent="-228600" algn="l" rtl="0" fontAlgn="base">
        <a:spcBef>
          <a:spcPct val="20000"/>
        </a:spcBef>
        <a:spcAft>
          <a:spcPct val="0"/>
        </a:spcAft>
        <a:buChar char="»"/>
        <a:defRPr sz="2000">
          <a:solidFill>
            <a:schemeClr val="tx1"/>
          </a:solidFill>
          <a:latin typeface="+mn-lt"/>
          <a:ea typeface="+mn-ea"/>
        </a:defRPr>
      </a:lvl6pPr>
      <a:lvl7pPr marL="2971800" indent="-228600" algn="l" rtl="0" fontAlgn="base">
        <a:spcBef>
          <a:spcPct val="20000"/>
        </a:spcBef>
        <a:spcAft>
          <a:spcPct val="0"/>
        </a:spcAft>
        <a:buChar char="»"/>
        <a:defRPr sz="2000">
          <a:solidFill>
            <a:schemeClr val="tx1"/>
          </a:solidFill>
          <a:latin typeface="+mn-lt"/>
          <a:ea typeface="+mn-ea"/>
        </a:defRPr>
      </a:lvl7pPr>
      <a:lvl8pPr marL="3429000" indent="-228600" algn="l" rtl="0" fontAlgn="base">
        <a:spcBef>
          <a:spcPct val="20000"/>
        </a:spcBef>
        <a:spcAft>
          <a:spcPct val="0"/>
        </a:spcAft>
        <a:buChar char="»"/>
        <a:defRPr sz="2000">
          <a:solidFill>
            <a:schemeClr val="tx1"/>
          </a:solidFill>
          <a:latin typeface="+mn-lt"/>
          <a:ea typeface="+mn-ea"/>
        </a:defRPr>
      </a:lvl8pPr>
      <a:lvl9pPr marL="3886200" indent="-228600" algn="l" rtl="0" fontAlgn="base">
        <a:spcBef>
          <a:spcPct val="20000"/>
        </a:spcBef>
        <a:spcAft>
          <a:spcPct val="0"/>
        </a:spcAft>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slide" Target="slide6.xml"/><Relationship Id="rId2" Type="http://schemas.openxmlformats.org/officeDocument/2006/relationships/slide" Target="slide5.xml"/><Relationship Id="rId1" Type="http://schemas.openxmlformats.org/officeDocument/2006/relationships/slideLayout" Target="../slideLayouts/slideLayout2.xml"/><Relationship Id="rId4" Type="http://schemas.openxmlformats.org/officeDocument/2006/relationships/slide" Target="slide8.xml"/></Relationships>
</file>

<file path=ppt/slides/_rels/slide5.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slide" Target="slide16.xml"/><Relationship Id="rId2" Type="http://schemas.openxmlformats.org/officeDocument/2006/relationships/slide" Target="slide15.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slide" Target="slide20.xml"/><Relationship Id="rId4" Type="http://schemas.openxmlformats.org/officeDocument/2006/relationships/slide" Target="slide19.xml"/></Relationships>
</file>

<file path=ppt/slides/_rels/slide15.xml.rels><?xml version="1.0" encoding="UTF-8" standalone="yes"?>
<Relationships xmlns="http://schemas.openxmlformats.org/package/2006/relationships"><Relationship Id="rId2" Type="http://schemas.openxmlformats.org/officeDocument/2006/relationships/slide" Target="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8.jpe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9.jpe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slide" Target="slide28.xml"/><Relationship Id="rId2" Type="http://schemas.openxmlformats.org/officeDocument/2006/relationships/slide" Target="slide27.xml"/><Relationship Id="rId1" Type="http://schemas.openxmlformats.org/officeDocument/2006/relationships/slideLayout" Target="../slideLayouts/slideLayout2.xml"/><Relationship Id="rId5" Type="http://schemas.openxmlformats.org/officeDocument/2006/relationships/slide" Target="slide31.xml"/><Relationship Id="rId4" Type="http://schemas.openxmlformats.org/officeDocument/2006/relationships/slide" Target="slide29.xml"/></Relationships>
</file>

<file path=ppt/slides/_rels/slide27.xml.rels><?xml version="1.0" encoding="UTF-8" standalone="yes"?>
<Relationships xmlns="http://schemas.openxmlformats.org/package/2006/relationships"><Relationship Id="rId2" Type="http://schemas.openxmlformats.org/officeDocument/2006/relationships/slide" Target="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slide" Target="slide26.xml"/><Relationship Id="rId2" Type="http://schemas.openxmlformats.org/officeDocument/2006/relationships/image" Target="../media/image14.jpeg"/><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11188" y="2636838"/>
            <a:ext cx="7772400" cy="2232025"/>
          </a:xfrm>
        </p:spPr>
        <p:txBody>
          <a:bodyPr/>
          <a:lstStyle/>
          <a:p>
            <a:pPr eaLnBrk="1" hangingPunct="1"/>
            <a:r>
              <a:rPr lang="zh-CN" altLang="en-US" sz="3600" smtClean="0">
                <a:solidFill>
                  <a:schemeClr val="bg1"/>
                </a:solidFill>
                <a:latin typeface="黑体" pitchFamily="49" charset="-122"/>
                <a:ea typeface="黑体" pitchFamily="49" charset="-122"/>
              </a:rPr>
              <a:t>第</a:t>
            </a:r>
            <a:r>
              <a:rPr lang="en-US" altLang="zh-CN" sz="3600" smtClean="0">
                <a:solidFill>
                  <a:schemeClr val="bg1"/>
                </a:solidFill>
                <a:latin typeface="黑体" pitchFamily="49" charset="-122"/>
                <a:ea typeface="黑体" pitchFamily="49" charset="-122"/>
              </a:rPr>
              <a:t>3</a:t>
            </a:r>
            <a:r>
              <a:rPr lang="zh-CN" altLang="en-US" sz="3600" smtClean="0">
                <a:solidFill>
                  <a:schemeClr val="bg1"/>
                </a:solidFill>
                <a:latin typeface="黑体" pitchFamily="49" charset="-122"/>
                <a:ea typeface="黑体" pitchFamily="49" charset="-122"/>
              </a:rPr>
              <a:t>章  区 位 理 论</a:t>
            </a:r>
            <a:r>
              <a:rPr lang="en-US" altLang="zh-CN" sz="3600" smtClean="0">
                <a:solidFill>
                  <a:schemeClr val="bg1"/>
                </a:solidFill>
                <a:latin typeface="黑体" pitchFamily="49" charset="-122"/>
                <a:ea typeface="黑体" pitchFamily="49" charset="-122"/>
              </a:rPr>
              <a:t/>
            </a:r>
            <a:br>
              <a:rPr lang="en-US" altLang="zh-CN" sz="3600" smtClean="0">
                <a:solidFill>
                  <a:schemeClr val="bg1"/>
                </a:solidFill>
                <a:latin typeface="黑体" pitchFamily="49" charset="-122"/>
                <a:ea typeface="黑体" pitchFamily="49" charset="-122"/>
              </a:rPr>
            </a:br>
            <a:r>
              <a:rPr lang="en-US" altLang="zh-CN" sz="3600" smtClean="0">
                <a:solidFill>
                  <a:schemeClr val="bg1"/>
                </a:solidFill>
                <a:latin typeface="黑体" pitchFamily="49" charset="-122"/>
                <a:ea typeface="黑体" pitchFamily="49" charset="-122"/>
              </a:rPr>
              <a:t/>
            </a:r>
            <a:br>
              <a:rPr lang="en-US" altLang="zh-CN" sz="3600" smtClean="0">
                <a:solidFill>
                  <a:schemeClr val="bg1"/>
                </a:solidFill>
                <a:latin typeface="黑体" pitchFamily="49" charset="-122"/>
                <a:ea typeface="黑体" pitchFamily="49" charset="-122"/>
              </a:rPr>
            </a:br>
            <a:r>
              <a:rPr lang="zh-CN" altLang="en-US" sz="3600" smtClean="0">
                <a:solidFill>
                  <a:schemeClr val="bg1"/>
                </a:solidFill>
                <a:latin typeface="黑体" pitchFamily="49" charset="-122"/>
                <a:ea typeface="黑体" pitchFamily="49" charset="-122"/>
              </a:rPr>
              <a:t>第</a:t>
            </a:r>
            <a:r>
              <a:rPr lang="en-US" altLang="zh-CN" sz="3600" smtClean="0">
                <a:solidFill>
                  <a:schemeClr val="bg1"/>
                </a:solidFill>
                <a:latin typeface="黑体" pitchFamily="49" charset="-122"/>
                <a:ea typeface="黑体" pitchFamily="49" charset="-122"/>
              </a:rPr>
              <a:t>1</a:t>
            </a:r>
            <a:r>
              <a:rPr lang="zh-CN" altLang="en-US" sz="3600" smtClean="0">
                <a:solidFill>
                  <a:schemeClr val="bg1"/>
                </a:solidFill>
                <a:latin typeface="黑体" pitchFamily="49" charset="-122"/>
                <a:ea typeface="黑体" pitchFamily="49" charset="-122"/>
              </a:rPr>
              <a:t>节  古典农业与工业区位论</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3"/>
          <p:cNvSpPr>
            <a:spLocks noGrp="1" noChangeArrowheads="1"/>
          </p:cNvSpPr>
          <p:nvPr>
            <p:ph type="body" idx="1"/>
          </p:nvPr>
        </p:nvSpPr>
        <p:spPr>
          <a:xfrm>
            <a:off x="1619250" y="2133600"/>
            <a:ext cx="6842125" cy="3024188"/>
          </a:xfrm>
        </p:spPr>
        <p:txBody>
          <a:bodyPr/>
          <a:lstStyle/>
          <a:p>
            <a:pPr eaLnBrk="1" hangingPunct="1">
              <a:lnSpc>
                <a:spcPct val="135000"/>
              </a:lnSpc>
              <a:buFontTx/>
              <a:buNone/>
            </a:pPr>
            <a:r>
              <a:rPr lang="zh-CN" altLang="en-US" sz="2400" smtClean="0">
                <a:solidFill>
                  <a:schemeClr val="bg1"/>
                </a:solidFill>
                <a:ea typeface="黑体" pitchFamily="49" charset="-122"/>
              </a:rPr>
              <a:t>一、杜能古典农业区位理论</a:t>
            </a:r>
          </a:p>
          <a:p>
            <a:pPr eaLnBrk="1" hangingPunct="1">
              <a:lnSpc>
                <a:spcPct val="135000"/>
              </a:lnSpc>
              <a:buFontTx/>
              <a:buNone/>
            </a:pPr>
            <a:r>
              <a:rPr lang="zh-CN" altLang="en-US" sz="2400" smtClean="0">
                <a:solidFill>
                  <a:schemeClr val="bg1"/>
                </a:solidFill>
                <a:ea typeface="黑体" pitchFamily="49" charset="-122"/>
              </a:rPr>
              <a:t>二、韦伯工业区位理论</a:t>
            </a:r>
          </a:p>
          <a:p>
            <a:pPr eaLnBrk="1" hangingPunct="1">
              <a:lnSpc>
                <a:spcPct val="135000"/>
              </a:lnSpc>
              <a:buFontTx/>
              <a:buNone/>
            </a:pPr>
            <a:r>
              <a:rPr lang="zh-CN" altLang="en-US" sz="2400" smtClean="0">
                <a:solidFill>
                  <a:schemeClr val="bg1"/>
                </a:solidFill>
                <a:ea typeface="黑体" pitchFamily="49" charset="-122"/>
              </a:rPr>
              <a:t>三、霍特林区位相互依赖学派</a:t>
            </a:r>
          </a:p>
          <a:p>
            <a:pPr eaLnBrk="1" hangingPunct="1">
              <a:lnSpc>
                <a:spcPct val="135000"/>
              </a:lnSpc>
              <a:buFontTx/>
              <a:buNone/>
            </a:pPr>
            <a:r>
              <a:rPr lang="zh-CN" altLang="en-US" sz="2400" smtClean="0">
                <a:solidFill>
                  <a:schemeClr val="bg1"/>
                </a:solidFill>
                <a:ea typeface="黑体" pitchFamily="49" charset="-122"/>
              </a:rPr>
              <a:t>四、帕兰德区位理论</a:t>
            </a:r>
            <a:endParaRPr lang="en-US" altLang="zh-CN" sz="2400" smtClean="0">
              <a:solidFill>
                <a:schemeClr val="bg1"/>
              </a:solidFill>
              <a:ea typeface="黑体" pitchFamily="49" charset="-122"/>
            </a:endParaRPr>
          </a:p>
          <a:p>
            <a:pPr eaLnBrk="1" hangingPunct="1">
              <a:lnSpc>
                <a:spcPct val="135000"/>
              </a:lnSpc>
              <a:buFontTx/>
              <a:buNone/>
            </a:pPr>
            <a:r>
              <a:rPr lang="zh-CN" altLang="en-US" sz="2400" smtClean="0">
                <a:solidFill>
                  <a:schemeClr val="bg1"/>
                </a:solidFill>
                <a:ea typeface="黑体" pitchFamily="49" charset="-122"/>
              </a:rPr>
              <a:t>五、胡佛经济区位论</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468313" y="836613"/>
            <a:ext cx="8229600" cy="706437"/>
          </a:xfrm>
        </p:spPr>
        <p:txBody>
          <a:bodyPr/>
          <a:lstStyle/>
          <a:p>
            <a:pPr algn="l" eaLnBrk="1" hangingPunct="1"/>
            <a:r>
              <a:rPr lang="zh-CN" altLang="en-US" sz="3200" smtClean="0">
                <a:solidFill>
                  <a:schemeClr val="bg1"/>
                </a:solidFill>
                <a:ea typeface="黑体" pitchFamily="49" charset="-122"/>
              </a:rPr>
              <a:t>一、杜能古典农业区位理论</a:t>
            </a:r>
          </a:p>
        </p:txBody>
      </p:sp>
      <p:sp>
        <p:nvSpPr>
          <p:cNvPr id="4099" name="Rectangle 3"/>
          <p:cNvSpPr>
            <a:spLocks noGrp="1" noChangeArrowheads="1"/>
          </p:cNvSpPr>
          <p:nvPr>
            <p:ph type="body" idx="1"/>
          </p:nvPr>
        </p:nvSpPr>
        <p:spPr>
          <a:xfrm>
            <a:off x="468313" y="1916113"/>
            <a:ext cx="8229600" cy="3959225"/>
          </a:xfrm>
        </p:spPr>
        <p:txBody>
          <a:bodyPr/>
          <a:lstStyle/>
          <a:p>
            <a:pPr eaLnBrk="1" hangingPunct="1">
              <a:lnSpc>
                <a:spcPct val="135000"/>
              </a:lnSpc>
              <a:buFontTx/>
              <a:buNone/>
            </a:pPr>
            <a:r>
              <a:rPr lang="zh-CN" altLang="en-US" smtClean="0">
                <a:solidFill>
                  <a:schemeClr val="bg1"/>
                </a:solidFill>
                <a:latin typeface="黑体" pitchFamily="49" charset="-122"/>
                <a:ea typeface="黑体" pitchFamily="49" charset="-122"/>
              </a:rPr>
              <a:t>（一）背景及中心思想</a:t>
            </a:r>
          </a:p>
          <a:p>
            <a:pPr eaLnBrk="1" hangingPunct="1">
              <a:lnSpc>
                <a:spcPct val="135000"/>
              </a:lnSpc>
              <a:buFontTx/>
              <a:buNone/>
            </a:pPr>
            <a:r>
              <a:rPr lang="zh-CN" altLang="en-US" smtClean="0">
                <a:solidFill>
                  <a:schemeClr val="bg1"/>
                </a:solidFill>
                <a:latin typeface="黑体" pitchFamily="49" charset="-122"/>
                <a:ea typeface="黑体" pitchFamily="49" charset="-122"/>
              </a:rPr>
              <a:t>  </a:t>
            </a:r>
            <a:r>
              <a:rPr lang="en-US" altLang="zh-CN" smtClean="0">
                <a:solidFill>
                  <a:schemeClr val="bg1"/>
                </a:solidFill>
                <a:latin typeface="黑体" pitchFamily="49" charset="-122"/>
                <a:ea typeface="黑体" pitchFamily="49" charset="-122"/>
              </a:rPr>
              <a:t>1.</a:t>
            </a:r>
            <a:r>
              <a:rPr lang="zh-CN" altLang="en-US" smtClean="0">
                <a:solidFill>
                  <a:schemeClr val="bg1"/>
                </a:solidFill>
                <a:latin typeface="黑体" pitchFamily="49" charset="-122"/>
                <a:ea typeface="黑体" pitchFamily="49" charset="-122"/>
              </a:rPr>
              <a:t>背景</a:t>
            </a:r>
          </a:p>
          <a:p>
            <a:pPr eaLnBrk="1" hangingPunct="1">
              <a:lnSpc>
                <a:spcPct val="135000"/>
              </a:lnSpc>
              <a:buFontTx/>
              <a:buNone/>
            </a:pPr>
            <a:r>
              <a:rPr lang="zh-CN" altLang="en-US" smtClean="0">
                <a:solidFill>
                  <a:schemeClr val="bg1"/>
                </a:solidFill>
                <a:latin typeface="黑体" pitchFamily="49" charset="-122"/>
                <a:ea typeface="黑体" pitchFamily="49" charset="-122"/>
              </a:rPr>
              <a:t>  </a:t>
            </a:r>
            <a:r>
              <a:rPr lang="en-US" altLang="zh-CN" smtClean="0">
                <a:solidFill>
                  <a:schemeClr val="bg1"/>
                </a:solidFill>
                <a:latin typeface="黑体" pitchFamily="49" charset="-122"/>
                <a:ea typeface="黑体" pitchFamily="49" charset="-122"/>
              </a:rPr>
              <a:t>2.</a:t>
            </a:r>
            <a:r>
              <a:rPr lang="zh-CN" altLang="en-US" smtClean="0">
                <a:solidFill>
                  <a:schemeClr val="bg1"/>
                </a:solidFill>
                <a:latin typeface="黑体" pitchFamily="49" charset="-122"/>
                <a:ea typeface="黑体" pitchFamily="49" charset="-122"/>
              </a:rPr>
              <a:t>中心思想：农作物的分布或布局是由距离市场远近决定的，由生产地到销售地（市场）所需运费决定的。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099">
                                            <p:txEl>
                                              <p:pRg st="0" end="0"/>
                                            </p:txEl>
                                          </p:spTgt>
                                        </p:tgtEl>
                                        <p:attrNameLst>
                                          <p:attrName>style.visibility</p:attrName>
                                        </p:attrNameLst>
                                      </p:cBhvr>
                                      <p:to>
                                        <p:strVal val="visible"/>
                                      </p:to>
                                    </p:set>
                                    <p:anim calcmode="lin" valueType="num">
                                      <p:cBhvr additive="base">
                                        <p:cTn id="7" dur="500" fill="hold"/>
                                        <p:tgtEl>
                                          <p:spTgt spid="40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0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099">
                                            <p:txEl>
                                              <p:pRg st="1" end="1"/>
                                            </p:txEl>
                                          </p:spTgt>
                                        </p:tgtEl>
                                        <p:attrNameLst>
                                          <p:attrName>style.visibility</p:attrName>
                                        </p:attrNameLst>
                                      </p:cBhvr>
                                      <p:to>
                                        <p:strVal val="visible"/>
                                      </p:to>
                                    </p:set>
                                    <p:anim calcmode="lin" valueType="num">
                                      <p:cBhvr additive="base">
                                        <p:cTn id="13" dur="500" fill="hold"/>
                                        <p:tgtEl>
                                          <p:spTgt spid="4099">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4099">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4099">
                                            <p:txEl>
                                              <p:pRg st="2" end="2"/>
                                            </p:txEl>
                                          </p:spTgt>
                                        </p:tgtEl>
                                        <p:attrNameLst>
                                          <p:attrName>style.visibility</p:attrName>
                                        </p:attrNameLst>
                                      </p:cBhvr>
                                      <p:to>
                                        <p:strVal val="visible"/>
                                      </p:to>
                                    </p:set>
                                    <p:anim calcmode="lin" valueType="num">
                                      <p:cBhvr additive="base">
                                        <p:cTn id="19" dur="500" fill="hold"/>
                                        <p:tgtEl>
                                          <p:spTgt spid="4099">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099">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9"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a:xfrm>
            <a:off x="395288" y="476250"/>
            <a:ext cx="8229600" cy="777875"/>
          </a:xfrm>
        </p:spPr>
        <p:txBody>
          <a:bodyPr/>
          <a:lstStyle/>
          <a:p>
            <a:pPr algn="l" eaLnBrk="1" hangingPunct="1"/>
            <a:r>
              <a:rPr lang="zh-CN" altLang="en-US" sz="3600" smtClean="0">
                <a:solidFill>
                  <a:srgbClr val="FFFF00"/>
                </a:solidFill>
                <a:ea typeface="黑体" pitchFamily="49" charset="-122"/>
              </a:rPr>
              <a:t>（二）杜能农业区位理论内容</a:t>
            </a:r>
          </a:p>
        </p:txBody>
      </p:sp>
      <p:sp>
        <p:nvSpPr>
          <p:cNvPr id="5123" name="Rectangle 3"/>
          <p:cNvSpPr>
            <a:spLocks noGrp="1" noChangeArrowheads="1"/>
          </p:cNvSpPr>
          <p:nvPr>
            <p:ph type="body" idx="1"/>
          </p:nvPr>
        </p:nvSpPr>
        <p:spPr>
          <a:xfrm>
            <a:off x="971550" y="1341438"/>
            <a:ext cx="7570788" cy="5000625"/>
          </a:xfrm>
        </p:spPr>
        <p:txBody>
          <a:bodyPr/>
          <a:lstStyle/>
          <a:p>
            <a:pPr eaLnBrk="1" hangingPunct="1">
              <a:lnSpc>
                <a:spcPct val="120000"/>
              </a:lnSpc>
              <a:buFontTx/>
              <a:buNone/>
            </a:pPr>
            <a:r>
              <a:rPr lang="en-US" altLang="zh-CN" smtClean="0"/>
              <a:t>  </a:t>
            </a:r>
            <a:r>
              <a:rPr lang="en-US" altLang="zh-CN" sz="2800" smtClean="0">
                <a:solidFill>
                  <a:srgbClr val="FFFF00"/>
                </a:solidFill>
                <a:latin typeface="Times New Roman" pitchFamily="18" charset="0"/>
                <a:ea typeface="黑体" pitchFamily="49" charset="-122"/>
              </a:rPr>
              <a:t>1. </a:t>
            </a:r>
            <a:r>
              <a:rPr lang="zh-CN" altLang="en-US" sz="2800" smtClean="0">
                <a:solidFill>
                  <a:srgbClr val="FFFF00"/>
                </a:solidFill>
                <a:latin typeface="Times New Roman" pitchFamily="18" charset="0"/>
                <a:ea typeface="黑体" pitchFamily="49" charset="-122"/>
                <a:hlinkClick r:id="rId2" action="ppaction://hlinksldjump"/>
              </a:rPr>
              <a:t>假设条件</a:t>
            </a:r>
            <a:endParaRPr lang="zh-CN" altLang="en-US" sz="2800" smtClean="0">
              <a:solidFill>
                <a:srgbClr val="FFFF00"/>
              </a:solidFill>
              <a:latin typeface="Times New Roman" pitchFamily="18" charset="0"/>
              <a:ea typeface="黑体" pitchFamily="49" charset="-122"/>
            </a:endParaRPr>
          </a:p>
          <a:p>
            <a:pPr eaLnBrk="1" hangingPunct="1">
              <a:lnSpc>
                <a:spcPct val="120000"/>
              </a:lnSpc>
              <a:buFontTx/>
              <a:buNone/>
            </a:pPr>
            <a:r>
              <a:rPr lang="zh-CN" altLang="en-US" sz="2800" smtClean="0">
                <a:solidFill>
                  <a:schemeClr val="bg1"/>
                </a:solidFill>
                <a:latin typeface="Times New Roman" pitchFamily="18" charset="0"/>
                <a:ea typeface="黑体" pitchFamily="49" charset="-122"/>
              </a:rPr>
              <a:t>  </a:t>
            </a:r>
            <a:r>
              <a:rPr lang="en-US" altLang="zh-CN" sz="2800" smtClean="0">
                <a:solidFill>
                  <a:srgbClr val="FFFF00"/>
                </a:solidFill>
                <a:latin typeface="Times New Roman" pitchFamily="18" charset="0"/>
                <a:ea typeface="黑体" pitchFamily="49" charset="-122"/>
              </a:rPr>
              <a:t>2. </a:t>
            </a:r>
            <a:r>
              <a:rPr lang="zh-CN" altLang="en-US" sz="2800" smtClean="0">
                <a:solidFill>
                  <a:srgbClr val="FFFF00"/>
                </a:solidFill>
                <a:latin typeface="Times New Roman" pitchFamily="18" charset="0"/>
                <a:ea typeface="黑体" pitchFamily="49" charset="-122"/>
                <a:hlinkClick r:id="rId3" action="ppaction://hlinksldjump"/>
              </a:rPr>
              <a:t>结论</a:t>
            </a:r>
            <a:r>
              <a:rPr lang="zh-CN" altLang="en-US" sz="2800" smtClean="0">
                <a:solidFill>
                  <a:schemeClr val="bg1"/>
                </a:solidFill>
                <a:latin typeface="Times New Roman" pitchFamily="18" charset="0"/>
                <a:ea typeface="黑体" pitchFamily="49" charset="-122"/>
              </a:rPr>
              <a:t>：在孤立国内，农业生产布局围绕市场（城市）呈同心圈有规律的布局</a:t>
            </a:r>
          </a:p>
          <a:p>
            <a:pPr eaLnBrk="1" hangingPunct="1">
              <a:lnSpc>
                <a:spcPct val="120000"/>
              </a:lnSpc>
              <a:buFontTx/>
              <a:buNone/>
            </a:pPr>
            <a:r>
              <a:rPr lang="zh-CN" altLang="en-US" sz="2800" smtClean="0">
                <a:solidFill>
                  <a:schemeClr val="bg1"/>
                </a:solidFill>
                <a:latin typeface="Times New Roman" pitchFamily="18" charset="0"/>
                <a:ea typeface="黑体" pitchFamily="49" charset="-122"/>
              </a:rPr>
              <a:t>    自由农作区、林业区、轮作农业区、谷草轮作区、三圃轮作区、畜牧业区；</a:t>
            </a:r>
          </a:p>
          <a:p>
            <a:pPr eaLnBrk="1" hangingPunct="1">
              <a:lnSpc>
                <a:spcPct val="120000"/>
              </a:lnSpc>
              <a:buFontTx/>
              <a:buNone/>
            </a:pPr>
            <a:r>
              <a:rPr lang="zh-CN" altLang="en-US" sz="2800" smtClean="0">
                <a:solidFill>
                  <a:schemeClr val="bg1"/>
                </a:solidFill>
                <a:latin typeface="Times New Roman" pitchFamily="18" charset="0"/>
                <a:ea typeface="黑体" pitchFamily="49" charset="-122"/>
              </a:rPr>
              <a:t>  </a:t>
            </a:r>
            <a:r>
              <a:rPr lang="en-US" altLang="zh-CN" sz="2800" smtClean="0">
                <a:solidFill>
                  <a:srgbClr val="FFFF00"/>
                </a:solidFill>
                <a:latin typeface="Times New Roman" pitchFamily="18" charset="0"/>
                <a:ea typeface="黑体" pitchFamily="49" charset="-122"/>
              </a:rPr>
              <a:t>3. </a:t>
            </a:r>
            <a:r>
              <a:rPr lang="zh-CN" altLang="en-US" sz="2800" smtClean="0">
                <a:solidFill>
                  <a:srgbClr val="FFFF00"/>
                </a:solidFill>
                <a:latin typeface="Times New Roman" pitchFamily="18" charset="0"/>
                <a:ea typeface="黑体" pitchFamily="49" charset="-122"/>
              </a:rPr>
              <a:t>产生原理</a:t>
            </a:r>
          </a:p>
          <a:p>
            <a:pPr eaLnBrk="1" hangingPunct="1">
              <a:lnSpc>
                <a:spcPct val="120000"/>
              </a:lnSpc>
              <a:buFontTx/>
              <a:buNone/>
            </a:pPr>
            <a:r>
              <a:rPr lang="zh-CN" altLang="en-US" sz="2800" smtClean="0">
                <a:solidFill>
                  <a:schemeClr val="bg1"/>
                </a:solidFill>
                <a:latin typeface="Times New Roman" pitchFamily="18" charset="0"/>
                <a:ea typeface="黑体" pitchFamily="49" charset="-122"/>
              </a:rPr>
              <a:t>    </a:t>
            </a:r>
            <a:r>
              <a:rPr lang="en-US" altLang="zh-CN" sz="2800" smtClean="0">
                <a:solidFill>
                  <a:schemeClr val="bg1"/>
                </a:solidFill>
                <a:latin typeface="Times New Roman" pitchFamily="18" charset="0"/>
                <a:ea typeface="黑体" pitchFamily="49" charset="-122"/>
              </a:rPr>
              <a:t>P = V-( E + T )</a:t>
            </a:r>
          </a:p>
          <a:p>
            <a:pPr eaLnBrk="1" hangingPunct="1">
              <a:lnSpc>
                <a:spcPct val="120000"/>
              </a:lnSpc>
              <a:buFontTx/>
              <a:buNone/>
            </a:pPr>
            <a:r>
              <a:rPr lang="en-US" altLang="zh-CN" sz="2800" smtClean="0">
                <a:solidFill>
                  <a:schemeClr val="bg1"/>
                </a:solidFill>
                <a:latin typeface="Times New Roman" pitchFamily="18" charset="0"/>
                <a:ea typeface="黑体" pitchFamily="49" charset="-122"/>
              </a:rPr>
              <a:t>    P + T = V – E = K</a:t>
            </a:r>
          </a:p>
        </p:txBody>
      </p:sp>
      <p:sp>
        <p:nvSpPr>
          <p:cNvPr id="5124" name="AutoShape 5">
            <a:hlinkClick r:id="rId4" action="ppaction://hlinksldjump"/>
          </p:cNvPr>
          <p:cNvSpPr>
            <a:spLocks noChangeArrowheads="1"/>
          </p:cNvSpPr>
          <p:nvPr/>
        </p:nvSpPr>
        <p:spPr bwMode="auto">
          <a:xfrm>
            <a:off x="8243888" y="5805488"/>
            <a:ext cx="288925" cy="215900"/>
          </a:xfrm>
          <a:prstGeom prst="downArrow">
            <a:avLst>
              <a:gd name="adj1" fmla="val 50000"/>
              <a:gd name="adj2" fmla="val 25000"/>
            </a:avLst>
          </a:prstGeom>
          <a:solidFill>
            <a:srgbClr val="FF00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123">
                                            <p:txEl>
                                              <p:pRg st="0" end="0"/>
                                            </p:txEl>
                                          </p:spTgt>
                                        </p:tgtEl>
                                        <p:attrNameLst>
                                          <p:attrName>style.visibility</p:attrName>
                                        </p:attrNameLst>
                                      </p:cBhvr>
                                      <p:to>
                                        <p:strVal val="visible"/>
                                      </p:to>
                                    </p:set>
                                    <p:anim calcmode="lin" valueType="num">
                                      <p:cBhvr additive="base">
                                        <p:cTn id="7" dur="500" fill="hold"/>
                                        <p:tgtEl>
                                          <p:spTgt spid="51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5123">
                                            <p:txEl>
                                              <p:pRg st="1" end="1"/>
                                            </p:txEl>
                                          </p:spTgt>
                                        </p:tgtEl>
                                        <p:attrNameLst>
                                          <p:attrName>style.visibility</p:attrName>
                                        </p:attrNameLst>
                                      </p:cBhvr>
                                      <p:to>
                                        <p:strVal val="visible"/>
                                      </p:to>
                                    </p:set>
                                    <p:anim calcmode="lin" valueType="num">
                                      <p:cBhvr additive="base">
                                        <p:cTn id="13" dur="500" fill="hold"/>
                                        <p:tgtEl>
                                          <p:spTgt spid="51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5123">
                                            <p:txEl>
                                              <p:pRg st="2" end="2"/>
                                            </p:txEl>
                                          </p:spTgt>
                                        </p:tgtEl>
                                        <p:attrNameLst>
                                          <p:attrName>style.visibility</p:attrName>
                                        </p:attrNameLst>
                                      </p:cBhvr>
                                      <p:to>
                                        <p:strVal val="visible"/>
                                      </p:to>
                                    </p:set>
                                    <p:anim calcmode="lin" valueType="num">
                                      <p:cBhvr additive="base">
                                        <p:cTn id="19" dur="500" fill="hold"/>
                                        <p:tgtEl>
                                          <p:spTgt spid="51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123">
                                            <p:txEl>
                                              <p:pRg st="3" end="3"/>
                                            </p:txEl>
                                          </p:spTgt>
                                        </p:tgtEl>
                                        <p:attrNameLst>
                                          <p:attrName>style.visibility</p:attrName>
                                        </p:attrNameLst>
                                      </p:cBhvr>
                                      <p:to>
                                        <p:strVal val="visible"/>
                                      </p:to>
                                    </p:set>
                                    <p:anim calcmode="lin" valueType="num">
                                      <p:cBhvr additive="base">
                                        <p:cTn id="25" dur="500" fill="hold"/>
                                        <p:tgtEl>
                                          <p:spTgt spid="51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123">
                                            <p:txEl>
                                              <p:pRg st="4" end="4"/>
                                            </p:txEl>
                                          </p:spTgt>
                                        </p:tgtEl>
                                        <p:attrNameLst>
                                          <p:attrName>style.visibility</p:attrName>
                                        </p:attrNameLst>
                                      </p:cBhvr>
                                      <p:to>
                                        <p:strVal val="visible"/>
                                      </p:to>
                                    </p:set>
                                    <p:anim calcmode="lin" valueType="num">
                                      <p:cBhvr additive="base">
                                        <p:cTn id="31" dur="500" fill="hold"/>
                                        <p:tgtEl>
                                          <p:spTgt spid="51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5123">
                                            <p:txEl>
                                              <p:pRg st="5" end="5"/>
                                            </p:txEl>
                                          </p:spTgt>
                                        </p:tgtEl>
                                        <p:attrNameLst>
                                          <p:attrName>style.visibility</p:attrName>
                                        </p:attrNameLst>
                                      </p:cBhvr>
                                      <p:to>
                                        <p:strVal val="visible"/>
                                      </p:to>
                                    </p:set>
                                    <p:anim calcmode="lin" valueType="num">
                                      <p:cBhvr additive="base">
                                        <p:cTn id="37" dur="500" fill="hold"/>
                                        <p:tgtEl>
                                          <p:spTgt spid="51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2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457200" y="476250"/>
            <a:ext cx="8229600" cy="649288"/>
          </a:xfrm>
        </p:spPr>
        <p:txBody>
          <a:bodyPr/>
          <a:lstStyle/>
          <a:p>
            <a:pPr algn="l" eaLnBrk="1" hangingPunct="1"/>
            <a:r>
              <a:rPr lang="en-US" altLang="zh-CN" sz="3200" smtClean="0">
                <a:solidFill>
                  <a:srgbClr val="FFFF00"/>
                </a:solidFill>
                <a:latin typeface="黑体" pitchFamily="49" charset="-122"/>
                <a:ea typeface="黑体" pitchFamily="49" charset="-122"/>
              </a:rPr>
              <a:t>1 </a:t>
            </a:r>
            <a:r>
              <a:rPr lang="zh-CN" altLang="en-US" sz="3200" smtClean="0">
                <a:solidFill>
                  <a:srgbClr val="FFFF00"/>
                </a:solidFill>
                <a:latin typeface="黑体" pitchFamily="49" charset="-122"/>
                <a:ea typeface="黑体" pitchFamily="49" charset="-122"/>
              </a:rPr>
              <a:t>假设条件</a:t>
            </a:r>
          </a:p>
        </p:txBody>
      </p:sp>
      <p:sp>
        <p:nvSpPr>
          <p:cNvPr id="52227" name="Rectangle 3"/>
          <p:cNvSpPr>
            <a:spLocks noGrp="1" noChangeArrowheads="1"/>
          </p:cNvSpPr>
          <p:nvPr>
            <p:ph type="body" idx="1"/>
          </p:nvPr>
        </p:nvSpPr>
        <p:spPr>
          <a:xfrm>
            <a:off x="457200" y="1268413"/>
            <a:ext cx="8229600" cy="4857750"/>
          </a:xfrm>
        </p:spPr>
        <p:txBody>
          <a:bodyPr/>
          <a:lstStyle/>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1</a:t>
            </a:r>
            <a:r>
              <a:rPr lang="zh-CN" altLang="en-US" sz="2400" smtClean="0">
                <a:solidFill>
                  <a:schemeClr val="bg1"/>
                </a:solidFill>
                <a:latin typeface="黑体" pitchFamily="49" charset="-122"/>
                <a:ea typeface="黑体" pitchFamily="49" charset="-122"/>
              </a:rPr>
              <a:t>）在一个大平原中央有一个城市；</a:t>
            </a:r>
          </a:p>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2</a:t>
            </a:r>
            <a:r>
              <a:rPr lang="zh-CN" altLang="en-US" sz="2400" smtClean="0">
                <a:solidFill>
                  <a:schemeClr val="bg1"/>
                </a:solidFill>
                <a:latin typeface="黑体" pitchFamily="49" charset="-122"/>
                <a:ea typeface="黑体" pitchFamily="49" charset="-122"/>
              </a:rPr>
              <a:t>）平原中央的城市，是惟一供应工矿产品处，也是农产品惟一的市场。</a:t>
            </a:r>
          </a:p>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3</a:t>
            </a:r>
            <a:r>
              <a:rPr lang="zh-CN" altLang="en-US" sz="2400" smtClean="0">
                <a:solidFill>
                  <a:schemeClr val="bg1"/>
                </a:solidFill>
                <a:latin typeface="黑体" pitchFamily="49" charset="-122"/>
                <a:ea typeface="黑体" pitchFamily="49" charset="-122"/>
              </a:rPr>
              <a:t>）平原中无通航河流，马车是惟一的交通手段，道路直线。</a:t>
            </a:r>
          </a:p>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4</a:t>
            </a:r>
            <a:r>
              <a:rPr lang="zh-CN" altLang="en-US" sz="2400" smtClean="0">
                <a:solidFill>
                  <a:schemeClr val="bg1"/>
                </a:solidFill>
                <a:latin typeface="黑体" pitchFamily="49" charset="-122"/>
                <a:ea typeface="黑体" pitchFamily="49" charset="-122"/>
              </a:rPr>
              <a:t>）农业带是一个肥沃的平原，各地土壤肥力相同，气候条件一样。</a:t>
            </a:r>
          </a:p>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5</a:t>
            </a:r>
            <a:r>
              <a:rPr lang="zh-CN" altLang="en-US" sz="2400" smtClean="0">
                <a:solidFill>
                  <a:schemeClr val="bg1"/>
                </a:solidFill>
                <a:latin typeface="黑体" pitchFamily="49" charset="-122"/>
                <a:ea typeface="黑体" pitchFamily="49" charset="-122"/>
              </a:rPr>
              <a:t>）农业经营的人，工作能力、技术水平相同。</a:t>
            </a:r>
          </a:p>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6</a:t>
            </a:r>
            <a:r>
              <a:rPr lang="zh-CN" altLang="en-US" sz="2400" smtClean="0">
                <a:solidFill>
                  <a:schemeClr val="bg1"/>
                </a:solidFill>
                <a:latin typeface="黑体" pitchFamily="49" charset="-122"/>
                <a:ea typeface="黑体" pitchFamily="49" charset="-122"/>
              </a:rPr>
              <a:t>）市场的谷价、工资、利息都是固定不变。</a:t>
            </a:r>
          </a:p>
          <a:p>
            <a:pPr eaLnBrk="1" hangingPunct="1">
              <a:lnSpc>
                <a:spcPct val="10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7</a:t>
            </a:r>
            <a:r>
              <a:rPr lang="zh-CN" altLang="en-US" sz="2400" smtClean="0">
                <a:solidFill>
                  <a:schemeClr val="bg1"/>
                </a:solidFill>
                <a:latin typeface="黑体" pitchFamily="49" charset="-122"/>
                <a:ea typeface="黑体" pitchFamily="49" charset="-122"/>
              </a:rPr>
              <a:t>）运输费用同运输的重量和距离成一定比例，运费由农业生产者承担。 </a:t>
            </a:r>
          </a:p>
        </p:txBody>
      </p:sp>
      <p:sp>
        <p:nvSpPr>
          <p:cNvPr id="6148" name="AutoShape 4">
            <a:hlinkClick r:id="rId2" action="ppaction://hlinksldjump"/>
          </p:cNvPr>
          <p:cNvSpPr>
            <a:spLocks noChangeArrowheads="1"/>
          </p:cNvSpPr>
          <p:nvPr/>
        </p:nvSpPr>
        <p:spPr bwMode="auto">
          <a:xfrm>
            <a:off x="8459788" y="6237288"/>
            <a:ext cx="288925" cy="287337"/>
          </a:xfrm>
          <a:prstGeom prst="upArrow">
            <a:avLst>
              <a:gd name="adj1" fmla="val 50000"/>
              <a:gd name="adj2" fmla="val 25000"/>
            </a:avLst>
          </a:prstGeom>
          <a:solidFill>
            <a:srgbClr val="FF00FF"/>
          </a:solidFill>
          <a:ln w="9525">
            <a:solidFill>
              <a:schemeClr val="tx1"/>
            </a:solidFill>
            <a:miter lim="800000"/>
            <a:headEnd/>
            <a:tailEnd/>
          </a:ln>
        </p:spPr>
        <p:txBody>
          <a:bodyPr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2227">
                                            <p:txEl>
                                              <p:pRg st="0" end="0"/>
                                            </p:txEl>
                                          </p:spTgt>
                                        </p:tgtEl>
                                        <p:attrNameLst>
                                          <p:attrName>style.visibility</p:attrName>
                                        </p:attrNameLst>
                                      </p:cBhvr>
                                      <p:to>
                                        <p:strVal val="visible"/>
                                      </p:to>
                                    </p:set>
                                    <p:anim calcmode="lin" valueType="num">
                                      <p:cBhvr additive="base">
                                        <p:cTn id="7" dur="500" fill="hold"/>
                                        <p:tgtEl>
                                          <p:spTgt spid="5222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222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2227">
                                            <p:txEl>
                                              <p:pRg st="1" end="1"/>
                                            </p:txEl>
                                          </p:spTgt>
                                        </p:tgtEl>
                                        <p:attrNameLst>
                                          <p:attrName>style.visibility</p:attrName>
                                        </p:attrNameLst>
                                      </p:cBhvr>
                                      <p:to>
                                        <p:strVal val="visible"/>
                                      </p:to>
                                    </p:set>
                                    <p:anim calcmode="lin" valueType="num">
                                      <p:cBhvr additive="base">
                                        <p:cTn id="13" dur="500" fill="hold"/>
                                        <p:tgtEl>
                                          <p:spTgt spid="52227">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222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2227">
                                            <p:txEl>
                                              <p:pRg st="2" end="2"/>
                                            </p:txEl>
                                          </p:spTgt>
                                        </p:tgtEl>
                                        <p:attrNameLst>
                                          <p:attrName>style.visibility</p:attrName>
                                        </p:attrNameLst>
                                      </p:cBhvr>
                                      <p:to>
                                        <p:strVal val="visible"/>
                                      </p:to>
                                    </p:set>
                                    <p:anim calcmode="lin" valueType="num">
                                      <p:cBhvr additive="base">
                                        <p:cTn id="19" dur="500" fill="hold"/>
                                        <p:tgtEl>
                                          <p:spTgt spid="52227">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222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2227">
                                            <p:txEl>
                                              <p:pRg st="3" end="3"/>
                                            </p:txEl>
                                          </p:spTgt>
                                        </p:tgtEl>
                                        <p:attrNameLst>
                                          <p:attrName>style.visibility</p:attrName>
                                        </p:attrNameLst>
                                      </p:cBhvr>
                                      <p:to>
                                        <p:strVal val="visible"/>
                                      </p:to>
                                    </p:set>
                                    <p:anim calcmode="lin" valueType="num">
                                      <p:cBhvr additive="base">
                                        <p:cTn id="25" dur="500" fill="hold"/>
                                        <p:tgtEl>
                                          <p:spTgt spid="52227">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2227">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2227">
                                            <p:txEl>
                                              <p:pRg st="4" end="4"/>
                                            </p:txEl>
                                          </p:spTgt>
                                        </p:tgtEl>
                                        <p:attrNameLst>
                                          <p:attrName>style.visibility</p:attrName>
                                        </p:attrNameLst>
                                      </p:cBhvr>
                                      <p:to>
                                        <p:strVal val="visible"/>
                                      </p:to>
                                    </p:set>
                                    <p:anim calcmode="lin" valueType="num">
                                      <p:cBhvr additive="base">
                                        <p:cTn id="31" dur="500" fill="hold"/>
                                        <p:tgtEl>
                                          <p:spTgt spid="52227">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2227">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2227">
                                            <p:txEl>
                                              <p:pRg st="5" end="5"/>
                                            </p:txEl>
                                          </p:spTgt>
                                        </p:tgtEl>
                                        <p:attrNameLst>
                                          <p:attrName>style.visibility</p:attrName>
                                        </p:attrNameLst>
                                      </p:cBhvr>
                                      <p:to>
                                        <p:strVal val="visible"/>
                                      </p:to>
                                    </p:set>
                                    <p:anim calcmode="lin" valueType="num">
                                      <p:cBhvr additive="base">
                                        <p:cTn id="37" dur="500" fill="hold"/>
                                        <p:tgtEl>
                                          <p:spTgt spid="52227">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2227">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2227">
                                            <p:txEl>
                                              <p:pRg st="6" end="6"/>
                                            </p:txEl>
                                          </p:spTgt>
                                        </p:tgtEl>
                                        <p:attrNameLst>
                                          <p:attrName>style.visibility</p:attrName>
                                        </p:attrNameLst>
                                      </p:cBhvr>
                                      <p:to>
                                        <p:strVal val="visible"/>
                                      </p:to>
                                    </p:set>
                                    <p:anim calcmode="lin" valueType="num">
                                      <p:cBhvr additive="base">
                                        <p:cTn id="43" dur="500" fill="hold"/>
                                        <p:tgtEl>
                                          <p:spTgt spid="52227">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2227">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3" name="Rectangle 3"/>
          <p:cNvSpPr>
            <a:spLocks noGrp="1" noChangeArrowheads="1"/>
          </p:cNvSpPr>
          <p:nvPr>
            <p:ph type="body" idx="1"/>
          </p:nvPr>
        </p:nvSpPr>
        <p:spPr>
          <a:xfrm>
            <a:off x="468313" y="836613"/>
            <a:ext cx="8229600" cy="5184775"/>
          </a:xfrm>
        </p:spPr>
        <p:txBody>
          <a:bodyPr/>
          <a:lstStyle/>
          <a:p>
            <a:pPr eaLnBrk="1" hangingPunct="1">
              <a:lnSpc>
                <a:spcPct val="120000"/>
              </a:lnSpc>
              <a:buFontTx/>
              <a:buNone/>
            </a:pPr>
            <a:r>
              <a:rPr lang="en-US" altLang="zh-CN" sz="2800" smtClean="0">
                <a:solidFill>
                  <a:srgbClr val="FFFF00"/>
                </a:solidFill>
                <a:latin typeface="黑体" pitchFamily="49" charset="-122"/>
                <a:ea typeface="黑体" pitchFamily="49" charset="-122"/>
              </a:rPr>
              <a:t>1</a:t>
            </a:r>
            <a:r>
              <a:rPr lang="zh-CN" altLang="en-US" sz="2800" smtClean="0">
                <a:solidFill>
                  <a:srgbClr val="FFFF00"/>
                </a:solidFill>
                <a:latin typeface="黑体" pitchFamily="49" charset="-122"/>
                <a:ea typeface="黑体" pitchFamily="49" charset="-122"/>
              </a:rPr>
              <a:t>自由农作区</a:t>
            </a:r>
            <a:r>
              <a:rPr lang="zh-CN" altLang="en-US" sz="2800" smtClean="0">
                <a:solidFill>
                  <a:schemeClr val="bg1"/>
                </a:solidFill>
                <a:latin typeface="黑体" pitchFamily="49" charset="-122"/>
                <a:ea typeface="黑体" pitchFamily="49" charset="-122"/>
              </a:rPr>
              <a:t>：距市场最近，主要生产易腐难运产品，如鲜奶和蔬菜。利润高，集约。</a:t>
            </a:r>
          </a:p>
          <a:p>
            <a:pPr eaLnBrk="1" hangingPunct="1">
              <a:lnSpc>
                <a:spcPct val="120000"/>
              </a:lnSpc>
              <a:buFontTx/>
              <a:buNone/>
            </a:pPr>
            <a:r>
              <a:rPr lang="en-US" altLang="zh-CN" sz="2800" smtClean="0">
                <a:solidFill>
                  <a:srgbClr val="FFFF00"/>
                </a:solidFill>
                <a:latin typeface="黑体" pitchFamily="49" charset="-122"/>
                <a:ea typeface="黑体" pitchFamily="49" charset="-122"/>
              </a:rPr>
              <a:t>2 </a:t>
            </a:r>
            <a:r>
              <a:rPr lang="zh-CN" altLang="en-US" sz="2800" smtClean="0">
                <a:solidFill>
                  <a:srgbClr val="FFFF00"/>
                </a:solidFill>
                <a:latin typeface="黑体" pitchFamily="49" charset="-122"/>
                <a:ea typeface="黑体" pitchFamily="49" charset="-122"/>
              </a:rPr>
              <a:t>林业区</a:t>
            </a:r>
            <a:r>
              <a:rPr lang="zh-CN" altLang="en-US" sz="2800" smtClean="0">
                <a:solidFill>
                  <a:schemeClr val="bg1"/>
                </a:solidFill>
                <a:latin typeface="黑体" pitchFamily="49" charset="-122"/>
                <a:ea typeface="黑体" pitchFamily="49" charset="-122"/>
              </a:rPr>
              <a:t>：产量大，运量大，主要解决城市薪材及木材。距近半圈为薪碳树种，远半圈为建筑用木材。</a:t>
            </a:r>
          </a:p>
          <a:p>
            <a:pPr eaLnBrk="1" hangingPunct="1">
              <a:lnSpc>
                <a:spcPct val="120000"/>
              </a:lnSpc>
              <a:buFontTx/>
              <a:buNone/>
            </a:pPr>
            <a:r>
              <a:rPr lang="en-US" altLang="zh-CN" sz="2800" smtClean="0">
                <a:solidFill>
                  <a:srgbClr val="FFFF00"/>
                </a:solidFill>
                <a:latin typeface="黑体" pitchFamily="49" charset="-122"/>
                <a:ea typeface="黑体" pitchFamily="49" charset="-122"/>
              </a:rPr>
              <a:t>3</a:t>
            </a:r>
            <a:r>
              <a:rPr lang="zh-CN" altLang="en-US" sz="2800" smtClean="0">
                <a:solidFill>
                  <a:srgbClr val="FFFF00"/>
                </a:solidFill>
                <a:latin typeface="黑体" pitchFamily="49" charset="-122"/>
                <a:ea typeface="黑体" pitchFamily="49" charset="-122"/>
              </a:rPr>
              <a:t>轮作农业区</a:t>
            </a:r>
            <a:r>
              <a:rPr lang="en-US" altLang="zh-CN" sz="2800" smtClean="0">
                <a:solidFill>
                  <a:schemeClr val="bg1"/>
                </a:solidFill>
                <a:latin typeface="黑体" pitchFamily="49" charset="-122"/>
                <a:ea typeface="黑体" pitchFamily="49" charset="-122"/>
              </a:rPr>
              <a:t>:</a:t>
            </a:r>
            <a:r>
              <a:rPr lang="zh-CN" altLang="en-US" sz="2800" smtClean="0">
                <a:solidFill>
                  <a:schemeClr val="bg1"/>
                </a:solidFill>
                <a:latin typeface="黑体" pitchFamily="49" charset="-122"/>
                <a:ea typeface="黑体" pitchFamily="49" charset="-122"/>
              </a:rPr>
              <a:t>每</a:t>
            </a:r>
            <a:r>
              <a:rPr lang="en-US" altLang="zh-CN" sz="2800" smtClean="0">
                <a:solidFill>
                  <a:schemeClr val="bg1"/>
                </a:solidFill>
                <a:latin typeface="黑体" pitchFamily="49" charset="-122"/>
                <a:ea typeface="黑体" pitchFamily="49" charset="-122"/>
              </a:rPr>
              <a:t>6</a:t>
            </a:r>
            <a:r>
              <a:rPr lang="zh-CN" altLang="en-US" sz="2800" smtClean="0">
                <a:solidFill>
                  <a:schemeClr val="bg1"/>
                </a:solidFill>
                <a:latin typeface="黑体" pitchFamily="49" charset="-122"/>
                <a:ea typeface="黑体" pitchFamily="49" charset="-122"/>
              </a:rPr>
              <a:t>年一轮回，集约化轮作带。</a:t>
            </a:r>
          </a:p>
          <a:p>
            <a:pPr eaLnBrk="1" hangingPunct="1">
              <a:lnSpc>
                <a:spcPct val="120000"/>
              </a:lnSpc>
              <a:buFontTx/>
              <a:buNone/>
            </a:pPr>
            <a:r>
              <a:rPr lang="en-US" altLang="zh-CN" sz="2800" smtClean="0">
                <a:solidFill>
                  <a:srgbClr val="FFFF00"/>
                </a:solidFill>
                <a:latin typeface="黑体" pitchFamily="49" charset="-122"/>
                <a:ea typeface="黑体" pitchFamily="49" charset="-122"/>
              </a:rPr>
              <a:t>4</a:t>
            </a:r>
            <a:r>
              <a:rPr lang="zh-CN" altLang="en-US" sz="2800" smtClean="0">
                <a:solidFill>
                  <a:srgbClr val="FFFF00"/>
                </a:solidFill>
                <a:latin typeface="黑体" pitchFamily="49" charset="-122"/>
                <a:ea typeface="黑体" pitchFamily="49" charset="-122"/>
              </a:rPr>
              <a:t>谷草轮作区</a:t>
            </a:r>
            <a:r>
              <a:rPr lang="zh-CN" altLang="en-US" sz="2800" smtClean="0">
                <a:solidFill>
                  <a:schemeClr val="bg1"/>
                </a:solidFill>
                <a:latin typeface="黑体" pitchFamily="49" charset="-122"/>
                <a:ea typeface="黑体" pitchFamily="49" charset="-122"/>
              </a:rPr>
              <a:t>：谷物、牧草和休闲轮作，</a:t>
            </a:r>
            <a:r>
              <a:rPr lang="en-US" altLang="zh-CN" sz="2800" smtClean="0">
                <a:solidFill>
                  <a:schemeClr val="bg1"/>
                </a:solidFill>
                <a:latin typeface="黑体" pitchFamily="49" charset="-122"/>
                <a:ea typeface="黑体" pitchFamily="49" charset="-122"/>
              </a:rPr>
              <a:t>7</a:t>
            </a:r>
            <a:r>
              <a:rPr lang="zh-CN" altLang="en-US" sz="2800" smtClean="0">
                <a:solidFill>
                  <a:schemeClr val="bg1"/>
                </a:solidFill>
                <a:latin typeface="黑体" pitchFamily="49" charset="-122"/>
                <a:ea typeface="黑体" pitchFamily="49" charset="-122"/>
              </a:rPr>
              <a:t>年一轮回。</a:t>
            </a:r>
          </a:p>
          <a:p>
            <a:pPr eaLnBrk="1" hangingPunct="1">
              <a:lnSpc>
                <a:spcPct val="120000"/>
              </a:lnSpc>
              <a:buFontTx/>
              <a:buNone/>
            </a:pPr>
            <a:r>
              <a:rPr lang="en-US" altLang="zh-CN" sz="2800" smtClean="0">
                <a:solidFill>
                  <a:srgbClr val="FFFF00"/>
                </a:solidFill>
                <a:latin typeface="黑体" pitchFamily="49" charset="-122"/>
                <a:ea typeface="黑体" pitchFamily="49" charset="-122"/>
              </a:rPr>
              <a:t>5</a:t>
            </a:r>
            <a:r>
              <a:rPr lang="zh-CN" altLang="en-US" sz="2800" smtClean="0">
                <a:solidFill>
                  <a:srgbClr val="FFFF00"/>
                </a:solidFill>
                <a:latin typeface="黑体" pitchFamily="49" charset="-122"/>
                <a:ea typeface="黑体" pitchFamily="49" charset="-122"/>
              </a:rPr>
              <a:t>三圃轮作区</a:t>
            </a:r>
            <a:r>
              <a:rPr lang="zh-CN" altLang="en-US" sz="2800" smtClean="0">
                <a:solidFill>
                  <a:schemeClr val="bg1"/>
                </a:solidFill>
                <a:latin typeface="黑体" pitchFamily="49" charset="-122"/>
                <a:ea typeface="黑体" pitchFamily="49" charset="-122"/>
              </a:rPr>
              <a:t>：休闲、燕麦及稞麦</a:t>
            </a:r>
            <a:r>
              <a:rPr lang="en-US" altLang="zh-CN" sz="2800" smtClean="0">
                <a:solidFill>
                  <a:schemeClr val="bg1"/>
                </a:solidFill>
                <a:latin typeface="黑体" pitchFamily="49" charset="-122"/>
                <a:ea typeface="黑体" pitchFamily="49" charset="-122"/>
              </a:rPr>
              <a:t>3</a:t>
            </a:r>
            <a:r>
              <a:rPr lang="zh-CN" altLang="en-US" sz="2800" smtClean="0">
                <a:solidFill>
                  <a:schemeClr val="bg1"/>
                </a:solidFill>
                <a:latin typeface="黑体" pitchFamily="49" charset="-122"/>
                <a:ea typeface="黑体" pitchFamily="49" charset="-122"/>
              </a:rPr>
              <a:t>年一轮回。</a:t>
            </a:r>
          </a:p>
          <a:p>
            <a:pPr eaLnBrk="1" hangingPunct="1">
              <a:lnSpc>
                <a:spcPct val="120000"/>
              </a:lnSpc>
              <a:buFontTx/>
              <a:buNone/>
            </a:pPr>
            <a:r>
              <a:rPr lang="en-US" altLang="zh-CN" sz="2800" smtClean="0">
                <a:solidFill>
                  <a:srgbClr val="FFFF00"/>
                </a:solidFill>
                <a:latin typeface="黑体" pitchFamily="49" charset="-122"/>
                <a:ea typeface="黑体" pitchFamily="49" charset="-122"/>
              </a:rPr>
              <a:t>6</a:t>
            </a:r>
            <a:r>
              <a:rPr lang="zh-CN" altLang="en-US" sz="2800" smtClean="0">
                <a:solidFill>
                  <a:srgbClr val="FFFF00"/>
                </a:solidFill>
                <a:latin typeface="黑体" pitchFamily="49" charset="-122"/>
                <a:ea typeface="黑体" pitchFamily="49" charset="-122"/>
              </a:rPr>
              <a:t>畜牧业区</a:t>
            </a:r>
            <a:r>
              <a:rPr lang="zh-CN" altLang="en-US" sz="2800" smtClean="0">
                <a:solidFill>
                  <a:schemeClr val="bg1"/>
                </a:solidFill>
                <a:latin typeface="黑体" pitchFamily="49" charset="-122"/>
                <a:ea typeface="黑体" pitchFamily="49" charset="-122"/>
              </a:rPr>
              <a:t>：粮食自给，产品为活畜、黄油和奶酪。</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1203">
                                            <p:txEl>
                                              <p:pRg st="0" end="0"/>
                                            </p:txEl>
                                          </p:spTgt>
                                        </p:tgtEl>
                                        <p:attrNameLst>
                                          <p:attrName>style.visibility</p:attrName>
                                        </p:attrNameLst>
                                      </p:cBhvr>
                                      <p:to>
                                        <p:strVal val="visible"/>
                                      </p:to>
                                    </p:set>
                                    <p:anim calcmode="lin" valueType="num">
                                      <p:cBhvr additive="base">
                                        <p:cTn id="7" dur="500" fill="hold"/>
                                        <p:tgtEl>
                                          <p:spTgt spid="5120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120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1203">
                                            <p:txEl>
                                              <p:pRg st="1" end="1"/>
                                            </p:txEl>
                                          </p:spTgt>
                                        </p:tgtEl>
                                        <p:attrNameLst>
                                          <p:attrName>style.visibility</p:attrName>
                                        </p:attrNameLst>
                                      </p:cBhvr>
                                      <p:to>
                                        <p:strVal val="visible"/>
                                      </p:to>
                                    </p:set>
                                    <p:anim calcmode="lin" valueType="num">
                                      <p:cBhvr additive="base">
                                        <p:cTn id="13" dur="500" fill="hold"/>
                                        <p:tgtEl>
                                          <p:spTgt spid="5120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120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1203">
                                            <p:txEl>
                                              <p:pRg st="2" end="2"/>
                                            </p:txEl>
                                          </p:spTgt>
                                        </p:tgtEl>
                                        <p:attrNameLst>
                                          <p:attrName>style.visibility</p:attrName>
                                        </p:attrNameLst>
                                      </p:cBhvr>
                                      <p:to>
                                        <p:strVal val="visible"/>
                                      </p:to>
                                    </p:set>
                                    <p:anim calcmode="lin" valueType="num">
                                      <p:cBhvr additive="base">
                                        <p:cTn id="19" dur="500" fill="hold"/>
                                        <p:tgtEl>
                                          <p:spTgt spid="5120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120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1203">
                                            <p:txEl>
                                              <p:pRg st="3" end="3"/>
                                            </p:txEl>
                                          </p:spTgt>
                                        </p:tgtEl>
                                        <p:attrNameLst>
                                          <p:attrName>style.visibility</p:attrName>
                                        </p:attrNameLst>
                                      </p:cBhvr>
                                      <p:to>
                                        <p:strVal val="visible"/>
                                      </p:to>
                                    </p:set>
                                    <p:anim calcmode="lin" valueType="num">
                                      <p:cBhvr additive="base">
                                        <p:cTn id="25" dur="500" fill="hold"/>
                                        <p:tgtEl>
                                          <p:spTgt spid="5120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120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1203">
                                            <p:txEl>
                                              <p:pRg st="4" end="4"/>
                                            </p:txEl>
                                          </p:spTgt>
                                        </p:tgtEl>
                                        <p:attrNameLst>
                                          <p:attrName>style.visibility</p:attrName>
                                        </p:attrNameLst>
                                      </p:cBhvr>
                                      <p:to>
                                        <p:strVal val="visible"/>
                                      </p:to>
                                    </p:set>
                                    <p:anim calcmode="lin" valueType="num">
                                      <p:cBhvr additive="base">
                                        <p:cTn id="31" dur="500" fill="hold"/>
                                        <p:tgtEl>
                                          <p:spTgt spid="5120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120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1203">
                                            <p:txEl>
                                              <p:pRg st="5" end="5"/>
                                            </p:txEl>
                                          </p:spTgt>
                                        </p:tgtEl>
                                        <p:attrNameLst>
                                          <p:attrName>style.visibility</p:attrName>
                                        </p:attrNameLst>
                                      </p:cBhvr>
                                      <p:to>
                                        <p:strVal val="visible"/>
                                      </p:to>
                                    </p:set>
                                    <p:anim calcmode="lin" valueType="num">
                                      <p:cBhvr additive="base">
                                        <p:cTn id="37" dur="500" fill="hold"/>
                                        <p:tgtEl>
                                          <p:spTgt spid="5120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120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5" descr="杜能同心圈"/>
          <p:cNvPicPr>
            <a:picLocks noChangeAspect="1" noChangeArrowheads="1"/>
          </p:cNvPicPr>
          <p:nvPr>
            <p:ph/>
          </p:nvPr>
        </p:nvPicPr>
        <p:blipFill>
          <a:blip r:embed="rId2" cstate="print"/>
          <a:srcRect/>
          <a:stretch>
            <a:fillRect/>
          </a:stretch>
        </p:blipFill>
        <p:spPr>
          <a:xfrm>
            <a:off x="827088" y="1412875"/>
            <a:ext cx="7559675" cy="4535488"/>
          </a:xfrm>
          <a:noFill/>
        </p:spPr>
      </p:pic>
      <p:sp>
        <p:nvSpPr>
          <p:cNvPr id="8195" name="Text Box 6"/>
          <p:cNvSpPr txBox="1">
            <a:spLocks noChangeArrowheads="1"/>
          </p:cNvSpPr>
          <p:nvPr/>
        </p:nvSpPr>
        <p:spPr bwMode="auto">
          <a:xfrm>
            <a:off x="8151813" y="5667375"/>
            <a:ext cx="184150" cy="366713"/>
          </a:xfrm>
          <a:prstGeom prst="rect">
            <a:avLst/>
          </a:prstGeom>
          <a:noFill/>
          <a:ln w="9525">
            <a:noFill/>
            <a:miter lim="800000"/>
            <a:headEnd/>
            <a:tailEnd/>
          </a:ln>
        </p:spPr>
        <p:txBody>
          <a:bodyPr wrap="none">
            <a:spAutoFit/>
          </a:bodyPr>
          <a:lstStyle/>
          <a:p>
            <a:endParaRPr lang="zh-CN" altLang="zh-CN"/>
          </a:p>
        </p:txBody>
      </p:sp>
      <p:sp>
        <p:nvSpPr>
          <p:cNvPr id="8196" name="AutoShape 7">
            <a:hlinkClick r:id="rId3" action="ppaction://hlinksldjump"/>
          </p:cNvPr>
          <p:cNvSpPr>
            <a:spLocks noChangeArrowheads="1"/>
          </p:cNvSpPr>
          <p:nvPr/>
        </p:nvSpPr>
        <p:spPr bwMode="auto">
          <a:xfrm>
            <a:off x="8243888" y="5661025"/>
            <a:ext cx="288925" cy="431800"/>
          </a:xfrm>
          <a:prstGeom prst="upArrow">
            <a:avLst>
              <a:gd name="adj1" fmla="val 50000"/>
              <a:gd name="adj2" fmla="val 37363"/>
            </a:avLst>
          </a:prstGeom>
          <a:solidFill>
            <a:srgbClr val="FF6600"/>
          </a:solidFill>
          <a:ln w="9525">
            <a:solidFill>
              <a:schemeClr val="tx1"/>
            </a:solidFill>
            <a:miter lim="800000"/>
            <a:headEnd/>
            <a:tailEnd/>
          </a:ln>
        </p:spPr>
        <p:txBody>
          <a:bodyPr vert="eaVert" wrap="none" anchor="ctr"/>
          <a:lstStyle/>
          <a:p>
            <a:endParaRPr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7" descr="杜能圈形成机制"/>
          <p:cNvPicPr>
            <a:picLocks noChangeAspect="1" noChangeArrowheads="1"/>
          </p:cNvPicPr>
          <p:nvPr>
            <p:ph/>
          </p:nvPr>
        </p:nvPicPr>
        <p:blipFill>
          <a:blip r:embed="rId2" cstate="print"/>
          <a:srcRect/>
          <a:stretch>
            <a:fillRect/>
          </a:stretch>
        </p:blipFill>
        <p:spPr>
          <a:xfrm>
            <a:off x="468313" y="0"/>
            <a:ext cx="5832475" cy="6858000"/>
          </a:xfrm>
          <a:noFill/>
        </p:spPr>
      </p:pic>
      <p:sp>
        <p:nvSpPr>
          <p:cNvPr id="9219" name="Text Box 8"/>
          <p:cNvSpPr txBox="1">
            <a:spLocks noChangeArrowheads="1"/>
          </p:cNvSpPr>
          <p:nvPr/>
        </p:nvSpPr>
        <p:spPr bwMode="auto">
          <a:xfrm>
            <a:off x="6419850" y="692150"/>
            <a:ext cx="2724150" cy="4108450"/>
          </a:xfrm>
          <a:prstGeom prst="rect">
            <a:avLst/>
          </a:prstGeom>
          <a:noFill/>
          <a:ln w="9525">
            <a:noFill/>
            <a:miter lim="800000"/>
            <a:headEnd/>
            <a:tailEnd/>
          </a:ln>
        </p:spPr>
        <p:txBody>
          <a:bodyPr wrap="none">
            <a:spAutoFit/>
          </a:bodyPr>
          <a:lstStyle/>
          <a:p>
            <a:pPr>
              <a:lnSpc>
                <a:spcPct val="120000"/>
              </a:lnSpc>
            </a:pPr>
            <a:r>
              <a:rPr lang="zh-CN" altLang="en-US" sz="2000">
                <a:solidFill>
                  <a:schemeClr val="bg1"/>
                </a:solidFill>
                <a:ea typeface="黑体" pitchFamily="49" charset="-122"/>
              </a:rPr>
              <a:t>同一作物：距离市场近</a:t>
            </a:r>
          </a:p>
          <a:p>
            <a:pPr>
              <a:lnSpc>
                <a:spcPct val="120000"/>
              </a:lnSpc>
            </a:pPr>
            <a:r>
              <a:rPr lang="zh-CN" altLang="en-US" sz="2000">
                <a:solidFill>
                  <a:schemeClr val="bg1"/>
                </a:solidFill>
                <a:ea typeface="黑体" pitchFamily="49" charset="-122"/>
              </a:rPr>
              <a:t>的区位集约经营，距离</a:t>
            </a:r>
          </a:p>
          <a:p>
            <a:pPr>
              <a:lnSpc>
                <a:spcPct val="120000"/>
              </a:lnSpc>
            </a:pPr>
            <a:r>
              <a:rPr lang="zh-CN" altLang="en-US" sz="2000">
                <a:solidFill>
                  <a:schemeClr val="bg1"/>
                </a:solidFill>
                <a:ea typeface="黑体" pitchFamily="49" charset="-122"/>
              </a:rPr>
              <a:t>市场远的区位可粗放经</a:t>
            </a:r>
          </a:p>
          <a:p>
            <a:pPr>
              <a:lnSpc>
                <a:spcPct val="120000"/>
              </a:lnSpc>
            </a:pPr>
            <a:r>
              <a:rPr lang="zh-CN" altLang="en-US" sz="2000">
                <a:solidFill>
                  <a:schemeClr val="bg1"/>
                </a:solidFill>
                <a:ea typeface="黑体" pitchFamily="49" charset="-122"/>
              </a:rPr>
              <a:t>营</a:t>
            </a:r>
          </a:p>
          <a:p>
            <a:pPr>
              <a:lnSpc>
                <a:spcPct val="120000"/>
              </a:lnSpc>
            </a:pPr>
            <a:endParaRPr lang="zh-CN" altLang="en-US" sz="2000">
              <a:solidFill>
                <a:schemeClr val="bg1"/>
              </a:solidFill>
              <a:ea typeface="黑体" pitchFamily="49" charset="-122"/>
            </a:endParaRPr>
          </a:p>
          <a:p>
            <a:pPr>
              <a:lnSpc>
                <a:spcPct val="120000"/>
              </a:lnSpc>
            </a:pPr>
            <a:r>
              <a:rPr lang="zh-CN" altLang="en-US" sz="2000">
                <a:solidFill>
                  <a:schemeClr val="bg1"/>
                </a:solidFill>
                <a:ea typeface="黑体" pitchFamily="49" charset="-122"/>
              </a:rPr>
              <a:t>不同作物：距离市场近</a:t>
            </a:r>
          </a:p>
          <a:p>
            <a:pPr>
              <a:lnSpc>
                <a:spcPct val="120000"/>
              </a:lnSpc>
            </a:pPr>
            <a:r>
              <a:rPr lang="zh-CN" altLang="en-US" sz="2000">
                <a:solidFill>
                  <a:schemeClr val="bg1"/>
                </a:solidFill>
                <a:ea typeface="黑体" pitchFamily="49" charset="-122"/>
              </a:rPr>
              <a:t>的区位要种植地租支付</a:t>
            </a:r>
          </a:p>
          <a:p>
            <a:pPr>
              <a:lnSpc>
                <a:spcPct val="120000"/>
              </a:lnSpc>
            </a:pPr>
            <a:r>
              <a:rPr lang="zh-CN" altLang="en-US" sz="2000">
                <a:solidFill>
                  <a:schemeClr val="bg1"/>
                </a:solidFill>
                <a:ea typeface="黑体" pitchFamily="49" charset="-122"/>
              </a:rPr>
              <a:t>能力高的作物，距离市</a:t>
            </a:r>
          </a:p>
          <a:p>
            <a:pPr>
              <a:lnSpc>
                <a:spcPct val="120000"/>
              </a:lnSpc>
            </a:pPr>
            <a:r>
              <a:rPr lang="zh-CN" altLang="en-US" sz="2000">
                <a:solidFill>
                  <a:schemeClr val="bg1"/>
                </a:solidFill>
                <a:ea typeface="黑体" pitchFamily="49" charset="-122"/>
              </a:rPr>
              <a:t>场远的区位可以种植地</a:t>
            </a:r>
          </a:p>
          <a:p>
            <a:pPr>
              <a:lnSpc>
                <a:spcPct val="120000"/>
              </a:lnSpc>
            </a:pPr>
            <a:r>
              <a:rPr lang="zh-CN" altLang="en-US" sz="2000">
                <a:solidFill>
                  <a:schemeClr val="bg1"/>
                </a:solidFill>
                <a:ea typeface="黑体" pitchFamily="49" charset="-122"/>
              </a:rPr>
              <a:t>租支付能力相对弱的作</a:t>
            </a:r>
          </a:p>
          <a:p>
            <a:pPr>
              <a:lnSpc>
                <a:spcPct val="120000"/>
              </a:lnSpc>
            </a:pPr>
            <a:r>
              <a:rPr lang="zh-CN" altLang="en-US" sz="2000">
                <a:solidFill>
                  <a:schemeClr val="bg1"/>
                </a:solidFill>
                <a:ea typeface="黑体" pitchFamily="49" charset="-122"/>
              </a:rPr>
              <a:t>物。</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468313" y="476250"/>
            <a:ext cx="8229600" cy="490538"/>
          </a:xfrm>
        </p:spPr>
        <p:txBody>
          <a:bodyPr/>
          <a:lstStyle/>
          <a:p>
            <a:pPr algn="l" eaLnBrk="1" hangingPunct="1"/>
            <a:r>
              <a:rPr lang="zh-CN" altLang="en-US" sz="4000" smtClean="0">
                <a:solidFill>
                  <a:srgbClr val="FFFF00"/>
                </a:solidFill>
                <a:ea typeface="黑体" pitchFamily="49" charset="-122"/>
              </a:rPr>
              <a:t>（三）评价</a:t>
            </a:r>
          </a:p>
        </p:txBody>
      </p:sp>
      <p:sp>
        <p:nvSpPr>
          <p:cNvPr id="10243" name="Rectangle 3"/>
          <p:cNvSpPr>
            <a:spLocks noGrp="1" noChangeArrowheads="1"/>
          </p:cNvSpPr>
          <p:nvPr>
            <p:ph type="body" idx="1"/>
          </p:nvPr>
        </p:nvSpPr>
        <p:spPr>
          <a:xfrm>
            <a:off x="1692275" y="1412875"/>
            <a:ext cx="6275388" cy="4929188"/>
          </a:xfrm>
        </p:spPr>
        <p:txBody>
          <a:bodyPr/>
          <a:lstStyle/>
          <a:p>
            <a:pPr eaLnBrk="1" hangingPunct="1">
              <a:lnSpc>
                <a:spcPct val="130000"/>
              </a:lnSpc>
              <a:buFont typeface="Wingdings" pitchFamily="2" charset="2"/>
              <a:buChar char="Ø"/>
            </a:pPr>
            <a:r>
              <a:rPr lang="zh-CN" altLang="en-US" smtClean="0">
                <a:solidFill>
                  <a:schemeClr val="bg1"/>
                </a:solidFill>
                <a:latin typeface="黑体" pitchFamily="49" charset="-122"/>
                <a:ea typeface="黑体" pitchFamily="49" charset="-122"/>
              </a:rPr>
              <a:t>借鉴意义：</a:t>
            </a:r>
          </a:p>
          <a:p>
            <a:pPr eaLnBrk="1" hangingPunct="1">
              <a:lnSpc>
                <a:spcPct val="130000"/>
              </a:lnSpc>
              <a:buFont typeface="Wingdings" pitchFamily="2" charset="2"/>
              <a:buNone/>
            </a:pPr>
            <a:r>
              <a:rPr lang="zh-CN" altLang="en-US" smtClean="0">
                <a:solidFill>
                  <a:schemeClr val="bg1"/>
                </a:solidFill>
                <a:latin typeface="黑体" pitchFamily="49" charset="-122"/>
                <a:ea typeface="黑体" pitchFamily="49" charset="-122"/>
              </a:rPr>
              <a:t>  （</a:t>
            </a:r>
            <a:r>
              <a:rPr lang="en-US" altLang="zh-CN" smtClean="0">
                <a:solidFill>
                  <a:schemeClr val="bg1"/>
                </a:solidFill>
                <a:latin typeface="黑体" pitchFamily="49" charset="-122"/>
                <a:ea typeface="黑体" pitchFamily="49" charset="-122"/>
              </a:rPr>
              <a:t>1</a:t>
            </a:r>
            <a:r>
              <a:rPr lang="zh-CN" altLang="en-US" smtClean="0">
                <a:solidFill>
                  <a:schemeClr val="bg1"/>
                </a:solidFill>
                <a:latin typeface="黑体" pitchFamily="49" charset="-122"/>
                <a:ea typeface="黑体" pitchFamily="49" charset="-122"/>
              </a:rPr>
              <a:t>）农业地理上的意义</a:t>
            </a:r>
          </a:p>
          <a:p>
            <a:pPr eaLnBrk="1" hangingPunct="1">
              <a:lnSpc>
                <a:spcPct val="130000"/>
              </a:lnSpc>
              <a:buFont typeface="Wingdings" pitchFamily="2" charset="2"/>
              <a:buNone/>
            </a:pPr>
            <a:r>
              <a:rPr lang="zh-CN" altLang="en-US" smtClean="0">
                <a:solidFill>
                  <a:schemeClr val="bg1"/>
                </a:solidFill>
                <a:latin typeface="黑体" pitchFamily="49" charset="-122"/>
                <a:ea typeface="黑体" pitchFamily="49" charset="-122"/>
              </a:rPr>
              <a:t>  （</a:t>
            </a:r>
            <a:r>
              <a:rPr lang="en-US" altLang="zh-CN" smtClean="0">
                <a:solidFill>
                  <a:schemeClr val="bg1"/>
                </a:solidFill>
                <a:latin typeface="黑体" pitchFamily="49" charset="-122"/>
                <a:ea typeface="黑体" pitchFamily="49" charset="-122"/>
              </a:rPr>
              <a:t>2</a:t>
            </a:r>
            <a:r>
              <a:rPr lang="zh-CN" altLang="en-US" smtClean="0">
                <a:solidFill>
                  <a:schemeClr val="bg1"/>
                </a:solidFill>
                <a:latin typeface="黑体" pitchFamily="49" charset="-122"/>
                <a:ea typeface="黑体" pitchFamily="49" charset="-122"/>
              </a:rPr>
              <a:t>）研究方法上</a:t>
            </a:r>
          </a:p>
          <a:p>
            <a:pPr eaLnBrk="1" hangingPunct="1">
              <a:lnSpc>
                <a:spcPct val="130000"/>
              </a:lnSpc>
              <a:buFont typeface="Wingdings" pitchFamily="2" charset="2"/>
              <a:buChar char="Ø"/>
            </a:pPr>
            <a:r>
              <a:rPr lang="zh-CN" altLang="en-US" smtClean="0">
                <a:solidFill>
                  <a:schemeClr val="bg1"/>
                </a:solidFill>
                <a:latin typeface="黑体" pitchFamily="49" charset="-122"/>
                <a:ea typeface="黑体" pitchFamily="49" charset="-122"/>
              </a:rPr>
              <a:t>理论与现实</a:t>
            </a:r>
          </a:p>
          <a:p>
            <a:pPr eaLnBrk="1" hangingPunct="1">
              <a:lnSpc>
                <a:spcPct val="130000"/>
              </a:lnSpc>
              <a:buFont typeface="Wingdings" pitchFamily="2" charset="2"/>
              <a:buNone/>
            </a:pPr>
            <a:r>
              <a:rPr lang="zh-CN" altLang="en-US" smtClean="0">
                <a:solidFill>
                  <a:schemeClr val="bg1"/>
                </a:solidFill>
                <a:latin typeface="黑体" pitchFamily="49" charset="-122"/>
                <a:ea typeface="黑体" pitchFamily="49" charset="-122"/>
              </a:rPr>
              <a:t>  （</a:t>
            </a:r>
            <a:r>
              <a:rPr lang="en-US" altLang="zh-CN" smtClean="0">
                <a:solidFill>
                  <a:schemeClr val="bg1"/>
                </a:solidFill>
                <a:latin typeface="黑体" pitchFamily="49" charset="-122"/>
                <a:ea typeface="黑体" pitchFamily="49" charset="-122"/>
              </a:rPr>
              <a:t>1</a:t>
            </a:r>
            <a:r>
              <a:rPr lang="zh-CN" altLang="en-US" smtClean="0">
                <a:solidFill>
                  <a:schemeClr val="bg1"/>
                </a:solidFill>
                <a:latin typeface="黑体" pitchFamily="49" charset="-122"/>
                <a:ea typeface="黑体" pitchFamily="49" charset="-122"/>
              </a:rPr>
              <a:t>）城乡土地利用</a:t>
            </a:r>
          </a:p>
          <a:p>
            <a:pPr eaLnBrk="1" hangingPunct="1">
              <a:lnSpc>
                <a:spcPct val="130000"/>
              </a:lnSpc>
              <a:buFont typeface="Wingdings" pitchFamily="2" charset="2"/>
              <a:buNone/>
            </a:pPr>
            <a:r>
              <a:rPr lang="zh-CN" altLang="en-US" smtClean="0">
                <a:solidFill>
                  <a:schemeClr val="bg1"/>
                </a:solidFill>
                <a:latin typeface="黑体" pitchFamily="49" charset="-122"/>
                <a:ea typeface="黑体" pitchFamily="49" charset="-122"/>
              </a:rPr>
              <a:t>  （</a:t>
            </a:r>
            <a:r>
              <a:rPr lang="en-US" altLang="zh-CN" smtClean="0">
                <a:solidFill>
                  <a:schemeClr val="bg1"/>
                </a:solidFill>
                <a:latin typeface="黑体" pitchFamily="49" charset="-122"/>
                <a:ea typeface="黑体" pitchFamily="49" charset="-122"/>
              </a:rPr>
              <a:t>2</a:t>
            </a:r>
            <a:r>
              <a:rPr lang="zh-CN" altLang="en-US" smtClean="0">
                <a:solidFill>
                  <a:schemeClr val="bg1"/>
                </a:solidFill>
                <a:latin typeface="黑体" pitchFamily="49" charset="-122"/>
                <a:ea typeface="黑体" pitchFamily="49" charset="-122"/>
              </a:rPr>
              <a:t>）与实际的差距</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266" name="Picture 5" descr="北京郊区蔬菜比重"/>
          <p:cNvPicPr>
            <a:picLocks noChangeAspect="1" noChangeArrowheads="1"/>
          </p:cNvPicPr>
          <p:nvPr>
            <p:ph/>
          </p:nvPr>
        </p:nvPicPr>
        <p:blipFill>
          <a:blip r:embed="rId2" cstate="print"/>
          <a:srcRect/>
          <a:stretch>
            <a:fillRect/>
          </a:stretch>
        </p:blipFill>
        <p:spPr>
          <a:xfrm>
            <a:off x="971550" y="188913"/>
            <a:ext cx="7345363" cy="6192837"/>
          </a:xfr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5" descr="北京郊区农村经济收入规模"/>
          <p:cNvPicPr>
            <a:picLocks noChangeAspect="1" noChangeArrowheads="1"/>
          </p:cNvPicPr>
          <p:nvPr>
            <p:ph/>
          </p:nvPr>
        </p:nvPicPr>
        <p:blipFill>
          <a:blip r:embed="rId2" cstate="print"/>
          <a:srcRect/>
          <a:stretch>
            <a:fillRect/>
          </a:stretch>
        </p:blipFill>
        <p:spPr>
          <a:xfrm>
            <a:off x="1187450" y="188913"/>
            <a:ext cx="6769100" cy="6119812"/>
          </a:xfrm>
          <a:noFill/>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5" descr="杜能孤立国"/>
          <p:cNvPicPr>
            <a:picLocks noChangeAspect="1" noChangeArrowheads="1"/>
          </p:cNvPicPr>
          <p:nvPr>
            <p:ph/>
          </p:nvPr>
        </p:nvPicPr>
        <p:blipFill>
          <a:blip r:embed="rId2" cstate="print"/>
          <a:srcRect/>
          <a:stretch>
            <a:fillRect/>
          </a:stretch>
        </p:blipFill>
        <p:spPr>
          <a:xfrm>
            <a:off x="1547813" y="260350"/>
            <a:ext cx="6192837" cy="6337300"/>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338" name="Picture 5" descr="逆杜能圈"/>
          <p:cNvPicPr>
            <a:picLocks noChangeAspect="1" noChangeArrowheads="1"/>
          </p:cNvPicPr>
          <p:nvPr>
            <p:ph/>
          </p:nvPr>
        </p:nvPicPr>
        <p:blipFill>
          <a:blip r:embed="rId2" cstate="print"/>
          <a:srcRect/>
          <a:stretch>
            <a:fillRect/>
          </a:stretch>
        </p:blipFill>
        <p:spPr>
          <a:xfrm>
            <a:off x="1187450" y="188913"/>
            <a:ext cx="6913563" cy="6480175"/>
          </a:xfrm>
          <a:noFill/>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2" name="Rectangle 2"/>
          <p:cNvSpPr>
            <a:spLocks noGrp="1" noChangeArrowheads="1"/>
          </p:cNvSpPr>
          <p:nvPr>
            <p:ph type="title"/>
          </p:nvPr>
        </p:nvSpPr>
        <p:spPr>
          <a:xfrm>
            <a:off x="457200" y="274638"/>
            <a:ext cx="8229600" cy="563562"/>
          </a:xfrm>
        </p:spPr>
        <p:txBody>
          <a:bodyPr/>
          <a:lstStyle/>
          <a:p>
            <a:pPr algn="l" eaLnBrk="1" hangingPunct="1"/>
            <a:r>
              <a:rPr lang="zh-CN" altLang="en-US" sz="3200" smtClean="0">
                <a:solidFill>
                  <a:srgbClr val="FFFF00"/>
                </a:solidFill>
                <a:ea typeface="黑体" pitchFamily="49" charset="-122"/>
              </a:rPr>
              <a:t>二、韦伯工业区位论</a:t>
            </a:r>
          </a:p>
        </p:txBody>
      </p:sp>
      <p:sp>
        <p:nvSpPr>
          <p:cNvPr id="32771" name="Rectangle 3"/>
          <p:cNvSpPr>
            <a:spLocks noGrp="1" noChangeArrowheads="1"/>
          </p:cNvSpPr>
          <p:nvPr>
            <p:ph type="body" idx="1"/>
          </p:nvPr>
        </p:nvSpPr>
        <p:spPr>
          <a:xfrm>
            <a:off x="457200" y="914400"/>
            <a:ext cx="8229600" cy="5211763"/>
          </a:xfrm>
        </p:spPr>
        <p:txBody>
          <a:bodyPr/>
          <a:lstStyle/>
          <a:p>
            <a:pPr eaLnBrk="1" hangingPunct="1">
              <a:lnSpc>
                <a:spcPct val="110000"/>
              </a:lnSpc>
              <a:buFontTx/>
              <a:buNone/>
            </a:pPr>
            <a:r>
              <a:rPr lang="zh-CN" altLang="en-US" sz="2000" smtClean="0">
                <a:solidFill>
                  <a:srgbClr val="FFFF00"/>
                </a:solidFill>
                <a:latin typeface="黑体" pitchFamily="49" charset="-122"/>
                <a:ea typeface="黑体" pitchFamily="49" charset="-122"/>
              </a:rPr>
              <a:t>（一）背景</a:t>
            </a:r>
          </a:p>
          <a:p>
            <a:pPr eaLnBrk="1" hangingPunct="1">
              <a:lnSpc>
                <a:spcPct val="110000"/>
              </a:lnSpc>
              <a:buFontTx/>
              <a:buNone/>
            </a:pPr>
            <a:r>
              <a:rPr lang="zh-CN" altLang="en-US" sz="2000" smtClean="0">
                <a:solidFill>
                  <a:srgbClr val="FFFF00"/>
                </a:solidFill>
                <a:latin typeface="黑体" pitchFamily="49" charset="-122"/>
                <a:ea typeface="黑体" pitchFamily="49" charset="-122"/>
              </a:rPr>
              <a:t>（二）基本论点</a:t>
            </a: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zh-CN" altLang="en-US" sz="1800" smtClean="0">
                <a:solidFill>
                  <a:schemeClr val="bg1"/>
                </a:solidFill>
                <a:latin typeface="黑体" pitchFamily="49" charset="-122"/>
                <a:ea typeface="黑体" pitchFamily="49" charset="-122"/>
              </a:rPr>
              <a:t>通过运输费用、劳动力费用及集聚因素相互作用的分析和计算，找出工业产品生产成本最低点作为工业企业的理想区位。</a:t>
            </a:r>
          </a:p>
          <a:p>
            <a:pPr eaLnBrk="1" hangingPunct="1">
              <a:lnSpc>
                <a:spcPct val="110000"/>
              </a:lnSpc>
              <a:buFontTx/>
              <a:buNone/>
            </a:pPr>
            <a:r>
              <a:rPr lang="zh-CN" altLang="en-US" sz="2000" smtClean="0">
                <a:solidFill>
                  <a:srgbClr val="FFFF00"/>
                </a:solidFill>
                <a:latin typeface="黑体" pitchFamily="49" charset="-122"/>
                <a:ea typeface="黑体" pitchFamily="49" charset="-122"/>
              </a:rPr>
              <a:t>（三）理论内容</a:t>
            </a: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hlinkClick r:id="rId2" action="ppaction://hlinksldjump"/>
              </a:rPr>
              <a:t>1. </a:t>
            </a:r>
            <a:r>
              <a:rPr lang="zh-CN" altLang="en-US" sz="2000" smtClean="0">
                <a:solidFill>
                  <a:schemeClr val="bg1"/>
                </a:solidFill>
                <a:latin typeface="黑体" pitchFamily="49" charset="-122"/>
                <a:ea typeface="黑体" pitchFamily="49" charset="-122"/>
                <a:hlinkClick r:id="rId2" action="ppaction://hlinksldjump"/>
              </a:rPr>
              <a:t>假设条件</a:t>
            </a:r>
            <a:endParaRPr lang="zh-CN" altLang="en-US" sz="2000" smtClean="0">
              <a:solidFill>
                <a:schemeClr val="bg1"/>
              </a:solidFill>
              <a:latin typeface="黑体" pitchFamily="49" charset="-122"/>
              <a:ea typeface="黑体" pitchFamily="49" charset="-122"/>
            </a:endParaRP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rPr>
              <a:t>2. </a:t>
            </a:r>
            <a:r>
              <a:rPr lang="zh-CN" altLang="en-US" sz="2000" smtClean="0">
                <a:solidFill>
                  <a:schemeClr val="bg1"/>
                </a:solidFill>
                <a:latin typeface="黑体" pitchFamily="49" charset="-122"/>
                <a:ea typeface="黑体" pitchFamily="49" charset="-122"/>
                <a:hlinkClick r:id="rId3" action="ppaction://hlinksldjump"/>
              </a:rPr>
              <a:t>寻求吨公里最低点</a:t>
            </a:r>
            <a:endParaRPr lang="zh-CN" altLang="en-US" sz="2000" smtClean="0">
              <a:solidFill>
                <a:schemeClr val="bg1"/>
              </a:solidFill>
              <a:latin typeface="黑体" pitchFamily="49" charset="-122"/>
              <a:ea typeface="黑体" pitchFamily="49" charset="-122"/>
            </a:endParaRP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rPr>
              <a:t>3. </a:t>
            </a:r>
            <a:r>
              <a:rPr lang="zh-CN" altLang="en-US" sz="2000" smtClean="0">
                <a:solidFill>
                  <a:schemeClr val="bg1"/>
                </a:solidFill>
                <a:latin typeface="黑体" pitchFamily="49" charset="-122"/>
                <a:ea typeface="黑体" pitchFamily="49" charset="-122"/>
              </a:rPr>
              <a:t>劳动力因素引起区位图形</a:t>
            </a:r>
            <a:r>
              <a:rPr lang="zh-CN" altLang="en-US" sz="2000" smtClean="0">
                <a:solidFill>
                  <a:schemeClr val="bg1"/>
                </a:solidFill>
                <a:latin typeface="黑体" pitchFamily="49" charset="-122"/>
                <a:ea typeface="黑体" pitchFamily="49" charset="-122"/>
                <a:hlinkClick r:id="rId4" action="ppaction://hlinksldjump"/>
              </a:rPr>
              <a:t>第一次变形</a:t>
            </a:r>
            <a:endParaRPr lang="zh-CN" altLang="en-US" sz="2000" smtClean="0">
              <a:solidFill>
                <a:schemeClr val="bg1"/>
              </a:solidFill>
              <a:latin typeface="黑体" pitchFamily="49" charset="-122"/>
              <a:ea typeface="黑体" pitchFamily="49" charset="-122"/>
            </a:endParaRP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rPr>
              <a:t>4. </a:t>
            </a:r>
            <a:r>
              <a:rPr lang="zh-CN" altLang="en-US" sz="2000" smtClean="0">
                <a:solidFill>
                  <a:schemeClr val="bg1"/>
                </a:solidFill>
                <a:latin typeface="黑体" pitchFamily="49" charset="-122"/>
                <a:ea typeface="黑体" pitchFamily="49" charset="-122"/>
              </a:rPr>
              <a:t>集聚因素引起区位图形</a:t>
            </a:r>
            <a:r>
              <a:rPr lang="zh-CN" altLang="en-US" sz="2000" smtClean="0">
                <a:solidFill>
                  <a:schemeClr val="bg1"/>
                </a:solidFill>
                <a:latin typeface="黑体" pitchFamily="49" charset="-122"/>
                <a:ea typeface="黑体" pitchFamily="49" charset="-122"/>
                <a:hlinkClick r:id="rId5" action="ppaction://hlinksldjump"/>
              </a:rPr>
              <a:t>第二次变形</a:t>
            </a:r>
            <a:endParaRPr lang="zh-CN" altLang="en-US" sz="2000" smtClean="0">
              <a:solidFill>
                <a:schemeClr val="bg1"/>
              </a:solidFill>
              <a:latin typeface="黑体" pitchFamily="49" charset="-122"/>
              <a:ea typeface="黑体" pitchFamily="49" charset="-122"/>
            </a:endParaRPr>
          </a:p>
          <a:p>
            <a:pPr eaLnBrk="1" hangingPunct="1">
              <a:lnSpc>
                <a:spcPct val="110000"/>
              </a:lnSpc>
              <a:buFontTx/>
              <a:buNone/>
            </a:pPr>
            <a:r>
              <a:rPr lang="zh-CN" altLang="en-US" sz="2000" smtClean="0">
                <a:solidFill>
                  <a:srgbClr val="FFFF00"/>
                </a:solidFill>
                <a:latin typeface="黑体" pitchFamily="49" charset="-122"/>
                <a:ea typeface="黑体" pitchFamily="49" charset="-122"/>
              </a:rPr>
              <a:t>（四）评价</a:t>
            </a: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rPr>
              <a:t>1. </a:t>
            </a:r>
            <a:r>
              <a:rPr lang="zh-CN" altLang="en-US" sz="2000" smtClean="0">
                <a:solidFill>
                  <a:schemeClr val="bg1"/>
                </a:solidFill>
                <a:latin typeface="黑体" pitchFamily="49" charset="-122"/>
                <a:ea typeface="黑体" pitchFamily="49" charset="-122"/>
              </a:rPr>
              <a:t>应用研究</a:t>
            </a: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rPr>
              <a:t>2. </a:t>
            </a:r>
            <a:r>
              <a:rPr lang="zh-CN" altLang="en-US" sz="2000" smtClean="0">
                <a:solidFill>
                  <a:schemeClr val="bg1"/>
                </a:solidFill>
                <a:latin typeface="黑体" pitchFamily="49" charset="-122"/>
                <a:ea typeface="黑体" pitchFamily="49" charset="-122"/>
              </a:rPr>
              <a:t>理论意义</a:t>
            </a:r>
          </a:p>
          <a:p>
            <a:pPr eaLnBrk="1" hangingPunct="1">
              <a:lnSpc>
                <a:spcPct val="110000"/>
              </a:lnSpc>
              <a:buFontTx/>
              <a:buNone/>
            </a:pPr>
            <a:r>
              <a:rPr lang="zh-CN" altLang="en-US" sz="2000" smtClean="0">
                <a:solidFill>
                  <a:schemeClr val="bg1"/>
                </a:solidFill>
                <a:latin typeface="黑体" pitchFamily="49" charset="-122"/>
                <a:ea typeface="黑体" pitchFamily="49" charset="-122"/>
              </a:rPr>
              <a:t>   </a:t>
            </a:r>
            <a:r>
              <a:rPr lang="en-US" altLang="zh-CN" sz="2000" smtClean="0">
                <a:solidFill>
                  <a:schemeClr val="bg1"/>
                </a:solidFill>
                <a:latin typeface="黑体" pitchFamily="49" charset="-122"/>
                <a:ea typeface="黑体" pitchFamily="49" charset="-122"/>
              </a:rPr>
              <a:t>3. </a:t>
            </a:r>
            <a:r>
              <a:rPr lang="zh-CN" altLang="en-US" sz="2000" smtClean="0">
                <a:solidFill>
                  <a:schemeClr val="bg1"/>
                </a:solidFill>
                <a:latin typeface="黑体" pitchFamily="49" charset="-122"/>
                <a:ea typeface="黑体" pitchFamily="49" charset="-122"/>
                <a:hlinkClick r:id="rId6" action="ppaction://hlinksldjump"/>
              </a:rPr>
              <a:t>理论与现实</a:t>
            </a:r>
            <a:endParaRPr lang="zh-CN" altLang="en-US" sz="2000" smtClean="0">
              <a:solidFill>
                <a:schemeClr val="bg1"/>
              </a:solidFill>
              <a:latin typeface="黑体" pitchFamily="49" charset="-122"/>
              <a:ea typeface="黑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2771">
                                            <p:txEl>
                                              <p:pRg st="0" end="0"/>
                                            </p:txEl>
                                          </p:spTgt>
                                        </p:tgtEl>
                                        <p:attrNameLst>
                                          <p:attrName>style.visibility</p:attrName>
                                        </p:attrNameLst>
                                      </p:cBhvr>
                                      <p:to>
                                        <p:strVal val="visible"/>
                                      </p:to>
                                    </p:set>
                                    <p:anim calcmode="lin" valueType="num">
                                      <p:cBhvr additive="base">
                                        <p:cTn id="7" dur="500" fill="hold"/>
                                        <p:tgtEl>
                                          <p:spTgt spid="3277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27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2771">
                                            <p:txEl>
                                              <p:pRg st="1" end="1"/>
                                            </p:txEl>
                                          </p:spTgt>
                                        </p:tgtEl>
                                        <p:attrNameLst>
                                          <p:attrName>style.visibility</p:attrName>
                                        </p:attrNameLst>
                                      </p:cBhvr>
                                      <p:to>
                                        <p:strVal val="visible"/>
                                      </p:to>
                                    </p:set>
                                    <p:anim calcmode="lin" valueType="num">
                                      <p:cBhvr additive="base">
                                        <p:cTn id="13" dur="500" fill="hold"/>
                                        <p:tgtEl>
                                          <p:spTgt spid="3277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277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2771">
                                            <p:txEl>
                                              <p:pRg st="2" end="2"/>
                                            </p:txEl>
                                          </p:spTgt>
                                        </p:tgtEl>
                                        <p:attrNameLst>
                                          <p:attrName>style.visibility</p:attrName>
                                        </p:attrNameLst>
                                      </p:cBhvr>
                                      <p:to>
                                        <p:strVal val="visible"/>
                                      </p:to>
                                    </p:set>
                                    <p:anim calcmode="lin" valueType="num">
                                      <p:cBhvr additive="base">
                                        <p:cTn id="19" dur="500" fill="hold"/>
                                        <p:tgtEl>
                                          <p:spTgt spid="3277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277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2771">
                                            <p:txEl>
                                              <p:pRg st="3" end="3"/>
                                            </p:txEl>
                                          </p:spTgt>
                                        </p:tgtEl>
                                        <p:attrNameLst>
                                          <p:attrName>style.visibility</p:attrName>
                                        </p:attrNameLst>
                                      </p:cBhvr>
                                      <p:to>
                                        <p:strVal val="visible"/>
                                      </p:to>
                                    </p:set>
                                    <p:anim calcmode="lin" valueType="num">
                                      <p:cBhvr additive="base">
                                        <p:cTn id="25" dur="500" fill="hold"/>
                                        <p:tgtEl>
                                          <p:spTgt spid="3277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2771">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2771">
                                            <p:txEl>
                                              <p:pRg st="4" end="4"/>
                                            </p:txEl>
                                          </p:spTgt>
                                        </p:tgtEl>
                                        <p:attrNameLst>
                                          <p:attrName>style.visibility</p:attrName>
                                        </p:attrNameLst>
                                      </p:cBhvr>
                                      <p:to>
                                        <p:strVal val="visible"/>
                                      </p:to>
                                    </p:set>
                                    <p:anim calcmode="lin" valueType="num">
                                      <p:cBhvr additive="base">
                                        <p:cTn id="31" dur="500" fill="hold"/>
                                        <p:tgtEl>
                                          <p:spTgt spid="32771">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2771">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2771">
                                            <p:txEl>
                                              <p:pRg st="5" end="5"/>
                                            </p:txEl>
                                          </p:spTgt>
                                        </p:tgtEl>
                                        <p:attrNameLst>
                                          <p:attrName>style.visibility</p:attrName>
                                        </p:attrNameLst>
                                      </p:cBhvr>
                                      <p:to>
                                        <p:strVal val="visible"/>
                                      </p:to>
                                    </p:set>
                                    <p:anim calcmode="lin" valueType="num">
                                      <p:cBhvr additive="base">
                                        <p:cTn id="37" dur="500" fill="hold"/>
                                        <p:tgtEl>
                                          <p:spTgt spid="32771">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2771">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2771">
                                            <p:txEl>
                                              <p:pRg st="6" end="6"/>
                                            </p:txEl>
                                          </p:spTgt>
                                        </p:tgtEl>
                                        <p:attrNameLst>
                                          <p:attrName>style.visibility</p:attrName>
                                        </p:attrNameLst>
                                      </p:cBhvr>
                                      <p:to>
                                        <p:strVal val="visible"/>
                                      </p:to>
                                    </p:set>
                                    <p:anim calcmode="lin" valueType="num">
                                      <p:cBhvr additive="base">
                                        <p:cTn id="43" dur="500" fill="hold"/>
                                        <p:tgtEl>
                                          <p:spTgt spid="32771">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2771">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2771">
                                            <p:txEl>
                                              <p:pRg st="7" end="7"/>
                                            </p:txEl>
                                          </p:spTgt>
                                        </p:tgtEl>
                                        <p:attrNameLst>
                                          <p:attrName>style.visibility</p:attrName>
                                        </p:attrNameLst>
                                      </p:cBhvr>
                                      <p:to>
                                        <p:strVal val="visible"/>
                                      </p:to>
                                    </p:set>
                                    <p:anim calcmode="lin" valueType="num">
                                      <p:cBhvr additive="base">
                                        <p:cTn id="49" dur="500" fill="hold"/>
                                        <p:tgtEl>
                                          <p:spTgt spid="32771">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2771">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2771">
                                            <p:txEl>
                                              <p:pRg st="8" end="8"/>
                                            </p:txEl>
                                          </p:spTgt>
                                        </p:tgtEl>
                                        <p:attrNameLst>
                                          <p:attrName>style.visibility</p:attrName>
                                        </p:attrNameLst>
                                      </p:cBhvr>
                                      <p:to>
                                        <p:strVal val="visible"/>
                                      </p:to>
                                    </p:set>
                                    <p:anim calcmode="lin" valueType="num">
                                      <p:cBhvr additive="base">
                                        <p:cTn id="55" dur="500" fill="hold"/>
                                        <p:tgtEl>
                                          <p:spTgt spid="32771">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2771">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2771">
                                            <p:txEl>
                                              <p:pRg st="9" end="9"/>
                                            </p:txEl>
                                          </p:spTgt>
                                        </p:tgtEl>
                                        <p:attrNameLst>
                                          <p:attrName>style.visibility</p:attrName>
                                        </p:attrNameLst>
                                      </p:cBhvr>
                                      <p:to>
                                        <p:strVal val="visible"/>
                                      </p:to>
                                    </p:set>
                                    <p:anim calcmode="lin" valueType="num">
                                      <p:cBhvr additive="base">
                                        <p:cTn id="61" dur="500" fill="hold"/>
                                        <p:tgtEl>
                                          <p:spTgt spid="32771">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2771">
                                            <p:txEl>
                                              <p:pRg st="9" end="9"/>
                                            </p:txEl>
                                          </p:spTgt>
                                        </p:tgtEl>
                                        <p:attrNameLst>
                                          <p:attrName>ppt_y</p:attrName>
                                        </p:attrNameLst>
                                      </p:cBhvr>
                                      <p:tavLst>
                                        <p:tav tm="0">
                                          <p:val>
                                            <p:strVal val="1+#ppt_h/2"/>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4" fill="hold" grpId="0" nodeType="clickEffect">
                                  <p:stCondLst>
                                    <p:cond delay="0"/>
                                  </p:stCondLst>
                                  <p:childTnLst>
                                    <p:set>
                                      <p:cBhvr>
                                        <p:cTn id="66" dur="1" fill="hold">
                                          <p:stCondLst>
                                            <p:cond delay="0"/>
                                          </p:stCondLst>
                                        </p:cTn>
                                        <p:tgtEl>
                                          <p:spTgt spid="32771">
                                            <p:txEl>
                                              <p:pRg st="10" end="10"/>
                                            </p:txEl>
                                          </p:spTgt>
                                        </p:tgtEl>
                                        <p:attrNameLst>
                                          <p:attrName>style.visibility</p:attrName>
                                        </p:attrNameLst>
                                      </p:cBhvr>
                                      <p:to>
                                        <p:strVal val="visible"/>
                                      </p:to>
                                    </p:set>
                                    <p:anim calcmode="lin" valueType="num">
                                      <p:cBhvr additive="base">
                                        <p:cTn id="67" dur="500" fill="hold"/>
                                        <p:tgtEl>
                                          <p:spTgt spid="32771">
                                            <p:txEl>
                                              <p:pRg st="10" end="10"/>
                                            </p:txEl>
                                          </p:spTgt>
                                        </p:tgtEl>
                                        <p:attrNameLst>
                                          <p:attrName>ppt_x</p:attrName>
                                        </p:attrNameLst>
                                      </p:cBhvr>
                                      <p:tavLst>
                                        <p:tav tm="0">
                                          <p:val>
                                            <p:strVal val="#ppt_x"/>
                                          </p:val>
                                        </p:tav>
                                        <p:tav tm="100000">
                                          <p:val>
                                            <p:strVal val="#ppt_x"/>
                                          </p:val>
                                        </p:tav>
                                      </p:tavLst>
                                    </p:anim>
                                    <p:anim calcmode="lin" valueType="num">
                                      <p:cBhvr additive="base">
                                        <p:cTn id="68" dur="500" fill="hold"/>
                                        <p:tgtEl>
                                          <p:spTgt spid="32771">
                                            <p:txEl>
                                              <p:pRg st="10" end="10"/>
                                            </p:txEl>
                                          </p:spTgt>
                                        </p:tgtEl>
                                        <p:attrNameLst>
                                          <p:attrName>ppt_y</p:attrName>
                                        </p:attrNameLst>
                                      </p:cBhvr>
                                      <p:tavLst>
                                        <p:tav tm="0">
                                          <p:val>
                                            <p:strVal val="1+#ppt_h/2"/>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4" fill="hold" grpId="0" nodeType="clickEffect">
                                  <p:stCondLst>
                                    <p:cond delay="0"/>
                                  </p:stCondLst>
                                  <p:childTnLst>
                                    <p:set>
                                      <p:cBhvr>
                                        <p:cTn id="72" dur="1" fill="hold">
                                          <p:stCondLst>
                                            <p:cond delay="0"/>
                                          </p:stCondLst>
                                        </p:cTn>
                                        <p:tgtEl>
                                          <p:spTgt spid="32771">
                                            <p:txEl>
                                              <p:pRg st="11" end="11"/>
                                            </p:txEl>
                                          </p:spTgt>
                                        </p:tgtEl>
                                        <p:attrNameLst>
                                          <p:attrName>style.visibility</p:attrName>
                                        </p:attrNameLst>
                                      </p:cBhvr>
                                      <p:to>
                                        <p:strVal val="visible"/>
                                      </p:to>
                                    </p:set>
                                    <p:anim calcmode="lin" valueType="num">
                                      <p:cBhvr additive="base">
                                        <p:cTn id="73" dur="500" fill="hold"/>
                                        <p:tgtEl>
                                          <p:spTgt spid="32771">
                                            <p:txEl>
                                              <p:pRg st="11" end="11"/>
                                            </p:txEl>
                                          </p:spTgt>
                                        </p:tgtEl>
                                        <p:attrNameLst>
                                          <p:attrName>ppt_x</p:attrName>
                                        </p:attrNameLst>
                                      </p:cBhvr>
                                      <p:tavLst>
                                        <p:tav tm="0">
                                          <p:val>
                                            <p:strVal val="#ppt_x"/>
                                          </p:val>
                                        </p:tav>
                                        <p:tav tm="100000">
                                          <p:val>
                                            <p:strVal val="#ppt_x"/>
                                          </p:val>
                                        </p:tav>
                                      </p:tavLst>
                                    </p:anim>
                                    <p:anim calcmode="lin" valueType="num">
                                      <p:cBhvr additive="base">
                                        <p:cTn id="74" dur="500" fill="hold"/>
                                        <p:tgtEl>
                                          <p:spTgt spid="3277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771" grpId="0" build="p" autoUpdateAnimBg="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468313" y="692150"/>
            <a:ext cx="8229600" cy="706438"/>
          </a:xfrm>
        </p:spPr>
        <p:txBody>
          <a:bodyPr/>
          <a:lstStyle/>
          <a:p>
            <a:pPr algn="l" eaLnBrk="1" hangingPunct="1"/>
            <a:r>
              <a:rPr lang="en-US" altLang="zh-CN" sz="3200" smtClean="0">
                <a:solidFill>
                  <a:srgbClr val="FFFF00"/>
                </a:solidFill>
                <a:latin typeface="黑体" pitchFamily="49" charset="-122"/>
                <a:ea typeface="黑体" pitchFamily="49" charset="-122"/>
              </a:rPr>
              <a:t>1 </a:t>
            </a:r>
            <a:r>
              <a:rPr lang="zh-CN" altLang="en-US" sz="3200" smtClean="0">
                <a:solidFill>
                  <a:srgbClr val="FFFF00"/>
                </a:solidFill>
                <a:latin typeface="黑体" pitchFamily="49" charset="-122"/>
                <a:ea typeface="黑体" pitchFamily="49" charset="-122"/>
              </a:rPr>
              <a:t>假设条件</a:t>
            </a:r>
          </a:p>
        </p:txBody>
      </p:sp>
      <p:sp>
        <p:nvSpPr>
          <p:cNvPr id="53251" name="Rectangle 3"/>
          <p:cNvSpPr>
            <a:spLocks noGrp="1" noChangeArrowheads="1"/>
          </p:cNvSpPr>
          <p:nvPr>
            <p:ph type="body" idx="1"/>
          </p:nvPr>
        </p:nvSpPr>
        <p:spPr>
          <a:xfrm>
            <a:off x="971550" y="1557338"/>
            <a:ext cx="7643813" cy="4537075"/>
          </a:xfrm>
        </p:spPr>
        <p:txBody>
          <a:bodyPr/>
          <a:lstStyle/>
          <a:p>
            <a:pPr eaLnBrk="1" hangingPunct="1">
              <a:lnSpc>
                <a:spcPct val="13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1</a:t>
            </a:r>
            <a:r>
              <a:rPr lang="zh-CN" altLang="en-US" sz="2400" smtClean="0">
                <a:solidFill>
                  <a:schemeClr val="bg1"/>
                </a:solidFill>
                <a:latin typeface="黑体" pitchFamily="49" charset="-122"/>
                <a:ea typeface="黑体" pitchFamily="49" charset="-122"/>
              </a:rPr>
              <a:t>）所分析的对象是一个孤立的国家或特点的区域，工业区位只探讨其经济因素；</a:t>
            </a:r>
          </a:p>
          <a:p>
            <a:pPr eaLnBrk="1" hangingPunct="1">
              <a:lnSpc>
                <a:spcPct val="13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2</a:t>
            </a:r>
            <a:r>
              <a:rPr lang="zh-CN" altLang="en-US" sz="2400" smtClean="0">
                <a:solidFill>
                  <a:schemeClr val="bg1"/>
                </a:solidFill>
                <a:latin typeface="黑体" pitchFamily="49" charset="-122"/>
                <a:ea typeface="黑体" pitchFamily="49" charset="-122"/>
              </a:rPr>
              <a:t>）工业原料产地事先确定，生产条件不变；消费地为已知点，需求量不变；劳动力供给地为已知点，供给情况不变，工资固定；</a:t>
            </a:r>
          </a:p>
          <a:p>
            <a:pPr eaLnBrk="1" hangingPunct="1">
              <a:lnSpc>
                <a:spcPct val="13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3</a:t>
            </a:r>
            <a:r>
              <a:rPr lang="zh-CN" altLang="en-US" sz="2400" smtClean="0">
                <a:solidFill>
                  <a:schemeClr val="bg1"/>
                </a:solidFill>
                <a:latin typeface="黑体" pitchFamily="49" charset="-122"/>
                <a:ea typeface="黑体" pitchFamily="49" charset="-122"/>
              </a:rPr>
              <a:t>）生产和交易均就同一品种进行讨论；</a:t>
            </a:r>
          </a:p>
          <a:p>
            <a:pPr eaLnBrk="1" hangingPunct="1">
              <a:lnSpc>
                <a:spcPct val="135000"/>
              </a:lnSpc>
              <a:buFontTx/>
              <a:buNone/>
            </a:pPr>
            <a:r>
              <a:rPr lang="zh-CN" altLang="en-US" sz="2400" smtClean="0">
                <a:solidFill>
                  <a:schemeClr val="bg1"/>
                </a:solidFill>
                <a:latin typeface="黑体" pitchFamily="49" charset="-122"/>
                <a:ea typeface="黑体" pitchFamily="49" charset="-122"/>
              </a:rPr>
              <a:t>（</a:t>
            </a:r>
            <a:r>
              <a:rPr lang="en-US" altLang="zh-CN" sz="2400" smtClean="0">
                <a:solidFill>
                  <a:schemeClr val="bg1"/>
                </a:solidFill>
                <a:latin typeface="黑体" pitchFamily="49" charset="-122"/>
                <a:ea typeface="黑体" pitchFamily="49" charset="-122"/>
              </a:rPr>
              <a:t>4</a:t>
            </a:r>
            <a:r>
              <a:rPr lang="zh-CN" altLang="en-US" sz="2400" smtClean="0">
                <a:solidFill>
                  <a:schemeClr val="bg1"/>
                </a:solidFill>
                <a:latin typeface="黑体" pitchFamily="49" charset="-122"/>
                <a:ea typeface="黑体" pitchFamily="49" charset="-122"/>
              </a:rPr>
              <a:t>）运输费用是重量和距离的函数，运输方式为火车；</a:t>
            </a:r>
          </a:p>
        </p:txBody>
      </p:sp>
      <p:sp>
        <p:nvSpPr>
          <p:cNvPr id="16388" name="AutoShape 4">
            <a:hlinkClick r:id="rId2" action="ppaction://hlinksldjump"/>
          </p:cNvPr>
          <p:cNvSpPr>
            <a:spLocks noChangeArrowheads="1"/>
          </p:cNvSpPr>
          <p:nvPr/>
        </p:nvSpPr>
        <p:spPr bwMode="auto">
          <a:xfrm>
            <a:off x="8243888" y="6021388"/>
            <a:ext cx="288925" cy="431800"/>
          </a:xfrm>
          <a:prstGeom prst="upArrow">
            <a:avLst>
              <a:gd name="adj1" fmla="val 50000"/>
              <a:gd name="adj2" fmla="val 37363"/>
            </a:avLst>
          </a:prstGeom>
          <a:solidFill>
            <a:srgbClr val="FF00FF"/>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3251">
                                            <p:txEl>
                                              <p:pRg st="0" end="0"/>
                                            </p:txEl>
                                          </p:spTgt>
                                        </p:tgtEl>
                                        <p:attrNameLst>
                                          <p:attrName>style.visibility</p:attrName>
                                        </p:attrNameLst>
                                      </p:cBhvr>
                                      <p:to>
                                        <p:strVal val="visible"/>
                                      </p:to>
                                    </p:set>
                                    <p:anim calcmode="lin" valueType="num">
                                      <p:cBhvr additive="base">
                                        <p:cTn id="7" dur="500" fill="hold"/>
                                        <p:tgtEl>
                                          <p:spTgt spid="53251">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325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3251">
                                            <p:txEl>
                                              <p:pRg st="1" end="1"/>
                                            </p:txEl>
                                          </p:spTgt>
                                        </p:tgtEl>
                                        <p:attrNameLst>
                                          <p:attrName>style.visibility</p:attrName>
                                        </p:attrNameLst>
                                      </p:cBhvr>
                                      <p:to>
                                        <p:strVal val="visible"/>
                                      </p:to>
                                    </p:set>
                                    <p:anim calcmode="lin" valueType="num">
                                      <p:cBhvr additive="base">
                                        <p:cTn id="13" dur="500" fill="hold"/>
                                        <p:tgtEl>
                                          <p:spTgt spid="53251">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325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3251">
                                            <p:txEl>
                                              <p:pRg st="2" end="2"/>
                                            </p:txEl>
                                          </p:spTgt>
                                        </p:tgtEl>
                                        <p:attrNameLst>
                                          <p:attrName>style.visibility</p:attrName>
                                        </p:attrNameLst>
                                      </p:cBhvr>
                                      <p:to>
                                        <p:strVal val="visible"/>
                                      </p:to>
                                    </p:set>
                                    <p:anim calcmode="lin" valueType="num">
                                      <p:cBhvr additive="base">
                                        <p:cTn id="19" dur="500" fill="hold"/>
                                        <p:tgtEl>
                                          <p:spTgt spid="53251">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325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3251">
                                            <p:txEl>
                                              <p:pRg st="3" end="3"/>
                                            </p:txEl>
                                          </p:spTgt>
                                        </p:tgtEl>
                                        <p:attrNameLst>
                                          <p:attrName>style.visibility</p:attrName>
                                        </p:attrNameLst>
                                      </p:cBhvr>
                                      <p:to>
                                        <p:strVal val="visible"/>
                                      </p:to>
                                    </p:set>
                                    <p:anim calcmode="lin" valueType="num">
                                      <p:cBhvr additive="base">
                                        <p:cTn id="25" dur="500" fill="hold"/>
                                        <p:tgtEl>
                                          <p:spTgt spid="53251">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325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5" name="Rectangle 3"/>
          <p:cNvSpPr>
            <a:spLocks noGrp="1" noChangeArrowheads="1"/>
          </p:cNvSpPr>
          <p:nvPr>
            <p:ph type="body" idx="1"/>
          </p:nvPr>
        </p:nvSpPr>
        <p:spPr>
          <a:xfrm>
            <a:off x="457200" y="476250"/>
            <a:ext cx="8229600" cy="5649913"/>
          </a:xfrm>
        </p:spPr>
        <p:txBody>
          <a:bodyPr/>
          <a:lstStyle/>
          <a:p>
            <a:pPr eaLnBrk="1" hangingPunct="1">
              <a:buFontTx/>
              <a:buNone/>
            </a:pPr>
            <a:r>
              <a:rPr lang="zh-CN" altLang="en-US" sz="2400" smtClean="0">
                <a:solidFill>
                  <a:schemeClr val="bg1"/>
                </a:solidFill>
                <a:latin typeface="华文细黑" pitchFamily="2" charset="-122"/>
                <a:ea typeface="华文细黑" pitchFamily="2" charset="-122"/>
              </a:rPr>
              <a:t>假定</a:t>
            </a:r>
            <a:r>
              <a:rPr lang="en-US" altLang="zh-CN" sz="2400" smtClean="0">
                <a:solidFill>
                  <a:schemeClr val="bg1"/>
                </a:solidFill>
                <a:latin typeface="华文细黑" pitchFamily="2" charset="-122"/>
                <a:ea typeface="华文细黑" pitchFamily="2" charset="-122"/>
              </a:rPr>
              <a:t>1</a:t>
            </a:r>
            <a:r>
              <a:rPr lang="zh-CN" altLang="en-US" sz="2400" smtClean="0">
                <a:solidFill>
                  <a:schemeClr val="bg1"/>
                </a:solidFill>
                <a:latin typeface="华文细黑" pitchFamily="2" charset="-122"/>
                <a:ea typeface="华文细黑" pitchFamily="2" charset="-122"/>
              </a:rPr>
              <a:t>吨铁运到</a:t>
            </a:r>
            <a:r>
              <a:rPr lang="en-US" altLang="zh-CN" sz="2400" smtClean="0">
                <a:solidFill>
                  <a:schemeClr val="bg1"/>
                </a:solidFill>
                <a:latin typeface="华文细黑" pitchFamily="2" charset="-122"/>
                <a:ea typeface="华文细黑" pitchFamily="2" charset="-122"/>
              </a:rPr>
              <a:t>K</a:t>
            </a:r>
            <a:r>
              <a:rPr lang="zh-CN" altLang="en-US" sz="2400" smtClean="0">
                <a:solidFill>
                  <a:schemeClr val="bg1"/>
                </a:solidFill>
                <a:latin typeface="华文细黑" pitchFamily="2" charset="-122"/>
                <a:ea typeface="华文细黑" pitchFamily="2" charset="-122"/>
              </a:rPr>
              <a:t>，需</a:t>
            </a:r>
            <a:r>
              <a:rPr lang="en-US" altLang="zh-CN" sz="2400" smtClean="0">
                <a:solidFill>
                  <a:schemeClr val="bg1"/>
                </a:solidFill>
                <a:latin typeface="华文细黑" pitchFamily="2" charset="-122"/>
                <a:ea typeface="华文细黑" pitchFamily="2" charset="-122"/>
              </a:rPr>
              <a:t>M1</a:t>
            </a:r>
            <a:r>
              <a:rPr lang="zh-CN" altLang="en-US" sz="2400" smtClean="0">
                <a:solidFill>
                  <a:schemeClr val="bg1"/>
                </a:solidFill>
                <a:latin typeface="华文细黑" pitchFamily="2" charset="-122"/>
                <a:ea typeface="华文细黑" pitchFamily="2" charset="-122"/>
              </a:rPr>
              <a:t>吨铁矿和</a:t>
            </a:r>
            <a:r>
              <a:rPr lang="en-US" altLang="zh-CN" sz="2400" smtClean="0">
                <a:solidFill>
                  <a:schemeClr val="bg1"/>
                </a:solidFill>
                <a:latin typeface="华文细黑" pitchFamily="2" charset="-122"/>
                <a:ea typeface="华文细黑" pitchFamily="2" charset="-122"/>
              </a:rPr>
              <a:t>M2</a:t>
            </a:r>
            <a:r>
              <a:rPr lang="zh-CN" altLang="en-US" sz="2400" smtClean="0">
                <a:solidFill>
                  <a:schemeClr val="bg1"/>
                </a:solidFill>
                <a:latin typeface="华文细黑" pitchFamily="2" charset="-122"/>
                <a:ea typeface="华文细黑" pitchFamily="2" charset="-122"/>
              </a:rPr>
              <a:t>吨煤。假定生产地在</a:t>
            </a:r>
            <a:r>
              <a:rPr lang="en-US" altLang="zh-CN" sz="2400" smtClean="0">
                <a:solidFill>
                  <a:schemeClr val="bg1"/>
                </a:solidFill>
                <a:latin typeface="华文细黑" pitchFamily="2" charset="-122"/>
                <a:ea typeface="华文细黑" pitchFamily="2" charset="-122"/>
              </a:rPr>
              <a:t>M1</a:t>
            </a:r>
            <a:r>
              <a:rPr lang="zh-CN" altLang="en-US" sz="2400" smtClean="0">
                <a:solidFill>
                  <a:schemeClr val="bg1"/>
                </a:solidFill>
                <a:latin typeface="华文细黑" pitchFamily="2" charset="-122"/>
                <a:ea typeface="华文细黑" pitchFamily="2" charset="-122"/>
              </a:rPr>
              <a:t>，以</a:t>
            </a:r>
            <a:r>
              <a:rPr lang="en-US" altLang="zh-CN" sz="2400" smtClean="0">
                <a:solidFill>
                  <a:schemeClr val="bg1"/>
                </a:solidFill>
                <a:latin typeface="华文细黑" pitchFamily="2" charset="-122"/>
                <a:ea typeface="华文细黑" pitchFamily="2" charset="-122"/>
              </a:rPr>
              <a:t>f</a:t>
            </a:r>
            <a:r>
              <a:rPr lang="zh-CN" altLang="en-US" sz="2400" smtClean="0">
                <a:solidFill>
                  <a:schemeClr val="bg1"/>
                </a:solidFill>
                <a:latin typeface="华文细黑" pitchFamily="2" charset="-122"/>
                <a:ea typeface="华文细黑" pitchFamily="2" charset="-122"/>
              </a:rPr>
              <a:t>代表原料和成品每吨公里的运费，</a:t>
            </a:r>
          </a:p>
          <a:p>
            <a:pPr eaLnBrk="1" hangingPunct="1">
              <a:buFontTx/>
              <a:buNone/>
            </a:pPr>
            <a:r>
              <a:rPr lang="zh-CN" altLang="en-US" sz="2400" smtClean="0">
                <a:solidFill>
                  <a:schemeClr val="bg1"/>
                </a:solidFill>
                <a:latin typeface="华文细黑" pitchFamily="2" charset="-122"/>
                <a:ea typeface="华文细黑" pitchFamily="2" charset="-122"/>
              </a:rPr>
              <a:t>则：总运费</a:t>
            </a:r>
            <a:r>
              <a:rPr lang="en-US" altLang="zh-CN" sz="2400" smtClean="0">
                <a:solidFill>
                  <a:schemeClr val="bg1"/>
                </a:solidFill>
                <a:latin typeface="华文细黑" pitchFamily="2" charset="-122"/>
                <a:ea typeface="华文细黑" pitchFamily="2" charset="-122"/>
              </a:rPr>
              <a:t>F=</a:t>
            </a:r>
            <a:r>
              <a:rPr lang="zh-CN" altLang="en-US" sz="2400" smtClean="0">
                <a:solidFill>
                  <a:schemeClr val="bg1"/>
                </a:solidFill>
                <a:latin typeface="华文细黑" pitchFamily="2" charset="-122"/>
                <a:ea typeface="华文细黑" pitchFamily="2" charset="-122"/>
              </a:rPr>
              <a:t>（</a:t>
            </a:r>
            <a:r>
              <a:rPr lang="en-US" altLang="zh-CN" sz="2400" smtClean="0">
                <a:solidFill>
                  <a:schemeClr val="bg1"/>
                </a:solidFill>
                <a:latin typeface="华文细黑" pitchFamily="2" charset="-122"/>
                <a:ea typeface="华文细黑" pitchFamily="2" charset="-122"/>
              </a:rPr>
              <a:t>M</a:t>
            </a:r>
            <a:r>
              <a:rPr lang="en-US" altLang="zh-CN" sz="2400" baseline="-25000" smtClean="0">
                <a:solidFill>
                  <a:schemeClr val="bg1"/>
                </a:solidFill>
                <a:latin typeface="华文细黑" pitchFamily="2" charset="-122"/>
                <a:ea typeface="华文细黑" pitchFamily="2" charset="-122"/>
              </a:rPr>
              <a:t>2</a:t>
            </a:r>
            <a:r>
              <a:rPr lang="en-US" altLang="zh-CN" sz="2400" smtClean="0">
                <a:solidFill>
                  <a:schemeClr val="bg1"/>
                </a:solidFill>
                <a:latin typeface="华文细黑" pitchFamily="2" charset="-122"/>
                <a:ea typeface="华文细黑" pitchFamily="2" charset="-122"/>
              </a:rPr>
              <a:t>S</a:t>
            </a:r>
            <a:r>
              <a:rPr lang="en-US" altLang="zh-CN" sz="2400" baseline="-25000" smtClean="0">
                <a:solidFill>
                  <a:schemeClr val="bg1"/>
                </a:solidFill>
                <a:latin typeface="华文细黑" pitchFamily="2" charset="-122"/>
                <a:ea typeface="华文细黑" pitchFamily="2" charset="-122"/>
              </a:rPr>
              <a:t>k</a:t>
            </a:r>
            <a:r>
              <a:rPr lang="en-US" altLang="zh-CN" sz="2400" smtClean="0">
                <a:solidFill>
                  <a:schemeClr val="bg1"/>
                </a:solidFill>
                <a:latin typeface="华文细黑" pitchFamily="2" charset="-122"/>
                <a:ea typeface="华文细黑" pitchFamily="2" charset="-122"/>
              </a:rPr>
              <a:t>f)+(s</a:t>
            </a:r>
            <a:r>
              <a:rPr lang="en-US" altLang="zh-CN" sz="2400" baseline="-25000" smtClean="0">
                <a:solidFill>
                  <a:schemeClr val="bg1"/>
                </a:solidFill>
                <a:latin typeface="华文细黑" pitchFamily="2" charset="-122"/>
                <a:ea typeface="华文细黑" pitchFamily="2" charset="-122"/>
              </a:rPr>
              <a:t>2</a:t>
            </a:r>
            <a:r>
              <a:rPr lang="en-US" altLang="zh-CN" sz="2400" smtClean="0">
                <a:solidFill>
                  <a:schemeClr val="bg1"/>
                </a:solidFill>
                <a:latin typeface="华文细黑" pitchFamily="2" charset="-122"/>
                <a:ea typeface="华文细黑" pitchFamily="2" charset="-122"/>
              </a:rPr>
              <a:t>f)=f(m</a:t>
            </a:r>
            <a:r>
              <a:rPr lang="en-US" altLang="zh-CN" sz="2400" baseline="-25000" smtClean="0">
                <a:solidFill>
                  <a:schemeClr val="bg1"/>
                </a:solidFill>
                <a:latin typeface="华文细黑" pitchFamily="2" charset="-122"/>
                <a:ea typeface="华文细黑" pitchFamily="2" charset="-122"/>
              </a:rPr>
              <a:t>2</a:t>
            </a:r>
            <a:r>
              <a:rPr lang="en-US" altLang="zh-CN" sz="2400" smtClean="0">
                <a:solidFill>
                  <a:schemeClr val="bg1"/>
                </a:solidFill>
                <a:latin typeface="华文细黑" pitchFamily="2" charset="-122"/>
                <a:ea typeface="华文细黑" pitchFamily="2" charset="-122"/>
              </a:rPr>
              <a:t>s</a:t>
            </a:r>
            <a:r>
              <a:rPr lang="en-US" altLang="zh-CN" sz="2400" baseline="-25000" smtClean="0">
                <a:solidFill>
                  <a:schemeClr val="bg1"/>
                </a:solidFill>
                <a:latin typeface="华文细黑" pitchFamily="2" charset="-122"/>
                <a:ea typeface="华文细黑" pitchFamily="2" charset="-122"/>
              </a:rPr>
              <a:t>k</a:t>
            </a:r>
            <a:r>
              <a:rPr lang="en-US" altLang="zh-CN" sz="2400" smtClean="0">
                <a:solidFill>
                  <a:schemeClr val="bg1"/>
                </a:solidFill>
                <a:latin typeface="华文细黑" pitchFamily="2" charset="-122"/>
                <a:ea typeface="华文细黑" pitchFamily="2" charset="-122"/>
              </a:rPr>
              <a:t>+s</a:t>
            </a:r>
            <a:r>
              <a:rPr lang="en-US" altLang="zh-CN" sz="2400" baseline="-25000" smtClean="0">
                <a:solidFill>
                  <a:schemeClr val="bg1"/>
                </a:solidFill>
                <a:latin typeface="华文细黑" pitchFamily="2" charset="-122"/>
                <a:ea typeface="华文细黑" pitchFamily="2" charset="-122"/>
              </a:rPr>
              <a:t>2</a:t>
            </a:r>
            <a:r>
              <a:rPr lang="en-US" altLang="zh-CN" sz="2400" smtClean="0">
                <a:solidFill>
                  <a:schemeClr val="bg1"/>
                </a:solidFill>
                <a:latin typeface="华文细黑" pitchFamily="2" charset="-122"/>
                <a:ea typeface="华文细黑" pitchFamily="2" charset="-122"/>
              </a:rPr>
              <a:t>)</a:t>
            </a:r>
          </a:p>
          <a:p>
            <a:pPr eaLnBrk="1" hangingPunct="1">
              <a:buFontTx/>
              <a:buNone/>
            </a:pPr>
            <a:r>
              <a:rPr lang="zh-CN" altLang="en-US" sz="2400" smtClean="0">
                <a:solidFill>
                  <a:schemeClr val="bg1"/>
                </a:solidFill>
                <a:latin typeface="华文细黑" pitchFamily="2" charset="-122"/>
                <a:ea typeface="华文细黑" pitchFamily="2" charset="-122"/>
              </a:rPr>
              <a:t>如果设在</a:t>
            </a:r>
            <a:r>
              <a:rPr lang="en-US" altLang="zh-CN" sz="2400" smtClean="0">
                <a:solidFill>
                  <a:schemeClr val="bg1"/>
                </a:solidFill>
                <a:latin typeface="华文细黑" pitchFamily="2" charset="-122"/>
                <a:ea typeface="华文细黑" pitchFamily="2" charset="-122"/>
              </a:rPr>
              <a:t>P</a:t>
            </a:r>
            <a:r>
              <a:rPr lang="zh-CN" altLang="en-US" sz="2400" smtClean="0">
                <a:solidFill>
                  <a:schemeClr val="bg1"/>
                </a:solidFill>
                <a:latin typeface="华文细黑" pitchFamily="2" charset="-122"/>
                <a:ea typeface="华文细黑" pitchFamily="2" charset="-122"/>
              </a:rPr>
              <a:t>点，则</a:t>
            </a:r>
            <a:r>
              <a:rPr lang="en-US" altLang="zh-CN" sz="2400" smtClean="0">
                <a:solidFill>
                  <a:schemeClr val="bg1"/>
                </a:solidFill>
                <a:latin typeface="华文细黑" pitchFamily="2" charset="-122"/>
                <a:ea typeface="华文细黑" pitchFamily="2" charset="-122"/>
              </a:rPr>
              <a:t>F=(m</a:t>
            </a:r>
            <a:r>
              <a:rPr lang="en-US" altLang="zh-CN" sz="2400" baseline="-25000" smtClean="0">
                <a:solidFill>
                  <a:schemeClr val="bg1"/>
                </a:solidFill>
                <a:latin typeface="华文细黑" pitchFamily="2" charset="-122"/>
                <a:ea typeface="华文细黑" pitchFamily="2" charset="-122"/>
              </a:rPr>
              <a:t>1</a:t>
            </a:r>
            <a:r>
              <a:rPr lang="en-US" altLang="zh-CN" sz="2400" smtClean="0">
                <a:solidFill>
                  <a:schemeClr val="bg1"/>
                </a:solidFill>
                <a:latin typeface="华文细黑" pitchFamily="2" charset="-122"/>
                <a:ea typeface="华文细黑" pitchFamily="2" charset="-122"/>
              </a:rPr>
              <a:t>r</a:t>
            </a:r>
            <a:r>
              <a:rPr lang="en-US" altLang="zh-CN" sz="2400" baseline="-25000" smtClean="0">
                <a:solidFill>
                  <a:schemeClr val="bg1"/>
                </a:solidFill>
                <a:latin typeface="华文细黑" pitchFamily="2" charset="-122"/>
                <a:ea typeface="华文细黑" pitchFamily="2" charset="-122"/>
              </a:rPr>
              <a:t>1</a:t>
            </a:r>
            <a:r>
              <a:rPr lang="en-US" altLang="zh-CN" sz="2400" smtClean="0">
                <a:solidFill>
                  <a:schemeClr val="bg1"/>
                </a:solidFill>
                <a:latin typeface="华文细黑" pitchFamily="2" charset="-122"/>
                <a:ea typeface="华文细黑" pitchFamily="2" charset="-122"/>
              </a:rPr>
              <a:t>+m</a:t>
            </a:r>
            <a:r>
              <a:rPr lang="en-US" altLang="zh-CN" sz="2400" baseline="-25000" smtClean="0">
                <a:solidFill>
                  <a:schemeClr val="bg1"/>
                </a:solidFill>
                <a:latin typeface="华文细黑" pitchFamily="2" charset="-122"/>
                <a:ea typeface="华文细黑" pitchFamily="2" charset="-122"/>
              </a:rPr>
              <a:t>2</a:t>
            </a:r>
            <a:r>
              <a:rPr lang="en-US" altLang="zh-CN" sz="2400" smtClean="0">
                <a:solidFill>
                  <a:schemeClr val="bg1"/>
                </a:solidFill>
                <a:latin typeface="华文细黑" pitchFamily="2" charset="-122"/>
                <a:ea typeface="华文细黑" pitchFamily="2" charset="-122"/>
              </a:rPr>
              <a:t>r</a:t>
            </a:r>
            <a:r>
              <a:rPr lang="en-US" altLang="zh-CN" sz="2400" baseline="-25000" smtClean="0">
                <a:solidFill>
                  <a:schemeClr val="bg1"/>
                </a:solidFill>
                <a:latin typeface="华文细黑" pitchFamily="2" charset="-122"/>
                <a:ea typeface="华文细黑" pitchFamily="2" charset="-122"/>
              </a:rPr>
              <a:t>2</a:t>
            </a:r>
            <a:r>
              <a:rPr lang="en-US" altLang="zh-CN" sz="2400" smtClean="0">
                <a:solidFill>
                  <a:schemeClr val="bg1"/>
                </a:solidFill>
                <a:latin typeface="华文细黑" pitchFamily="2" charset="-122"/>
                <a:ea typeface="华文细黑" pitchFamily="2" charset="-122"/>
              </a:rPr>
              <a:t>+r</a:t>
            </a:r>
            <a:r>
              <a:rPr lang="en-US" altLang="zh-CN" sz="2400" baseline="-25000" smtClean="0">
                <a:solidFill>
                  <a:schemeClr val="bg1"/>
                </a:solidFill>
                <a:latin typeface="华文细黑" pitchFamily="2" charset="-122"/>
                <a:ea typeface="华文细黑" pitchFamily="2" charset="-122"/>
              </a:rPr>
              <a:t>k</a:t>
            </a:r>
            <a:r>
              <a:rPr lang="en-US" altLang="zh-CN" sz="2400" smtClean="0">
                <a:solidFill>
                  <a:schemeClr val="bg1"/>
                </a:solidFill>
                <a:latin typeface="华文细黑" pitchFamily="2" charset="-122"/>
                <a:ea typeface="华文细黑" pitchFamily="2" charset="-122"/>
              </a:rPr>
              <a:t>)f</a:t>
            </a:r>
          </a:p>
        </p:txBody>
      </p:sp>
      <p:sp>
        <p:nvSpPr>
          <p:cNvPr id="17411" name="Line 6"/>
          <p:cNvSpPr>
            <a:spLocks noChangeShapeType="1"/>
          </p:cNvSpPr>
          <p:nvPr/>
        </p:nvSpPr>
        <p:spPr bwMode="auto">
          <a:xfrm flipH="1">
            <a:off x="2051050" y="3429000"/>
            <a:ext cx="1873250" cy="1871663"/>
          </a:xfrm>
          <a:prstGeom prst="line">
            <a:avLst/>
          </a:prstGeom>
          <a:noFill/>
          <a:ln w="9525">
            <a:solidFill>
              <a:schemeClr val="bg1"/>
            </a:solidFill>
            <a:round/>
            <a:headEnd/>
            <a:tailEnd/>
          </a:ln>
        </p:spPr>
        <p:txBody>
          <a:bodyPr/>
          <a:lstStyle/>
          <a:p>
            <a:endParaRPr lang="zh-CN" altLang="en-US"/>
          </a:p>
        </p:txBody>
      </p:sp>
      <p:sp>
        <p:nvSpPr>
          <p:cNvPr id="17412" name="Line 7"/>
          <p:cNvSpPr>
            <a:spLocks noChangeShapeType="1"/>
          </p:cNvSpPr>
          <p:nvPr/>
        </p:nvSpPr>
        <p:spPr bwMode="auto">
          <a:xfrm>
            <a:off x="3924300" y="3429000"/>
            <a:ext cx="2087563" cy="1944688"/>
          </a:xfrm>
          <a:prstGeom prst="line">
            <a:avLst/>
          </a:prstGeom>
          <a:noFill/>
          <a:ln w="9525">
            <a:solidFill>
              <a:schemeClr val="bg1"/>
            </a:solidFill>
            <a:round/>
            <a:headEnd/>
            <a:tailEnd/>
          </a:ln>
        </p:spPr>
        <p:txBody>
          <a:bodyPr/>
          <a:lstStyle/>
          <a:p>
            <a:endParaRPr lang="zh-CN" altLang="en-US"/>
          </a:p>
        </p:txBody>
      </p:sp>
      <p:sp>
        <p:nvSpPr>
          <p:cNvPr id="17413" name="Line 8"/>
          <p:cNvSpPr>
            <a:spLocks noChangeShapeType="1"/>
          </p:cNvSpPr>
          <p:nvPr/>
        </p:nvSpPr>
        <p:spPr bwMode="auto">
          <a:xfrm>
            <a:off x="2051050" y="5300663"/>
            <a:ext cx="3960813" cy="73025"/>
          </a:xfrm>
          <a:prstGeom prst="line">
            <a:avLst/>
          </a:prstGeom>
          <a:noFill/>
          <a:ln w="9525">
            <a:solidFill>
              <a:schemeClr val="bg1"/>
            </a:solidFill>
            <a:round/>
            <a:headEnd/>
            <a:tailEnd/>
          </a:ln>
        </p:spPr>
        <p:txBody>
          <a:bodyPr/>
          <a:lstStyle/>
          <a:p>
            <a:endParaRPr lang="zh-CN" altLang="en-US"/>
          </a:p>
        </p:txBody>
      </p:sp>
      <p:sp>
        <p:nvSpPr>
          <p:cNvPr id="17414" name="Line 9"/>
          <p:cNvSpPr>
            <a:spLocks noChangeShapeType="1"/>
          </p:cNvSpPr>
          <p:nvPr/>
        </p:nvSpPr>
        <p:spPr bwMode="auto">
          <a:xfrm>
            <a:off x="3924300" y="3429000"/>
            <a:ext cx="0" cy="1079500"/>
          </a:xfrm>
          <a:prstGeom prst="line">
            <a:avLst/>
          </a:prstGeom>
          <a:noFill/>
          <a:ln w="9525">
            <a:solidFill>
              <a:srgbClr val="FFFF00"/>
            </a:solidFill>
            <a:round/>
            <a:headEnd/>
            <a:tailEnd/>
          </a:ln>
        </p:spPr>
        <p:txBody>
          <a:bodyPr/>
          <a:lstStyle/>
          <a:p>
            <a:endParaRPr lang="zh-CN" altLang="en-US"/>
          </a:p>
        </p:txBody>
      </p:sp>
      <p:sp>
        <p:nvSpPr>
          <p:cNvPr id="17415" name="Line 10"/>
          <p:cNvSpPr>
            <a:spLocks noChangeShapeType="1"/>
          </p:cNvSpPr>
          <p:nvPr/>
        </p:nvSpPr>
        <p:spPr bwMode="auto">
          <a:xfrm flipH="1">
            <a:off x="2051050" y="4508500"/>
            <a:ext cx="1873250" cy="792163"/>
          </a:xfrm>
          <a:prstGeom prst="line">
            <a:avLst/>
          </a:prstGeom>
          <a:noFill/>
          <a:ln w="9525">
            <a:solidFill>
              <a:srgbClr val="FFFF00"/>
            </a:solidFill>
            <a:round/>
            <a:headEnd/>
            <a:tailEnd/>
          </a:ln>
        </p:spPr>
        <p:txBody>
          <a:bodyPr/>
          <a:lstStyle/>
          <a:p>
            <a:endParaRPr lang="zh-CN" altLang="en-US"/>
          </a:p>
        </p:txBody>
      </p:sp>
      <p:sp>
        <p:nvSpPr>
          <p:cNvPr id="17416" name="Line 11"/>
          <p:cNvSpPr>
            <a:spLocks noChangeShapeType="1"/>
          </p:cNvSpPr>
          <p:nvPr/>
        </p:nvSpPr>
        <p:spPr bwMode="auto">
          <a:xfrm>
            <a:off x="3924300" y="4508500"/>
            <a:ext cx="2087563" cy="865188"/>
          </a:xfrm>
          <a:prstGeom prst="line">
            <a:avLst/>
          </a:prstGeom>
          <a:noFill/>
          <a:ln w="9525">
            <a:solidFill>
              <a:srgbClr val="FFFF00"/>
            </a:solidFill>
            <a:round/>
            <a:headEnd/>
            <a:tailEnd/>
          </a:ln>
        </p:spPr>
        <p:txBody>
          <a:bodyPr/>
          <a:lstStyle/>
          <a:p>
            <a:endParaRPr lang="zh-CN" altLang="en-US"/>
          </a:p>
        </p:txBody>
      </p:sp>
      <p:sp>
        <p:nvSpPr>
          <p:cNvPr id="54284" name="Text Box 12"/>
          <p:cNvSpPr txBox="1">
            <a:spLocks noChangeArrowheads="1"/>
          </p:cNvSpPr>
          <p:nvPr/>
        </p:nvSpPr>
        <p:spPr bwMode="auto">
          <a:xfrm>
            <a:off x="3759200" y="3016250"/>
            <a:ext cx="2012950" cy="366713"/>
          </a:xfrm>
          <a:prstGeom prst="rect">
            <a:avLst/>
          </a:prstGeom>
          <a:noFill/>
          <a:ln w="9525">
            <a:noFill/>
            <a:miter lim="800000"/>
            <a:headEnd/>
            <a:tailEnd/>
          </a:ln>
        </p:spPr>
        <p:txBody>
          <a:bodyPr wrap="none">
            <a:spAutoFit/>
          </a:bodyPr>
          <a:lstStyle/>
          <a:p>
            <a:r>
              <a:rPr lang="en-US" altLang="zh-CN">
                <a:solidFill>
                  <a:schemeClr val="bg1"/>
                </a:solidFill>
              </a:rPr>
              <a:t>K(</a:t>
            </a:r>
            <a:r>
              <a:rPr lang="zh-CN" altLang="en-US">
                <a:solidFill>
                  <a:schemeClr val="bg1"/>
                </a:solidFill>
              </a:rPr>
              <a:t>铁的销售市场）</a:t>
            </a:r>
          </a:p>
        </p:txBody>
      </p:sp>
      <p:sp>
        <p:nvSpPr>
          <p:cNvPr id="54286" name="Text Box 14"/>
          <p:cNvSpPr txBox="1">
            <a:spLocks noChangeArrowheads="1"/>
          </p:cNvSpPr>
          <p:nvPr/>
        </p:nvSpPr>
        <p:spPr bwMode="auto">
          <a:xfrm>
            <a:off x="1743075" y="5321300"/>
            <a:ext cx="1720850" cy="366713"/>
          </a:xfrm>
          <a:prstGeom prst="rect">
            <a:avLst/>
          </a:prstGeom>
          <a:noFill/>
          <a:ln w="9525">
            <a:noFill/>
            <a:miter lim="800000"/>
            <a:headEnd/>
            <a:tailEnd/>
          </a:ln>
        </p:spPr>
        <p:txBody>
          <a:bodyPr wrap="none">
            <a:spAutoFit/>
          </a:bodyPr>
          <a:lstStyle/>
          <a:p>
            <a:r>
              <a:rPr lang="en-US" altLang="zh-CN">
                <a:solidFill>
                  <a:schemeClr val="bg1"/>
                </a:solidFill>
              </a:rPr>
              <a:t>M1(</a:t>
            </a:r>
            <a:r>
              <a:rPr lang="zh-CN" altLang="en-US">
                <a:solidFill>
                  <a:schemeClr val="bg1"/>
                </a:solidFill>
              </a:rPr>
              <a:t>铁矿产地）</a:t>
            </a:r>
          </a:p>
        </p:txBody>
      </p:sp>
      <p:sp>
        <p:nvSpPr>
          <p:cNvPr id="54287" name="Text Box 15"/>
          <p:cNvSpPr txBox="1">
            <a:spLocks noChangeArrowheads="1"/>
          </p:cNvSpPr>
          <p:nvPr/>
        </p:nvSpPr>
        <p:spPr bwMode="auto">
          <a:xfrm>
            <a:off x="5487988" y="5321300"/>
            <a:ext cx="1492250" cy="366713"/>
          </a:xfrm>
          <a:prstGeom prst="rect">
            <a:avLst/>
          </a:prstGeom>
          <a:noFill/>
          <a:ln w="9525">
            <a:noFill/>
            <a:miter lim="800000"/>
            <a:headEnd/>
            <a:tailEnd/>
          </a:ln>
        </p:spPr>
        <p:txBody>
          <a:bodyPr wrap="none">
            <a:spAutoFit/>
          </a:bodyPr>
          <a:lstStyle/>
          <a:p>
            <a:r>
              <a:rPr lang="en-US" altLang="zh-CN">
                <a:solidFill>
                  <a:schemeClr val="bg1"/>
                </a:solidFill>
              </a:rPr>
              <a:t>M2(</a:t>
            </a:r>
            <a:r>
              <a:rPr lang="zh-CN" altLang="en-US">
                <a:solidFill>
                  <a:schemeClr val="bg1"/>
                </a:solidFill>
              </a:rPr>
              <a:t>煤产地）</a:t>
            </a:r>
          </a:p>
        </p:txBody>
      </p:sp>
      <p:sp>
        <p:nvSpPr>
          <p:cNvPr id="54288" name="Text Box 16"/>
          <p:cNvSpPr txBox="1">
            <a:spLocks noChangeArrowheads="1"/>
          </p:cNvSpPr>
          <p:nvPr/>
        </p:nvSpPr>
        <p:spPr bwMode="auto">
          <a:xfrm>
            <a:off x="2608263" y="4024313"/>
            <a:ext cx="463550" cy="366712"/>
          </a:xfrm>
          <a:prstGeom prst="rect">
            <a:avLst/>
          </a:prstGeom>
          <a:noFill/>
          <a:ln w="9525">
            <a:noFill/>
            <a:miter lim="800000"/>
            <a:headEnd/>
            <a:tailEnd/>
          </a:ln>
        </p:spPr>
        <p:txBody>
          <a:bodyPr wrap="none">
            <a:spAutoFit/>
          </a:bodyPr>
          <a:lstStyle/>
          <a:p>
            <a:r>
              <a:rPr lang="en-US" altLang="zh-CN">
                <a:solidFill>
                  <a:schemeClr val="bg1"/>
                </a:solidFill>
              </a:rPr>
              <a:t>S2</a:t>
            </a:r>
          </a:p>
        </p:txBody>
      </p:sp>
      <p:sp>
        <p:nvSpPr>
          <p:cNvPr id="54289" name="Text Box 17"/>
          <p:cNvSpPr txBox="1">
            <a:spLocks noChangeArrowheads="1"/>
          </p:cNvSpPr>
          <p:nvPr/>
        </p:nvSpPr>
        <p:spPr bwMode="auto">
          <a:xfrm>
            <a:off x="4767263" y="3952875"/>
            <a:ext cx="463550" cy="366713"/>
          </a:xfrm>
          <a:prstGeom prst="rect">
            <a:avLst/>
          </a:prstGeom>
          <a:noFill/>
          <a:ln w="9525">
            <a:noFill/>
            <a:miter lim="800000"/>
            <a:headEnd/>
            <a:tailEnd/>
          </a:ln>
        </p:spPr>
        <p:txBody>
          <a:bodyPr wrap="none">
            <a:spAutoFit/>
          </a:bodyPr>
          <a:lstStyle/>
          <a:p>
            <a:r>
              <a:rPr lang="en-US" altLang="zh-CN">
                <a:solidFill>
                  <a:schemeClr val="bg1"/>
                </a:solidFill>
              </a:rPr>
              <a:t>S1</a:t>
            </a:r>
          </a:p>
        </p:txBody>
      </p:sp>
      <p:sp>
        <p:nvSpPr>
          <p:cNvPr id="54290" name="Text Box 18"/>
          <p:cNvSpPr txBox="1">
            <a:spLocks noChangeArrowheads="1"/>
          </p:cNvSpPr>
          <p:nvPr/>
        </p:nvSpPr>
        <p:spPr bwMode="auto">
          <a:xfrm>
            <a:off x="3687763" y="5248275"/>
            <a:ext cx="450850" cy="366713"/>
          </a:xfrm>
          <a:prstGeom prst="rect">
            <a:avLst/>
          </a:prstGeom>
          <a:noFill/>
          <a:ln w="9525">
            <a:noFill/>
            <a:miter lim="800000"/>
            <a:headEnd/>
            <a:tailEnd/>
          </a:ln>
        </p:spPr>
        <p:txBody>
          <a:bodyPr wrap="none">
            <a:spAutoFit/>
          </a:bodyPr>
          <a:lstStyle/>
          <a:p>
            <a:r>
              <a:rPr lang="en-US" altLang="zh-CN">
                <a:solidFill>
                  <a:schemeClr val="bg1"/>
                </a:solidFill>
              </a:rPr>
              <a:t>Sk</a:t>
            </a:r>
          </a:p>
        </p:txBody>
      </p:sp>
      <p:sp>
        <p:nvSpPr>
          <p:cNvPr id="54291" name="Text Box 19"/>
          <p:cNvSpPr txBox="1">
            <a:spLocks noChangeArrowheads="1"/>
          </p:cNvSpPr>
          <p:nvPr/>
        </p:nvSpPr>
        <p:spPr bwMode="auto">
          <a:xfrm>
            <a:off x="3759200" y="4529138"/>
            <a:ext cx="336550" cy="366712"/>
          </a:xfrm>
          <a:prstGeom prst="rect">
            <a:avLst/>
          </a:prstGeom>
          <a:noFill/>
          <a:ln w="9525">
            <a:noFill/>
            <a:miter lim="800000"/>
            <a:headEnd/>
            <a:tailEnd/>
          </a:ln>
        </p:spPr>
        <p:txBody>
          <a:bodyPr wrap="none">
            <a:spAutoFit/>
          </a:bodyPr>
          <a:lstStyle/>
          <a:p>
            <a:r>
              <a:rPr lang="en-US" altLang="zh-CN">
                <a:solidFill>
                  <a:schemeClr val="bg1"/>
                </a:solidFill>
              </a:rPr>
              <a:t>P</a:t>
            </a:r>
          </a:p>
        </p:txBody>
      </p:sp>
      <p:sp>
        <p:nvSpPr>
          <p:cNvPr id="54292" name="Text Box 20"/>
          <p:cNvSpPr txBox="1">
            <a:spLocks noChangeArrowheads="1"/>
          </p:cNvSpPr>
          <p:nvPr/>
        </p:nvSpPr>
        <p:spPr bwMode="auto">
          <a:xfrm>
            <a:off x="3040063" y="4529138"/>
            <a:ext cx="387350" cy="366712"/>
          </a:xfrm>
          <a:prstGeom prst="rect">
            <a:avLst/>
          </a:prstGeom>
          <a:noFill/>
          <a:ln w="9525">
            <a:noFill/>
            <a:miter lim="800000"/>
            <a:headEnd/>
            <a:tailEnd/>
          </a:ln>
        </p:spPr>
        <p:txBody>
          <a:bodyPr wrap="none">
            <a:spAutoFit/>
          </a:bodyPr>
          <a:lstStyle/>
          <a:p>
            <a:r>
              <a:rPr lang="en-US" altLang="zh-CN">
                <a:solidFill>
                  <a:schemeClr val="bg1"/>
                </a:solidFill>
              </a:rPr>
              <a:t>r1</a:t>
            </a:r>
          </a:p>
        </p:txBody>
      </p:sp>
      <p:sp>
        <p:nvSpPr>
          <p:cNvPr id="54293" name="Text Box 21"/>
          <p:cNvSpPr txBox="1">
            <a:spLocks noChangeArrowheads="1"/>
          </p:cNvSpPr>
          <p:nvPr/>
        </p:nvSpPr>
        <p:spPr bwMode="auto">
          <a:xfrm>
            <a:off x="4408488" y="4456113"/>
            <a:ext cx="387350" cy="366712"/>
          </a:xfrm>
          <a:prstGeom prst="rect">
            <a:avLst/>
          </a:prstGeom>
          <a:noFill/>
          <a:ln w="9525">
            <a:noFill/>
            <a:miter lim="800000"/>
            <a:headEnd/>
            <a:tailEnd/>
          </a:ln>
        </p:spPr>
        <p:txBody>
          <a:bodyPr wrap="none">
            <a:spAutoFit/>
          </a:bodyPr>
          <a:lstStyle/>
          <a:p>
            <a:r>
              <a:rPr lang="en-US" altLang="zh-CN">
                <a:solidFill>
                  <a:schemeClr val="bg1"/>
                </a:solidFill>
              </a:rPr>
              <a:t>r2</a:t>
            </a:r>
          </a:p>
        </p:txBody>
      </p:sp>
      <p:sp>
        <p:nvSpPr>
          <p:cNvPr id="54294" name="Text Box 22"/>
          <p:cNvSpPr txBox="1">
            <a:spLocks noChangeArrowheads="1"/>
          </p:cNvSpPr>
          <p:nvPr/>
        </p:nvSpPr>
        <p:spPr bwMode="auto">
          <a:xfrm>
            <a:off x="3851275" y="3860800"/>
            <a:ext cx="374650" cy="366713"/>
          </a:xfrm>
          <a:prstGeom prst="rect">
            <a:avLst/>
          </a:prstGeom>
          <a:noFill/>
          <a:ln w="9525">
            <a:noFill/>
            <a:miter lim="800000"/>
            <a:headEnd/>
            <a:tailEnd/>
          </a:ln>
        </p:spPr>
        <p:txBody>
          <a:bodyPr wrap="none">
            <a:spAutoFit/>
          </a:bodyPr>
          <a:lstStyle/>
          <a:p>
            <a:r>
              <a:rPr lang="en-US" altLang="zh-CN">
                <a:solidFill>
                  <a:schemeClr val="bg1"/>
                </a:solidFill>
              </a:rPr>
              <a:t>rk</a:t>
            </a:r>
          </a:p>
        </p:txBody>
      </p:sp>
      <p:sp>
        <p:nvSpPr>
          <p:cNvPr id="54297" name="Line 25"/>
          <p:cNvSpPr>
            <a:spLocks noChangeShapeType="1"/>
          </p:cNvSpPr>
          <p:nvPr/>
        </p:nvSpPr>
        <p:spPr bwMode="auto">
          <a:xfrm>
            <a:off x="2051050" y="5300663"/>
            <a:ext cx="3960813" cy="73025"/>
          </a:xfrm>
          <a:prstGeom prst="line">
            <a:avLst/>
          </a:prstGeom>
          <a:noFill/>
          <a:ln w="9525">
            <a:solidFill>
              <a:schemeClr val="bg1"/>
            </a:solidFill>
            <a:round/>
            <a:headEnd/>
            <a:tailEnd/>
          </a:ln>
        </p:spPr>
        <p:txBody>
          <a:bodyPr/>
          <a:lstStyle/>
          <a:p>
            <a:endParaRPr lang="zh-CN" altLang="en-US"/>
          </a:p>
        </p:txBody>
      </p:sp>
      <p:sp>
        <p:nvSpPr>
          <p:cNvPr id="17428" name="Line 28"/>
          <p:cNvSpPr>
            <a:spLocks noChangeShapeType="1"/>
          </p:cNvSpPr>
          <p:nvPr/>
        </p:nvSpPr>
        <p:spPr bwMode="auto">
          <a:xfrm>
            <a:off x="3924300" y="3429000"/>
            <a:ext cx="0" cy="1079500"/>
          </a:xfrm>
          <a:prstGeom prst="line">
            <a:avLst/>
          </a:prstGeom>
          <a:noFill/>
          <a:ln w="9525">
            <a:solidFill>
              <a:srgbClr val="FFFF00"/>
            </a:solidFill>
            <a:round/>
            <a:headEnd/>
            <a:tailEnd/>
          </a:ln>
        </p:spPr>
        <p:txBody>
          <a:bodyPr/>
          <a:lstStyle/>
          <a:p>
            <a:endParaRPr lang="zh-CN" altLang="en-US"/>
          </a:p>
        </p:txBody>
      </p:sp>
      <p:sp>
        <p:nvSpPr>
          <p:cNvPr id="17429" name="Line 29"/>
          <p:cNvSpPr>
            <a:spLocks noChangeShapeType="1"/>
          </p:cNvSpPr>
          <p:nvPr/>
        </p:nvSpPr>
        <p:spPr bwMode="auto">
          <a:xfrm flipH="1">
            <a:off x="2051050" y="4508500"/>
            <a:ext cx="1873250" cy="792163"/>
          </a:xfrm>
          <a:prstGeom prst="line">
            <a:avLst/>
          </a:prstGeom>
          <a:noFill/>
          <a:ln w="9525">
            <a:solidFill>
              <a:srgbClr val="FFFF00"/>
            </a:solidFill>
            <a:round/>
            <a:headEnd/>
            <a:tailEnd/>
          </a:ln>
        </p:spPr>
        <p:txBody>
          <a:bodyPr/>
          <a:lstStyle/>
          <a:p>
            <a:endParaRPr lang="zh-CN" altLang="en-US"/>
          </a:p>
        </p:txBody>
      </p:sp>
      <p:sp>
        <p:nvSpPr>
          <p:cNvPr id="17430" name="Text Box 33"/>
          <p:cNvSpPr txBox="1">
            <a:spLocks noChangeArrowheads="1"/>
          </p:cNvSpPr>
          <p:nvPr/>
        </p:nvSpPr>
        <p:spPr bwMode="auto">
          <a:xfrm>
            <a:off x="3419475" y="6165850"/>
            <a:ext cx="1327150" cy="366713"/>
          </a:xfrm>
          <a:prstGeom prst="rect">
            <a:avLst/>
          </a:prstGeom>
          <a:noFill/>
          <a:ln w="9525">
            <a:noFill/>
            <a:miter lim="800000"/>
            <a:headEnd/>
            <a:tailEnd/>
          </a:ln>
        </p:spPr>
        <p:txBody>
          <a:bodyPr wrap="none">
            <a:spAutoFit/>
          </a:bodyPr>
          <a:lstStyle/>
          <a:p>
            <a:r>
              <a:rPr lang="zh-CN" altLang="en-US">
                <a:solidFill>
                  <a:schemeClr val="bg1"/>
                </a:solidFill>
              </a:rPr>
              <a:t>区位三角形</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4284"/>
                                        </p:tgtEl>
                                        <p:attrNameLst>
                                          <p:attrName>style.visibility</p:attrName>
                                        </p:attrNameLst>
                                      </p:cBhvr>
                                      <p:to>
                                        <p:strVal val="visible"/>
                                      </p:to>
                                    </p:set>
                                    <p:anim calcmode="lin" valueType="num">
                                      <p:cBhvr additive="base">
                                        <p:cTn id="7" dur="500" fill="hold"/>
                                        <p:tgtEl>
                                          <p:spTgt spid="54284"/>
                                        </p:tgtEl>
                                        <p:attrNameLst>
                                          <p:attrName>ppt_x</p:attrName>
                                        </p:attrNameLst>
                                      </p:cBhvr>
                                      <p:tavLst>
                                        <p:tav tm="0">
                                          <p:val>
                                            <p:strVal val="#ppt_x"/>
                                          </p:val>
                                        </p:tav>
                                        <p:tav tm="100000">
                                          <p:val>
                                            <p:strVal val="#ppt_x"/>
                                          </p:val>
                                        </p:tav>
                                      </p:tavLst>
                                    </p:anim>
                                    <p:anim calcmode="lin" valueType="num">
                                      <p:cBhvr additive="base">
                                        <p:cTn id="8" dur="500" fill="hold"/>
                                        <p:tgtEl>
                                          <p:spTgt spid="54284"/>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54286"/>
                                        </p:tgtEl>
                                        <p:attrNameLst>
                                          <p:attrName>style.visibility</p:attrName>
                                        </p:attrNameLst>
                                      </p:cBhvr>
                                      <p:to>
                                        <p:strVal val="visible"/>
                                      </p:to>
                                    </p:set>
                                    <p:anim calcmode="lin" valueType="num">
                                      <p:cBhvr additive="base">
                                        <p:cTn id="11" dur="500" fill="hold"/>
                                        <p:tgtEl>
                                          <p:spTgt spid="54286"/>
                                        </p:tgtEl>
                                        <p:attrNameLst>
                                          <p:attrName>ppt_x</p:attrName>
                                        </p:attrNameLst>
                                      </p:cBhvr>
                                      <p:tavLst>
                                        <p:tav tm="0">
                                          <p:val>
                                            <p:strVal val="#ppt_x"/>
                                          </p:val>
                                        </p:tav>
                                        <p:tav tm="100000">
                                          <p:val>
                                            <p:strVal val="#ppt_x"/>
                                          </p:val>
                                        </p:tav>
                                      </p:tavLst>
                                    </p:anim>
                                    <p:anim calcmode="lin" valueType="num">
                                      <p:cBhvr additive="base">
                                        <p:cTn id="12" dur="500" fill="hold"/>
                                        <p:tgtEl>
                                          <p:spTgt spid="54286"/>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4287"/>
                                        </p:tgtEl>
                                        <p:attrNameLst>
                                          <p:attrName>style.visibility</p:attrName>
                                        </p:attrNameLst>
                                      </p:cBhvr>
                                      <p:to>
                                        <p:strVal val="visible"/>
                                      </p:to>
                                    </p:set>
                                    <p:anim calcmode="lin" valueType="num">
                                      <p:cBhvr additive="base">
                                        <p:cTn id="15" dur="500" fill="hold"/>
                                        <p:tgtEl>
                                          <p:spTgt spid="54287"/>
                                        </p:tgtEl>
                                        <p:attrNameLst>
                                          <p:attrName>ppt_x</p:attrName>
                                        </p:attrNameLst>
                                      </p:cBhvr>
                                      <p:tavLst>
                                        <p:tav tm="0">
                                          <p:val>
                                            <p:strVal val="#ppt_x"/>
                                          </p:val>
                                        </p:tav>
                                        <p:tav tm="100000">
                                          <p:val>
                                            <p:strVal val="#ppt_x"/>
                                          </p:val>
                                        </p:tav>
                                      </p:tavLst>
                                    </p:anim>
                                    <p:anim calcmode="lin" valueType="num">
                                      <p:cBhvr additive="base">
                                        <p:cTn id="16" dur="500" fill="hold"/>
                                        <p:tgtEl>
                                          <p:spTgt spid="54287"/>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54297"/>
                                        </p:tgtEl>
                                        <p:attrNameLst>
                                          <p:attrName>style.visibility</p:attrName>
                                        </p:attrNameLst>
                                      </p:cBhvr>
                                      <p:to>
                                        <p:strVal val="visible"/>
                                      </p:to>
                                    </p:set>
                                    <p:anim calcmode="lin" valueType="num">
                                      <p:cBhvr additive="base">
                                        <p:cTn id="19" dur="500" fill="hold"/>
                                        <p:tgtEl>
                                          <p:spTgt spid="54297"/>
                                        </p:tgtEl>
                                        <p:attrNameLst>
                                          <p:attrName>ppt_x</p:attrName>
                                        </p:attrNameLst>
                                      </p:cBhvr>
                                      <p:tavLst>
                                        <p:tav tm="0">
                                          <p:val>
                                            <p:strVal val="#ppt_x"/>
                                          </p:val>
                                        </p:tav>
                                        <p:tav tm="100000">
                                          <p:val>
                                            <p:strVal val="#ppt_x"/>
                                          </p:val>
                                        </p:tav>
                                      </p:tavLst>
                                    </p:anim>
                                    <p:anim calcmode="lin" valueType="num">
                                      <p:cBhvr additive="base">
                                        <p:cTn id="20" dur="500" fill="hold"/>
                                        <p:tgtEl>
                                          <p:spTgt spid="54297"/>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54288"/>
                                        </p:tgtEl>
                                        <p:attrNameLst>
                                          <p:attrName>style.visibility</p:attrName>
                                        </p:attrNameLst>
                                      </p:cBhvr>
                                      <p:to>
                                        <p:strVal val="visible"/>
                                      </p:to>
                                    </p:set>
                                    <p:anim calcmode="lin" valueType="num">
                                      <p:cBhvr additive="base">
                                        <p:cTn id="25" dur="500" fill="hold"/>
                                        <p:tgtEl>
                                          <p:spTgt spid="54288"/>
                                        </p:tgtEl>
                                        <p:attrNameLst>
                                          <p:attrName>ppt_x</p:attrName>
                                        </p:attrNameLst>
                                      </p:cBhvr>
                                      <p:tavLst>
                                        <p:tav tm="0">
                                          <p:val>
                                            <p:strVal val="#ppt_x"/>
                                          </p:val>
                                        </p:tav>
                                        <p:tav tm="100000">
                                          <p:val>
                                            <p:strVal val="#ppt_x"/>
                                          </p:val>
                                        </p:tav>
                                      </p:tavLst>
                                    </p:anim>
                                    <p:anim calcmode="lin" valueType="num">
                                      <p:cBhvr additive="base">
                                        <p:cTn id="26" dur="500" fill="hold"/>
                                        <p:tgtEl>
                                          <p:spTgt spid="54288"/>
                                        </p:tgtEl>
                                        <p:attrNameLst>
                                          <p:attrName>ppt_y</p:attrName>
                                        </p:attrNameLst>
                                      </p:cBhvr>
                                      <p:tavLst>
                                        <p:tav tm="0">
                                          <p:val>
                                            <p:strVal val="1+#ppt_h/2"/>
                                          </p:val>
                                        </p:tav>
                                        <p:tav tm="100000">
                                          <p:val>
                                            <p:strVal val="#ppt_y"/>
                                          </p:val>
                                        </p:tav>
                                      </p:tavLst>
                                    </p:anim>
                                  </p:childTnLst>
                                </p:cTn>
                              </p:par>
                              <p:par>
                                <p:cTn id="27" presetID="2" presetClass="entr" presetSubtype="4" fill="hold" grpId="0" nodeType="withEffect">
                                  <p:stCondLst>
                                    <p:cond delay="0"/>
                                  </p:stCondLst>
                                  <p:childTnLst>
                                    <p:set>
                                      <p:cBhvr>
                                        <p:cTn id="28" dur="1" fill="hold">
                                          <p:stCondLst>
                                            <p:cond delay="0"/>
                                          </p:stCondLst>
                                        </p:cTn>
                                        <p:tgtEl>
                                          <p:spTgt spid="54289"/>
                                        </p:tgtEl>
                                        <p:attrNameLst>
                                          <p:attrName>style.visibility</p:attrName>
                                        </p:attrNameLst>
                                      </p:cBhvr>
                                      <p:to>
                                        <p:strVal val="visible"/>
                                      </p:to>
                                    </p:set>
                                    <p:anim calcmode="lin" valueType="num">
                                      <p:cBhvr additive="base">
                                        <p:cTn id="29" dur="500" fill="hold"/>
                                        <p:tgtEl>
                                          <p:spTgt spid="54289"/>
                                        </p:tgtEl>
                                        <p:attrNameLst>
                                          <p:attrName>ppt_x</p:attrName>
                                        </p:attrNameLst>
                                      </p:cBhvr>
                                      <p:tavLst>
                                        <p:tav tm="0">
                                          <p:val>
                                            <p:strVal val="#ppt_x"/>
                                          </p:val>
                                        </p:tav>
                                        <p:tav tm="100000">
                                          <p:val>
                                            <p:strVal val="#ppt_x"/>
                                          </p:val>
                                        </p:tav>
                                      </p:tavLst>
                                    </p:anim>
                                    <p:anim calcmode="lin" valueType="num">
                                      <p:cBhvr additive="base">
                                        <p:cTn id="30" dur="500" fill="hold"/>
                                        <p:tgtEl>
                                          <p:spTgt spid="54289"/>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54290"/>
                                        </p:tgtEl>
                                        <p:attrNameLst>
                                          <p:attrName>style.visibility</p:attrName>
                                        </p:attrNameLst>
                                      </p:cBhvr>
                                      <p:to>
                                        <p:strVal val="visible"/>
                                      </p:to>
                                    </p:set>
                                    <p:anim calcmode="lin" valueType="num">
                                      <p:cBhvr additive="base">
                                        <p:cTn id="33" dur="500" fill="hold"/>
                                        <p:tgtEl>
                                          <p:spTgt spid="54290"/>
                                        </p:tgtEl>
                                        <p:attrNameLst>
                                          <p:attrName>ppt_x</p:attrName>
                                        </p:attrNameLst>
                                      </p:cBhvr>
                                      <p:tavLst>
                                        <p:tav tm="0">
                                          <p:val>
                                            <p:strVal val="#ppt_x"/>
                                          </p:val>
                                        </p:tav>
                                        <p:tav tm="100000">
                                          <p:val>
                                            <p:strVal val="#ppt_x"/>
                                          </p:val>
                                        </p:tav>
                                      </p:tavLst>
                                    </p:anim>
                                    <p:anim calcmode="lin" valueType="num">
                                      <p:cBhvr additive="base">
                                        <p:cTn id="34" dur="500" fill="hold"/>
                                        <p:tgtEl>
                                          <p:spTgt spid="54290"/>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nodeType="clickEffect">
                                  <p:stCondLst>
                                    <p:cond delay="0"/>
                                  </p:stCondLst>
                                  <p:childTnLst>
                                    <p:set>
                                      <p:cBhvr>
                                        <p:cTn id="38" dur="1" fill="hold">
                                          <p:stCondLst>
                                            <p:cond delay="0"/>
                                          </p:stCondLst>
                                        </p:cTn>
                                        <p:tgtEl>
                                          <p:spTgt spid="54275">
                                            <p:txEl>
                                              <p:pRg st="0" end="0"/>
                                            </p:txEl>
                                          </p:spTgt>
                                        </p:tgtEl>
                                        <p:attrNameLst>
                                          <p:attrName>style.visibility</p:attrName>
                                        </p:attrNameLst>
                                      </p:cBhvr>
                                      <p:to>
                                        <p:strVal val="visible"/>
                                      </p:to>
                                    </p:set>
                                    <p:anim calcmode="lin" valueType="num">
                                      <p:cBhvr additive="base">
                                        <p:cTn id="39" dur="500" fill="hold"/>
                                        <p:tgtEl>
                                          <p:spTgt spid="54275">
                                            <p:txEl>
                                              <p:pRg st="0" end="0"/>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5427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nodeType="clickEffect">
                                  <p:stCondLst>
                                    <p:cond delay="0"/>
                                  </p:stCondLst>
                                  <p:childTnLst>
                                    <p:set>
                                      <p:cBhvr>
                                        <p:cTn id="44" dur="1" fill="hold">
                                          <p:stCondLst>
                                            <p:cond delay="0"/>
                                          </p:stCondLst>
                                        </p:cTn>
                                        <p:tgtEl>
                                          <p:spTgt spid="54275">
                                            <p:txEl>
                                              <p:pRg st="1" end="1"/>
                                            </p:txEl>
                                          </p:spTgt>
                                        </p:tgtEl>
                                        <p:attrNameLst>
                                          <p:attrName>style.visibility</p:attrName>
                                        </p:attrNameLst>
                                      </p:cBhvr>
                                      <p:to>
                                        <p:strVal val="visible"/>
                                      </p:to>
                                    </p:set>
                                    <p:anim calcmode="lin" valueType="num">
                                      <p:cBhvr additive="base">
                                        <p:cTn id="45" dur="500" fill="hold"/>
                                        <p:tgtEl>
                                          <p:spTgt spid="54275">
                                            <p:txEl>
                                              <p:pRg st="1" end="1"/>
                                            </p:txEl>
                                          </p:spTgt>
                                        </p:tgtEl>
                                        <p:attrNameLst>
                                          <p:attrName>ppt_x</p:attrName>
                                        </p:attrNameLst>
                                      </p:cBhvr>
                                      <p:tavLst>
                                        <p:tav tm="0">
                                          <p:val>
                                            <p:strVal val="#ppt_x"/>
                                          </p:val>
                                        </p:tav>
                                        <p:tav tm="100000">
                                          <p:val>
                                            <p:strVal val="#ppt_x"/>
                                          </p:val>
                                        </p:tav>
                                      </p:tavLst>
                                    </p:anim>
                                    <p:anim calcmode="lin" valueType="num">
                                      <p:cBhvr additive="base">
                                        <p:cTn id="46" dur="500" fill="hold"/>
                                        <p:tgtEl>
                                          <p:spTgt spid="5427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 presetClass="entr" presetSubtype="4" fill="hold" grpId="0" nodeType="clickEffect">
                                  <p:stCondLst>
                                    <p:cond delay="0"/>
                                  </p:stCondLst>
                                  <p:childTnLst>
                                    <p:set>
                                      <p:cBhvr>
                                        <p:cTn id="50" dur="1" fill="hold">
                                          <p:stCondLst>
                                            <p:cond delay="0"/>
                                          </p:stCondLst>
                                        </p:cTn>
                                        <p:tgtEl>
                                          <p:spTgt spid="54291"/>
                                        </p:tgtEl>
                                        <p:attrNameLst>
                                          <p:attrName>style.visibility</p:attrName>
                                        </p:attrNameLst>
                                      </p:cBhvr>
                                      <p:to>
                                        <p:strVal val="visible"/>
                                      </p:to>
                                    </p:set>
                                    <p:anim calcmode="lin" valueType="num">
                                      <p:cBhvr additive="base">
                                        <p:cTn id="51" dur="500" fill="hold"/>
                                        <p:tgtEl>
                                          <p:spTgt spid="54291"/>
                                        </p:tgtEl>
                                        <p:attrNameLst>
                                          <p:attrName>ppt_x</p:attrName>
                                        </p:attrNameLst>
                                      </p:cBhvr>
                                      <p:tavLst>
                                        <p:tav tm="0">
                                          <p:val>
                                            <p:strVal val="#ppt_x"/>
                                          </p:val>
                                        </p:tav>
                                        <p:tav tm="100000">
                                          <p:val>
                                            <p:strVal val="#ppt_x"/>
                                          </p:val>
                                        </p:tav>
                                      </p:tavLst>
                                    </p:anim>
                                    <p:anim calcmode="lin" valueType="num">
                                      <p:cBhvr additive="base">
                                        <p:cTn id="52" dur="500" fill="hold"/>
                                        <p:tgtEl>
                                          <p:spTgt spid="54291"/>
                                        </p:tgtEl>
                                        <p:attrNameLst>
                                          <p:attrName>ppt_y</p:attrName>
                                        </p:attrNameLst>
                                      </p:cBhvr>
                                      <p:tavLst>
                                        <p:tav tm="0">
                                          <p:val>
                                            <p:strVal val="1+#ppt_h/2"/>
                                          </p:val>
                                        </p:tav>
                                        <p:tav tm="100000">
                                          <p:val>
                                            <p:strVal val="#ppt_y"/>
                                          </p:val>
                                        </p:tav>
                                      </p:tavLst>
                                    </p:anim>
                                  </p:childTnLst>
                                </p:cTn>
                              </p:par>
                            </p:childTnLst>
                          </p:cTn>
                        </p:par>
                      </p:childTnLst>
                    </p:cTn>
                  </p:par>
                  <p:par>
                    <p:cTn id="53" fill="hold">
                      <p:stCondLst>
                        <p:cond delay="indefinite"/>
                      </p:stCondLst>
                      <p:childTnLst>
                        <p:par>
                          <p:cTn id="54" fill="hold">
                            <p:stCondLst>
                              <p:cond delay="0"/>
                            </p:stCondLst>
                            <p:childTnLst>
                              <p:par>
                                <p:cTn id="55" presetID="2" presetClass="entr" presetSubtype="4" fill="hold" grpId="0" nodeType="clickEffect">
                                  <p:stCondLst>
                                    <p:cond delay="0"/>
                                  </p:stCondLst>
                                  <p:childTnLst>
                                    <p:set>
                                      <p:cBhvr>
                                        <p:cTn id="56" dur="1" fill="hold">
                                          <p:stCondLst>
                                            <p:cond delay="0"/>
                                          </p:stCondLst>
                                        </p:cTn>
                                        <p:tgtEl>
                                          <p:spTgt spid="54292"/>
                                        </p:tgtEl>
                                        <p:attrNameLst>
                                          <p:attrName>style.visibility</p:attrName>
                                        </p:attrNameLst>
                                      </p:cBhvr>
                                      <p:to>
                                        <p:strVal val="visible"/>
                                      </p:to>
                                    </p:set>
                                    <p:anim calcmode="lin" valueType="num">
                                      <p:cBhvr additive="base">
                                        <p:cTn id="57" dur="500" fill="hold"/>
                                        <p:tgtEl>
                                          <p:spTgt spid="54292"/>
                                        </p:tgtEl>
                                        <p:attrNameLst>
                                          <p:attrName>ppt_x</p:attrName>
                                        </p:attrNameLst>
                                      </p:cBhvr>
                                      <p:tavLst>
                                        <p:tav tm="0">
                                          <p:val>
                                            <p:strVal val="#ppt_x"/>
                                          </p:val>
                                        </p:tav>
                                        <p:tav tm="100000">
                                          <p:val>
                                            <p:strVal val="#ppt_x"/>
                                          </p:val>
                                        </p:tav>
                                      </p:tavLst>
                                    </p:anim>
                                    <p:anim calcmode="lin" valueType="num">
                                      <p:cBhvr additive="base">
                                        <p:cTn id="58" dur="500" fill="hold"/>
                                        <p:tgtEl>
                                          <p:spTgt spid="54292"/>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4294"/>
                                        </p:tgtEl>
                                        <p:attrNameLst>
                                          <p:attrName>style.visibility</p:attrName>
                                        </p:attrNameLst>
                                      </p:cBhvr>
                                      <p:to>
                                        <p:strVal val="visible"/>
                                      </p:to>
                                    </p:set>
                                    <p:anim calcmode="lin" valueType="num">
                                      <p:cBhvr additive="base">
                                        <p:cTn id="61" dur="500" fill="hold"/>
                                        <p:tgtEl>
                                          <p:spTgt spid="54294"/>
                                        </p:tgtEl>
                                        <p:attrNameLst>
                                          <p:attrName>ppt_x</p:attrName>
                                        </p:attrNameLst>
                                      </p:cBhvr>
                                      <p:tavLst>
                                        <p:tav tm="0">
                                          <p:val>
                                            <p:strVal val="#ppt_x"/>
                                          </p:val>
                                        </p:tav>
                                        <p:tav tm="100000">
                                          <p:val>
                                            <p:strVal val="#ppt_x"/>
                                          </p:val>
                                        </p:tav>
                                      </p:tavLst>
                                    </p:anim>
                                    <p:anim calcmode="lin" valueType="num">
                                      <p:cBhvr additive="base">
                                        <p:cTn id="62" dur="500" fill="hold"/>
                                        <p:tgtEl>
                                          <p:spTgt spid="54294"/>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4293"/>
                                        </p:tgtEl>
                                        <p:attrNameLst>
                                          <p:attrName>style.visibility</p:attrName>
                                        </p:attrNameLst>
                                      </p:cBhvr>
                                      <p:to>
                                        <p:strVal val="visible"/>
                                      </p:to>
                                    </p:set>
                                    <p:anim calcmode="lin" valueType="num">
                                      <p:cBhvr additive="base">
                                        <p:cTn id="65" dur="500" fill="hold"/>
                                        <p:tgtEl>
                                          <p:spTgt spid="54293"/>
                                        </p:tgtEl>
                                        <p:attrNameLst>
                                          <p:attrName>ppt_x</p:attrName>
                                        </p:attrNameLst>
                                      </p:cBhvr>
                                      <p:tavLst>
                                        <p:tav tm="0">
                                          <p:val>
                                            <p:strVal val="#ppt_x"/>
                                          </p:val>
                                        </p:tav>
                                        <p:tav tm="100000">
                                          <p:val>
                                            <p:strVal val="#ppt_x"/>
                                          </p:val>
                                        </p:tav>
                                      </p:tavLst>
                                    </p:anim>
                                    <p:anim calcmode="lin" valueType="num">
                                      <p:cBhvr additive="base">
                                        <p:cTn id="66" dur="500" fill="hold"/>
                                        <p:tgtEl>
                                          <p:spTgt spid="54293"/>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nodeType="clickEffect">
                                  <p:stCondLst>
                                    <p:cond delay="0"/>
                                  </p:stCondLst>
                                  <p:childTnLst>
                                    <p:set>
                                      <p:cBhvr>
                                        <p:cTn id="70" dur="1" fill="hold">
                                          <p:stCondLst>
                                            <p:cond delay="0"/>
                                          </p:stCondLst>
                                        </p:cTn>
                                        <p:tgtEl>
                                          <p:spTgt spid="54275">
                                            <p:txEl>
                                              <p:pRg st="2" end="2"/>
                                            </p:txEl>
                                          </p:spTgt>
                                        </p:tgtEl>
                                        <p:attrNameLst>
                                          <p:attrName>style.visibility</p:attrName>
                                        </p:attrNameLst>
                                      </p:cBhvr>
                                      <p:to>
                                        <p:strVal val="visible"/>
                                      </p:to>
                                    </p:set>
                                    <p:anim calcmode="lin" valueType="num">
                                      <p:cBhvr additive="base">
                                        <p:cTn id="71" dur="500" fill="hold"/>
                                        <p:tgtEl>
                                          <p:spTgt spid="54275">
                                            <p:txEl>
                                              <p:pRg st="2" end="2"/>
                                            </p:txEl>
                                          </p:spTgt>
                                        </p:tgtEl>
                                        <p:attrNameLst>
                                          <p:attrName>ppt_x</p:attrName>
                                        </p:attrNameLst>
                                      </p:cBhvr>
                                      <p:tavLst>
                                        <p:tav tm="0">
                                          <p:val>
                                            <p:strVal val="#ppt_x"/>
                                          </p:val>
                                        </p:tav>
                                        <p:tav tm="100000">
                                          <p:val>
                                            <p:strVal val="#ppt_x"/>
                                          </p:val>
                                        </p:tav>
                                      </p:tavLst>
                                    </p:anim>
                                    <p:anim calcmode="lin" valueType="num">
                                      <p:cBhvr additive="base">
                                        <p:cTn id="72" dur="500" fill="hold"/>
                                        <p:tgtEl>
                                          <p:spTgt spid="54275">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4" grpId="0"/>
      <p:bldP spid="54286" grpId="0"/>
      <p:bldP spid="54287" grpId="0"/>
      <p:bldP spid="54288" grpId="0"/>
      <p:bldP spid="54289" grpId="0"/>
      <p:bldP spid="54290" grpId="0"/>
      <p:bldP spid="54291" grpId="0"/>
      <p:bldP spid="54292" grpId="0"/>
      <p:bldP spid="54293" grpId="0"/>
      <p:bldP spid="54294" grpId="0"/>
      <p:bldP spid="5429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9" name="Rectangle 3"/>
          <p:cNvSpPr>
            <a:spLocks noGrp="1" noChangeArrowheads="1"/>
          </p:cNvSpPr>
          <p:nvPr>
            <p:ph type="body" idx="1"/>
          </p:nvPr>
        </p:nvSpPr>
        <p:spPr>
          <a:xfrm>
            <a:off x="457200" y="692150"/>
            <a:ext cx="8229600" cy="3097213"/>
          </a:xfrm>
        </p:spPr>
        <p:txBody>
          <a:bodyPr/>
          <a:lstStyle/>
          <a:p>
            <a:pPr eaLnBrk="1" hangingPunct="1"/>
            <a:r>
              <a:rPr lang="zh-CN" altLang="en-US" sz="2800" smtClean="0">
                <a:solidFill>
                  <a:schemeClr val="bg1"/>
                </a:solidFill>
                <a:latin typeface="黑体" pitchFamily="49" charset="-122"/>
                <a:ea typeface="黑体" pitchFamily="49" charset="-122"/>
              </a:rPr>
              <a:t>原材料特性：</a:t>
            </a:r>
          </a:p>
          <a:p>
            <a:pPr eaLnBrk="1" hangingPunct="1"/>
            <a:endParaRPr lang="zh-CN" altLang="en-US" sz="2800" smtClean="0">
              <a:solidFill>
                <a:schemeClr val="bg1"/>
              </a:solidFill>
              <a:latin typeface="黑体" pitchFamily="49" charset="-122"/>
              <a:ea typeface="黑体" pitchFamily="49" charset="-122"/>
            </a:endParaRPr>
          </a:p>
          <a:p>
            <a:pPr eaLnBrk="1" hangingPunct="1">
              <a:buFontTx/>
              <a:buNone/>
            </a:pPr>
            <a:r>
              <a:rPr lang="zh-CN" altLang="en-US" sz="2800" smtClean="0">
                <a:solidFill>
                  <a:schemeClr val="bg1"/>
                </a:solidFill>
                <a:latin typeface="黑体" pitchFamily="49" charset="-122"/>
                <a:ea typeface="黑体" pitchFamily="49" charset="-122"/>
              </a:rPr>
              <a:t>   </a:t>
            </a:r>
            <a:r>
              <a:rPr lang="en-US" altLang="zh-CN" sz="2800" smtClean="0">
                <a:solidFill>
                  <a:schemeClr val="bg1"/>
                </a:solidFill>
                <a:latin typeface="黑体" pitchFamily="49" charset="-122"/>
                <a:ea typeface="黑体" pitchFamily="49" charset="-122"/>
              </a:rPr>
              <a:t>1.</a:t>
            </a:r>
            <a:r>
              <a:rPr lang="zh-CN" altLang="en-US" sz="2800" smtClean="0">
                <a:solidFill>
                  <a:schemeClr val="bg1"/>
                </a:solidFill>
                <a:latin typeface="黑体" pitchFamily="49" charset="-122"/>
                <a:ea typeface="黑体" pitchFamily="49" charset="-122"/>
              </a:rPr>
              <a:t>局部性原材料与遍地性原材料</a:t>
            </a:r>
          </a:p>
          <a:p>
            <a:pPr eaLnBrk="1" hangingPunct="1">
              <a:buFontTx/>
              <a:buNone/>
            </a:pPr>
            <a:r>
              <a:rPr lang="zh-CN" altLang="en-US" sz="2800" smtClean="0">
                <a:solidFill>
                  <a:schemeClr val="bg1"/>
                </a:solidFill>
                <a:latin typeface="黑体" pitchFamily="49" charset="-122"/>
                <a:ea typeface="黑体" pitchFamily="49" charset="-122"/>
              </a:rPr>
              <a:t>      </a:t>
            </a:r>
          </a:p>
          <a:p>
            <a:pPr eaLnBrk="1" hangingPunct="1">
              <a:buFontTx/>
              <a:buNone/>
            </a:pPr>
            <a:r>
              <a:rPr lang="zh-CN" altLang="en-US" sz="2800" smtClean="0">
                <a:solidFill>
                  <a:schemeClr val="bg1"/>
                </a:solidFill>
                <a:latin typeface="黑体" pitchFamily="49" charset="-122"/>
                <a:ea typeface="黑体" pitchFamily="49" charset="-122"/>
              </a:rPr>
              <a:t>   </a:t>
            </a:r>
            <a:r>
              <a:rPr lang="en-US" altLang="zh-CN" sz="2800" smtClean="0">
                <a:solidFill>
                  <a:schemeClr val="bg1"/>
                </a:solidFill>
                <a:latin typeface="黑体" pitchFamily="49" charset="-122"/>
                <a:ea typeface="黑体" pitchFamily="49" charset="-122"/>
              </a:rPr>
              <a:t>2.</a:t>
            </a:r>
            <a:r>
              <a:rPr lang="zh-CN" altLang="en-US" sz="2800" smtClean="0">
                <a:solidFill>
                  <a:schemeClr val="bg1"/>
                </a:solidFill>
                <a:latin typeface="黑体" pitchFamily="49" charset="-122"/>
                <a:ea typeface="黑体" pitchFamily="49" charset="-122"/>
              </a:rPr>
              <a:t>失重原材料和纯重原材料</a:t>
            </a:r>
          </a:p>
          <a:p>
            <a:pPr eaLnBrk="1" hangingPunct="1">
              <a:buFontTx/>
              <a:buNone/>
            </a:pPr>
            <a:endParaRPr lang="zh-CN" altLang="en-US" sz="2800" smtClean="0">
              <a:solidFill>
                <a:schemeClr val="bg1"/>
              </a:solidFill>
              <a:latin typeface="黑体" pitchFamily="49" charset="-122"/>
              <a:ea typeface="黑体" pitchFamily="49" charset="-122"/>
            </a:endParaRPr>
          </a:p>
          <a:p>
            <a:pPr eaLnBrk="1" hangingPunct="1">
              <a:buFontTx/>
              <a:buNone/>
            </a:pPr>
            <a:endParaRPr lang="en-US" altLang="zh-CN" smtClean="0">
              <a:solidFill>
                <a:schemeClr val="bg1"/>
              </a:solidFill>
              <a:latin typeface="华文细黑" pitchFamily="2" charset="-122"/>
              <a:ea typeface="华文细黑" pitchFamily="2" charset="-122"/>
            </a:endParaRPr>
          </a:p>
        </p:txBody>
      </p:sp>
      <p:sp>
        <p:nvSpPr>
          <p:cNvPr id="55300" name="Line 4"/>
          <p:cNvSpPr>
            <a:spLocks noChangeShapeType="1"/>
          </p:cNvSpPr>
          <p:nvPr/>
        </p:nvSpPr>
        <p:spPr bwMode="auto">
          <a:xfrm>
            <a:off x="3203575" y="4508500"/>
            <a:ext cx="3889375" cy="0"/>
          </a:xfrm>
          <a:prstGeom prst="line">
            <a:avLst/>
          </a:prstGeom>
          <a:noFill/>
          <a:ln w="9525">
            <a:solidFill>
              <a:schemeClr val="bg1"/>
            </a:solidFill>
            <a:round/>
            <a:headEnd/>
            <a:tailEnd/>
          </a:ln>
        </p:spPr>
        <p:txBody>
          <a:bodyPr/>
          <a:lstStyle/>
          <a:p>
            <a:endParaRPr lang="zh-CN" altLang="en-US"/>
          </a:p>
        </p:txBody>
      </p:sp>
      <p:sp>
        <p:nvSpPr>
          <p:cNvPr id="55301" name="Text Box 5"/>
          <p:cNvSpPr txBox="1">
            <a:spLocks noChangeArrowheads="1"/>
          </p:cNvSpPr>
          <p:nvPr/>
        </p:nvSpPr>
        <p:spPr bwMode="auto">
          <a:xfrm>
            <a:off x="3543300" y="3879850"/>
            <a:ext cx="2622550" cy="457200"/>
          </a:xfrm>
          <a:prstGeom prst="rect">
            <a:avLst/>
          </a:prstGeom>
          <a:noFill/>
          <a:ln w="9525">
            <a:noFill/>
            <a:miter lim="800000"/>
            <a:headEnd/>
            <a:tailEnd/>
          </a:ln>
        </p:spPr>
        <p:txBody>
          <a:bodyPr wrap="none">
            <a:spAutoFit/>
          </a:bodyPr>
          <a:lstStyle/>
          <a:p>
            <a:r>
              <a:rPr lang="zh-CN" altLang="en-US" sz="2400">
                <a:solidFill>
                  <a:schemeClr val="bg1"/>
                </a:solidFill>
                <a:ea typeface="黑体" pitchFamily="49" charset="-122"/>
              </a:rPr>
              <a:t>局部性原材料总重</a:t>
            </a:r>
          </a:p>
        </p:txBody>
      </p:sp>
      <p:sp>
        <p:nvSpPr>
          <p:cNvPr id="55303" name="Text Box 7"/>
          <p:cNvSpPr txBox="1">
            <a:spLocks noChangeArrowheads="1"/>
          </p:cNvSpPr>
          <p:nvPr/>
        </p:nvSpPr>
        <p:spPr bwMode="auto">
          <a:xfrm>
            <a:off x="3832225" y="4527550"/>
            <a:ext cx="1708150" cy="457200"/>
          </a:xfrm>
          <a:prstGeom prst="rect">
            <a:avLst/>
          </a:prstGeom>
          <a:noFill/>
          <a:ln w="9525">
            <a:noFill/>
            <a:miter lim="800000"/>
            <a:headEnd/>
            <a:tailEnd/>
          </a:ln>
        </p:spPr>
        <p:txBody>
          <a:bodyPr wrap="none">
            <a:spAutoFit/>
          </a:bodyPr>
          <a:lstStyle/>
          <a:p>
            <a:r>
              <a:rPr lang="zh-CN" altLang="en-US" sz="2400">
                <a:solidFill>
                  <a:schemeClr val="bg1"/>
                </a:solidFill>
                <a:ea typeface="黑体" pitchFamily="49" charset="-122"/>
              </a:rPr>
              <a:t>制成品总重</a:t>
            </a:r>
          </a:p>
        </p:txBody>
      </p:sp>
      <p:sp>
        <p:nvSpPr>
          <p:cNvPr id="55304" name="Text Box 8"/>
          <p:cNvSpPr txBox="1">
            <a:spLocks noChangeArrowheads="1"/>
          </p:cNvSpPr>
          <p:nvPr/>
        </p:nvSpPr>
        <p:spPr bwMode="auto">
          <a:xfrm>
            <a:off x="592138" y="5535613"/>
            <a:ext cx="1403350" cy="457200"/>
          </a:xfrm>
          <a:prstGeom prst="rect">
            <a:avLst/>
          </a:prstGeom>
          <a:noFill/>
          <a:ln w="9525">
            <a:noFill/>
            <a:miter lim="800000"/>
            <a:headEnd/>
            <a:tailEnd/>
          </a:ln>
        </p:spPr>
        <p:txBody>
          <a:bodyPr wrap="none">
            <a:spAutoFit/>
          </a:bodyPr>
          <a:lstStyle/>
          <a:p>
            <a:r>
              <a:rPr lang="zh-CN" altLang="en-US" sz="2400">
                <a:solidFill>
                  <a:schemeClr val="bg1"/>
                </a:solidFill>
                <a:ea typeface="黑体" pitchFamily="49" charset="-122"/>
              </a:rPr>
              <a:t>区位重量</a:t>
            </a:r>
          </a:p>
        </p:txBody>
      </p:sp>
      <p:sp>
        <p:nvSpPr>
          <p:cNvPr id="55305" name="Text Box 9"/>
          <p:cNvSpPr txBox="1">
            <a:spLocks noChangeArrowheads="1"/>
          </p:cNvSpPr>
          <p:nvPr/>
        </p:nvSpPr>
        <p:spPr bwMode="auto">
          <a:xfrm>
            <a:off x="1958975" y="5608638"/>
            <a:ext cx="317500" cy="366712"/>
          </a:xfrm>
          <a:prstGeom prst="rect">
            <a:avLst/>
          </a:prstGeom>
          <a:noFill/>
          <a:ln w="9525">
            <a:noFill/>
            <a:miter lim="800000"/>
            <a:headEnd/>
            <a:tailEnd/>
          </a:ln>
        </p:spPr>
        <p:txBody>
          <a:bodyPr wrap="none">
            <a:spAutoFit/>
          </a:bodyPr>
          <a:lstStyle/>
          <a:p>
            <a:r>
              <a:rPr lang="en-US" altLang="zh-CN">
                <a:solidFill>
                  <a:schemeClr val="bg1"/>
                </a:solidFill>
              </a:rPr>
              <a:t>=</a:t>
            </a:r>
          </a:p>
        </p:txBody>
      </p:sp>
      <p:sp>
        <p:nvSpPr>
          <p:cNvPr id="55306" name="Line 10"/>
          <p:cNvSpPr>
            <a:spLocks noChangeShapeType="1"/>
          </p:cNvSpPr>
          <p:nvPr/>
        </p:nvSpPr>
        <p:spPr bwMode="auto">
          <a:xfrm>
            <a:off x="2555875" y="5805488"/>
            <a:ext cx="3384550" cy="0"/>
          </a:xfrm>
          <a:prstGeom prst="line">
            <a:avLst/>
          </a:prstGeom>
          <a:noFill/>
          <a:ln w="9525">
            <a:solidFill>
              <a:schemeClr val="bg1"/>
            </a:solidFill>
            <a:round/>
            <a:headEnd/>
            <a:tailEnd/>
          </a:ln>
        </p:spPr>
        <p:txBody>
          <a:bodyPr/>
          <a:lstStyle/>
          <a:p>
            <a:endParaRPr lang="zh-CN" altLang="en-US"/>
          </a:p>
        </p:txBody>
      </p:sp>
      <p:sp>
        <p:nvSpPr>
          <p:cNvPr id="55307" name="Text Box 11"/>
          <p:cNvSpPr txBox="1">
            <a:spLocks noChangeArrowheads="1"/>
          </p:cNvSpPr>
          <p:nvPr/>
        </p:nvSpPr>
        <p:spPr bwMode="auto">
          <a:xfrm>
            <a:off x="2751138" y="5392738"/>
            <a:ext cx="3041650" cy="366712"/>
          </a:xfrm>
          <a:prstGeom prst="rect">
            <a:avLst/>
          </a:prstGeom>
          <a:noFill/>
          <a:ln w="9525">
            <a:noFill/>
            <a:miter lim="800000"/>
            <a:headEnd/>
            <a:tailEnd/>
          </a:ln>
        </p:spPr>
        <p:txBody>
          <a:bodyPr wrap="none">
            <a:spAutoFit/>
          </a:bodyPr>
          <a:lstStyle/>
          <a:p>
            <a:r>
              <a:rPr lang="zh-CN" altLang="en-US">
                <a:solidFill>
                  <a:schemeClr val="bg1"/>
                </a:solidFill>
                <a:latin typeface="黑体" pitchFamily="49" charset="-122"/>
                <a:ea typeface="黑体" pitchFamily="49" charset="-122"/>
              </a:rPr>
              <a:t>局部性原材料重量</a:t>
            </a:r>
            <a:r>
              <a:rPr lang="en-US" altLang="zh-CN">
                <a:solidFill>
                  <a:schemeClr val="bg1"/>
                </a:solidFill>
                <a:latin typeface="黑体" pitchFamily="49" charset="-122"/>
                <a:ea typeface="黑体" pitchFamily="49" charset="-122"/>
              </a:rPr>
              <a:t>+</a:t>
            </a:r>
            <a:r>
              <a:rPr lang="zh-CN" altLang="en-US">
                <a:solidFill>
                  <a:schemeClr val="bg1"/>
                </a:solidFill>
                <a:latin typeface="黑体" pitchFamily="49" charset="-122"/>
                <a:ea typeface="黑体" pitchFamily="49" charset="-122"/>
              </a:rPr>
              <a:t>产品重量</a:t>
            </a:r>
          </a:p>
        </p:txBody>
      </p:sp>
      <p:sp>
        <p:nvSpPr>
          <p:cNvPr id="55308" name="Text Box 12"/>
          <p:cNvSpPr txBox="1">
            <a:spLocks noChangeArrowheads="1"/>
          </p:cNvSpPr>
          <p:nvPr/>
        </p:nvSpPr>
        <p:spPr bwMode="auto">
          <a:xfrm>
            <a:off x="3759200" y="5897563"/>
            <a:ext cx="1098550" cy="366712"/>
          </a:xfrm>
          <a:prstGeom prst="rect">
            <a:avLst/>
          </a:prstGeom>
          <a:noFill/>
          <a:ln w="9525">
            <a:noFill/>
            <a:miter lim="800000"/>
            <a:headEnd/>
            <a:tailEnd/>
          </a:ln>
        </p:spPr>
        <p:txBody>
          <a:bodyPr wrap="none">
            <a:spAutoFit/>
          </a:bodyPr>
          <a:lstStyle/>
          <a:p>
            <a:r>
              <a:rPr lang="zh-CN" altLang="en-US">
                <a:solidFill>
                  <a:schemeClr val="bg1"/>
                </a:solidFill>
                <a:ea typeface="黑体" pitchFamily="49" charset="-122"/>
              </a:rPr>
              <a:t>产品重量</a:t>
            </a:r>
          </a:p>
        </p:txBody>
      </p:sp>
      <p:sp>
        <p:nvSpPr>
          <p:cNvPr id="55309" name="Text Box 13"/>
          <p:cNvSpPr txBox="1">
            <a:spLocks noChangeArrowheads="1"/>
          </p:cNvSpPr>
          <p:nvPr/>
        </p:nvSpPr>
        <p:spPr bwMode="auto">
          <a:xfrm>
            <a:off x="5919788" y="5608638"/>
            <a:ext cx="317500" cy="366712"/>
          </a:xfrm>
          <a:prstGeom prst="rect">
            <a:avLst/>
          </a:prstGeom>
          <a:noFill/>
          <a:ln w="9525">
            <a:noFill/>
            <a:miter lim="800000"/>
            <a:headEnd/>
            <a:tailEnd/>
          </a:ln>
        </p:spPr>
        <p:txBody>
          <a:bodyPr wrap="none">
            <a:spAutoFit/>
          </a:bodyPr>
          <a:lstStyle/>
          <a:p>
            <a:r>
              <a:rPr lang="en-US" altLang="zh-CN">
                <a:solidFill>
                  <a:schemeClr val="bg1"/>
                </a:solidFill>
              </a:rPr>
              <a:t>=</a:t>
            </a:r>
          </a:p>
        </p:txBody>
      </p:sp>
      <p:sp>
        <p:nvSpPr>
          <p:cNvPr id="55310" name="Text Box 14"/>
          <p:cNvSpPr txBox="1">
            <a:spLocks noChangeArrowheads="1"/>
          </p:cNvSpPr>
          <p:nvPr/>
        </p:nvSpPr>
        <p:spPr bwMode="auto">
          <a:xfrm>
            <a:off x="6208713" y="5537200"/>
            <a:ext cx="1555750" cy="366713"/>
          </a:xfrm>
          <a:prstGeom prst="rect">
            <a:avLst/>
          </a:prstGeom>
          <a:noFill/>
          <a:ln w="9525">
            <a:noFill/>
            <a:miter lim="800000"/>
            <a:headEnd/>
            <a:tailEnd/>
          </a:ln>
        </p:spPr>
        <p:txBody>
          <a:bodyPr wrap="none">
            <a:spAutoFit/>
          </a:bodyPr>
          <a:lstStyle/>
          <a:p>
            <a:r>
              <a:rPr lang="zh-CN" altLang="en-US">
                <a:solidFill>
                  <a:schemeClr val="bg1"/>
                </a:solidFill>
                <a:latin typeface="黑体" pitchFamily="49" charset="-122"/>
                <a:ea typeface="黑体" pitchFamily="49" charset="-122"/>
              </a:rPr>
              <a:t>原材料系数</a:t>
            </a:r>
            <a:r>
              <a:rPr lang="en-US" altLang="zh-CN">
                <a:solidFill>
                  <a:schemeClr val="bg1"/>
                </a:solidFill>
                <a:latin typeface="华文细黑" pitchFamily="2" charset="-122"/>
                <a:ea typeface="华文细黑" pitchFamily="2" charset="-122"/>
              </a:rPr>
              <a:t>+1</a:t>
            </a:r>
          </a:p>
        </p:txBody>
      </p:sp>
      <p:sp>
        <p:nvSpPr>
          <p:cNvPr id="55312" name="Text Box 16"/>
          <p:cNvSpPr txBox="1">
            <a:spLocks noChangeArrowheads="1"/>
          </p:cNvSpPr>
          <p:nvPr/>
        </p:nvSpPr>
        <p:spPr bwMode="auto">
          <a:xfrm>
            <a:off x="1116013" y="4292600"/>
            <a:ext cx="2106612" cy="457200"/>
          </a:xfrm>
          <a:prstGeom prst="rect">
            <a:avLst/>
          </a:prstGeom>
          <a:noFill/>
          <a:ln w="9525">
            <a:noFill/>
            <a:miter lim="800000"/>
            <a:headEnd/>
            <a:tailEnd/>
          </a:ln>
        </p:spPr>
        <p:txBody>
          <a:bodyPr wrap="none">
            <a:spAutoFit/>
          </a:bodyPr>
          <a:lstStyle/>
          <a:p>
            <a:r>
              <a:rPr lang="zh-CN" altLang="en-US" sz="2400">
                <a:solidFill>
                  <a:schemeClr val="bg1"/>
                </a:solidFill>
                <a:ea typeface="黑体" pitchFamily="49" charset="-122"/>
              </a:rPr>
              <a:t>原材料系数</a:t>
            </a:r>
            <a:r>
              <a:rPr lang="en-US" altLang="zh-CN" sz="2400">
                <a:solidFill>
                  <a:schemeClr val="bg1"/>
                </a:solidFill>
              </a:rPr>
              <a:t>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5299">
                                            <p:txEl>
                                              <p:pRg st="0" end="0"/>
                                            </p:txEl>
                                          </p:spTgt>
                                        </p:tgtEl>
                                        <p:attrNameLst>
                                          <p:attrName>style.visibility</p:attrName>
                                        </p:attrNameLst>
                                      </p:cBhvr>
                                      <p:to>
                                        <p:strVal val="visible"/>
                                      </p:to>
                                    </p:set>
                                    <p:anim calcmode="lin" valueType="num">
                                      <p:cBhvr additive="base">
                                        <p:cTn id="7" dur="500" fill="hold"/>
                                        <p:tgtEl>
                                          <p:spTgt spid="55299">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5299">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5299">
                                            <p:txEl>
                                              <p:pRg st="2" end="2"/>
                                            </p:txEl>
                                          </p:spTgt>
                                        </p:tgtEl>
                                        <p:attrNameLst>
                                          <p:attrName>style.visibility</p:attrName>
                                        </p:attrNameLst>
                                      </p:cBhvr>
                                      <p:to>
                                        <p:strVal val="visible"/>
                                      </p:to>
                                    </p:set>
                                    <p:anim calcmode="lin" valueType="num">
                                      <p:cBhvr additive="base">
                                        <p:cTn id="13" dur="500" fill="hold"/>
                                        <p:tgtEl>
                                          <p:spTgt spid="55299">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529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5299">
                                            <p:txEl>
                                              <p:pRg st="3" end="3"/>
                                            </p:txEl>
                                          </p:spTgt>
                                        </p:tgtEl>
                                        <p:attrNameLst>
                                          <p:attrName>style.visibility</p:attrName>
                                        </p:attrNameLst>
                                      </p:cBhvr>
                                      <p:to>
                                        <p:strVal val="visible"/>
                                      </p:to>
                                    </p:set>
                                    <p:anim calcmode="lin" valueType="num">
                                      <p:cBhvr additive="base">
                                        <p:cTn id="19" dur="500" fill="hold"/>
                                        <p:tgtEl>
                                          <p:spTgt spid="55299">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529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5299">
                                            <p:txEl>
                                              <p:pRg st="4" end="4"/>
                                            </p:txEl>
                                          </p:spTgt>
                                        </p:tgtEl>
                                        <p:attrNameLst>
                                          <p:attrName>style.visibility</p:attrName>
                                        </p:attrNameLst>
                                      </p:cBhvr>
                                      <p:to>
                                        <p:strVal val="visible"/>
                                      </p:to>
                                    </p:set>
                                    <p:anim calcmode="lin" valueType="num">
                                      <p:cBhvr additive="base">
                                        <p:cTn id="25" dur="500" fill="hold"/>
                                        <p:tgtEl>
                                          <p:spTgt spid="55299">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529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55312"/>
                                        </p:tgtEl>
                                        <p:attrNameLst>
                                          <p:attrName>style.visibility</p:attrName>
                                        </p:attrNameLst>
                                      </p:cBhvr>
                                      <p:to>
                                        <p:strVal val="visible"/>
                                      </p:to>
                                    </p:set>
                                    <p:anim calcmode="lin" valueType="num">
                                      <p:cBhvr additive="base">
                                        <p:cTn id="31" dur="500" fill="hold"/>
                                        <p:tgtEl>
                                          <p:spTgt spid="55312"/>
                                        </p:tgtEl>
                                        <p:attrNameLst>
                                          <p:attrName>ppt_x</p:attrName>
                                        </p:attrNameLst>
                                      </p:cBhvr>
                                      <p:tavLst>
                                        <p:tav tm="0">
                                          <p:val>
                                            <p:strVal val="#ppt_x"/>
                                          </p:val>
                                        </p:tav>
                                        <p:tav tm="100000">
                                          <p:val>
                                            <p:strVal val="#ppt_x"/>
                                          </p:val>
                                        </p:tav>
                                      </p:tavLst>
                                    </p:anim>
                                    <p:anim calcmode="lin" valueType="num">
                                      <p:cBhvr additive="base">
                                        <p:cTn id="32" dur="500" fill="hold"/>
                                        <p:tgtEl>
                                          <p:spTgt spid="55312"/>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55301"/>
                                        </p:tgtEl>
                                        <p:attrNameLst>
                                          <p:attrName>style.visibility</p:attrName>
                                        </p:attrNameLst>
                                      </p:cBhvr>
                                      <p:to>
                                        <p:strVal val="visible"/>
                                      </p:to>
                                    </p:set>
                                    <p:anim calcmode="lin" valueType="num">
                                      <p:cBhvr additive="base">
                                        <p:cTn id="35" dur="500" fill="hold"/>
                                        <p:tgtEl>
                                          <p:spTgt spid="55301"/>
                                        </p:tgtEl>
                                        <p:attrNameLst>
                                          <p:attrName>ppt_x</p:attrName>
                                        </p:attrNameLst>
                                      </p:cBhvr>
                                      <p:tavLst>
                                        <p:tav tm="0">
                                          <p:val>
                                            <p:strVal val="#ppt_x"/>
                                          </p:val>
                                        </p:tav>
                                        <p:tav tm="100000">
                                          <p:val>
                                            <p:strVal val="#ppt_x"/>
                                          </p:val>
                                        </p:tav>
                                      </p:tavLst>
                                    </p:anim>
                                    <p:anim calcmode="lin" valueType="num">
                                      <p:cBhvr additive="base">
                                        <p:cTn id="36" dur="500" fill="hold"/>
                                        <p:tgtEl>
                                          <p:spTgt spid="55301"/>
                                        </p:tgtEl>
                                        <p:attrNameLst>
                                          <p:attrName>ppt_y</p:attrName>
                                        </p:attrNameLst>
                                      </p:cBhvr>
                                      <p:tavLst>
                                        <p:tav tm="0">
                                          <p:val>
                                            <p:strVal val="1+#ppt_h/2"/>
                                          </p:val>
                                        </p:tav>
                                        <p:tav tm="100000">
                                          <p:val>
                                            <p:strVal val="#ppt_y"/>
                                          </p:val>
                                        </p:tav>
                                      </p:tavLst>
                                    </p:anim>
                                  </p:childTnLst>
                                </p:cTn>
                              </p:par>
                              <p:par>
                                <p:cTn id="37" presetID="2" presetClass="entr" presetSubtype="4" fill="hold" grpId="0" nodeType="withEffect">
                                  <p:stCondLst>
                                    <p:cond delay="0"/>
                                  </p:stCondLst>
                                  <p:childTnLst>
                                    <p:set>
                                      <p:cBhvr>
                                        <p:cTn id="38" dur="1" fill="hold">
                                          <p:stCondLst>
                                            <p:cond delay="0"/>
                                          </p:stCondLst>
                                        </p:cTn>
                                        <p:tgtEl>
                                          <p:spTgt spid="55300"/>
                                        </p:tgtEl>
                                        <p:attrNameLst>
                                          <p:attrName>style.visibility</p:attrName>
                                        </p:attrNameLst>
                                      </p:cBhvr>
                                      <p:to>
                                        <p:strVal val="visible"/>
                                      </p:to>
                                    </p:set>
                                    <p:anim calcmode="lin" valueType="num">
                                      <p:cBhvr additive="base">
                                        <p:cTn id="39" dur="500" fill="hold"/>
                                        <p:tgtEl>
                                          <p:spTgt spid="55300"/>
                                        </p:tgtEl>
                                        <p:attrNameLst>
                                          <p:attrName>ppt_x</p:attrName>
                                        </p:attrNameLst>
                                      </p:cBhvr>
                                      <p:tavLst>
                                        <p:tav tm="0">
                                          <p:val>
                                            <p:strVal val="#ppt_x"/>
                                          </p:val>
                                        </p:tav>
                                        <p:tav tm="100000">
                                          <p:val>
                                            <p:strVal val="#ppt_x"/>
                                          </p:val>
                                        </p:tav>
                                      </p:tavLst>
                                    </p:anim>
                                    <p:anim calcmode="lin" valueType="num">
                                      <p:cBhvr additive="base">
                                        <p:cTn id="40" dur="500" fill="hold"/>
                                        <p:tgtEl>
                                          <p:spTgt spid="55300"/>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55303"/>
                                        </p:tgtEl>
                                        <p:attrNameLst>
                                          <p:attrName>style.visibility</p:attrName>
                                        </p:attrNameLst>
                                      </p:cBhvr>
                                      <p:to>
                                        <p:strVal val="visible"/>
                                      </p:to>
                                    </p:set>
                                    <p:anim calcmode="lin" valueType="num">
                                      <p:cBhvr additive="base">
                                        <p:cTn id="43" dur="500" fill="hold"/>
                                        <p:tgtEl>
                                          <p:spTgt spid="55303"/>
                                        </p:tgtEl>
                                        <p:attrNameLst>
                                          <p:attrName>ppt_x</p:attrName>
                                        </p:attrNameLst>
                                      </p:cBhvr>
                                      <p:tavLst>
                                        <p:tav tm="0">
                                          <p:val>
                                            <p:strVal val="#ppt_x"/>
                                          </p:val>
                                        </p:tav>
                                        <p:tav tm="100000">
                                          <p:val>
                                            <p:strVal val="#ppt_x"/>
                                          </p:val>
                                        </p:tav>
                                      </p:tavLst>
                                    </p:anim>
                                    <p:anim calcmode="lin" valueType="num">
                                      <p:cBhvr additive="base">
                                        <p:cTn id="44" dur="500" fill="hold"/>
                                        <p:tgtEl>
                                          <p:spTgt spid="5530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55304"/>
                                        </p:tgtEl>
                                        <p:attrNameLst>
                                          <p:attrName>style.visibility</p:attrName>
                                        </p:attrNameLst>
                                      </p:cBhvr>
                                      <p:to>
                                        <p:strVal val="visible"/>
                                      </p:to>
                                    </p:set>
                                    <p:anim calcmode="lin" valueType="num">
                                      <p:cBhvr additive="base">
                                        <p:cTn id="49" dur="500" fill="hold"/>
                                        <p:tgtEl>
                                          <p:spTgt spid="55304"/>
                                        </p:tgtEl>
                                        <p:attrNameLst>
                                          <p:attrName>ppt_x</p:attrName>
                                        </p:attrNameLst>
                                      </p:cBhvr>
                                      <p:tavLst>
                                        <p:tav tm="0">
                                          <p:val>
                                            <p:strVal val="#ppt_x"/>
                                          </p:val>
                                        </p:tav>
                                        <p:tav tm="100000">
                                          <p:val>
                                            <p:strVal val="#ppt_x"/>
                                          </p:val>
                                        </p:tav>
                                      </p:tavLst>
                                    </p:anim>
                                    <p:anim calcmode="lin" valueType="num">
                                      <p:cBhvr additive="base">
                                        <p:cTn id="50" dur="500" fill="hold"/>
                                        <p:tgtEl>
                                          <p:spTgt spid="55304"/>
                                        </p:tgtEl>
                                        <p:attrNameLst>
                                          <p:attrName>ppt_y</p:attrName>
                                        </p:attrNameLst>
                                      </p:cBhvr>
                                      <p:tavLst>
                                        <p:tav tm="0">
                                          <p:val>
                                            <p:strVal val="1+#ppt_h/2"/>
                                          </p:val>
                                        </p:tav>
                                        <p:tav tm="100000">
                                          <p:val>
                                            <p:strVal val="#ppt_y"/>
                                          </p:val>
                                        </p:tav>
                                      </p:tavLst>
                                    </p:anim>
                                  </p:childTnLst>
                                </p:cTn>
                              </p:par>
                              <p:par>
                                <p:cTn id="51" presetID="2" presetClass="entr" presetSubtype="4" fill="hold" grpId="0" nodeType="withEffect">
                                  <p:stCondLst>
                                    <p:cond delay="0"/>
                                  </p:stCondLst>
                                  <p:childTnLst>
                                    <p:set>
                                      <p:cBhvr>
                                        <p:cTn id="52" dur="1" fill="hold">
                                          <p:stCondLst>
                                            <p:cond delay="0"/>
                                          </p:stCondLst>
                                        </p:cTn>
                                        <p:tgtEl>
                                          <p:spTgt spid="55305"/>
                                        </p:tgtEl>
                                        <p:attrNameLst>
                                          <p:attrName>style.visibility</p:attrName>
                                        </p:attrNameLst>
                                      </p:cBhvr>
                                      <p:to>
                                        <p:strVal val="visible"/>
                                      </p:to>
                                    </p:set>
                                    <p:anim calcmode="lin" valueType="num">
                                      <p:cBhvr additive="base">
                                        <p:cTn id="53" dur="500" fill="hold"/>
                                        <p:tgtEl>
                                          <p:spTgt spid="55305"/>
                                        </p:tgtEl>
                                        <p:attrNameLst>
                                          <p:attrName>ppt_x</p:attrName>
                                        </p:attrNameLst>
                                      </p:cBhvr>
                                      <p:tavLst>
                                        <p:tav tm="0">
                                          <p:val>
                                            <p:strVal val="#ppt_x"/>
                                          </p:val>
                                        </p:tav>
                                        <p:tav tm="100000">
                                          <p:val>
                                            <p:strVal val="#ppt_x"/>
                                          </p:val>
                                        </p:tav>
                                      </p:tavLst>
                                    </p:anim>
                                    <p:anim calcmode="lin" valueType="num">
                                      <p:cBhvr additive="base">
                                        <p:cTn id="54" dur="500" fill="hold"/>
                                        <p:tgtEl>
                                          <p:spTgt spid="55305"/>
                                        </p:tgtEl>
                                        <p:attrNameLst>
                                          <p:attrName>ppt_y</p:attrName>
                                        </p:attrNameLst>
                                      </p:cBhvr>
                                      <p:tavLst>
                                        <p:tav tm="0">
                                          <p:val>
                                            <p:strVal val="1+#ppt_h/2"/>
                                          </p:val>
                                        </p:tav>
                                        <p:tav tm="100000">
                                          <p:val>
                                            <p:strVal val="#ppt_y"/>
                                          </p:val>
                                        </p:tav>
                                      </p:tavLst>
                                    </p:anim>
                                  </p:childTnLst>
                                </p:cTn>
                              </p:par>
                              <p:par>
                                <p:cTn id="55" presetID="2" presetClass="entr" presetSubtype="4" fill="hold" grpId="0" nodeType="withEffect">
                                  <p:stCondLst>
                                    <p:cond delay="0"/>
                                  </p:stCondLst>
                                  <p:childTnLst>
                                    <p:set>
                                      <p:cBhvr>
                                        <p:cTn id="56" dur="1" fill="hold">
                                          <p:stCondLst>
                                            <p:cond delay="0"/>
                                          </p:stCondLst>
                                        </p:cTn>
                                        <p:tgtEl>
                                          <p:spTgt spid="55307"/>
                                        </p:tgtEl>
                                        <p:attrNameLst>
                                          <p:attrName>style.visibility</p:attrName>
                                        </p:attrNameLst>
                                      </p:cBhvr>
                                      <p:to>
                                        <p:strVal val="visible"/>
                                      </p:to>
                                    </p:set>
                                    <p:anim calcmode="lin" valueType="num">
                                      <p:cBhvr additive="base">
                                        <p:cTn id="57" dur="500" fill="hold"/>
                                        <p:tgtEl>
                                          <p:spTgt spid="55307"/>
                                        </p:tgtEl>
                                        <p:attrNameLst>
                                          <p:attrName>ppt_x</p:attrName>
                                        </p:attrNameLst>
                                      </p:cBhvr>
                                      <p:tavLst>
                                        <p:tav tm="0">
                                          <p:val>
                                            <p:strVal val="#ppt_x"/>
                                          </p:val>
                                        </p:tav>
                                        <p:tav tm="100000">
                                          <p:val>
                                            <p:strVal val="#ppt_x"/>
                                          </p:val>
                                        </p:tav>
                                      </p:tavLst>
                                    </p:anim>
                                    <p:anim calcmode="lin" valueType="num">
                                      <p:cBhvr additive="base">
                                        <p:cTn id="58" dur="500" fill="hold"/>
                                        <p:tgtEl>
                                          <p:spTgt spid="55307"/>
                                        </p:tgtEl>
                                        <p:attrNameLst>
                                          <p:attrName>ppt_y</p:attrName>
                                        </p:attrNameLst>
                                      </p:cBhvr>
                                      <p:tavLst>
                                        <p:tav tm="0">
                                          <p:val>
                                            <p:strVal val="1+#ppt_h/2"/>
                                          </p:val>
                                        </p:tav>
                                        <p:tav tm="100000">
                                          <p:val>
                                            <p:strVal val="#ppt_y"/>
                                          </p:val>
                                        </p:tav>
                                      </p:tavLst>
                                    </p:anim>
                                  </p:childTnLst>
                                </p:cTn>
                              </p:par>
                              <p:par>
                                <p:cTn id="59" presetID="2" presetClass="entr" presetSubtype="4" fill="hold" grpId="0" nodeType="withEffect">
                                  <p:stCondLst>
                                    <p:cond delay="0"/>
                                  </p:stCondLst>
                                  <p:childTnLst>
                                    <p:set>
                                      <p:cBhvr>
                                        <p:cTn id="60" dur="1" fill="hold">
                                          <p:stCondLst>
                                            <p:cond delay="0"/>
                                          </p:stCondLst>
                                        </p:cTn>
                                        <p:tgtEl>
                                          <p:spTgt spid="55306"/>
                                        </p:tgtEl>
                                        <p:attrNameLst>
                                          <p:attrName>style.visibility</p:attrName>
                                        </p:attrNameLst>
                                      </p:cBhvr>
                                      <p:to>
                                        <p:strVal val="visible"/>
                                      </p:to>
                                    </p:set>
                                    <p:anim calcmode="lin" valueType="num">
                                      <p:cBhvr additive="base">
                                        <p:cTn id="61" dur="500" fill="hold"/>
                                        <p:tgtEl>
                                          <p:spTgt spid="55306"/>
                                        </p:tgtEl>
                                        <p:attrNameLst>
                                          <p:attrName>ppt_x</p:attrName>
                                        </p:attrNameLst>
                                      </p:cBhvr>
                                      <p:tavLst>
                                        <p:tav tm="0">
                                          <p:val>
                                            <p:strVal val="#ppt_x"/>
                                          </p:val>
                                        </p:tav>
                                        <p:tav tm="100000">
                                          <p:val>
                                            <p:strVal val="#ppt_x"/>
                                          </p:val>
                                        </p:tav>
                                      </p:tavLst>
                                    </p:anim>
                                    <p:anim calcmode="lin" valueType="num">
                                      <p:cBhvr additive="base">
                                        <p:cTn id="62" dur="500" fill="hold"/>
                                        <p:tgtEl>
                                          <p:spTgt spid="55306"/>
                                        </p:tgtEl>
                                        <p:attrNameLst>
                                          <p:attrName>ppt_y</p:attrName>
                                        </p:attrNameLst>
                                      </p:cBhvr>
                                      <p:tavLst>
                                        <p:tav tm="0">
                                          <p:val>
                                            <p:strVal val="1+#ppt_h/2"/>
                                          </p:val>
                                        </p:tav>
                                        <p:tav tm="100000">
                                          <p:val>
                                            <p:strVal val="#ppt_y"/>
                                          </p:val>
                                        </p:tav>
                                      </p:tavLst>
                                    </p:anim>
                                  </p:childTnLst>
                                </p:cTn>
                              </p:par>
                              <p:par>
                                <p:cTn id="63" presetID="2" presetClass="entr" presetSubtype="4" fill="hold" grpId="0" nodeType="withEffect">
                                  <p:stCondLst>
                                    <p:cond delay="0"/>
                                  </p:stCondLst>
                                  <p:childTnLst>
                                    <p:set>
                                      <p:cBhvr>
                                        <p:cTn id="64" dur="1" fill="hold">
                                          <p:stCondLst>
                                            <p:cond delay="0"/>
                                          </p:stCondLst>
                                        </p:cTn>
                                        <p:tgtEl>
                                          <p:spTgt spid="55308"/>
                                        </p:tgtEl>
                                        <p:attrNameLst>
                                          <p:attrName>style.visibility</p:attrName>
                                        </p:attrNameLst>
                                      </p:cBhvr>
                                      <p:to>
                                        <p:strVal val="visible"/>
                                      </p:to>
                                    </p:set>
                                    <p:anim calcmode="lin" valueType="num">
                                      <p:cBhvr additive="base">
                                        <p:cTn id="65" dur="500" fill="hold"/>
                                        <p:tgtEl>
                                          <p:spTgt spid="55308"/>
                                        </p:tgtEl>
                                        <p:attrNameLst>
                                          <p:attrName>ppt_x</p:attrName>
                                        </p:attrNameLst>
                                      </p:cBhvr>
                                      <p:tavLst>
                                        <p:tav tm="0">
                                          <p:val>
                                            <p:strVal val="#ppt_x"/>
                                          </p:val>
                                        </p:tav>
                                        <p:tav tm="100000">
                                          <p:val>
                                            <p:strVal val="#ppt_x"/>
                                          </p:val>
                                        </p:tav>
                                      </p:tavLst>
                                    </p:anim>
                                    <p:anim calcmode="lin" valueType="num">
                                      <p:cBhvr additive="base">
                                        <p:cTn id="66" dur="500" fill="hold"/>
                                        <p:tgtEl>
                                          <p:spTgt spid="55308"/>
                                        </p:tgtEl>
                                        <p:attrNameLst>
                                          <p:attrName>ppt_y</p:attrName>
                                        </p:attrNameLst>
                                      </p:cBhvr>
                                      <p:tavLst>
                                        <p:tav tm="0">
                                          <p:val>
                                            <p:strVal val="1+#ppt_h/2"/>
                                          </p:val>
                                        </p:tav>
                                        <p:tav tm="100000">
                                          <p:val>
                                            <p:strVal val="#ppt_y"/>
                                          </p:val>
                                        </p:tav>
                                      </p:tavLst>
                                    </p:anim>
                                  </p:childTnLst>
                                </p:cTn>
                              </p:par>
                            </p:childTnLst>
                          </p:cTn>
                        </p:par>
                      </p:childTnLst>
                    </p:cTn>
                  </p:par>
                  <p:par>
                    <p:cTn id="67" fill="hold">
                      <p:stCondLst>
                        <p:cond delay="indefinite"/>
                      </p:stCondLst>
                      <p:childTnLst>
                        <p:par>
                          <p:cTn id="68" fill="hold">
                            <p:stCondLst>
                              <p:cond delay="0"/>
                            </p:stCondLst>
                            <p:childTnLst>
                              <p:par>
                                <p:cTn id="69" presetID="2" presetClass="entr" presetSubtype="4" fill="hold" grpId="0" nodeType="clickEffect">
                                  <p:stCondLst>
                                    <p:cond delay="0"/>
                                  </p:stCondLst>
                                  <p:childTnLst>
                                    <p:set>
                                      <p:cBhvr>
                                        <p:cTn id="70" dur="1" fill="hold">
                                          <p:stCondLst>
                                            <p:cond delay="0"/>
                                          </p:stCondLst>
                                        </p:cTn>
                                        <p:tgtEl>
                                          <p:spTgt spid="55309"/>
                                        </p:tgtEl>
                                        <p:attrNameLst>
                                          <p:attrName>style.visibility</p:attrName>
                                        </p:attrNameLst>
                                      </p:cBhvr>
                                      <p:to>
                                        <p:strVal val="visible"/>
                                      </p:to>
                                    </p:set>
                                    <p:anim calcmode="lin" valueType="num">
                                      <p:cBhvr additive="base">
                                        <p:cTn id="71" dur="500" fill="hold"/>
                                        <p:tgtEl>
                                          <p:spTgt spid="55309"/>
                                        </p:tgtEl>
                                        <p:attrNameLst>
                                          <p:attrName>ppt_x</p:attrName>
                                        </p:attrNameLst>
                                      </p:cBhvr>
                                      <p:tavLst>
                                        <p:tav tm="0">
                                          <p:val>
                                            <p:strVal val="#ppt_x"/>
                                          </p:val>
                                        </p:tav>
                                        <p:tav tm="100000">
                                          <p:val>
                                            <p:strVal val="#ppt_x"/>
                                          </p:val>
                                        </p:tav>
                                      </p:tavLst>
                                    </p:anim>
                                    <p:anim calcmode="lin" valueType="num">
                                      <p:cBhvr additive="base">
                                        <p:cTn id="72" dur="500" fill="hold"/>
                                        <p:tgtEl>
                                          <p:spTgt spid="55309"/>
                                        </p:tgtEl>
                                        <p:attrNameLst>
                                          <p:attrName>ppt_y</p:attrName>
                                        </p:attrNameLst>
                                      </p:cBhvr>
                                      <p:tavLst>
                                        <p:tav tm="0">
                                          <p:val>
                                            <p:strVal val="1+#ppt_h/2"/>
                                          </p:val>
                                        </p:tav>
                                        <p:tav tm="100000">
                                          <p:val>
                                            <p:strVal val="#ppt_y"/>
                                          </p:val>
                                        </p:tav>
                                      </p:tavLst>
                                    </p:anim>
                                  </p:childTnLst>
                                </p:cTn>
                              </p:par>
                              <p:par>
                                <p:cTn id="73" presetID="2" presetClass="entr" presetSubtype="4" fill="hold" grpId="0" nodeType="withEffect">
                                  <p:stCondLst>
                                    <p:cond delay="0"/>
                                  </p:stCondLst>
                                  <p:childTnLst>
                                    <p:set>
                                      <p:cBhvr>
                                        <p:cTn id="74" dur="1" fill="hold">
                                          <p:stCondLst>
                                            <p:cond delay="0"/>
                                          </p:stCondLst>
                                        </p:cTn>
                                        <p:tgtEl>
                                          <p:spTgt spid="55310"/>
                                        </p:tgtEl>
                                        <p:attrNameLst>
                                          <p:attrName>style.visibility</p:attrName>
                                        </p:attrNameLst>
                                      </p:cBhvr>
                                      <p:to>
                                        <p:strVal val="visible"/>
                                      </p:to>
                                    </p:set>
                                    <p:anim calcmode="lin" valueType="num">
                                      <p:cBhvr additive="base">
                                        <p:cTn id="75" dur="500" fill="hold"/>
                                        <p:tgtEl>
                                          <p:spTgt spid="55310"/>
                                        </p:tgtEl>
                                        <p:attrNameLst>
                                          <p:attrName>ppt_x</p:attrName>
                                        </p:attrNameLst>
                                      </p:cBhvr>
                                      <p:tavLst>
                                        <p:tav tm="0">
                                          <p:val>
                                            <p:strVal val="#ppt_x"/>
                                          </p:val>
                                        </p:tav>
                                        <p:tav tm="100000">
                                          <p:val>
                                            <p:strVal val="#ppt_x"/>
                                          </p:val>
                                        </p:tav>
                                      </p:tavLst>
                                    </p:anim>
                                    <p:anim calcmode="lin" valueType="num">
                                      <p:cBhvr additive="base">
                                        <p:cTn id="76" dur="500" fill="hold"/>
                                        <p:tgtEl>
                                          <p:spTgt spid="553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300" grpId="0" animBg="1"/>
      <p:bldP spid="55301" grpId="0"/>
      <p:bldP spid="55303" grpId="0"/>
      <p:bldP spid="55304" grpId="0"/>
      <p:bldP spid="55305" grpId="0"/>
      <p:bldP spid="55306" grpId="0" animBg="1"/>
      <p:bldP spid="55307" grpId="0"/>
      <p:bldP spid="55308" grpId="0"/>
      <p:bldP spid="55309" grpId="0"/>
      <p:bldP spid="55310" grpId="0"/>
      <p:bldP spid="553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6" descr="工业区位论中的距离与成本"/>
          <p:cNvPicPr>
            <a:picLocks noGrp="1" noChangeAspect="1" noChangeArrowheads="1"/>
          </p:cNvPicPr>
          <p:nvPr>
            <p:ph idx="1"/>
          </p:nvPr>
        </p:nvPicPr>
        <p:blipFill>
          <a:blip r:embed="rId2" cstate="print"/>
          <a:srcRect/>
          <a:stretch>
            <a:fillRect/>
          </a:stretch>
        </p:blipFill>
        <p:spPr>
          <a:xfrm>
            <a:off x="611188" y="-9525"/>
            <a:ext cx="7705725" cy="6788150"/>
          </a:xfrm>
        </p:spPr>
      </p:pic>
      <p:sp>
        <p:nvSpPr>
          <p:cNvPr id="19459" name="AutoShape 7">
            <a:hlinkClick r:id="rId3" action="ppaction://hlinksldjump"/>
          </p:cNvPr>
          <p:cNvSpPr>
            <a:spLocks noChangeArrowheads="1"/>
          </p:cNvSpPr>
          <p:nvPr/>
        </p:nvSpPr>
        <p:spPr bwMode="auto">
          <a:xfrm>
            <a:off x="8459788" y="6021388"/>
            <a:ext cx="287337" cy="358775"/>
          </a:xfrm>
          <a:prstGeom prst="upArrow">
            <a:avLst>
              <a:gd name="adj1" fmla="val 50000"/>
              <a:gd name="adj2" fmla="val 31216"/>
            </a:avLst>
          </a:prstGeom>
          <a:solidFill>
            <a:srgbClr val="FF00FF"/>
          </a:solidFill>
          <a:ln w="9525">
            <a:solidFill>
              <a:schemeClr val="tx1"/>
            </a:solidFill>
            <a:miter lim="800000"/>
            <a:headEnd/>
            <a:tailEnd/>
          </a:ln>
        </p:spPr>
        <p:txBody>
          <a:bodyPr vert="eaVert" wrap="none" anchor="ctr"/>
          <a:lstStyle/>
          <a:p>
            <a:endParaRPr lang="zh-CN" alt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5" descr="等费线图"/>
          <p:cNvPicPr>
            <a:picLocks noChangeAspect="1" noChangeArrowheads="1"/>
          </p:cNvPicPr>
          <p:nvPr>
            <p:ph/>
          </p:nvPr>
        </p:nvPicPr>
        <p:blipFill>
          <a:blip r:embed="rId2" cstate="print"/>
          <a:srcRect/>
          <a:stretch>
            <a:fillRect/>
          </a:stretch>
        </p:blipFill>
        <p:spPr>
          <a:xfrm>
            <a:off x="1179513" y="274638"/>
            <a:ext cx="6784975" cy="5851525"/>
          </a:xfrm>
          <a:noFill/>
        </p:spPr>
      </p:pic>
      <p:sp>
        <p:nvSpPr>
          <p:cNvPr id="20483" name="AutoShape 6">
            <a:hlinkClick r:id="rId3" action="ppaction://hlinksldjump"/>
          </p:cNvPr>
          <p:cNvSpPr>
            <a:spLocks noChangeArrowheads="1"/>
          </p:cNvSpPr>
          <p:nvPr/>
        </p:nvSpPr>
        <p:spPr bwMode="auto">
          <a:xfrm>
            <a:off x="8532813" y="6165850"/>
            <a:ext cx="287337" cy="358775"/>
          </a:xfrm>
          <a:prstGeom prst="upArrow">
            <a:avLst>
              <a:gd name="adj1" fmla="val 50000"/>
              <a:gd name="adj2" fmla="val 31216"/>
            </a:avLst>
          </a:prstGeom>
          <a:solidFill>
            <a:srgbClr val="FF6600"/>
          </a:solidFill>
          <a:ln w="9525">
            <a:solidFill>
              <a:schemeClr val="tx1"/>
            </a:solidFill>
            <a:miter lim="800000"/>
            <a:headEnd/>
            <a:tailEnd/>
          </a:ln>
        </p:spPr>
        <p:txBody>
          <a:bodyPr vert="eaVert" wrap="none" anchor="ctr"/>
          <a:lstStyle/>
          <a:p>
            <a:endParaRPr lang="zh-CN" alt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6" name="Picture 5" descr="DSC01961"/>
          <p:cNvPicPr>
            <a:picLocks noChangeAspect="1" noChangeArrowheads="1"/>
          </p:cNvPicPr>
          <p:nvPr>
            <p:ph/>
          </p:nvPr>
        </p:nvPicPr>
        <p:blipFill>
          <a:blip r:embed="rId2" cstate="print"/>
          <a:srcRect/>
          <a:stretch>
            <a:fillRect/>
          </a:stretch>
        </p:blipFill>
        <p:spPr>
          <a:xfrm>
            <a:off x="1843088" y="274638"/>
            <a:ext cx="5456237" cy="5851525"/>
          </a:xfrm>
          <a:noFill/>
        </p:spPr>
      </p:pic>
      <p:sp>
        <p:nvSpPr>
          <p:cNvPr id="21507" name="AutoShape 6">
            <a:hlinkClick r:id="rId3" action="ppaction://hlinksldjump"/>
          </p:cNvPr>
          <p:cNvSpPr>
            <a:spLocks noChangeArrowheads="1"/>
          </p:cNvSpPr>
          <p:nvPr/>
        </p:nvSpPr>
        <p:spPr bwMode="auto">
          <a:xfrm>
            <a:off x="8459788" y="6165850"/>
            <a:ext cx="288925" cy="358775"/>
          </a:xfrm>
          <a:prstGeom prst="upArrow">
            <a:avLst>
              <a:gd name="adj1" fmla="val 50000"/>
              <a:gd name="adj2" fmla="val 31044"/>
            </a:avLst>
          </a:prstGeom>
          <a:solidFill>
            <a:srgbClr val="FF6600"/>
          </a:solidFill>
          <a:ln w="9525">
            <a:solidFill>
              <a:schemeClr val="tx1"/>
            </a:solidFill>
            <a:miter lim="800000"/>
            <a:headEnd/>
            <a:tailEnd/>
          </a:ln>
        </p:spPr>
        <p:txBody>
          <a:bodyPr vert="eaVert" wrap="none" anchor="ctr"/>
          <a:lstStyle/>
          <a:p>
            <a:endParaRPr lang="zh-CN" alt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457200" y="549275"/>
            <a:ext cx="8229600" cy="576263"/>
          </a:xfrm>
        </p:spPr>
        <p:txBody>
          <a:bodyPr/>
          <a:lstStyle/>
          <a:p>
            <a:pPr algn="l" eaLnBrk="1" hangingPunct="1"/>
            <a:r>
              <a:rPr lang="en-US" altLang="zh-CN" sz="2800" smtClean="0">
                <a:solidFill>
                  <a:srgbClr val="FFFF00"/>
                </a:solidFill>
                <a:latin typeface="黑体" pitchFamily="49" charset="-122"/>
                <a:ea typeface="黑体" pitchFamily="49" charset="-122"/>
              </a:rPr>
              <a:t>3. </a:t>
            </a:r>
            <a:r>
              <a:rPr lang="zh-CN" altLang="en-US" sz="2800" smtClean="0">
                <a:solidFill>
                  <a:srgbClr val="FFFF00"/>
                </a:solidFill>
                <a:latin typeface="黑体" pitchFamily="49" charset="-122"/>
                <a:ea typeface="黑体" pitchFamily="49" charset="-122"/>
              </a:rPr>
              <a:t>理论与现实</a:t>
            </a:r>
            <a:br>
              <a:rPr lang="zh-CN" altLang="en-US" sz="2800" smtClean="0">
                <a:solidFill>
                  <a:srgbClr val="FFFF00"/>
                </a:solidFill>
                <a:latin typeface="黑体" pitchFamily="49" charset="-122"/>
                <a:ea typeface="黑体" pitchFamily="49" charset="-122"/>
              </a:rPr>
            </a:br>
            <a:endParaRPr lang="zh-CN" altLang="en-US" sz="2800" smtClean="0">
              <a:solidFill>
                <a:srgbClr val="FFFF00"/>
              </a:solidFill>
              <a:latin typeface="黑体" pitchFamily="49" charset="-122"/>
              <a:ea typeface="黑体" pitchFamily="49" charset="-122"/>
            </a:endParaRPr>
          </a:p>
        </p:txBody>
      </p:sp>
      <p:sp>
        <p:nvSpPr>
          <p:cNvPr id="56323" name="Rectangle 3"/>
          <p:cNvSpPr>
            <a:spLocks noGrp="1" noChangeArrowheads="1"/>
          </p:cNvSpPr>
          <p:nvPr>
            <p:ph type="body" idx="1"/>
          </p:nvPr>
        </p:nvSpPr>
        <p:spPr>
          <a:xfrm>
            <a:off x="468313" y="1052513"/>
            <a:ext cx="8459787" cy="5329237"/>
          </a:xfrm>
        </p:spPr>
        <p:txBody>
          <a:bodyPr/>
          <a:lstStyle/>
          <a:p>
            <a:pPr eaLnBrk="1" hangingPunct="1">
              <a:lnSpc>
                <a:spcPct val="150000"/>
              </a:lnSpc>
              <a:buFont typeface="Wingdings" pitchFamily="2" charset="2"/>
              <a:buNone/>
            </a:pPr>
            <a:r>
              <a:rPr lang="zh-CN" altLang="en-US" sz="2400" smtClean="0">
                <a:solidFill>
                  <a:srgbClr val="FFFF00"/>
                </a:solidFill>
                <a:latin typeface="黑体" pitchFamily="49" charset="-122"/>
                <a:ea typeface="黑体" pitchFamily="49" charset="-122"/>
              </a:rPr>
              <a:t>（</a:t>
            </a:r>
            <a:r>
              <a:rPr lang="en-US" altLang="zh-CN" sz="2400" smtClean="0">
                <a:solidFill>
                  <a:srgbClr val="FFFF00"/>
                </a:solidFill>
                <a:latin typeface="黑体" pitchFamily="49" charset="-122"/>
                <a:ea typeface="黑体" pitchFamily="49" charset="-122"/>
              </a:rPr>
              <a:t>1</a:t>
            </a:r>
            <a:r>
              <a:rPr lang="zh-CN" altLang="en-US" sz="2400" smtClean="0">
                <a:solidFill>
                  <a:srgbClr val="FFFF00"/>
                </a:solidFill>
                <a:latin typeface="黑体" pitchFamily="49" charset="-122"/>
                <a:ea typeface="黑体" pitchFamily="49" charset="-122"/>
              </a:rPr>
              <a:t>）属于局部均衡的研究</a:t>
            </a:r>
          </a:p>
          <a:p>
            <a:pPr eaLnBrk="1" hangingPunct="1">
              <a:lnSpc>
                <a:spcPct val="150000"/>
              </a:lnSpc>
              <a:buFont typeface="Wingdings" pitchFamily="2" charset="2"/>
              <a:buNone/>
            </a:pPr>
            <a:r>
              <a:rPr lang="zh-CN" altLang="en-US" sz="2400" smtClean="0">
                <a:solidFill>
                  <a:srgbClr val="FFFF00"/>
                </a:solidFill>
                <a:latin typeface="黑体" pitchFamily="49" charset="-122"/>
                <a:ea typeface="黑体" pitchFamily="49" charset="-122"/>
              </a:rPr>
              <a:t>（</a:t>
            </a:r>
            <a:r>
              <a:rPr lang="en-US" altLang="zh-CN" sz="2400" smtClean="0">
                <a:solidFill>
                  <a:srgbClr val="FFFF00"/>
                </a:solidFill>
                <a:latin typeface="黑体" pitchFamily="49" charset="-122"/>
                <a:ea typeface="黑体" pitchFamily="49" charset="-122"/>
              </a:rPr>
              <a:t>2</a:t>
            </a:r>
            <a:r>
              <a:rPr lang="zh-CN" altLang="en-US" sz="2400" smtClean="0">
                <a:solidFill>
                  <a:srgbClr val="FFFF00"/>
                </a:solidFill>
                <a:latin typeface="黑体" pitchFamily="49" charset="-122"/>
                <a:ea typeface="黑体" pitchFamily="49" charset="-122"/>
              </a:rPr>
              <a:t>）即使从个别生产单位的区位看，所考虑的因素过于简单；</a:t>
            </a:r>
          </a:p>
          <a:p>
            <a:pPr lvl="1" eaLnBrk="1" hangingPunct="1">
              <a:lnSpc>
                <a:spcPct val="150000"/>
              </a:lnSpc>
              <a:buFont typeface="Wingdings" pitchFamily="2" charset="2"/>
              <a:buChar char="Ø"/>
            </a:pPr>
            <a:r>
              <a:rPr lang="zh-CN" altLang="en-US" sz="2000" smtClean="0">
                <a:solidFill>
                  <a:schemeClr val="bg1"/>
                </a:solidFill>
                <a:latin typeface="黑体" pitchFamily="49" charset="-122"/>
                <a:ea typeface="黑体" pitchFamily="49" charset="-122"/>
              </a:rPr>
              <a:t>一种工业布局之所以是消费区指向，除了因为原料系数小于</a:t>
            </a:r>
            <a:r>
              <a:rPr lang="en-US" altLang="zh-CN" sz="2000" smtClean="0">
                <a:solidFill>
                  <a:schemeClr val="bg1"/>
                </a:solidFill>
                <a:latin typeface="黑体" pitchFamily="49" charset="-122"/>
                <a:ea typeface="黑体" pitchFamily="49" charset="-122"/>
              </a:rPr>
              <a:t>1</a:t>
            </a:r>
            <a:r>
              <a:rPr lang="zh-CN" altLang="en-US" sz="2000" smtClean="0">
                <a:solidFill>
                  <a:schemeClr val="bg1"/>
                </a:solidFill>
                <a:latin typeface="黑体" pitchFamily="49" charset="-122"/>
                <a:ea typeface="黑体" pitchFamily="49" charset="-122"/>
              </a:rPr>
              <a:t>外，还有其他原因；</a:t>
            </a:r>
          </a:p>
          <a:p>
            <a:pPr lvl="1" eaLnBrk="1" hangingPunct="1">
              <a:lnSpc>
                <a:spcPct val="150000"/>
              </a:lnSpc>
              <a:buFont typeface="Wingdings" pitchFamily="2" charset="2"/>
              <a:buChar char="Ø"/>
            </a:pPr>
            <a:r>
              <a:rPr lang="zh-CN" altLang="en-US" sz="2000" smtClean="0">
                <a:solidFill>
                  <a:schemeClr val="bg1"/>
                </a:solidFill>
                <a:latin typeface="黑体" pitchFamily="49" charset="-122"/>
                <a:ea typeface="黑体" pitchFamily="49" charset="-122"/>
              </a:rPr>
              <a:t>一种工业布局之所以是原料地指向，除了因为原料系数大于</a:t>
            </a:r>
            <a:r>
              <a:rPr lang="en-US" altLang="zh-CN" sz="2000" smtClean="0">
                <a:solidFill>
                  <a:schemeClr val="bg1"/>
                </a:solidFill>
                <a:latin typeface="黑体" pitchFamily="49" charset="-122"/>
                <a:ea typeface="黑体" pitchFamily="49" charset="-122"/>
              </a:rPr>
              <a:t>1</a:t>
            </a:r>
            <a:r>
              <a:rPr lang="zh-CN" altLang="en-US" sz="2000" smtClean="0">
                <a:solidFill>
                  <a:schemeClr val="bg1"/>
                </a:solidFill>
                <a:latin typeface="黑体" pitchFamily="49" charset="-122"/>
                <a:ea typeface="黑体" pitchFamily="49" charset="-122"/>
              </a:rPr>
              <a:t>外，还因为其他原因；</a:t>
            </a:r>
          </a:p>
          <a:p>
            <a:pPr lvl="1" eaLnBrk="1" hangingPunct="1">
              <a:lnSpc>
                <a:spcPct val="150000"/>
              </a:lnSpc>
              <a:buFont typeface="Wingdings" pitchFamily="2" charset="2"/>
              <a:buChar char="Ø"/>
            </a:pPr>
            <a:r>
              <a:rPr lang="zh-CN" altLang="en-US" sz="2000" smtClean="0">
                <a:solidFill>
                  <a:schemeClr val="bg1"/>
                </a:solidFill>
                <a:latin typeface="黑体" pitchFamily="49" charset="-122"/>
                <a:ea typeface="黑体" pitchFamily="49" charset="-122"/>
              </a:rPr>
              <a:t>工业布局的指向性随着科技进步而变化；</a:t>
            </a:r>
          </a:p>
          <a:p>
            <a:pPr lvl="1" eaLnBrk="1" hangingPunct="1">
              <a:lnSpc>
                <a:spcPct val="150000"/>
              </a:lnSpc>
              <a:buFont typeface="Wingdings" pitchFamily="2" charset="2"/>
              <a:buChar char="Ø"/>
            </a:pPr>
            <a:r>
              <a:rPr lang="zh-CN" altLang="en-US" sz="2000" smtClean="0">
                <a:solidFill>
                  <a:schemeClr val="bg1"/>
                </a:solidFill>
                <a:latin typeface="黑体" pitchFamily="49" charset="-122"/>
                <a:ea typeface="黑体" pitchFamily="49" charset="-122"/>
              </a:rPr>
              <a:t>没有考虑消费因素对工业区位选择的影响</a:t>
            </a:r>
          </a:p>
          <a:p>
            <a:pPr eaLnBrk="1" hangingPunct="1">
              <a:lnSpc>
                <a:spcPct val="150000"/>
              </a:lnSpc>
              <a:buFont typeface="Wingdings" pitchFamily="2" charset="2"/>
              <a:buNone/>
            </a:pPr>
            <a:r>
              <a:rPr lang="zh-CN" altLang="en-US" sz="2400" smtClean="0">
                <a:solidFill>
                  <a:srgbClr val="FFFF00"/>
                </a:solidFill>
                <a:latin typeface="黑体" pitchFamily="49" charset="-122"/>
                <a:ea typeface="黑体" pitchFamily="49" charset="-122"/>
              </a:rPr>
              <a:t>（</a:t>
            </a:r>
            <a:r>
              <a:rPr lang="en-US" altLang="zh-CN" sz="2400" smtClean="0">
                <a:solidFill>
                  <a:srgbClr val="FFFF00"/>
                </a:solidFill>
                <a:latin typeface="黑体" pitchFamily="49" charset="-122"/>
                <a:ea typeface="黑体" pitchFamily="49" charset="-122"/>
              </a:rPr>
              <a:t>3</a:t>
            </a:r>
            <a:r>
              <a:rPr lang="zh-CN" altLang="en-US" sz="2400" smtClean="0">
                <a:solidFill>
                  <a:srgbClr val="FFFF00"/>
                </a:solidFill>
                <a:latin typeface="黑体" pitchFamily="49" charset="-122"/>
                <a:ea typeface="黑体" pitchFamily="49" charset="-122"/>
              </a:rPr>
              <a:t>）再以其关于运输成本和工资成本这两个因素的分析来看，也存在缺陷</a:t>
            </a:r>
            <a:endParaRPr lang="zh-CN" altLang="en-US" sz="2400" smtClean="0">
              <a:solidFill>
                <a:schemeClr val="bg1"/>
              </a:solidFill>
              <a:latin typeface="华文细黑" pitchFamily="2" charset="-122"/>
              <a:ea typeface="华文细黑"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6323">
                                            <p:txEl>
                                              <p:pRg st="0" end="0"/>
                                            </p:txEl>
                                          </p:spTgt>
                                        </p:tgtEl>
                                        <p:attrNameLst>
                                          <p:attrName>style.visibility</p:attrName>
                                        </p:attrNameLst>
                                      </p:cBhvr>
                                      <p:to>
                                        <p:strVal val="visible"/>
                                      </p:to>
                                    </p:set>
                                    <p:anim calcmode="lin" valueType="num">
                                      <p:cBhvr additive="base">
                                        <p:cTn id="7" dur="500" fill="hold"/>
                                        <p:tgtEl>
                                          <p:spTgt spid="5632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632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6323">
                                            <p:txEl>
                                              <p:pRg st="1" end="1"/>
                                            </p:txEl>
                                          </p:spTgt>
                                        </p:tgtEl>
                                        <p:attrNameLst>
                                          <p:attrName>style.visibility</p:attrName>
                                        </p:attrNameLst>
                                      </p:cBhvr>
                                      <p:to>
                                        <p:strVal val="visible"/>
                                      </p:to>
                                    </p:set>
                                    <p:anim calcmode="lin" valueType="num">
                                      <p:cBhvr additive="base">
                                        <p:cTn id="13" dur="500" fill="hold"/>
                                        <p:tgtEl>
                                          <p:spTgt spid="5632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632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56323">
                                            <p:txEl>
                                              <p:pRg st="2" end="2"/>
                                            </p:txEl>
                                          </p:spTgt>
                                        </p:tgtEl>
                                        <p:attrNameLst>
                                          <p:attrName>style.visibility</p:attrName>
                                        </p:attrNameLst>
                                      </p:cBhvr>
                                      <p:to>
                                        <p:strVal val="visible"/>
                                      </p:to>
                                    </p:set>
                                    <p:anim calcmode="lin" valueType="num">
                                      <p:cBhvr additive="base">
                                        <p:cTn id="19" dur="500" fill="hold"/>
                                        <p:tgtEl>
                                          <p:spTgt spid="5632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632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56323">
                                            <p:txEl>
                                              <p:pRg st="3" end="3"/>
                                            </p:txEl>
                                          </p:spTgt>
                                        </p:tgtEl>
                                        <p:attrNameLst>
                                          <p:attrName>style.visibility</p:attrName>
                                        </p:attrNameLst>
                                      </p:cBhvr>
                                      <p:to>
                                        <p:strVal val="visible"/>
                                      </p:to>
                                    </p:set>
                                    <p:anim calcmode="lin" valueType="num">
                                      <p:cBhvr additive="base">
                                        <p:cTn id="25" dur="500" fill="hold"/>
                                        <p:tgtEl>
                                          <p:spTgt spid="5632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5632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56323">
                                            <p:txEl>
                                              <p:pRg st="4" end="4"/>
                                            </p:txEl>
                                          </p:spTgt>
                                        </p:tgtEl>
                                        <p:attrNameLst>
                                          <p:attrName>style.visibility</p:attrName>
                                        </p:attrNameLst>
                                      </p:cBhvr>
                                      <p:to>
                                        <p:strVal val="visible"/>
                                      </p:to>
                                    </p:set>
                                    <p:anim calcmode="lin" valueType="num">
                                      <p:cBhvr additive="base">
                                        <p:cTn id="31" dur="500" fill="hold"/>
                                        <p:tgtEl>
                                          <p:spTgt spid="5632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632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nodeType="clickEffect">
                                  <p:stCondLst>
                                    <p:cond delay="0"/>
                                  </p:stCondLst>
                                  <p:childTnLst>
                                    <p:set>
                                      <p:cBhvr>
                                        <p:cTn id="36" dur="1" fill="hold">
                                          <p:stCondLst>
                                            <p:cond delay="0"/>
                                          </p:stCondLst>
                                        </p:cTn>
                                        <p:tgtEl>
                                          <p:spTgt spid="56323">
                                            <p:txEl>
                                              <p:pRg st="5" end="5"/>
                                            </p:txEl>
                                          </p:spTgt>
                                        </p:tgtEl>
                                        <p:attrNameLst>
                                          <p:attrName>style.visibility</p:attrName>
                                        </p:attrNameLst>
                                      </p:cBhvr>
                                      <p:to>
                                        <p:strVal val="visible"/>
                                      </p:to>
                                    </p:set>
                                    <p:anim calcmode="lin" valueType="num">
                                      <p:cBhvr additive="base">
                                        <p:cTn id="37" dur="500" fill="hold"/>
                                        <p:tgtEl>
                                          <p:spTgt spid="5632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5632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nodeType="clickEffect">
                                  <p:stCondLst>
                                    <p:cond delay="0"/>
                                  </p:stCondLst>
                                  <p:childTnLst>
                                    <p:set>
                                      <p:cBhvr>
                                        <p:cTn id="42" dur="1" fill="hold">
                                          <p:stCondLst>
                                            <p:cond delay="0"/>
                                          </p:stCondLst>
                                        </p:cTn>
                                        <p:tgtEl>
                                          <p:spTgt spid="56323">
                                            <p:txEl>
                                              <p:pRg st="6" end="6"/>
                                            </p:txEl>
                                          </p:spTgt>
                                        </p:tgtEl>
                                        <p:attrNameLst>
                                          <p:attrName>style.visibility</p:attrName>
                                        </p:attrNameLst>
                                      </p:cBhvr>
                                      <p:to>
                                        <p:strVal val="visible"/>
                                      </p:to>
                                    </p:set>
                                    <p:anim calcmode="lin" valueType="num">
                                      <p:cBhvr additive="base">
                                        <p:cTn id="43" dur="500" fill="hold"/>
                                        <p:tgtEl>
                                          <p:spTgt spid="5632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5632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algn="l" eaLnBrk="1" hangingPunct="1"/>
            <a:r>
              <a:rPr lang="zh-CN" altLang="en-US" sz="4000" smtClean="0">
                <a:solidFill>
                  <a:srgbClr val="FFFF00"/>
                </a:solidFill>
                <a:ea typeface="黑体" pitchFamily="49" charset="-122"/>
              </a:rPr>
              <a:t>三、霍特林区位相互依赖理论</a:t>
            </a:r>
          </a:p>
        </p:txBody>
      </p:sp>
      <p:sp>
        <p:nvSpPr>
          <p:cNvPr id="94211" name="Rectangle 3"/>
          <p:cNvSpPr>
            <a:spLocks noGrp="1" noChangeArrowheads="1"/>
          </p:cNvSpPr>
          <p:nvPr>
            <p:ph type="body" idx="1"/>
          </p:nvPr>
        </p:nvSpPr>
        <p:spPr>
          <a:xfrm>
            <a:off x="539750" y="1773238"/>
            <a:ext cx="8229600" cy="4276725"/>
          </a:xfrm>
        </p:spPr>
        <p:txBody>
          <a:bodyPr/>
          <a:lstStyle/>
          <a:p>
            <a:pPr eaLnBrk="1" hangingPunct="1">
              <a:lnSpc>
                <a:spcPct val="125000"/>
              </a:lnSpc>
            </a:pPr>
            <a:r>
              <a:rPr lang="zh-CN" altLang="en-US" smtClean="0">
                <a:solidFill>
                  <a:schemeClr val="bg1"/>
                </a:solidFill>
                <a:latin typeface="黑体" pitchFamily="49" charset="-122"/>
                <a:ea typeface="黑体" pitchFamily="49" charset="-122"/>
              </a:rPr>
              <a:t>假设条件</a:t>
            </a:r>
          </a:p>
          <a:p>
            <a:pPr lvl="1" eaLnBrk="1" hangingPunct="1">
              <a:lnSpc>
                <a:spcPct val="125000"/>
              </a:lnSpc>
            </a:pPr>
            <a:r>
              <a:rPr lang="zh-CN" altLang="en-US" smtClean="0">
                <a:solidFill>
                  <a:schemeClr val="bg1"/>
                </a:solidFill>
                <a:latin typeface="黑体" pitchFamily="49" charset="-122"/>
                <a:ea typeface="黑体" pitchFamily="49" charset="-122"/>
              </a:rPr>
              <a:t>需求无限大，且不随价格变化</a:t>
            </a:r>
          </a:p>
          <a:p>
            <a:pPr lvl="1" eaLnBrk="1" hangingPunct="1">
              <a:lnSpc>
                <a:spcPct val="125000"/>
              </a:lnSpc>
            </a:pPr>
            <a:r>
              <a:rPr lang="zh-CN" altLang="en-US" smtClean="0">
                <a:solidFill>
                  <a:schemeClr val="bg1"/>
                </a:solidFill>
                <a:latin typeface="黑体" pitchFamily="49" charset="-122"/>
                <a:ea typeface="黑体" pitchFamily="49" charset="-122"/>
              </a:rPr>
              <a:t>销售者到消费者的交通费用由消费者支付</a:t>
            </a:r>
          </a:p>
          <a:p>
            <a:pPr lvl="1" eaLnBrk="1" hangingPunct="1">
              <a:lnSpc>
                <a:spcPct val="125000"/>
              </a:lnSpc>
            </a:pPr>
            <a:r>
              <a:rPr lang="zh-CN" altLang="en-US" smtClean="0">
                <a:solidFill>
                  <a:schemeClr val="bg1"/>
                </a:solidFill>
                <a:latin typeface="黑体" pitchFamily="49" charset="-122"/>
                <a:ea typeface="黑体" pitchFamily="49" charset="-122"/>
              </a:rPr>
              <a:t>所有区位产品运费率相同</a:t>
            </a:r>
          </a:p>
          <a:p>
            <a:pPr eaLnBrk="1" hangingPunct="1">
              <a:lnSpc>
                <a:spcPct val="125000"/>
              </a:lnSpc>
            </a:pPr>
            <a:r>
              <a:rPr lang="zh-CN" altLang="en-US" smtClean="0">
                <a:solidFill>
                  <a:schemeClr val="bg1"/>
                </a:solidFill>
                <a:latin typeface="黑体" pitchFamily="49" charset="-122"/>
                <a:ea typeface="黑体" pitchFamily="49" charset="-122"/>
              </a:rPr>
              <a:t>只有一个销售者</a:t>
            </a:r>
            <a:r>
              <a:rPr lang="en-US" altLang="zh-CN" smtClean="0">
                <a:solidFill>
                  <a:schemeClr val="bg1"/>
                </a:solidFill>
                <a:latin typeface="黑体" pitchFamily="49" charset="-122"/>
                <a:ea typeface="黑体" pitchFamily="49" charset="-122"/>
              </a:rPr>
              <a:t>A</a:t>
            </a:r>
            <a:r>
              <a:rPr lang="zh-CN" altLang="en-US" smtClean="0">
                <a:solidFill>
                  <a:schemeClr val="bg1"/>
                </a:solidFill>
                <a:latin typeface="黑体" pitchFamily="49" charset="-122"/>
                <a:ea typeface="黑体" pitchFamily="49" charset="-122"/>
              </a:rPr>
              <a:t>的区位</a:t>
            </a:r>
          </a:p>
          <a:p>
            <a:pPr eaLnBrk="1" hangingPunct="1">
              <a:lnSpc>
                <a:spcPct val="125000"/>
              </a:lnSpc>
            </a:pPr>
            <a:r>
              <a:rPr lang="zh-CN" altLang="en-US" smtClean="0">
                <a:solidFill>
                  <a:schemeClr val="bg1"/>
                </a:solidFill>
                <a:latin typeface="黑体" pitchFamily="49" charset="-122"/>
                <a:ea typeface="黑体" pitchFamily="49" charset="-122"/>
              </a:rPr>
              <a:t>有</a:t>
            </a:r>
            <a:r>
              <a:rPr lang="en-US" altLang="zh-CN" smtClean="0">
                <a:solidFill>
                  <a:schemeClr val="bg1"/>
                </a:solidFill>
                <a:latin typeface="黑体" pitchFamily="49" charset="-122"/>
                <a:ea typeface="黑体" pitchFamily="49" charset="-122"/>
              </a:rPr>
              <a:t>2</a:t>
            </a:r>
            <a:r>
              <a:rPr lang="zh-CN" altLang="en-US" smtClean="0">
                <a:solidFill>
                  <a:schemeClr val="bg1"/>
                </a:solidFill>
                <a:latin typeface="黑体" pitchFamily="49" charset="-122"/>
                <a:ea typeface="黑体" pitchFamily="49" charset="-122"/>
              </a:rPr>
              <a:t>个或更多销售者的区位</a:t>
            </a:r>
            <a:r>
              <a:rPr lang="en-US" altLang="zh-CN" smtClean="0">
                <a:solidFill>
                  <a:schemeClr val="bg1"/>
                </a:solidFill>
                <a:ea typeface="黑体" pitchFamily="49" charset="-122"/>
              </a:rPr>
              <a:t>——</a:t>
            </a:r>
            <a:r>
              <a:rPr lang="zh-CN" altLang="en-US" smtClean="0">
                <a:solidFill>
                  <a:schemeClr val="bg1"/>
                </a:solidFill>
                <a:latin typeface="黑体" pitchFamily="49" charset="-122"/>
                <a:ea typeface="黑体" pitchFamily="49" charset="-122"/>
              </a:rPr>
              <a:t>相互靠近</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nodeType="clickEffect">
                                  <p:stCondLst>
                                    <p:cond delay="0"/>
                                  </p:stCondLst>
                                  <p:childTnLst>
                                    <p:set>
                                      <p:cBhvr>
                                        <p:cTn id="6" dur="1" fill="hold">
                                          <p:stCondLst>
                                            <p:cond delay="0"/>
                                          </p:stCondLst>
                                        </p:cTn>
                                        <p:tgtEl>
                                          <p:spTgt spid="94211">
                                            <p:txEl>
                                              <p:pRg st="0" end="0"/>
                                            </p:txEl>
                                          </p:spTgt>
                                        </p:tgtEl>
                                        <p:attrNameLst>
                                          <p:attrName>style.visibility</p:attrName>
                                        </p:attrNameLst>
                                      </p:cBhvr>
                                      <p:to>
                                        <p:strVal val="visible"/>
                                      </p:to>
                                    </p:set>
                                    <p:animEffect transition="in" filter="diamond(in)">
                                      <p:cBhvr>
                                        <p:cTn id="7" dur="2000"/>
                                        <p:tgtEl>
                                          <p:spTgt spid="94211">
                                            <p:txEl>
                                              <p:pRg st="0" end="0"/>
                                            </p:txEl>
                                          </p:spTgt>
                                        </p:tgtEl>
                                      </p:cBhvr>
                                    </p:animEffect>
                                  </p:childTnLst>
                                </p:cTn>
                              </p:par>
                              <p:par>
                                <p:cTn id="8" presetID="8" presetClass="entr" presetSubtype="16" fill="hold" nodeType="withEffect">
                                  <p:stCondLst>
                                    <p:cond delay="0"/>
                                  </p:stCondLst>
                                  <p:childTnLst>
                                    <p:set>
                                      <p:cBhvr>
                                        <p:cTn id="9" dur="1" fill="hold">
                                          <p:stCondLst>
                                            <p:cond delay="0"/>
                                          </p:stCondLst>
                                        </p:cTn>
                                        <p:tgtEl>
                                          <p:spTgt spid="94211">
                                            <p:txEl>
                                              <p:pRg st="1" end="1"/>
                                            </p:txEl>
                                          </p:spTgt>
                                        </p:tgtEl>
                                        <p:attrNameLst>
                                          <p:attrName>style.visibility</p:attrName>
                                        </p:attrNameLst>
                                      </p:cBhvr>
                                      <p:to>
                                        <p:strVal val="visible"/>
                                      </p:to>
                                    </p:set>
                                    <p:animEffect transition="in" filter="diamond(in)">
                                      <p:cBhvr>
                                        <p:cTn id="10" dur="2000"/>
                                        <p:tgtEl>
                                          <p:spTgt spid="94211">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94211">
                                            <p:txEl>
                                              <p:pRg st="2" end="2"/>
                                            </p:txEl>
                                          </p:spTgt>
                                        </p:tgtEl>
                                        <p:attrNameLst>
                                          <p:attrName>style.visibility</p:attrName>
                                        </p:attrNameLst>
                                      </p:cBhvr>
                                      <p:to>
                                        <p:strVal val="visible"/>
                                      </p:to>
                                    </p:set>
                                    <p:animEffect transition="in" filter="box(in)">
                                      <p:cBhvr>
                                        <p:cTn id="15" dur="500"/>
                                        <p:tgtEl>
                                          <p:spTgt spid="94211">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5" presetClass="entr" presetSubtype="10" fill="hold" nodeType="clickEffect">
                                  <p:stCondLst>
                                    <p:cond delay="0"/>
                                  </p:stCondLst>
                                  <p:childTnLst>
                                    <p:set>
                                      <p:cBhvr>
                                        <p:cTn id="19" dur="1" fill="hold">
                                          <p:stCondLst>
                                            <p:cond delay="0"/>
                                          </p:stCondLst>
                                        </p:cTn>
                                        <p:tgtEl>
                                          <p:spTgt spid="94211">
                                            <p:txEl>
                                              <p:pRg st="3" end="3"/>
                                            </p:txEl>
                                          </p:spTgt>
                                        </p:tgtEl>
                                        <p:attrNameLst>
                                          <p:attrName>style.visibility</p:attrName>
                                        </p:attrNameLst>
                                      </p:cBhvr>
                                      <p:to>
                                        <p:strVal val="visible"/>
                                      </p:to>
                                    </p:set>
                                    <p:animEffect transition="in" filter="checkerboard(across)">
                                      <p:cBhvr>
                                        <p:cTn id="20" dur="500"/>
                                        <p:tgtEl>
                                          <p:spTgt spid="94211">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5" presetClass="entr" presetSubtype="10" fill="hold" nodeType="clickEffect">
                                  <p:stCondLst>
                                    <p:cond delay="0"/>
                                  </p:stCondLst>
                                  <p:childTnLst>
                                    <p:set>
                                      <p:cBhvr>
                                        <p:cTn id="24" dur="1" fill="hold">
                                          <p:stCondLst>
                                            <p:cond delay="0"/>
                                          </p:stCondLst>
                                        </p:cTn>
                                        <p:tgtEl>
                                          <p:spTgt spid="94211">
                                            <p:txEl>
                                              <p:pRg st="4" end="4"/>
                                            </p:txEl>
                                          </p:spTgt>
                                        </p:tgtEl>
                                        <p:attrNameLst>
                                          <p:attrName>style.visibility</p:attrName>
                                        </p:attrNameLst>
                                      </p:cBhvr>
                                      <p:to>
                                        <p:strVal val="visible"/>
                                      </p:to>
                                    </p:set>
                                    <p:animEffect transition="in" filter="checkerboard(across)">
                                      <p:cBhvr>
                                        <p:cTn id="25" dur="500"/>
                                        <p:tgtEl>
                                          <p:spTgt spid="94211">
                                            <p:txEl>
                                              <p:pRg st="4" end="4"/>
                                            </p:txEl>
                                          </p:spTgt>
                                        </p:tgtEl>
                                      </p:cBhvr>
                                    </p:animEffect>
                                  </p:childTnLst>
                                </p:cTn>
                              </p:par>
                              <p:par>
                                <p:cTn id="26" presetID="5" presetClass="entr" presetSubtype="10" fill="hold" nodeType="withEffect">
                                  <p:stCondLst>
                                    <p:cond delay="0"/>
                                  </p:stCondLst>
                                  <p:childTnLst>
                                    <p:set>
                                      <p:cBhvr>
                                        <p:cTn id="27" dur="1" fill="hold">
                                          <p:stCondLst>
                                            <p:cond delay="0"/>
                                          </p:stCondLst>
                                        </p:cTn>
                                        <p:tgtEl>
                                          <p:spTgt spid="94211">
                                            <p:txEl>
                                              <p:pRg st="5" end="5"/>
                                            </p:txEl>
                                          </p:spTgt>
                                        </p:tgtEl>
                                        <p:attrNameLst>
                                          <p:attrName>style.visibility</p:attrName>
                                        </p:attrNameLst>
                                      </p:cBhvr>
                                      <p:to>
                                        <p:strVal val="visible"/>
                                      </p:to>
                                    </p:set>
                                    <p:animEffect transition="in" filter="checkerboard(across)">
                                      <p:cBhvr>
                                        <p:cTn id="28" dur="500"/>
                                        <p:tgtEl>
                                          <p:spTgt spid="94211">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5" descr="区位相互依赖学派中的距离"/>
          <p:cNvPicPr>
            <a:picLocks noGrp="1" noChangeAspect="1" noChangeArrowheads="1"/>
          </p:cNvPicPr>
          <p:nvPr>
            <p:ph/>
          </p:nvPr>
        </p:nvPicPr>
        <p:blipFill>
          <a:blip r:embed="rId2" cstate="print"/>
          <a:srcRect/>
          <a:stretch>
            <a:fillRect/>
          </a:stretch>
        </p:blipFill>
        <p:spPr>
          <a:xfrm>
            <a:off x="1592263" y="0"/>
            <a:ext cx="6384925" cy="6858000"/>
          </a:xfrm>
        </p:spPr>
      </p:pic>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标题 1"/>
          <p:cNvSpPr>
            <a:spLocks noGrp="1"/>
          </p:cNvSpPr>
          <p:nvPr>
            <p:ph type="title"/>
          </p:nvPr>
        </p:nvSpPr>
        <p:spPr/>
        <p:txBody>
          <a:bodyPr/>
          <a:lstStyle/>
          <a:p>
            <a:pPr algn="l"/>
            <a:r>
              <a:rPr lang="zh-CN" altLang="en-US" smtClean="0">
                <a:solidFill>
                  <a:srgbClr val="FFFF00"/>
                </a:solidFill>
                <a:ea typeface="黑体" pitchFamily="49" charset="-122"/>
              </a:rPr>
              <a:t>四、帕兰德区位理论</a:t>
            </a:r>
            <a:endParaRPr lang="zh-CN" altLang="en-US" smtClean="0"/>
          </a:p>
        </p:txBody>
      </p:sp>
      <p:sp>
        <p:nvSpPr>
          <p:cNvPr id="3" name="内容占位符 2"/>
          <p:cNvSpPr>
            <a:spLocks noGrp="1"/>
          </p:cNvSpPr>
          <p:nvPr>
            <p:ph idx="1"/>
          </p:nvPr>
        </p:nvSpPr>
        <p:spPr>
          <a:xfrm>
            <a:off x="468313" y="1557338"/>
            <a:ext cx="8229600" cy="4349750"/>
          </a:xfrm>
        </p:spPr>
        <p:txBody>
          <a:bodyPr/>
          <a:lstStyle/>
          <a:p>
            <a:pPr>
              <a:lnSpc>
                <a:spcPts val="3800"/>
              </a:lnSpc>
            </a:pPr>
            <a:r>
              <a:rPr lang="zh-CN" altLang="en-US" sz="2800" smtClean="0">
                <a:solidFill>
                  <a:srgbClr val="FFFF00"/>
                </a:solidFill>
                <a:latin typeface="黑体" pitchFamily="49" charset="-122"/>
                <a:ea typeface="黑体" pitchFamily="49" charset="-122"/>
              </a:rPr>
              <a:t>生产区位布局</a:t>
            </a:r>
            <a:endParaRPr lang="en-US" altLang="zh-CN" sz="2800" smtClean="0">
              <a:solidFill>
                <a:srgbClr val="FFFF00"/>
              </a:solidFill>
              <a:latin typeface="黑体" pitchFamily="49" charset="-122"/>
              <a:ea typeface="黑体" pitchFamily="49" charset="-122"/>
            </a:endParaRPr>
          </a:p>
          <a:p>
            <a:pPr>
              <a:lnSpc>
                <a:spcPts val="3800"/>
              </a:lnSpc>
            </a:pPr>
            <a:r>
              <a:rPr lang="zh-CN" altLang="en-US" sz="2800" smtClean="0">
                <a:solidFill>
                  <a:schemeClr val="bg1"/>
                </a:solidFill>
                <a:latin typeface="黑体" pitchFamily="49" charset="-122"/>
                <a:ea typeface="黑体" pitchFamily="49" charset="-122"/>
              </a:rPr>
              <a:t>以价格为变量研究区位空间均衡</a:t>
            </a:r>
            <a:endParaRPr lang="en-US" altLang="zh-CN" sz="2800" smtClean="0">
              <a:solidFill>
                <a:schemeClr val="bg1"/>
              </a:solidFill>
              <a:latin typeface="黑体" pitchFamily="49" charset="-122"/>
              <a:ea typeface="黑体" pitchFamily="49" charset="-122"/>
            </a:endParaRPr>
          </a:p>
          <a:p>
            <a:pPr>
              <a:lnSpc>
                <a:spcPts val="3800"/>
              </a:lnSpc>
            </a:pPr>
            <a:r>
              <a:rPr lang="zh-CN" altLang="en-US" sz="2800" smtClean="0">
                <a:solidFill>
                  <a:schemeClr val="bg1"/>
                </a:solidFill>
                <a:latin typeface="黑体" pitchFamily="49" charset="-122"/>
                <a:ea typeface="黑体" pitchFamily="49" charset="-122"/>
              </a:rPr>
              <a:t>生产最佳区位：生产的所有费用总和最小</a:t>
            </a:r>
            <a:endParaRPr lang="en-US" altLang="zh-CN" sz="2800" smtClean="0">
              <a:solidFill>
                <a:schemeClr val="bg1"/>
              </a:solidFill>
              <a:latin typeface="黑体" pitchFamily="49" charset="-122"/>
              <a:ea typeface="黑体" pitchFamily="49" charset="-122"/>
            </a:endParaRPr>
          </a:p>
          <a:p>
            <a:pPr lvl="1">
              <a:lnSpc>
                <a:spcPts val="3800"/>
              </a:lnSpc>
            </a:pPr>
            <a:r>
              <a:rPr lang="zh-CN" altLang="en-US" sz="2400" smtClean="0">
                <a:solidFill>
                  <a:schemeClr val="bg1"/>
                </a:solidFill>
                <a:latin typeface="黑体" pitchFamily="49" charset="-122"/>
                <a:ea typeface="黑体" pitchFamily="49" charset="-122"/>
              </a:rPr>
              <a:t>等距离线：从某一地点开始距离相同的点的连线</a:t>
            </a:r>
            <a:endParaRPr lang="en-US" altLang="zh-CN" sz="2400" smtClean="0">
              <a:solidFill>
                <a:schemeClr val="bg1"/>
              </a:solidFill>
              <a:latin typeface="黑体" pitchFamily="49" charset="-122"/>
              <a:ea typeface="黑体" pitchFamily="49" charset="-122"/>
            </a:endParaRPr>
          </a:p>
          <a:p>
            <a:pPr lvl="1">
              <a:lnSpc>
                <a:spcPts val="3800"/>
              </a:lnSpc>
            </a:pPr>
            <a:r>
              <a:rPr lang="zh-CN" altLang="en-US" sz="2400" smtClean="0">
                <a:solidFill>
                  <a:schemeClr val="bg1"/>
                </a:solidFill>
                <a:latin typeface="黑体" pitchFamily="49" charset="-122"/>
                <a:ea typeface="黑体" pitchFamily="49" charset="-122"/>
              </a:rPr>
              <a:t>等时间线：从某一地点开始运送时间相同点的连线</a:t>
            </a:r>
            <a:endParaRPr lang="en-US" altLang="zh-CN" sz="2400" smtClean="0">
              <a:solidFill>
                <a:schemeClr val="bg1"/>
              </a:solidFill>
              <a:latin typeface="黑体" pitchFamily="49" charset="-122"/>
              <a:ea typeface="黑体" pitchFamily="49" charset="-122"/>
            </a:endParaRPr>
          </a:p>
          <a:p>
            <a:pPr lvl="1">
              <a:lnSpc>
                <a:spcPts val="3800"/>
              </a:lnSpc>
            </a:pPr>
            <a:r>
              <a:rPr lang="zh-CN" altLang="en-US" sz="2400" smtClean="0">
                <a:solidFill>
                  <a:schemeClr val="bg1"/>
                </a:solidFill>
                <a:latin typeface="黑体" pitchFamily="49" charset="-122"/>
                <a:ea typeface="黑体" pitchFamily="49" charset="-122"/>
              </a:rPr>
              <a:t>等商品费用线：某商品所需要的费用相同地点的连线</a:t>
            </a:r>
            <a:endParaRPr lang="en-US" altLang="zh-CN" sz="2400" smtClean="0">
              <a:solidFill>
                <a:schemeClr val="bg1"/>
              </a:solidFill>
              <a:latin typeface="黑体" pitchFamily="49" charset="-122"/>
              <a:ea typeface="黑体" pitchFamily="49" charset="-122"/>
            </a:endParaRPr>
          </a:p>
          <a:p>
            <a:pPr lvl="1">
              <a:lnSpc>
                <a:spcPts val="3800"/>
              </a:lnSpc>
            </a:pPr>
            <a:r>
              <a:rPr lang="zh-CN" altLang="en-US" sz="2400" smtClean="0">
                <a:solidFill>
                  <a:schemeClr val="bg1"/>
                </a:solidFill>
                <a:latin typeface="黑体" pitchFamily="49" charset="-122"/>
                <a:ea typeface="黑体" pitchFamily="49" charset="-122"/>
              </a:rPr>
              <a:t>等运送费线：特定商品的运费相同地点的连线</a:t>
            </a:r>
            <a:endParaRPr lang="en-US" altLang="zh-CN" sz="2400" smtClean="0">
              <a:solidFill>
                <a:schemeClr val="bg1"/>
              </a:solidFill>
              <a:latin typeface="黑体" pitchFamily="49" charset="-122"/>
              <a:ea typeface="黑体" pitchFamily="49" charset="-122"/>
            </a:endParaRPr>
          </a:p>
          <a:p>
            <a:pPr lvl="1">
              <a:lnSpc>
                <a:spcPts val="3800"/>
              </a:lnSpc>
            </a:pPr>
            <a:r>
              <a:rPr lang="zh-CN" altLang="en-US" sz="2400" smtClean="0">
                <a:solidFill>
                  <a:schemeClr val="bg1"/>
                </a:solidFill>
                <a:latin typeface="黑体" pitchFamily="49" charset="-122"/>
                <a:ea typeface="黑体" pitchFamily="49" charset="-122"/>
              </a:rPr>
              <a:t>当运费率不恒定时，等费用线不再是固定间隔的同心圆，总运费将在原料供应地和市场两点达到最低</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box(in)">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xEl>
                                              <p:pRg st="3" end="3"/>
                                            </p:txEl>
                                          </p:spTgt>
                                        </p:tgtEl>
                                        <p:attrNameLst>
                                          <p:attrName>style.visibility</p:attrName>
                                        </p:attrNameLst>
                                      </p:cBhvr>
                                      <p:to>
                                        <p:strVal val="visible"/>
                                      </p:to>
                                    </p:set>
                                    <p:animEffect transition="in" filter="checkerboard(across)">
                                      <p:cBhvr>
                                        <p:cTn id="12" dur="500"/>
                                        <p:tgtEl>
                                          <p:spTgt spid="3">
                                            <p:txEl>
                                              <p:pRg st="3" end="3"/>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checkerboard(across)">
                                      <p:cBhvr>
                                        <p:cTn id="17" dur="500"/>
                                        <p:tgtEl>
                                          <p:spTgt spid="3">
                                            <p:txEl>
                                              <p:pRg st="4" end="4"/>
                                            </p:txEl>
                                          </p:spTgt>
                                        </p:tgtEl>
                                      </p:cBhvr>
                                    </p:animEffect>
                                  </p:childTnLst>
                                </p:cTn>
                              </p:par>
                              <p:par>
                                <p:cTn id="18" presetID="5" presetClass="entr" presetSubtype="10" fill="hold" nodeType="with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checkerboard(across)">
                                      <p:cBhvr>
                                        <p:cTn id="20" dur="500"/>
                                        <p:tgtEl>
                                          <p:spTgt spid="3">
                                            <p:txEl>
                                              <p:pRg st="5" end="5"/>
                                            </p:txEl>
                                          </p:spTgt>
                                        </p:tgtEl>
                                      </p:cBhvr>
                                    </p:animEffect>
                                  </p:childTnLst>
                                </p:cTn>
                              </p:par>
                              <p:par>
                                <p:cTn id="21" presetID="5" presetClass="entr" presetSubtype="10" fill="hold" nodeType="with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animEffect transition="in" filter="checkerboard(across)">
                                      <p:cBhvr>
                                        <p:cTn id="23" dur="500"/>
                                        <p:tgtEl>
                                          <p:spTgt spid="3">
                                            <p:txEl>
                                              <p:pRg st="6" end="6"/>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5" presetClass="entr" presetSubtype="10" fill="hold" nodeType="click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checkerboard(across)">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1"/>
          <p:cNvSpPr>
            <a:spLocks noGrp="1"/>
          </p:cNvSpPr>
          <p:nvPr>
            <p:ph type="title"/>
          </p:nvPr>
        </p:nvSpPr>
        <p:spPr/>
        <p:txBody>
          <a:bodyPr/>
          <a:lstStyle/>
          <a:p>
            <a:pPr algn="l"/>
            <a:r>
              <a:rPr lang="zh-CN" altLang="en-US" sz="3200" smtClean="0">
                <a:solidFill>
                  <a:srgbClr val="FFFF00"/>
                </a:solidFill>
                <a:latin typeface="黑体" pitchFamily="49" charset="-122"/>
                <a:ea typeface="黑体" pitchFamily="49" charset="-122"/>
              </a:rPr>
              <a:t>市场区域研究</a:t>
            </a:r>
          </a:p>
        </p:txBody>
      </p:sp>
      <p:pic>
        <p:nvPicPr>
          <p:cNvPr id="26627" name="Picture 2"/>
          <p:cNvPicPr>
            <a:picLocks noChangeAspect="1" noChangeArrowheads="1"/>
          </p:cNvPicPr>
          <p:nvPr/>
        </p:nvPicPr>
        <p:blipFill>
          <a:blip r:embed="rId2" cstate="print"/>
          <a:srcRect/>
          <a:stretch>
            <a:fillRect/>
          </a:stretch>
        </p:blipFill>
        <p:spPr bwMode="auto">
          <a:xfrm>
            <a:off x="179388" y="1557338"/>
            <a:ext cx="5576887" cy="4392612"/>
          </a:xfrm>
          <a:prstGeom prst="rect">
            <a:avLst/>
          </a:prstGeom>
          <a:noFill/>
          <a:ln w="9525">
            <a:noFill/>
            <a:miter lim="800000"/>
            <a:headEnd/>
            <a:tailEnd/>
          </a:ln>
        </p:spPr>
      </p:pic>
      <p:sp>
        <p:nvSpPr>
          <p:cNvPr id="26628" name="TextBox 3"/>
          <p:cNvSpPr txBox="1">
            <a:spLocks noChangeArrowheads="1"/>
          </p:cNvSpPr>
          <p:nvPr/>
        </p:nvSpPr>
        <p:spPr bwMode="auto">
          <a:xfrm>
            <a:off x="5724525" y="1484313"/>
            <a:ext cx="3240088" cy="3786187"/>
          </a:xfrm>
          <a:prstGeom prst="rect">
            <a:avLst/>
          </a:prstGeom>
          <a:noFill/>
          <a:ln w="9525">
            <a:noFill/>
            <a:miter lim="800000"/>
            <a:headEnd/>
            <a:tailEnd/>
          </a:ln>
        </p:spPr>
        <p:txBody>
          <a:bodyPr>
            <a:spAutoFit/>
          </a:bodyPr>
          <a:lstStyle/>
          <a:p>
            <a:pPr>
              <a:lnSpc>
                <a:spcPct val="150000"/>
              </a:lnSpc>
            </a:pPr>
            <a:r>
              <a:rPr lang="zh-CN" altLang="en-US" sz="2000">
                <a:solidFill>
                  <a:schemeClr val="bg1"/>
                </a:solidFill>
              </a:rPr>
              <a:t>“直线市场”模型：</a:t>
            </a:r>
            <a:endParaRPr lang="en-US" altLang="zh-CN" sz="2000">
              <a:solidFill>
                <a:schemeClr val="bg1"/>
              </a:solidFill>
            </a:endParaRPr>
          </a:p>
          <a:p>
            <a:pPr>
              <a:lnSpc>
                <a:spcPct val="150000"/>
              </a:lnSpc>
            </a:pPr>
            <a:r>
              <a:rPr lang="zh-CN" altLang="en-US" sz="2000">
                <a:solidFill>
                  <a:schemeClr val="bg1"/>
                </a:solidFill>
              </a:rPr>
              <a:t>假设：</a:t>
            </a:r>
            <a:endParaRPr lang="en-US" altLang="zh-CN" sz="2000">
              <a:solidFill>
                <a:schemeClr val="bg1"/>
              </a:solidFill>
            </a:endParaRPr>
          </a:p>
          <a:p>
            <a:pPr>
              <a:lnSpc>
                <a:spcPct val="150000"/>
              </a:lnSpc>
            </a:pPr>
            <a:r>
              <a:rPr lang="en-US" altLang="zh-CN" sz="2000">
                <a:solidFill>
                  <a:schemeClr val="bg1"/>
                </a:solidFill>
              </a:rPr>
              <a:t>1.</a:t>
            </a:r>
            <a:r>
              <a:rPr lang="zh-CN" altLang="en-US" sz="2000">
                <a:solidFill>
                  <a:schemeClr val="bg1"/>
                </a:solidFill>
              </a:rPr>
              <a:t>市场上只有</a:t>
            </a:r>
            <a:r>
              <a:rPr lang="en-US" altLang="zh-CN" sz="2000">
                <a:solidFill>
                  <a:schemeClr val="bg1"/>
                </a:solidFill>
              </a:rPr>
              <a:t>2</a:t>
            </a:r>
            <a:r>
              <a:rPr lang="zh-CN" altLang="en-US" sz="2000">
                <a:solidFill>
                  <a:schemeClr val="bg1"/>
                </a:solidFill>
              </a:rPr>
              <a:t>家企业</a:t>
            </a:r>
            <a:endParaRPr lang="en-US" altLang="zh-CN" sz="2000">
              <a:solidFill>
                <a:schemeClr val="bg1"/>
              </a:solidFill>
            </a:endParaRPr>
          </a:p>
          <a:p>
            <a:pPr>
              <a:lnSpc>
                <a:spcPct val="150000"/>
              </a:lnSpc>
            </a:pPr>
            <a:r>
              <a:rPr lang="en-US" altLang="zh-CN" sz="2000">
                <a:solidFill>
                  <a:schemeClr val="bg1"/>
                </a:solidFill>
              </a:rPr>
              <a:t> 2.</a:t>
            </a:r>
            <a:r>
              <a:rPr lang="zh-CN" altLang="en-US" sz="2000">
                <a:solidFill>
                  <a:schemeClr val="bg1"/>
                </a:solidFill>
              </a:rPr>
              <a:t>运费与距离呈正比例</a:t>
            </a:r>
            <a:endParaRPr lang="en-US" altLang="zh-CN" sz="2000">
              <a:solidFill>
                <a:schemeClr val="bg1"/>
              </a:solidFill>
            </a:endParaRPr>
          </a:p>
          <a:p>
            <a:pPr>
              <a:lnSpc>
                <a:spcPct val="150000"/>
              </a:lnSpc>
            </a:pPr>
            <a:r>
              <a:rPr lang="zh-CN" altLang="en-US" sz="2000">
                <a:solidFill>
                  <a:schemeClr val="bg1"/>
                </a:solidFill>
              </a:rPr>
              <a:t>结果：</a:t>
            </a:r>
            <a:endParaRPr lang="en-US" altLang="zh-CN" sz="2000">
              <a:solidFill>
                <a:schemeClr val="bg1"/>
              </a:solidFill>
            </a:endParaRPr>
          </a:p>
          <a:p>
            <a:pPr>
              <a:lnSpc>
                <a:spcPct val="150000"/>
              </a:lnSpc>
            </a:pPr>
            <a:r>
              <a:rPr lang="en-US" altLang="zh-CN" sz="2000">
                <a:solidFill>
                  <a:schemeClr val="bg1"/>
                </a:solidFill>
              </a:rPr>
              <a:t>1.</a:t>
            </a:r>
            <a:r>
              <a:rPr lang="zh-CN" altLang="en-US" sz="2000">
                <a:solidFill>
                  <a:schemeClr val="bg1"/>
                </a:solidFill>
              </a:rPr>
              <a:t>价格空间变化呈漏斗状</a:t>
            </a:r>
            <a:endParaRPr lang="en-US" altLang="zh-CN" sz="2000">
              <a:solidFill>
                <a:schemeClr val="bg1"/>
              </a:solidFill>
            </a:endParaRPr>
          </a:p>
          <a:p>
            <a:pPr>
              <a:lnSpc>
                <a:spcPct val="150000"/>
              </a:lnSpc>
            </a:pPr>
            <a:r>
              <a:rPr lang="en-US" altLang="zh-CN" sz="2000">
                <a:solidFill>
                  <a:schemeClr val="bg1"/>
                </a:solidFill>
              </a:rPr>
              <a:t>2.</a:t>
            </a:r>
            <a:r>
              <a:rPr lang="zh-CN" altLang="en-US" sz="2000">
                <a:solidFill>
                  <a:schemeClr val="bg1"/>
                </a:solidFill>
              </a:rPr>
              <a:t>确定各竞争者的市场占有范围</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p:txBody>
          <a:bodyPr/>
          <a:lstStyle/>
          <a:p>
            <a:pPr algn="l" eaLnBrk="1" hangingPunct="1"/>
            <a:r>
              <a:rPr lang="zh-CN" altLang="en-US" sz="3600" smtClean="0">
                <a:solidFill>
                  <a:srgbClr val="FFFF00"/>
                </a:solidFill>
                <a:ea typeface="黑体" pitchFamily="49" charset="-122"/>
              </a:rPr>
              <a:t>五、胡佛工业区位理论</a:t>
            </a:r>
          </a:p>
        </p:txBody>
      </p:sp>
      <p:sp>
        <p:nvSpPr>
          <p:cNvPr id="27651" name="Rectangle 3"/>
          <p:cNvSpPr>
            <a:spLocks noGrp="1" noChangeArrowheads="1"/>
          </p:cNvSpPr>
          <p:nvPr>
            <p:ph type="body" idx="1"/>
          </p:nvPr>
        </p:nvSpPr>
        <p:spPr>
          <a:xfrm>
            <a:off x="684213" y="1700213"/>
            <a:ext cx="8229600" cy="3989387"/>
          </a:xfrm>
        </p:spPr>
        <p:txBody>
          <a:bodyPr/>
          <a:lstStyle/>
          <a:p>
            <a:pPr eaLnBrk="1" hangingPunct="1">
              <a:lnSpc>
                <a:spcPct val="125000"/>
              </a:lnSpc>
            </a:pPr>
            <a:r>
              <a:rPr lang="zh-CN" altLang="en-US" smtClean="0">
                <a:solidFill>
                  <a:schemeClr val="bg1"/>
                </a:solidFill>
                <a:latin typeface="黑体" pitchFamily="49" charset="-122"/>
                <a:ea typeface="黑体" pitchFamily="49" charset="-122"/>
                <a:hlinkClick r:id="rId2" action="ppaction://hlinksldjump"/>
              </a:rPr>
              <a:t>运输费用理论</a:t>
            </a:r>
            <a:endParaRPr lang="en-US" altLang="zh-CN" smtClean="0">
              <a:solidFill>
                <a:schemeClr val="bg1"/>
              </a:solidFill>
              <a:latin typeface="黑体" pitchFamily="49" charset="-122"/>
              <a:ea typeface="黑体" pitchFamily="49" charset="-122"/>
              <a:hlinkClick r:id="rId2" action="ppaction://hlinksldjump"/>
            </a:endParaRPr>
          </a:p>
          <a:p>
            <a:pPr lvl="1" eaLnBrk="1" hangingPunct="1">
              <a:lnSpc>
                <a:spcPct val="125000"/>
              </a:lnSpc>
            </a:pPr>
            <a:r>
              <a:rPr lang="zh-CN" altLang="en-US" smtClean="0">
                <a:solidFill>
                  <a:schemeClr val="bg1"/>
                </a:solidFill>
                <a:latin typeface="黑体" pitchFamily="49" charset="-122"/>
                <a:ea typeface="黑体" pitchFamily="49" charset="-122"/>
                <a:hlinkClick r:id="rId2" action="ppaction://hlinksldjump"/>
              </a:rPr>
              <a:t>运费构成</a:t>
            </a:r>
            <a:endParaRPr lang="zh-CN" altLang="en-US" smtClean="0">
              <a:solidFill>
                <a:schemeClr val="bg1"/>
              </a:solidFill>
              <a:latin typeface="黑体" pitchFamily="49" charset="-122"/>
              <a:ea typeface="黑体" pitchFamily="49" charset="-122"/>
            </a:endParaRPr>
          </a:p>
          <a:p>
            <a:pPr lvl="1" eaLnBrk="1" hangingPunct="1">
              <a:lnSpc>
                <a:spcPct val="125000"/>
              </a:lnSpc>
            </a:pPr>
            <a:r>
              <a:rPr lang="zh-CN" altLang="en-US" smtClean="0">
                <a:solidFill>
                  <a:schemeClr val="bg1"/>
                </a:solidFill>
                <a:latin typeface="黑体" pitchFamily="49" charset="-122"/>
                <a:ea typeface="黑体" pitchFamily="49" charset="-122"/>
                <a:hlinkClick r:id="rId3" action="ppaction://hlinksldjump"/>
              </a:rPr>
              <a:t>不同运输方式的运费及其比较</a:t>
            </a:r>
            <a:endParaRPr lang="zh-CN" altLang="en-US" smtClean="0">
              <a:solidFill>
                <a:schemeClr val="bg1"/>
              </a:solidFill>
              <a:latin typeface="黑体" pitchFamily="49" charset="-122"/>
              <a:ea typeface="黑体" pitchFamily="49" charset="-122"/>
            </a:endParaRPr>
          </a:p>
          <a:p>
            <a:pPr lvl="1" eaLnBrk="1" hangingPunct="1">
              <a:lnSpc>
                <a:spcPct val="125000"/>
              </a:lnSpc>
            </a:pPr>
            <a:r>
              <a:rPr lang="zh-CN" altLang="en-US" smtClean="0">
                <a:solidFill>
                  <a:schemeClr val="bg1"/>
                </a:solidFill>
                <a:latin typeface="黑体" pitchFamily="49" charset="-122"/>
                <a:ea typeface="黑体" pitchFamily="49" charset="-122"/>
                <a:hlinkClick r:id="rId4" action="ppaction://hlinksldjump"/>
              </a:rPr>
              <a:t>端点区位优于中间区位、中间转运点最有区位原理</a:t>
            </a:r>
            <a:endParaRPr lang="zh-CN" altLang="en-US" smtClean="0">
              <a:solidFill>
                <a:schemeClr val="bg1"/>
              </a:solidFill>
              <a:latin typeface="黑体" pitchFamily="49" charset="-122"/>
              <a:ea typeface="黑体" pitchFamily="49" charset="-122"/>
            </a:endParaRPr>
          </a:p>
          <a:p>
            <a:pPr eaLnBrk="1" hangingPunct="1">
              <a:lnSpc>
                <a:spcPct val="125000"/>
              </a:lnSpc>
            </a:pPr>
            <a:r>
              <a:rPr lang="zh-CN" altLang="en-US" smtClean="0">
                <a:solidFill>
                  <a:schemeClr val="bg1"/>
                </a:solidFill>
                <a:latin typeface="黑体" pitchFamily="49" charset="-122"/>
                <a:ea typeface="黑体" pitchFamily="49" charset="-122"/>
                <a:hlinkClick r:id="rId5" action="ppaction://hlinksldjump"/>
              </a:rPr>
              <a:t>送达价格、市场地域与区位选择</a:t>
            </a:r>
            <a:endParaRPr lang="zh-CN" altLang="en-US" smtClean="0">
              <a:solidFill>
                <a:schemeClr val="bg1"/>
              </a:solidFill>
              <a:latin typeface="黑体" pitchFamily="49" charset="-122"/>
              <a:ea typeface="黑体" pitchFamily="49" charset="-122"/>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468313" y="549275"/>
            <a:ext cx="8229600" cy="1143000"/>
          </a:xfrm>
        </p:spPr>
        <p:txBody>
          <a:bodyPr/>
          <a:lstStyle/>
          <a:p>
            <a:pPr algn="l" eaLnBrk="1" hangingPunct="1"/>
            <a:r>
              <a:rPr lang="zh-CN" altLang="en-US" sz="3200" smtClean="0">
                <a:solidFill>
                  <a:srgbClr val="FFFF00"/>
                </a:solidFill>
                <a:ea typeface="黑体" pitchFamily="49" charset="-122"/>
              </a:rPr>
              <a:t>胡佛经济区位论关于运费构成：</a:t>
            </a:r>
          </a:p>
        </p:txBody>
      </p:sp>
      <p:sp>
        <p:nvSpPr>
          <p:cNvPr id="28675" name="Rectangle 3"/>
          <p:cNvSpPr>
            <a:spLocks noGrp="1" noChangeArrowheads="1"/>
          </p:cNvSpPr>
          <p:nvPr>
            <p:ph type="body" idx="1"/>
          </p:nvPr>
        </p:nvSpPr>
        <p:spPr>
          <a:xfrm>
            <a:off x="468313" y="1773238"/>
            <a:ext cx="8229600" cy="4525962"/>
          </a:xfrm>
        </p:spPr>
        <p:txBody>
          <a:bodyPr/>
          <a:lstStyle/>
          <a:p>
            <a:pPr eaLnBrk="1" hangingPunct="1">
              <a:lnSpc>
                <a:spcPct val="150000"/>
              </a:lnSpc>
              <a:buFont typeface="Wingdings" pitchFamily="2" charset="2"/>
              <a:buChar char="Ø"/>
            </a:pPr>
            <a:r>
              <a:rPr lang="zh-CN" altLang="en-US" sz="2800" smtClean="0">
                <a:solidFill>
                  <a:srgbClr val="FFFF00"/>
                </a:solidFill>
                <a:ea typeface="黑体" pitchFamily="49" charset="-122"/>
              </a:rPr>
              <a:t>线路运行费：</a:t>
            </a:r>
            <a:r>
              <a:rPr lang="zh-CN" altLang="en-US" sz="2800" smtClean="0">
                <a:solidFill>
                  <a:schemeClr val="bg1"/>
                </a:solidFill>
                <a:ea typeface="黑体" pitchFamily="49" charset="-122"/>
              </a:rPr>
              <a:t>含牵引燃料费、运行人员工资等，是距离的函数；</a:t>
            </a:r>
          </a:p>
          <a:p>
            <a:pPr eaLnBrk="1" hangingPunct="1">
              <a:lnSpc>
                <a:spcPct val="150000"/>
              </a:lnSpc>
              <a:buFont typeface="Wingdings" pitchFamily="2" charset="2"/>
              <a:buChar char="Ø"/>
            </a:pPr>
            <a:r>
              <a:rPr lang="zh-CN" altLang="en-US" sz="2800" smtClean="0">
                <a:solidFill>
                  <a:srgbClr val="FFFF00"/>
                </a:solidFill>
                <a:ea typeface="黑体" pitchFamily="49" charset="-122"/>
              </a:rPr>
              <a:t>站场装卸费</a:t>
            </a:r>
            <a:r>
              <a:rPr lang="zh-CN" altLang="en-US" sz="2800" smtClean="0">
                <a:solidFill>
                  <a:schemeClr val="bg1"/>
                </a:solidFill>
                <a:ea typeface="黑体" pitchFamily="49" charset="-122"/>
              </a:rPr>
              <a:t>：含站场、码头、仓库等营业机构的经营活动与保养维修等项费用。一般将不受里程影响的站场费分摊到里程中去</a:t>
            </a:r>
            <a:r>
              <a:rPr lang="en-US" altLang="zh-CN" sz="2800" smtClean="0">
                <a:solidFill>
                  <a:schemeClr val="bg1"/>
                </a:solidFill>
                <a:latin typeface="华文细黑" pitchFamily="2" charset="-122"/>
                <a:ea typeface="黑体" pitchFamily="49" charset="-122"/>
              </a:rPr>
              <a:t>——</a:t>
            </a:r>
            <a:r>
              <a:rPr lang="zh-CN" altLang="en-US" sz="2800" smtClean="0">
                <a:solidFill>
                  <a:schemeClr val="bg1"/>
                </a:solidFill>
                <a:ea typeface="黑体" pitchFamily="49" charset="-122"/>
              </a:rPr>
              <a:t>单位运价递减规律</a:t>
            </a:r>
          </a:p>
        </p:txBody>
      </p:sp>
      <p:sp>
        <p:nvSpPr>
          <p:cNvPr id="28676" name="AutoShape 4">
            <a:hlinkClick r:id="rId2" action="ppaction://hlinksldjump"/>
          </p:cNvPr>
          <p:cNvSpPr>
            <a:spLocks noChangeArrowheads="1"/>
          </p:cNvSpPr>
          <p:nvPr/>
        </p:nvSpPr>
        <p:spPr bwMode="auto">
          <a:xfrm>
            <a:off x="8316913" y="6165850"/>
            <a:ext cx="215900" cy="215900"/>
          </a:xfrm>
          <a:prstGeom prst="upArrow">
            <a:avLst>
              <a:gd name="adj1" fmla="val 50000"/>
              <a:gd name="adj2" fmla="val 25000"/>
            </a:avLst>
          </a:prstGeom>
          <a:solidFill>
            <a:srgbClr val="FF00FF"/>
          </a:solidFill>
          <a:ln w="9525">
            <a:solidFill>
              <a:schemeClr val="tx1"/>
            </a:solidFill>
            <a:miter lim="800000"/>
            <a:headEnd/>
            <a:tailEnd/>
          </a:ln>
        </p:spPr>
        <p:txBody>
          <a:bodyPr vert="eaVert" wrap="none" anchor="ctr"/>
          <a:lstStyle/>
          <a:p>
            <a:endParaRPr lang="zh-CN" altLang="en-US"/>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698" name="Picture 2" descr="不同运输方式的运输费用比较"/>
          <p:cNvPicPr>
            <a:picLocks noChangeAspect="1" noChangeArrowheads="1"/>
          </p:cNvPicPr>
          <p:nvPr>
            <p:ph/>
          </p:nvPr>
        </p:nvPicPr>
        <p:blipFill>
          <a:blip r:embed="rId2" cstate="print"/>
          <a:srcRect/>
          <a:stretch>
            <a:fillRect/>
          </a:stretch>
        </p:blipFill>
        <p:spPr>
          <a:xfrm>
            <a:off x="1077913" y="274638"/>
            <a:ext cx="6988175" cy="5851525"/>
          </a:xfrm>
          <a:noFill/>
        </p:spPr>
      </p:pic>
      <p:sp>
        <p:nvSpPr>
          <p:cNvPr id="29699" name="Text Box 3"/>
          <p:cNvSpPr txBox="1">
            <a:spLocks noChangeArrowheads="1"/>
          </p:cNvSpPr>
          <p:nvPr/>
        </p:nvSpPr>
        <p:spPr bwMode="auto">
          <a:xfrm>
            <a:off x="8512175" y="5883275"/>
            <a:ext cx="184150" cy="366713"/>
          </a:xfrm>
          <a:prstGeom prst="rect">
            <a:avLst/>
          </a:prstGeom>
          <a:noFill/>
          <a:ln w="9525">
            <a:noFill/>
            <a:miter lim="800000"/>
            <a:headEnd/>
            <a:tailEnd/>
          </a:ln>
        </p:spPr>
        <p:txBody>
          <a:bodyPr wrap="none">
            <a:spAutoFit/>
          </a:bodyPr>
          <a:lstStyle/>
          <a:p>
            <a:endParaRPr lang="zh-CN" altLang="zh-CN"/>
          </a:p>
        </p:txBody>
      </p:sp>
      <p:sp>
        <p:nvSpPr>
          <p:cNvPr id="29700" name="AutoShape 4">
            <a:hlinkClick r:id="rId3" action="ppaction://hlinksldjump"/>
          </p:cNvPr>
          <p:cNvSpPr>
            <a:spLocks noChangeArrowheads="1"/>
          </p:cNvSpPr>
          <p:nvPr/>
        </p:nvSpPr>
        <p:spPr bwMode="auto">
          <a:xfrm>
            <a:off x="8388350" y="5805488"/>
            <a:ext cx="360363" cy="360362"/>
          </a:xfrm>
          <a:prstGeom prst="upArrow">
            <a:avLst>
              <a:gd name="adj1" fmla="val 50000"/>
              <a:gd name="adj2" fmla="val 25000"/>
            </a:avLst>
          </a:prstGeom>
          <a:solidFill>
            <a:schemeClr val="accent1"/>
          </a:solidFill>
          <a:ln w="9525">
            <a:solidFill>
              <a:schemeClr val="tx1"/>
            </a:solidFill>
            <a:miter lim="800000"/>
            <a:headEnd/>
            <a:tailEnd/>
          </a:ln>
        </p:spPr>
        <p:txBody>
          <a:bodyPr vert="eaVert" wrap="none" anchor="ctr"/>
          <a:lstStyle/>
          <a:p>
            <a:pPr algn="ctr"/>
            <a:endParaRPr lang="zh-CN" altLang="zh-CN">
              <a:solidFill>
                <a:srgbClr val="FF3300"/>
              </a:solidFill>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22" name="Picture 2" descr="工厂在原料地或市场的区位"/>
          <p:cNvPicPr>
            <a:picLocks noChangeAspect="1" noChangeArrowheads="1"/>
          </p:cNvPicPr>
          <p:nvPr>
            <p:ph/>
          </p:nvPr>
        </p:nvPicPr>
        <p:blipFill>
          <a:blip r:embed="rId2" cstate="print"/>
          <a:srcRect/>
          <a:stretch>
            <a:fillRect/>
          </a:stretch>
        </p:blipFill>
        <p:spPr>
          <a:xfrm>
            <a:off x="457200" y="590550"/>
            <a:ext cx="8229600" cy="5218113"/>
          </a:xfrm>
          <a:noFill/>
        </p:spPr>
      </p:pic>
      <p:sp>
        <p:nvSpPr>
          <p:cNvPr id="30723" name="Text Box 3"/>
          <p:cNvSpPr txBox="1">
            <a:spLocks noChangeArrowheads="1"/>
          </p:cNvSpPr>
          <p:nvPr/>
        </p:nvSpPr>
        <p:spPr bwMode="auto">
          <a:xfrm>
            <a:off x="2843213" y="5949950"/>
            <a:ext cx="3232150" cy="396875"/>
          </a:xfrm>
          <a:prstGeom prst="rect">
            <a:avLst/>
          </a:prstGeom>
          <a:noFill/>
          <a:ln w="9525">
            <a:noFill/>
            <a:miter lim="800000"/>
            <a:headEnd/>
            <a:tailEnd/>
          </a:ln>
        </p:spPr>
        <p:txBody>
          <a:bodyPr wrap="none">
            <a:spAutoFit/>
          </a:bodyPr>
          <a:lstStyle/>
          <a:p>
            <a:r>
              <a:rPr lang="zh-CN" altLang="en-US" sz="2000">
                <a:solidFill>
                  <a:schemeClr val="bg1"/>
                </a:solidFill>
                <a:ea typeface="黑体" pitchFamily="49" charset="-122"/>
              </a:rPr>
              <a:t>端点区位优于中间区位理论</a:t>
            </a: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2" descr="工厂在中间转运点区位"/>
          <p:cNvPicPr>
            <a:picLocks noChangeAspect="1" noChangeArrowheads="1"/>
          </p:cNvPicPr>
          <p:nvPr>
            <p:ph/>
          </p:nvPr>
        </p:nvPicPr>
        <p:blipFill>
          <a:blip r:embed="rId2" cstate="print"/>
          <a:srcRect/>
          <a:stretch>
            <a:fillRect/>
          </a:stretch>
        </p:blipFill>
        <p:spPr>
          <a:xfrm>
            <a:off x="1401763" y="274638"/>
            <a:ext cx="6340475" cy="5851525"/>
          </a:xfrm>
          <a:noFill/>
        </p:spPr>
      </p:pic>
      <p:sp>
        <p:nvSpPr>
          <p:cNvPr id="31747" name="Text Box 3"/>
          <p:cNvSpPr txBox="1">
            <a:spLocks noChangeArrowheads="1"/>
          </p:cNvSpPr>
          <p:nvPr/>
        </p:nvSpPr>
        <p:spPr bwMode="auto">
          <a:xfrm>
            <a:off x="8151813" y="5883275"/>
            <a:ext cx="184150" cy="366713"/>
          </a:xfrm>
          <a:prstGeom prst="rect">
            <a:avLst/>
          </a:prstGeom>
          <a:noFill/>
          <a:ln w="9525">
            <a:noFill/>
            <a:miter lim="800000"/>
            <a:headEnd/>
            <a:tailEnd/>
          </a:ln>
        </p:spPr>
        <p:txBody>
          <a:bodyPr wrap="none">
            <a:spAutoFit/>
          </a:bodyPr>
          <a:lstStyle/>
          <a:p>
            <a:endParaRPr lang="zh-CN" altLang="zh-CN"/>
          </a:p>
        </p:txBody>
      </p:sp>
      <p:sp>
        <p:nvSpPr>
          <p:cNvPr id="31748" name="AutoShape 4">
            <a:hlinkClick r:id="rId3" action="ppaction://hlinksldjump"/>
          </p:cNvPr>
          <p:cNvSpPr>
            <a:spLocks noChangeArrowheads="1"/>
          </p:cNvSpPr>
          <p:nvPr/>
        </p:nvSpPr>
        <p:spPr bwMode="auto">
          <a:xfrm>
            <a:off x="7956550" y="6021388"/>
            <a:ext cx="287338" cy="215900"/>
          </a:xfrm>
          <a:prstGeom prst="upArrow">
            <a:avLst>
              <a:gd name="adj1" fmla="val 50000"/>
              <a:gd name="adj2" fmla="val 25000"/>
            </a:avLst>
          </a:prstGeom>
          <a:solidFill>
            <a:srgbClr val="FF00FF"/>
          </a:solidFill>
          <a:ln w="9525">
            <a:solidFill>
              <a:schemeClr val="tx1"/>
            </a:solidFill>
            <a:miter lim="800000"/>
            <a:headEnd/>
            <a:tailEnd/>
          </a:ln>
        </p:spPr>
        <p:txBody>
          <a:bodyPr vert="eaVert" wrap="none" anchor="ctr"/>
          <a:lstStyle/>
          <a:p>
            <a:pPr algn="ctr"/>
            <a:endParaRPr lang="zh-CN" altLang="zh-CN">
              <a:solidFill>
                <a:srgbClr val="FF3300"/>
              </a:solidFill>
            </a:endParaRPr>
          </a:p>
        </p:txBody>
      </p:sp>
      <p:sp>
        <p:nvSpPr>
          <p:cNvPr id="31749" name="Text Box 5"/>
          <p:cNvSpPr txBox="1">
            <a:spLocks noChangeArrowheads="1"/>
          </p:cNvSpPr>
          <p:nvPr/>
        </p:nvSpPr>
        <p:spPr bwMode="auto">
          <a:xfrm>
            <a:off x="2987675" y="6237288"/>
            <a:ext cx="2978150" cy="396875"/>
          </a:xfrm>
          <a:prstGeom prst="rect">
            <a:avLst/>
          </a:prstGeom>
          <a:noFill/>
          <a:ln w="9525">
            <a:noFill/>
            <a:miter lim="800000"/>
            <a:headEnd/>
            <a:tailEnd/>
          </a:ln>
        </p:spPr>
        <p:txBody>
          <a:bodyPr wrap="none">
            <a:spAutoFit/>
          </a:bodyPr>
          <a:lstStyle/>
          <a:p>
            <a:r>
              <a:rPr lang="zh-CN" altLang="en-US" sz="2000">
                <a:solidFill>
                  <a:schemeClr val="bg1"/>
                </a:solidFill>
                <a:ea typeface="黑体" pitchFamily="49" charset="-122"/>
              </a:rPr>
              <a:t>中间转运点区位最优理论</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idx="1"/>
          </p:nvPr>
        </p:nvSpPr>
        <p:spPr>
          <a:xfrm>
            <a:off x="468313" y="476250"/>
            <a:ext cx="8002587" cy="576263"/>
          </a:xfrm>
        </p:spPr>
        <p:txBody>
          <a:bodyPr/>
          <a:lstStyle/>
          <a:p>
            <a:pPr eaLnBrk="1" hangingPunct="1">
              <a:lnSpc>
                <a:spcPct val="130000"/>
              </a:lnSpc>
              <a:buFontTx/>
              <a:buNone/>
            </a:pPr>
            <a:r>
              <a:rPr lang="zh-CN" altLang="en-US" smtClean="0">
                <a:solidFill>
                  <a:srgbClr val="FFFF00"/>
                </a:solidFill>
                <a:latin typeface="黑体" pitchFamily="49" charset="-122"/>
                <a:ea typeface="黑体" pitchFamily="49" charset="-122"/>
              </a:rPr>
              <a:t>送达价格、市场地域与区位选择   </a:t>
            </a:r>
            <a:endParaRPr lang="zh-CN" altLang="en-US" sz="2800" smtClean="0">
              <a:solidFill>
                <a:srgbClr val="FFFF00"/>
              </a:solidFill>
              <a:latin typeface="华文细黑" pitchFamily="2" charset="-122"/>
              <a:ea typeface="华文细黑" pitchFamily="2" charset="-122"/>
            </a:endParaRPr>
          </a:p>
        </p:txBody>
      </p:sp>
      <p:pic>
        <p:nvPicPr>
          <p:cNvPr id="32771" name="Picture 4"/>
          <p:cNvPicPr>
            <a:picLocks noChangeAspect="1" noChangeArrowheads="1"/>
          </p:cNvPicPr>
          <p:nvPr/>
        </p:nvPicPr>
        <p:blipFill>
          <a:blip r:embed="rId2" cstate="print"/>
          <a:srcRect/>
          <a:stretch>
            <a:fillRect/>
          </a:stretch>
        </p:blipFill>
        <p:spPr bwMode="auto">
          <a:xfrm>
            <a:off x="269875" y="1670050"/>
            <a:ext cx="4892675" cy="4422775"/>
          </a:xfrm>
          <a:prstGeom prst="rect">
            <a:avLst/>
          </a:prstGeom>
          <a:noFill/>
          <a:ln w="9525">
            <a:noFill/>
            <a:miter lim="800000"/>
            <a:headEnd/>
            <a:tailEnd/>
          </a:ln>
        </p:spPr>
      </p:pic>
      <p:sp>
        <p:nvSpPr>
          <p:cNvPr id="32772" name="TextBox 4"/>
          <p:cNvSpPr txBox="1">
            <a:spLocks noChangeArrowheads="1"/>
          </p:cNvSpPr>
          <p:nvPr/>
        </p:nvSpPr>
        <p:spPr bwMode="auto">
          <a:xfrm>
            <a:off x="5292725" y="1484313"/>
            <a:ext cx="3455988" cy="4710112"/>
          </a:xfrm>
          <a:prstGeom prst="rect">
            <a:avLst/>
          </a:prstGeom>
          <a:noFill/>
          <a:ln w="9525">
            <a:noFill/>
            <a:miter lim="800000"/>
            <a:headEnd/>
            <a:tailEnd/>
          </a:ln>
        </p:spPr>
        <p:txBody>
          <a:bodyPr>
            <a:spAutoFit/>
          </a:bodyPr>
          <a:lstStyle/>
          <a:p>
            <a:pPr>
              <a:lnSpc>
                <a:spcPct val="150000"/>
              </a:lnSpc>
            </a:pPr>
            <a:r>
              <a:rPr lang="zh-CN" altLang="en-US" sz="2000">
                <a:solidFill>
                  <a:schemeClr val="bg1"/>
                </a:solidFill>
                <a:latin typeface="黑体" pitchFamily="49" charset="-122"/>
                <a:ea typeface="黑体" pitchFamily="49" charset="-122"/>
              </a:rPr>
              <a:t>采掘工业的市场地域确定：</a:t>
            </a:r>
            <a:endParaRPr lang="en-US" altLang="zh-CN" sz="2000">
              <a:solidFill>
                <a:schemeClr val="bg1"/>
              </a:solidFill>
              <a:latin typeface="黑体" pitchFamily="49" charset="-122"/>
              <a:ea typeface="黑体" pitchFamily="49" charset="-122"/>
            </a:endParaRPr>
          </a:p>
          <a:p>
            <a:pPr>
              <a:lnSpc>
                <a:spcPct val="150000"/>
              </a:lnSpc>
            </a:pPr>
            <a:endParaRPr lang="en-US" altLang="zh-CN" sz="2000">
              <a:solidFill>
                <a:schemeClr val="bg1"/>
              </a:solidFill>
              <a:latin typeface="黑体" pitchFamily="49" charset="-122"/>
              <a:ea typeface="黑体" pitchFamily="49" charset="-122"/>
            </a:endParaRPr>
          </a:p>
          <a:p>
            <a:pPr>
              <a:lnSpc>
                <a:spcPct val="150000"/>
              </a:lnSpc>
            </a:pPr>
            <a:r>
              <a:rPr lang="zh-CN" altLang="en-US" sz="2000">
                <a:solidFill>
                  <a:schemeClr val="bg1"/>
                </a:solidFill>
                <a:latin typeface="黑体" pitchFamily="49" charset="-122"/>
                <a:ea typeface="黑体" pitchFamily="49" charset="-122"/>
              </a:rPr>
              <a:t>前提：完全竞争、生产要素完全可移动</a:t>
            </a:r>
            <a:endParaRPr lang="en-US" altLang="zh-CN" sz="2000">
              <a:solidFill>
                <a:schemeClr val="bg1"/>
              </a:solidFill>
              <a:latin typeface="黑体" pitchFamily="49" charset="-122"/>
              <a:ea typeface="黑体" pitchFamily="49" charset="-122"/>
            </a:endParaRPr>
          </a:p>
          <a:p>
            <a:pPr>
              <a:lnSpc>
                <a:spcPct val="150000"/>
              </a:lnSpc>
            </a:pPr>
            <a:endParaRPr lang="en-US" altLang="zh-CN" sz="2000">
              <a:solidFill>
                <a:schemeClr val="bg1"/>
              </a:solidFill>
              <a:latin typeface="黑体" pitchFamily="49" charset="-122"/>
              <a:ea typeface="黑体" pitchFamily="49" charset="-122"/>
            </a:endParaRPr>
          </a:p>
          <a:p>
            <a:pPr>
              <a:lnSpc>
                <a:spcPct val="150000"/>
              </a:lnSpc>
            </a:pPr>
            <a:r>
              <a:rPr lang="zh-CN" altLang="en-US" sz="2000">
                <a:solidFill>
                  <a:schemeClr val="bg1"/>
                </a:solidFill>
                <a:latin typeface="黑体" pitchFamily="49" charset="-122"/>
                <a:ea typeface="黑体" pitchFamily="49" charset="-122"/>
              </a:rPr>
              <a:t>送达价格线：采掘费和运费之和相同的点的连线</a:t>
            </a:r>
            <a:endParaRPr lang="en-US" altLang="zh-CN" sz="2000">
              <a:solidFill>
                <a:schemeClr val="bg1"/>
              </a:solidFill>
              <a:latin typeface="黑体" pitchFamily="49" charset="-122"/>
              <a:ea typeface="黑体" pitchFamily="49" charset="-122"/>
            </a:endParaRPr>
          </a:p>
          <a:p>
            <a:pPr>
              <a:lnSpc>
                <a:spcPct val="150000"/>
              </a:lnSpc>
            </a:pPr>
            <a:endParaRPr lang="en-US" altLang="zh-CN" sz="2000">
              <a:solidFill>
                <a:schemeClr val="bg1"/>
              </a:solidFill>
              <a:latin typeface="黑体" pitchFamily="49" charset="-122"/>
              <a:ea typeface="黑体" pitchFamily="49" charset="-122"/>
            </a:endParaRPr>
          </a:p>
          <a:p>
            <a:pPr>
              <a:lnSpc>
                <a:spcPct val="150000"/>
              </a:lnSpc>
            </a:pPr>
            <a:r>
              <a:rPr lang="zh-CN" altLang="en-US" sz="2000">
                <a:solidFill>
                  <a:schemeClr val="bg1"/>
                </a:solidFill>
                <a:latin typeface="黑体" pitchFamily="49" charset="-122"/>
                <a:ea typeface="黑体" pitchFamily="49" charset="-122"/>
              </a:rPr>
              <a:t>边际线：市场终点的送达价格的连结线</a:t>
            </a:r>
            <a:r>
              <a:rPr lang="zh-CN" altLang="en-US" sz="2000">
                <a:latin typeface="黑体" pitchFamily="49" charset="-122"/>
                <a:ea typeface="黑体" pitchFamily="49" charset="-122"/>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p:cNvSpPr>
            <a:spLocks noGrp="1" noChangeArrowheads="1"/>
          </p:cNvSpPr>
          <p:nvPr>
            <p:ph type="body" idx="1"/>
          </p:nvPr>
        </p:nvSpPr>
        <p:spPr>
          <a:xfrm>
            <a:off x="468313" y="476250"/>
            <a:ext cx="8002587" cy="576263"/>
          </a:xfrm>
        </p:spPr>
        <p:txBody>
          <a:bodyPr/>
          <a:lstStyle/>
          <a:p>
            <a:pPr eaLnBrk="1" hangingPunct="1">
              <a:lnSpc>
                <a:spcPct val="130000"/>
              </a:lnSpc>
              <a:buFontTx/>
              <a:buNone/>
            </a:pPr>
            <a:r>
              <a:rPr lang="zh-CN" altLang="en-US" smtClean="0">
                <a:solidFill>
                  <a:srgbClr val="FFFF00"/>
                </a:solidFill>
                <a:latin typeface="黑体" pitchFamily="49" charset="-122"/>
                <a:ea typeface="黑体" pitchFamily="49" charset="-122"/>
              </a:rPr>
              <a:t>送达价格、市场地域与区位选择   </a:t>
            </a:r>
            <a:endParaRPr lang="zh-CN" altLang="en-US" sz="2800" smtClean="0">
              <a:solidFill>
                <a:srgbClr val="FFFF00"/>
              </a:solidFill>
              <a:latin typeface="华文细黑" pitchFamily="2" charset="-122"/>
              <a:ea typeface="华文细黑" pitchFamily="2" charset="-122"/>
            </a:endParaRPr>
          </a:p>
        </p:txBody>
      </p:sp>
      <p:sp>
        <p:nvSpPr>
          <p:cNvPr id="33795" name="TextBox 4"/>
          <p:cNvSpPr txBox="1">
            <a:spLocks noChangeArrowheads="1"/>
          </p:cNvSpPr>
          <p:nvPr/>
        </p:nvSpPr>
        <p:spPr bwMode="auto">
          <a:xfrm>
            <a:off x="5148263" y="1341438"/>
            <a:ext cx="3455987" cy="5040312"/>
          </a:xfrm>
          <a:prstGeom prst="rect">
            <a:avLst/>
          </a:prstGeom>
          <a:noFill/>
          <a:ln w="9525">
            <a:noFill/>
            <a:miter lim="800000"/>
            <a:headEnd/>
            <a:tailEnd/>
          </a:ln>
        </p:spPr>
        <p:txBody>
          <a:bodyPr>
            <a:spAutoFit/>
          </a:bodyPr>
          <a:lstStyle/>
          <a:p>
            <a:pPr>
              <a:lnSpc>
                <a:spcPts val="3000"/>
              </a:lnSpc>
            </a:pPr>
            <a:r>
              <a:rPr lang="zh-CN" altLang="en-US" sz="2000">
                <a:solidFill>
                  <a:schemeClr val="bg1"/>
                </a:solidFill>
                <a:latin typeface="黑体" pitchFamily="49" charset="-122"/>
                <a:ea typeface="黑体" pitchFamily="49" charset="-122"/>
              </a:rPr>
              <a:t>制造业产品的市场地域确定：</a:t>
            </a:r>
            <a:endParaRPr lang="en-US" altLang="zh-CN" sz="2000">
              <a:solidFill>
                <a:schemeClr val="bg1"/>
              </a:solidFill>
              <a:latin typeface="黑体" pitchFamily="49" charset="-122"/>
              <a:ea typeface="黑体" pitchFamily="49" charset="-122"/>
            </a:endParaRPr>
          </a:p>
          <a:p>
            <a:pPr>
              <a:lnSpc>
                <a:spcPts val="3000"/>
              </a:lnSpc>
            </a:pPr>
            <a:endParaRPr lang="en-US" altLang="zh-CN" sz="2000">
              <a:solidFill>
                <a:schemeClr val="bg1"/>
              </a:solidFill>
              <a:latin typeface="黑体" pitchFamily="49" charset="-122"/>
              <a:ea typeface="黑体" pitchFamily="49" charset="-122"/>
            </a:endParaRPr>
          </a:p>
          <a:p>
            <a:pPr>
              <a:lnSpc>
                <a:spcPts val="3000"/>
              </a:lnSpc>
            </a:pPr>
            <a:r>
              <a:rPr lang="zh-CN" altLang="en-US" sz="2000">
                <a:solidFill>
                  <a:schemeClr val="bg1"/>
                </a:solidFill>
                <a:latin typeface="黑体" pitchFamily="49" charset="-122"/>
                <a:ea typeface="黑体" pitchFamily="49" charset="-122"/>
              </a:rPr>
              <a:t>前提：规模经济报酬递增、远距离单位运费递减率</a:t>
            </a:r>
            <a:endParaRPr lang="en-US" altLang="zh-CN" sz="2000">
              <a:solidFill>
                <a:schemeClr val="bg1"/>
              </a:solidFill>
              <a:latin typeface="黑体" pitchFamily="49" charset="-122"/>
              <a:ea typeface="黑体" pitchFamily="49" charset="-122"/>
            </a:endParaRPr>
          </a:p>
          <a:p>
            <a:pPr>
              <a:lnSpc>
                <a:spcPts val="3000"/>
              </a:lnSpc>
            </a:pPr>
            <a:endParaRPr lang="en-US" altLang="zh-CN" sz="2000">
              <a:solidFill>
                <a:schemeClr val="bg1"/>
              </a:solidFill>
              <a:latin typeface="黑体" pitchFamily="49" charset="-122"/>
              <a:ea typeface="黑体" pitchFamily="49" charset="-122"/>
            </a:endParaRPr>
          </a:p>
          <a:p>
            <a:pPr>
              <a:lnSpc>
                <a:spcPts val="3000"/>
              </a:lnSpc>
            </a:pPr>
            <a:r>
              <a:rPr lang="zh-CN" altLang="en-US" sz="2000">
                <a:solidFill>
                  <a:schemeClr val="bg1"/>
                </a:solidFill>
                <a:latin typeface="黑体" pitchFamily="49" charset="-122"/>
                <a:ea typeface="黑体" pitchFamily="49" charset="-122"/>
              </a:rPr>
              <a:t>随着市场地域扩大，规模经济带来了生产费用的降低；但一定地域生产过度集聚出现规模不经济</a:t>
            </a:r>
            <a:endParaRPr lang="en-US" altLang="zh-CN" sz="2000">
              <a:solidFill>
                <a:schemeClr val="bg1"/>
              </a:solidFill>
              <a:latin typeface="黑体" pitchFamily="49" charset="-122"/>
              <a:ea typeface="黑体" pitchFamily="49" charset="-122"/>
            </a:endParaRPr>
          </a:p>
          <a:p>
            <a:pPr>
              <a:lnSpc>
                <a:spcPts val="3000"/>
              </a:lnSpc>
            </a:pPr>
            <a:endParaRPr lang="en-US" altLang="zh-CN" sz="2000">
              <a:solidFill>
                <a:schemeClr val="bg1"/>
              </a:solidFill>
              <a:latin typeface="黑体" pitchFamily="49" charset="-122"/>
              <a:ea typeface="黑体" pitchFamily="49" charset="-122"/>
            </a:endParaRPr>
          </a:p>
          <a:p>
            <a:pPr>
              <a:lnSpc>
                <a:spcPts val="3000"/>
              </a:lnSpc>
            </a:pPr>
            <a:r>
              <a:rPr lang="zh-CN" altLang="en-US" sz="2000">
                <a:solidFill>
                  <a:schemeClr val="bg1"/>
                </a:solidFill>
                <a:latin typeface="黑体" pitchFamily="49" charset="-122"/>
                <a:ea typeface="黑体" pitchFamily="49" charset="-122"/>
              </a:rPr>
              <a:t>边际线与运费倾斜线相切的点作为地域规模经济与规模不经济的分界点</a:t>
            </a:r>
            <a:r>
              <a:rPr lang="zh-CN" altLang="en-US" sz="2000">
                <a:latin typeface="黑体" pitchFamily="49" charset="-122"/>
                <a:ea typeface="黑体" pitchFamily="49" charset="-122"/>
              </a:rPr>
              <a:t>：</a:t>
            </a:r>
          </a:p>
        </p:txBody>
      </p:sp>
      <p:pic>
        <p:nvPicPr>
          <p:cNvPr id="33796" name="Picture 2"/>
          <p:cNvPicPr>
            <a:picLocks noChangeAspect="1" noChangeArrowheads="1"/>
          </p:cNvPicPr>
          <p:nvPr/>
        </p:nvPicPr>
        <p:blipFill>
          <a:blip r:embed="rId2" cstate="print"/>
          <a:srcRect/>
          <a:stretch>
            <a:fillRect/>
          </a:stretch>
        </p:blipFill>
        <p:spPr bwMode="auto">
          <a:xfrm>
            <a:off x="250825" y="1916113"/>
            <a:ext cx="4483100" cy="388937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93187">
                                            <p:txEl>
                                              <p:pRg st="0" end="0"/>
                                            </p:txEl>
                                          </p:spTgt>
                                        </p:tgtEl>
                                        <p:attrNameLst>
                                          <p:attrName>style.visibility</p:attrName>
                                        </p:attrNameLst>
                                      </p:cBhvr>
                                      <p:to>
                                        <p:strVal val="visible"/>
                                      </p:to>
                                    </p:set>
                                    <p:anim calcmode="lin" valueType="num">
                                      <p:cBhvr additive="base">
                                        <p:cTn id="7" dur="500" fill="hold"/>
                                        <p:tgtEl>
                                          <p:spTgt spid="93187">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3187">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187" grpId="0" build="p"/>
    </p:bldLst>
  </p:timing>
</p:sld>
</file>

<file path=ppt/theme/theme1.xml><?xml version="1.0" encoding="utf-8"?>
<a:theme xmlns:a="http://schemas.openxmlformats.org/drawingml/2006/main" name="默认设计模板">
  <a:themeElements>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FFFFFF"/>
        </a:hlink>
        <a:folHlink>
          <a:srgbClr val="99CC00"/>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otalTime>3225</TotalTime>
  <Words>2178</Words>
  <Application>Microsoft Office PowerPoint</Application>
  <PresentationFormat>全屏显示(4:3)</PresentationFormat>
  <Paragraphs>154</Paragraphs>
  <Slides>32</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32</vt:i4>
      </vt:variant>
    </vt:vector>
  </HeadingPairs>
  <TitlesOfParts>
    <vt:vector size="40" baseType="lpstr">
      <vt:lpstr>Arial</vt:lpstr>
      <vt:lpstr>宋体</vt:lpstr>
      <vt:lpstr>Calibri</vt:lpstr>
      <vt:lpstr>黑体</vt:lpstr>
      <vt:lpstr>Times New Roman</vt:lpstr>
      <vt:lpstr>Wingdings</vt:lpstr>
      <vt:lpstr>华文细黑</vt:lpstr>
      <vt:lpstr>默认设计模板</vt:lpstr>
      <vt:lpstr>第3章  区 位 理 论  第1节  古典农业与工业区位论</vt:lpstr>
      <vt:lpstr>幻灯片 2</vt:lpstr>
      <vt:lpstr>一、杜能古典农业区位理论</vt:lpstr>
      <vt:lpstr>（二）杜能农业区位理论内容</vt:lpstr>
      <vt:lpstr>1 假设条件</vt:lpstr>
      <vt:lpstr>幻灯片 6</vt:lpstr>
      <vt:lpstr>幻灯片 7</vt:lpstr>
      <vt:lpstr>幻灯片 8</vt:lpstr>
      <vt:lpstr>（三）评价</vt:lpstr>
      <vt:lpstr>幻灯片 10</vt:lpstr>
      <vt:lpstr>幻灯片 11</vt:lpstr>
      <vt:lpstr>幻灯片 12</vt:lpstr>
      <vt:lpstr>幻灯片 13</vt:lpstr>
      <vt:lpstr>二、韦伯工业区位论</vt:lpstr>
      <vt:lpstr>1 假设条件</vt:lpstr>
      <vt:lpstr>幻灯片 16</vt:lpstr>
      <vt:lpstr>幻灯片 17</vt:lpstr>
      <vt:lpstr>幻灯片 18</vt:lpstr>
      <vt:lpstr>幻灯片 19</vt:lpstr>
      <vt:lpstr>幻灯片 20</vt:lpstr>
      <vt:lpstr>3. 理论与现实 </vt:lpstr>
      <vt:lpstr>三、霍特林区位相互依赖理论</vt:lpstr>
      <vt:lpstr>幻灯片 23</vt:lpstr>
      <vt:lpstr>四、帕兰德区位理论</vt:lpstr>
      <vt:lpstr>市场区域研究</vt:lpstr>
      <vt:lpstr>五、胡佛工业区位理论</vt:lpstr>
      <vt:lpstr>胡佛经济区位论关于运费构成：</vt:lpstr>
      <vt:lpstr>幻灯片 28</vt:lpstr>
      <vt:lpstr>幻灯片 29</vt:lpstr>
      <vt:lpstr>幻灯片 30</vt:lpstr>
      <vt:lpstr>幻灯片 31</vt:lpstr>
      <vt:lpstr>幻灯片 32</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第6节  区位理论</dc:title>
  <dc:creator>asd</dc:creator>
  <cp:lastModifiedBy>xbany</cp:lastModifiedBy>
  <cp:revision>89</cp:revision>
  <dcterms:created xsi:type="dcterms:W3CDTF">2004-06-12T16:08:21Z</dcterms:created>
  <dcterms:modified xsi:type="dcterms:W3CDTF">2020-02-11T13:32:13Z</dcterms:modified>
</cp:coreProperties>
</file>