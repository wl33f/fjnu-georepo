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4" r:id="rId3"/>
    <p:sldId id="312" r:id="rId4"/>
    <p:sldId id="313" r:id="rId5"/>
    <p:sldId id="314" r:id="rId6"/>
    <p:sldId id="315" r:id="rId7"/>
    <p:sldId id="319" r:id="rId8"/>
    <p:sldId id="320" r:id="rId9"/>
    <p:sldId id="321" r:id="rId10"/>
    <p:sldId id="283" r:id="rId11"/>
    <p:sldId id="299" r:id="rId12"/>
    <p:sldId id="300" r:id="rId13"/>
    <p:sldId id="301" r:id="rId14"/>
    <p:sldId id="302" r:id="rId15"/>
    <p:sldId id="304" r:id="rId16"/>
    <p:sldId id="305" r:id="rId17"/>
    <p:sldId id="306" r:id="rId18"/>
    <p:sldId id="322" r:id="rId19"/>
    <p:sldId id="323" r:id="rId2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5" autoAdjust="0"/>
    <p:restoredTop sz="94660"/>
  </p:normalViewPr>
  <p:slideViewPr>
    <p:cSldViewPr>
      <p:cViewPr varScale="1">
        <p:scale>
          <a:sx n="72" d="100"/>
          <a:sy n="72" d="100"/>
        </p:scale>
        <p:origin x="-854" y="-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F2C88-42DD-404A-84FA-8845AAA370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3154DE-7C44-4B27-BFA8-674908A78C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3F39A-97F7-4540-86D6-95685D7709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02191-79CE-4FBD-85B0-BFFEC3E456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84889-2CA9-460C-A016-9256C8E0D4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78909-3D13-4448-BA3B-9D39FE2FF2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291A5-AD0A-40CC-A4F8-43DA346D37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10CCC3-5EFC-42EB-84BB-F79BE8F06D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68858-10DD-495C-B285-CAC7852FB7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F24E4-A853-4F1E-A52E-EFDEB65A64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874C68-548B-42D7-A4A9-AE0B36F89D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AEAD-562B-40A1-AA37-445025124E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246663-C2B7-4528-9368-C320926F30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2015B4F0-EC9B-470D-A7D8-3F386CE1AE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7.xml"/><Relationship Id="rId4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http://zhjyx.hfjy.net.cn/Resource/Book/Edu/JXCKS/TS016074/image/9.gif" TargetMode="External"/><Relationship Id="rId7" Type="http://schemas.openxmlformats.org/officeDocument/2006/relationships/image" Target="http://zhjyx.hfjy.net.cn/Resource/Book/Edu/JXCKS/TS016074/image/11.gi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http://zhjyx.hfjy.net.cn/Resource/Book/Edu/JXCKS/TS016074/image/10.gif" TargetMode="Externa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2636838"/>
            <a:ext cx="7772400" cy="2232025"/>
          </a:xfrm>
        </p:spPr>
        <p:txBody>
          <a:bodyPr/>
          <a:lstStyle/>
          <a:p>
            <a:pPr eaLnBrk="1" hangingPunct="1"/>
            <a:r>
              <a:rPr lang="zh-CN" altLang="en-US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章  区 位 理 论</a:t>
            </a:r>
            <a: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</a:br>
            <a:r>
              <a:rPr lang="zh-CN" altLang="en-US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节  现代区位理论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3" y="2276475"/>
            <a:ext cx="6842125" cy="2447925"/>
          </a:xfrm>
        </p:spPr>
        <p:txBody>
          <a:bodyPr/>
          <a:lstStyle/>
          <a:p>
            <a:pPr eaLnBrk="1" hangingPunct="1">
              <a:lnSpc>
                <a:spcPct val="13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一、行为区位论</a:t>
            </a: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二、战略区位论</a:t>
            </a:r>
            <a:endParaRPr lang="en-US" altLang="zh-CN" sz="280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三、组织结构区位论</a:t>
            </a: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四、中心地理论的发展与应用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ea typeface="黑体" pitchFamily="49" charset="-122"/>
              </a:rPr>
              <a:t>一、行为区位论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认为企业是有限理性的满意人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企业行为决策过程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企业提出区位选择的要求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开始区位决策过程，寻找可能区位</a:t>
            </a:r>
            <a:r>
              <a:rPr lang="en-US" altLang="zh-CN" smtClean="0">
                <a:solidFill>
                  <a:schemeClr val="bg1"/>
                </a:solidFill>
                <a:ea typeface="黑体" pitchFamily="49" charset="-122"/>
              </a:rPr>
              <a:t>——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收集区位信息的过程  </a:t>
            </a:r>
            <a:r>
              <a:rPr lang="zh-CN" altLang="en-US" sz="2400" smtClean="0">
                <a:solidFill>
                  <a:schemeClr val="accent1"/>
                </a:solidFill>
                <a:ea typeface="黑体" pitchFamily="49" charset="-122"/>
              </a:rPr>
              <a:t>信息内容及可能的质量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评估备选区位</a:t>
            </a:r>
            <a:r>
              <a:rPr lang="en-US" altLang="zh-CN" smtClean="0">
                <a:solidFill>
                  <a:schemeClr val="bg1"/>
                </a:solidFill>
                <a:ea typeface="黑体" pitchFamily="49" charset="-122"/>
              </a:rPr>
              <a:t>——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信息处理  </a:t>
            </a:r>
            <a:r>
              <a:rPr lang="zh-CN" altLang="en-US" sz="2400" smtClean="0">
                <a:solidFill>
                  <a:schemeClr val="accent1"/>
                </a:solidFill>
                <a:ea typeface="黑体" pitchFamily="49" charset="-122"/>
              </a:rPr>
              <a:t>影响因素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确定区位，进行投资评估决策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信息与行为区位决策矩阵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 descr="信息与行为区位决策矩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8888" y="160338"/>
            <a:ext cx="6769100" cy="667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ea typeface="黑体" pitchFamily="49" charset="-122"/>
              </a:rPr>
              <a:t>二、战略区位论：战略空间与谈判成本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37088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战略区位论强调企业与利益攸关者的目标和动机距离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利益攸关者：竞争者、政府、劳工组织或环保组织等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  <a:hlinkClick r:id="rId2" action="ppaction://hlinksldjump"/>
              </a:rPr>
              <a:t>跨国公司和东道国的动机和目标差异决定投资的可能</a:t>
            </a:r>
            <a:endParaRPr lang="zh-CN" altLang="en-US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0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企业区位选择也可以看成是资本对劳动力的一种空间战略</a:t>
            </a:r>
          </a:p>
        </p:txBody>
      </p:sp>
      <p:sp>
        <p:nvSpPr>
          <p:cNvPr id="6148" name="AutoShape 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388350" y="6021388"/>
            <a:ext cx="215900" cy="2159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 descr="目标动机差异和跨国公司与东道国的讨价还价过程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6850" y="0"/>
            <a:ext cx="62103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AutoShape 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388350" y="6021388"/>
            <a:ext cx="287338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200" smtClean="0">
                <a:solidFill>
                  <a:srgbClr val="FFFF00"/>
                </a:solidFill>
                <a:ea typeface="黑体" pitchFamily="49" charset="-122"/>
              </a:rPr>
              <a:t>三、组织结构区位论：交易空间与交易成本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37088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生产技术和交通通信技术进步，企业组织由垂直一体化向功能化分散化转型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阿兰</a:t>
            </a:r>
            <a:r>
              <a:rPr lang="en-US" altLang="zh-CN" smtClean="0">
                <a:solidFill>
                  <a:schemeClr val="bg1"/>
                </a:solidFill>
                <a:ea typeface="黑体" pitchFamily="49" charset="-122"/>
              </a:rPr>
              <a:t>.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斯科特（</a:t>
            </a:r>
            <a:r>
              <a:rPr lang="en-US" altLang="zh-CN" smtClean="0">
                <a:solidFill>
                  <a:schemeClr val="bg1"/>
                </a:solidFill>
                <a:ea typeface="黑体" pitchFamily="49" charset="-122"/>
              </a:rPr>
              <a:t>A.Scott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）</a:t>
            </a:r>
            <a:r>
              <a:rPr lang="en-US" altLang="zh-CN" smtClean="0">
                <a:solidFill>
                  <a:schemeClr val="bg1"/>
                </a:solidFill>
                <a:ea typeface="黑体" pitchFamily="49" charset="-122"/>
              </a:rPr>
              <a:t>20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世纪</a:t>
            </a:r>
            <a:r>
              <a:rPr lang="en-US" altLang="zh-CN" smtClean="0">
                <a:solidFill>
                  <a:schemeClr val="bg1"/>
                </a:solidFill>
                <a:ea typeface="黑体" pitchFamily="49" charset="-122"/>
              </a:rPr>
              <a:t>80</a:t>
            </a: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年代探讨产业组织与产业区位的理论关系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认为企业扩大规模将增加管理成本或协调成本，可能选择垂直一体化或垂直分散化</a:t>
            </a:r>
            <a:endParaRPr lang="en-US" altLang="zh-CN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05000"/>
              </a:lnSpc>
            </a:pPr>
            <a:r>
              <a:rPr lang="zh-CN" altLang="en-US" smtClean="0">
                <a:solidFill>
                  <a:schemeClr val="bg1"/>
                </a:solidFill>
                <a:ea typeface="黑体" pitchFamily="49" charset="-122"/>
              </a:rPr>
              <a:t>为降低交易成本，形成关联企业的地理集聚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6388" y="285750"/>
            <a:ext cx="8561387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765175"/>
            <a:ext cx="8907462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60350"/>
            <a:ext cx="8229600" cy="6337300"/>
          </a:xfrm>
        </p:spPr>
        <p:txBody>
          <a:bodyPr/>
          <a:lstStyle/>
          <a:p>
            <a:pPr eaLnBrk="1" hangingPunct="1">
              <a:lnSpc>
                <a:spcPts val="3700"/>
              </a:lnSpc>
              <a:buFontTx/>
              <a:buNone/>
            </a:pPr>
            <a:r>
              <a:rPr lang="zh-CN" altLang="en-US" sz="2800" smtClean="0">
                <a:solidFill>
                  <a:srgbClr val="FFFF00"/>
                </a:solidFill>
                <a:ea typeface="黑体" pitchFamily="49" charset="-122"/>
              </a:rPr>
              <a:t>四、中心地理论的发展与应用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（一）零售业区位论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2" action="ppaction://hlinksldjump"/>
              </a:rPr>
              <a:t>影响零售业区位决策的基本因素</a:t>
            </a:r>
            <a:endParaRPr lang="zh-CN" altLang="en-US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零售业空间模型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 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3" action="ppaction://hlinksldjump"/>
              </a:rPr>
              <a:t>零售业空间类型划分</a:t>
            </a:r>
            <a:endParaRPr lang="zh-CN" altLang="en-US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  中心商业区的内部结构：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4" action="ppaction://hlinksldjump"/>
              </a:rPr>
              <a:t>中心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4" action="ppaction://hlinksldjump"/>
              </a:rPr>
              <a:t>-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4" action="ppaction://hlinksldjump"/>
              </a:rPr>
              <a:t>边缘模型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、中心商业区空间融合模型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零售引力模型</a:t>
            </a:r>
            <a:endParaRPr lang="en-US" altLang="zh-CN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4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商业发展和布局趋势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（二）服务业区位论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5" action="ppaction://hlinksldjump"/>
              </a:rPr>
              <a:t>服务业的类型与区位特征</a:t>
            </a:r>
            <a:endParaRPr lang="zh-CN" altLang="en-US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服务业区位选择的因素分析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Tx/>
              <a:buNone/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 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现代服务业的区位选择</a:t>
            </a:r>
            <a:r>
              <a:rPr lang="zh-CN" altLang="en-US" sz="1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zh-CN" altLang="en-US" sz="1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hlinkClick r:id="rId6" action="ppaction://hlinksldjump"/>
              </a:rPr>
              <a:t>金融业、创意产业、电子商务、物流业</a:t>
            </a:r>
            <a:r>
              <a:rPr lang="zh-CN" altLang="en-US" sz="1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</a:t>
            </a:r>
            <a:endParaRPr lang="en-US" altLang="zh-CN" sz="18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0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0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ea typeface="黑体" pitchFamily="49" charset="-122"/>
              </a:rPr>
              <a:t>影响零售业区位决策的基本因素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929188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sz="2800" smtClean="0">
                <a:solidFill>
                  <a:srgbClr val="FFFF00"/>
                </a:solidFill>
                <a:ea typeface="黑体" pitchFamily="49" charset="-122"/>
              </a:rPr>
              <a:t>消费市场状况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（消费者指向）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人口分布密度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消费者收入：影响消费量、消费类型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 smtClean="0">
                <a:solidFill>
                  <a:srgbClr val="FFFF00"/>
                </a:solidFill>
                <a:ea typeface="黑体" pitchFamily="49" charset="-122"/>
              </a:rPr>
              <a:t>空间距离和交通条件</a:t>
            </a:r>
            <a:r>
              <a:rPr lang="zh-CN" altLang="en-US" sz="2000" smtClean="0">
                <a:solidFill>
                  <a:schemeClr val="bg1"/>
                </a:solidFill>
                <a:ea typeface="黑体" pitchFamily="49" charset="-122"/>
              </a:rPr>
              <a:t>（空间费用、时间费用）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 smtClean="0">
                <a:solidFill>
                  <a:srgbClr val="FFFF00"/>
                </a:solidFill>
                <a:ea typeface="黑体" pitchFamily="49" charset="-122"/>
              </a:rPr>
              <a:t>零售业间的竞争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集中与分散取决于企业的经营种类和市场的特性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sz="2800" smtClean="0">
                <a:solidFill>
                  <a:srgbClr val="FFFF00"/>
                </a:solidFill>
                <a:ea typeface="黑体" pitchFamily="49" charset="-122"/>
              </a:rPr>
              <a:t>地价的作用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影响地价因素：交通便捷度、空间关联性、环境满意度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区位主体对地价的承受能力取决于预期利润</a:t>
            </a:r>
          </a:p>
          <a:p>
            <a:pPr eaLnBrk="1" hangingPunct="1">
              <a:buFontTx/>
              <a:buNone/>
            </a:pPr>
            <a:endParaRPr lang="en-US" altLang="zh-CN" sz="2800" smtClean="0">
              <a:solidFill>
                <a:schemeClr val="bg1"/>
              </a:solidFill>
              <a:ea typeface="华文细黑" pitchFamily="2" charset="-122"/>
            </a:endParaRPr>
          </a:p>
        </p:txBody>
      </p:sp>
      <p:sp>
        <p:nvSpPr>
          <p:cNvPr id="12292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172450" y="5805488"/>
            <a:ext cx="287338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93775"/>
          </a:xfrm>
        </p:spPr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零售业空间类型划分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普劳德福特（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种类型）：中心商业区、外围商业区、主要商业街、邻近商业街、孤立商店群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迈耶：从零售业的规模与形态角度划分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贝利：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第一类型：核心商业区（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CBD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、区域中心地、社区中心地、近邻中心地）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第二类型：带状分布（传统购物街、沿干线分布零售业等）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第三类型：专业化空间（汽车街、印刷区等）</a:t>
            </a:r>
          </a:p>
        </p:txBody>
      </p:sp>
      <p:sp>
        <p:nvSpPr>
          <p:cNvPr id="13316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172450" y="5805488"/>
            <a:ext cx="287338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/>
            <a:r>
              <a:rPr lang="zh-CN" altLang="en-US" sz="3200" smtClean="0">
                <a:solidFill>
                  <a:srgbClr val="FFFF00"/>
                </a:solidFill>
                <a:ea typeface="黑体" pitchFamily="49" charset="-122"/>
              </a:rPr>
              <a:t>附：城市中心商务区规划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929188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Tx/>
              <a:buNone/>
            </a:pP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（一）城市中心业务区的特征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城市中心业务区（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Central Business District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，简称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CBD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 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CBD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是城市政治、金融、经济和文化活动的集中地。提供了城市大量工作岗位和就业场所。在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CBD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可以产生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1/4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甚至更多的城市财政收入，是城市经济的主要支柱及税收的主要来源。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CBD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还是城市社交和信息交流的主要地方，午餐和午餐会是中心业务区社交的主要活动形式之一。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1550" y="908050"/>
            <a:ext cx="7643813" cy="5218113"/>
          </a:xfrm>
        </p:spPr>
        <p:txBody>
          <a:bodyPr/>
          <a:lstStyle/>
          <a:p>
            <a:pPr eaLnBrk="1" hangingPunct="1">
              <a:lnSpc>
                <a:spcPct val="145000"/>
              </a:lnSpc>
              <a:buFontTx/>
              <a:buNone/>
            </a:pP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位置和发展特点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城市中心业务区一般位于城市中最古老的地段 ，都有过一个演化过程，大体经历了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100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年左右时间才逐渐形成 ，并且以第三产业为主体，它们的发展趋势都是进一步同文化、娱乐、会议和旅游相结合。 </a:t>
            </a:r>
          </a:p>
          <a:p>
            <a:pPr eaLnBrk="1" hangingPunct="1">
              <a:lnSpc>
                <a:spcPct val="145000"/>
              </a:lnSpc>
              <a:buFontTx/>
              <a:buNone/>
            </a:pP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中心性</a:t>
            </a:r>
          </a:p>
          <a:p>
            <a:pPr eaLnBrk="1" hangingPunct="1">
              <a:lnSpc>
                <a:spcPct val="145000"/>
              </a:lnSpc>
              <a:buFontTx/>
              <a:buNone/>
            </a:pP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高层化</a:t>
            </a:r>
          </a:p>
          <a:p>
            <a:pPr eaLnBrk="1" hangingPunct="1">
              <a:lnSpc>
                <a:spcPct val="145000"/>
              </a:lnSpc>
              <a:buFontTx/>
              <a:buNone/>
            </a:pP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人口数目昼夜差别极大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l" eaLnBrk="1" hangingPunct="1"/>
            <a:r>
              <a:rPr lang="en-US" altLang="zh-CN" smtClean="0"/>
              <a:t> </a:t>
            </a:r>
            <a:r>
              <a:rPr lang="zh-CN" altLang="en-US" sz="3200" smtClean="0">
                <a:solidFill>
                  <a:srgbClr val="FFFF00"/>
                </a:solidFill>
                <a:ea typeface="黑体" pitchFamily="49" charset="-122"/>
              </a:rPr>
              <a:t>（二）城市中心商务区范围的确定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929188"/>
          </a:xfrm>
        </p:spPr>
        <p:txBody>
          <a:bodyPr/>
          <a:lstStyle/>
          <a:p>
            <a:pPr eaLnBrk="1" hangingPunct="1"/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城市中心商务区的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个功能亚区：</a:t>
            </a:r>
          </a:p>
          <a:p>
            <a:pPr lvl="1" eaLnBrk="1" hangingPunct="1"/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商业亚区 、金融亚区 、办公亚区 、文娱亚区 、旅游亚区 ；</a:t>
            </a:r>
          </a:p>
          <a:p>
            <a:pPr eaLnBrk="1" hangingPunct="1">
              <a:buFontTx/>
              <a:buNone/>
            </a:pPr>
            <a:r>
              <a:rPr lang="en-US" altLang="zh-CN" sz="2000" b="1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1.</a:t>
            </a:r>
            <a:r>
              <a:rPr lang="zh-CN" altLang="en-US" sz="2000" b="1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中心业务指数法</a:t>
            </a:r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 </a:t>
            </a:r>
          </a:p>
          <a:p>
            <a:pPr lvl="1" eaLnBrk="1" hangingPunct="1"/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由美国学者墨菲和万斯两位提出来的，故亦称墨菲</a:t>
            </a:r>
            <a:r>
              <a:rPr lang="en-US" altLang="zh-CN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—</a:t>
            </a:r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万斯中心业务指数法  </a:t>
            </a:r>
          </a:p>
          <a:p>
            <a:pPr eaLnBrk="1" hangingPunct="1"/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（</a:t>
            </a:r>
            <a:r>
              <a:rPr lang="en-US" altLang="zh-CN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1</a:t>
            </a:r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）最大中心业务指数法</a:t>
            </a:r>
          </a:p>
          <a:p>
            <a:pPr eaLnBrk="1" hangingPunct="1"/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（</a:t>
            </a:r>
            <a:r>
              <a:rPr lang="en-US" altLang="zh-CN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2</a:t>
            </a:r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）中心业务强度指数法</a:t>
            </a:r>
            <a:r>
              <a:rPr lang="zh-CN" altLang="en-US" smtClean="0">
                <a:latin typeface="Times New Roman" pitchFamily="18" charset="0"/>
                <a:ea typeface="黑体" pitchFamily="49" charset="-122"/>
              </a:rPr>
              <a:t> </a:t>
            </a:r>
          </a:p>
          <a:p>
            <a:pPr eaLnBrk="1" hangingPunct="1"/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（</a:t>
            </a:r>
            <a:r>
              <a:rPr lang="en-US" altLang="zh-CN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3</a:t>
            </a:r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）中心业务指数</a:t>
            </a:r>
            <a:r>
              <a:rPr lang="zh-CN" altLang="en-US" smtClean="0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 </a:t>
            </a:r>
          </a:p>
          <a:p>
            <a:pPr lvl="4" eaLnBrk="1" hangingPunct="1">
              <a:buFontTx/>
              <a:buNone/>
            </a:pPr>
            <a:r>
              <a:rPr lang="en-US" altLang="zh-CN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CBI=1</a:t>
            </a:r>
            <a:r>
              <a:rPr lang="zh-CN" altLang="en-US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单位</a:t>
            </a:r>
            <a:r>
              <a:rPr lang="en-US" altLang="zh-CN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CBHI+50</a:t>
            </a:r>
            <a:r>
              <a:rPr lang="zh-CN" altLang="en-US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％单位的</a:t>
            </a:r>
            <a:r>
              <a:rPr lang="en-US" altLang="zh-CN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CBII </a:t>
            </a:r>
            <a:endParaRPr lang="en-US" altLang="zh-CN" sz="1400" smtClean="0">
              <a:solidFill>
                <a:schemeClr val="bg1"/>
              </a:solidFill>
              <a:latin typeface="Times New Roman" pitchFamily="18" charset="0"/>
              <a:ea typeface="黑体" pitchFamily="49" charset="-122"/>
            </a:endParaRPr>
          </a:p>
          <a:p>
            <a:pPr eaLnBrk="1" hangingPunct="1"/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（</a:t>
            </a:r>
            <a:r>
              <a:rPr lang="en-US" altLang="zh-CN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4</a:t>
            </a:r>
            <a:r>
              <a:rPr lang="zh-CN" altLang="en-US" sz="2000" smtClean="0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rPr>
              <a:t>）最大零售商业指数</a:t>
            </a:r>
            <a:r>
              <a:rPr lang="zh-CN" altLang="en-US" smtClean="0"/>
              <a:t> </a:t>
            </a:r>
          </a:p>
        </p:txBody>
      </p:sp>
      <p:pic>
        <p:nvPicPr>
          <p:cNvPr id="74756" name="Picture 4" descr="http://zhjyx.hfjy.net.cn/Resource/Book/Edu/JXCKS/TS016074/image/9.gif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4427538" y="2924175"/>
            <a:ext cx="2438400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74757" name="Picture 5" descr="http://zhjyx.hfjy.net.cn/Resource/Book/Edu/JXCKS/TS016074/image/10.gif"/>
          <p:cNvPicPr>
            <a:picLocks noChangeAspect="1" noChangeArrowheads="1"/>
          </p:cNvPicPr>
          <p:nvPr/>
        </p:nvPicPr>
        <p:blipFill>
          <a:blip r:embed="rId4" r:link="rId5" cstate="print"/>
          <a:srcRect/>
          <a:stretch>
            <a:fillRect/>
          </a:stretch>
        </p:blipFill>
        <p:spPr bwMode="auto">
          <a:xfrm>
            <a:off x="4284663" y="3644900"/>
            <a:ext cx="2781300" cy="428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74758" name="Picture 6" descr="http://zhjyx.hfjy.net.cn/Resource/Book/Edu/JXCKS/TS016074/image/11.gif"/>
          <p:cNvPicPr>
            <a:picLocks noChangeAspect="1" noChangeArrowheads="1"/>
          </p:cNvPicPr>
          <p:nvPr/>
        </p:nvPicPr>
        <p:blipFill>
          <a:blip r:embed="rId6" r:link="rId7" cstate="print"/>
          <a:srcRect/>
          <a:stretch>
            <a:fillRect/>
          </a:stretch>
        </p:blipFill>
        <p:spPr bwMode="auto">
          <a:xfrm>
            <a:off x="4211638" y="5300663"/>
            <a:ext cx="2808287" cy="576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4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4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229600" cy="5360988"/>
          </a:xfrm>
        </p:spPr>
        <p:txBody>
          <a:bodyPr/>
          <a:lstStyle/>
          <a:p>
            <a:pPr eaLnBrk="1" hangingPunct="1">
              <a:lnSpc>
                <a:spcPct val="145000"/>
              </a:lnSpc>
              <a:buFontTx/>
              <a:buNone/>
            </a:pPr>
            <a:r>
              <a:rPr lang="en-US" altLang="zh-CN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通过人口普查资料确定</a:t>
            </a:r>
            <a:r>
              <a:rPr lang="en-US" altLang="zh-CN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CBD</a:t>
            </a: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范围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主要根据人口密度、就业人数、流动人口、交通流量、服务业人数、旅馆床位数、影剧院座位数等 </a:t>
            </a:r>
          </a:p>
          <a:p>
            <a:pPr eaLnBrk="1" hangingPunct="1">
              <a:lnSpc>
                <a:spcPct val="145000"/>
              </a:lnSpc>
              <a:buFontTx/>
              <a:buNone/>
            </a:pPr>
            <a:r>
              <a:rPr lang="en-US" altLang="zh-CN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通过地价和建筑物高度来确定</a:t>
            </a:r>
            <a:r>
              <a:rPr lang="en-US" altLang="zh-CN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CBD</a:t>
            </a:r>
            <a:r>
              <a:rPr lang="zh-CN" altLang="en-US" sz="24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范围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国外城市的中心业务区一般是城市土地价格等值线的高峰区域，而郊区中心或城市副中心则是土地价格等值线的次高峰区。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建筑的高度、平均层数以及高层建筑的分布状况也可作为</a:t>
            </a:r>
            <a:r>
              <a:rPr lang="en-US" altLang="zh-CN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CBD</a:t>
            </a: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范围的参数。 </a:t>
            </a:r>
          </a:p>
        </p:txBody>
      </p:sp>
      <p:sp>
        <p:nvSpPr>
          <p:cNvPr id="17411" name="AutoShape 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172450" y="5805488"/>
            <a:ext cx="287338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5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5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5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algn="l" eaLnBrk="1" hangingPunct="1"/>
            <a:r>
              <a:rPr lang="zh-CN" altLang="en-US" sz="28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服务业的类型与区位特征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268413"/>
            <a:ext cx="7570787" cy="485775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olidFill>
                  <a:srgbClr val="FFFF00"/>
                </a:solidFill>
                <a:ea typeface="黑体" pitchFamily="49" charset="-122"/>
              </a:rPr>
              <a:t>以个人和家庭为对象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z="1800" smtClean="0">
                <a:solidFill>
                  <a:schemeClr val="bg1"/>
                </a:solidFill>
                <a:ea typeface="黑体" pitchFamily="49" charset="-122"/>
              </a:rPr>
              <a:t>尽量接近消费者</a:t>
            </a:r>
          </a:p>
          <a:p>
            <a:pPr lvl="1" eaLnBrk="1" hangingPunct="1">
              <a:lnSpc>
                <a:spcPct val="140000"/>
              </a:lnSpc>
            </a:pPr>
            <a:endParaRPr lang="zh-CN" altLang="en-US" sz="180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olidFill>
                  <a:srgbClr val="FFFF00"/>
                </a:solidFill>
                <a:ea typeface="黑体" pitchFamily="49" charset="-122"/>
              </a:rPr>
              <a:t>以企业（或行政机关等办公机构）为对象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z="1800" smtClean="0">
                <a:solidFill>
                  <a:schemeClr val="bg1"/>
                </a:solidFill>
                <a:ea typeface="黑体" pitchFamily="49" charset="-122"/>
              </a:rPr>
              <a:t>分布于城市中心区</a:t>
            </a:r>
          </a:p>
          <a:p>
            <a:pPr lvl="1" eaLnBrk="1" hangingPunct="1">
              <a:lnSpc>
                <a:spcPct val="140000"/>
              </a:lnSpc>
            </a:pPr>
            <a:endParaRPr lang="zh-CN" altLang="en-US" sz="1800" smtClean="0">
              <a:solidFill>
                <a:schemeClr val="bg1"/>
              </a:solidFill>
              <a:ea typeface="黑体" pitchFamily="49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olidFill>
                  <a:srgbClr val="FFFF00"/>
                </a:solidFill>
                <a:ea typeface="黑体" pitchFamily="49" charset="-122"/>
              </a:rPr>
              <a:t>具有办公机构性质职能的服务业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z="1800" smtClean="0">
                <a:solidFill>
                  <a:schemeClr val="bg1"/>
                </a:solidFill>
                <a:ea typeface="黑体" pitchFamily="49" charset="-122"/>
              </a:rPr>
              <a:t>发挥管理职能的业务中心和办公机构</a:t>
            </a:r>
            <a:r>
              <a:rPr lang="en-US" altLang="zh-CN" sz="1800" smtClean="0">
                <a:solidFill>
                  <a:schemeClr val="bg1"/>
                </a:solidFill>
                <a:ea typeface="黑体" pitchFamily="49" charset="-122"/>
              </a:rPr>
              <a:t>—</a:t>
            </a:r>
            <a:r>
              <a:rPr lang="zh-CN" altLang="en-US" sz="1800" smtClean="0">
                <a:solidFill>
                  <a:schemeClr val="bg1"/>
                </a:solidFill>
                <a:ea typeface="黑体" pitchFamily="49" charset="-122"/>
              </a:rPr>
              <a:t>市中心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z="1800" smtClean="0">
                <a:solidFill>
                  <a:schemeClr val="bg1"/>
                </a:solidFill>
                <a:ea typeface="黑体" pitchFamily="49" charset="-122"/>
              </a:rPr>
              <a:t>企业的子公司和部门中心</a:t>
            </a:r>
            <a:r>
              <a:rPr lang="en-US" altLang="zh-CN" sz="1800" smtClean="0">
                <a:solidFill>
                  <a:schemeClr val="bg1"/>
                </a:solidFill>
                <a:ea typeface="黑体" pitchFamily="49" charset="-122"/>
              </a:rPr>
              <a:t>—</a:t>
            </a:r>
            <a:r>
              <a:rPr lang="zh-CN" altLang="en-US" sz="1800" smtClean="0">
                <a:solidFill>
                  <a:schemeClr val="bg1"/>
                </a:solidFill>
                <a:ea typeface="黑体" pitchFamily="49" charset="-122"/>
              </a:rPr>
              <a:t>城市次级中心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z="1800" smtClean="0">
                <a:solidFill>
                  <a:schemeClr val="bg1"/>
                </a:solidFill>
                <a:ea typeface="黑体" pitchFamily="49" charset="-122"/>
              </a:rPr>
              <a:t>从外部支援企业活动的职能</a:t>
            </a:r>
            <a:r>
              <a:rPr lang="en-US" altLang="zh-CN" sz="1800" smtClean="0">
                <a:solidFill>
                  <a:schemeClr val="bg1"/>
                </a:solidFill>
                <a:ea typeface="黑体" pitchFamily="49" charset="-122"/>
              </a:rPr>
              <a:t>—</a:t>
            </a:r>
            <a:r>
              <a:rPr lang="zh-CN" altLang="en-US" sz="1800" smtClean="0">
                <a:solidFill>
                  <a:schemeClr val="bg1"/>
                </a:solidFill>
                <a:ea typeface="黑体" pitchFamily="49" charset="-122"/>
              </a:rPr>
              <a:t>城市中心区</a:t>
            </a:r>
          </a:p>
        </p:txBody>
      </p:sp>
      <p:sp>
        <p:nvSpPr>
          <p:cNvPr id="18436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172450" y="5805488"/>
            <a:ext cx="287338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250"/>
            <a:ext cx="8229600" cy="5649913"/>
          </a:xfrm>
        </p:spPr>
        <p:txBody>
          <a:bodyPr/>
          <a:lstStyle/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金融业区位选择</a:t>
            </a:r>
            <a:endParaRPr lang="en-US" altLang="zh-CN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ts val="3000"/>
              </a:lnSpc>
              <a:spcBef>
                <a:spcPts val="600"/>
              </a:spcBef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不同类型不同：分行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城市中心或次中心；支行或分理处</a:t>
            </a:r>
            <a:r>
              <a:rPr lang="en-US" altLang="zh-CN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人口密集区域</a:t>
            </a:r>
            <a:endParaRPr lang="en-US" altLang="zh-CN" sz="20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ts val="3000"/>
              </a:lnSpc>
              <a:spcBef>
                <a:spcPts val="600"/>
              </a:spcBef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金融中心：交通区位、吸引金融集聚优势、信息优势</a:t>
            </a:r>
            <a:endParaRPr lang="en-US" altLang="zh-CN" sz="20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创意产业区位选择</a:t>
            </a:r>
            <a:endParaRPr lang="en-US" altLang="zh-CN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ts val="3000"/>
              </a:lnSpc>
              <a:spcBef>
                <a:spcPts val="600"/>
              </a:spcBef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区位特点：融合化、专业化、集群化、共享化</a:t>
            </a:r>
            <a:endParaRPr lang="en-US" altLang="zh-CN" sz="20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ts val="3000"/>
              </a:lnSpc>
              <a:spcBef>
                <a:spcPts val="600"/>
              </a:spcBef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条件：信息基础设施与公共服务；高素质劳动力；鉴别力的市场；开放度；</a:t>
            </a:r>
            <a:endParaRPr lang="en-US" altLang="zh-CN" sz="20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ts val="3000"/>
              </a:lnSpc>
              <a:spcBef>
                <a:spcPts val="600"/>
              </a:spcBef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位置：城市核心区周边区域，散点装布局</a:t>
            </a:r>
            <a:endParaRPr lang="en-US" altLang="zh-CN" sz="20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3000"/>
              </a:lnSpc>
              <a:spcBef>
                <a:spcPts val="600"/>
              </a:spcBef>
            </a:pPr>
            <a:r>
              <a:rPr lang="zh-CN" altLang="en-US" sz="24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电子商务区位选择</a:t>
            </a:r>
            <a:endParaRPr lang="en-US" altLang="zh-CN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ts val="3000"/>
              </a:lnSpc>
              <a:spcBef>
                <a:spcPts val="600"/>
              </a:spcBef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条件：经济发展状况、交通和区位条件、教育发达程度、地方文化、第三方支付平台完善程度</a:t>
            </a:r>
            <a:endParaRPr lang="en-US" altLang="zh-CN" sz="20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ts val="3000"/>
              </a:lnSpc>
              <a:spcBef>
                <a:spcPts val="600"/>
              </a:spcBef>
            </a:pPr>
            <a:r>
              <a:rPr lang="zh-CN" altLang="en-US" sz="20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布局：交通通讯关键节点</a:t>
            </a:r>
            <a:endParaRPr lang="en-US" altLang="zh-CN" sz="20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endParaRPr lang="en-US" altLang="zh-CN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endParaRPr lang="zh-CN" altLang="en-US" sz="240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549275"/>
            <a:ext cx="8229600" cy="5903913"/>
          </a:xfrm>
        </p:spPr>
        <p:txBody>
          <a:bodyPr/>
          <a:lstStyle/>
          <a:p>
            <a:pPr>
              <a:lnSpc>
                <a:spcPts val="4400"/>
              </a:lnSpc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物流业区位选择</a:t>
            </a:r>
            <a:endParaRPr lang="en-US" altLang="zh-CN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ts val="4400"/>
              </a:lnSpc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客户指向性区位：接近产品委托方或消费地</a:t>
            </a:r>
            <a:endParaRPr lang="en-US" altLang="zh-CN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ts val="4400"/>
              </a:lnSpc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中心指向性区位：交通枢纽的场站周围和主要交通干线两侧</a:t>
            </a:r>
            <a:endParaRPr lang="en-US" altLang="zh-CN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ts val="4400"/>
              </a:lnSpc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集聚效益指向性区位：企业相对集中的地区和商业中心布局</a:t>
            </a:r>
            <a:endParaRPr lang="en-US" altLang="zh-CN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4400"/>
              </a:lnSpc>
            </a:pP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物流中心的区位：人口规模、社会消费品零售总额、地区国内生产总值、产业结构、全社会货运量、城市间相互作用关系</a:t>
            </a:r>
            <a:endParaRPr lang="en-US" altLang="zh-CN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7214</TotalTime>
  <Words>1898</Words>
  <Application>Microsoft Office PowerPoint</Application>
  <PresentationFormat>全屏显示(4:3)</PresentationFormat>
  <Paragraphs>102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宋体</vt:lpstr>
      <vt:lpstr>Calibri</vt:lpstr>
      <vt:lpstr>黑体</vt:lpstr>
      <vt:lpstr>华文细黑</vt:lpstr>
      <vt:lpstr>Times New Roman</vt:lpstr>
      <vt:lpstr>默认设计模板</vt:lpstr>
      <vt:lpstr>第3章  区 位 理 论  第3节  现代区位理论</vt:lpstr>
      <vt:lpstr>幻灯片 2</vt:lpstr>
      <vt:lpstr>一、行为区位论</vt:lpstr>
      <vt:lpstr>幻灯片 4</vt:lpstr>
      <vt:lpstr>二、战略区位论：战略空间与谈判成本</vt:lpstr>
      <vt:lpstr>幻灯片 6</vt:lpstr>
      <vt:lpstr>三、组织结构区位论：交易空间与交易成本</vt:lpstr>
      <vt:lpstr>幻灯片 8</vt:lpstr>
      <vt:lpstr>幻灯片 9</vt:lpstr>
      <vt:lpstr>幻灯片 10</vt:lpstr>
      <vt:lpstr>影响零售业区位决策的基本因素</vt:lpstr>
      <vt:lpstr>零售业空间类型划分</vt:lpstr>
      <vt:lpstr>附：城市中心商务区规划</vt:lpstr>
      <vt:lpstr>幻灯片 14</vt:lpstr>
      <vt:lpstr> （二）城市中心商务区范围的确定</vt:lpstr>
      <vt:lpstr>幻灯片 16</vt:lpstr>
      <vt:lpstr>服务业的类型与区位特征</vt:lpstr>
      <vt:lpstr>幻灯片 18</vt:lpstr>
      <vt:lpstr>幻灯片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 第6节  区位理论</dc:title>
  <dc:creator>asd</dc:creator>
  <cp:lastModifiedBy>xbany</cp:lastModifiedBy>
  <cp:revision>97</cp:revision>
  <dcterms:created xsi:type="dcterms:W3CDTF">2004-06-12T16:08:21Z</dcterms:created>
  <dcterms:modified xsi:type="dcterms:W3CDTF">2020-02-11T13:34:38Z</dcterms:modified>
</cp:coreProperties>
</file>