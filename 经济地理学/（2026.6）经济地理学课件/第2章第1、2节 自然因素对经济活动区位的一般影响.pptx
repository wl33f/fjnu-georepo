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sldIdLst>
    <p:sldId id="295" r:id="rId2"/>
    <p:sldId id="296" r:id="rId3"/>
    <p:sldId id="302" r:id="rId4"/>
    <p:sldId id="305" r:id="rId5"/>
    <p:sldId id="303" r:id="rId6"/>
    <p:sldId id="304" r:id="rId7"/>
    <p:sldId id="297" r:id="rId8"/>
    <p:sldId id="256" r:id="rId9"/>
    <p:sldId id="294" r:id="rId10"/>
    <p:sldId id="259" r:id="rId11"/>
    <p:sldId id="298" r:id="rId12"/>
    <p:sldId id="280" r:id="rId13"/>
    <p:sldId id="286" r:id="rId14"/>
    <p:sldId id="306" r:id="rId15"/>
    <p:sldId id="276" r:id="rId1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4"/>
    <a:srgbClr val="FFFF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658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DA1ABCE-30EC-4499-B2F2-9F4FDE92A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</p:grpSp>
      <p:sp>
        <p:nvSpPr>
          <p:cNvPr id="1437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37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EB427-8C5E-4228-94B3-22D661BBD4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91D899-34AC-4023-956F-3783E445CB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230E9-9199-4B94-831F-0F33275E6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11C71-859F-449A-BF38-225E24778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58C56-E51E-4EB0-B1F0-69FF72D62A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1AB47-86E9-4D97-9A94-CE83C266BF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0CB25-AB4A-43EC-9A22-D9A4EA0A43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5FDD4-2FCB-45C4-9E05-BDF59FB8E0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198A5-82F8-49D5-86CF-220222AC6B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22A2DD-E5FC-4BAD-9DDA-9BF6CDCBA5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93ED7-2CA3-45EA-AD34-56DE8F374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53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56D3C-C835-420B-8C0F-7B23FB5FBD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331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1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2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3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4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1335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pSp>
          <p:nvGrpSpPr>
            <p:cNvPr id="1068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335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1335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</p:grpSp>
      <p:sp>
        <p:nvSpPr>
          <p:cNvPr id="1335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335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35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5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5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4BB8555-B7C1-41D0-9A9D-AA421B855E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0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3850" y="1600200"/>
            <a:ext cx="8820150" cy="1828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章 经济活动区位的影响因素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872288" cy="1752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节  经济活动区位的基本概念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836613"/>
            <a:ext cx="7272337" cy="5256212"/>
          </a:xfrm>
        </p:spPr>
        <p:txBody>
          <a:bodyPr/>
          <a:lstStyle/>
          <a:p>
            <a:pPr eaLnBrk="1" fontAlgn="t" hangingPunct="1"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  <a:hlinkClick r:id="rId2" action="ppaction://hlinksldjump"/>
              </a:rPr>
              <a:t>一、区位与区位理论</a:t>
            </a:r>
            <a:endParaRPr lang="zh-CN" altLang="en-US" smtClean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二、区位条件与区位因子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区位条件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  概念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  区位主体不同，区位条件不同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  区位条件随时间而变化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mtClean="0">
                <a:effectLst/>
                <a:latin typeface="黑体" pitchFamily="2" charset="-122"/>
                <a:ea typeface="黑体" pitchFamily="2" charset="-122"/>
              </a:rPr>
              <a:t>区位因子</a:t>
            </a:r>
          </a:p>
        </p:txBody>
      </p:sp>
      <p:sp>
        <p:nvSpPr>
          <p:cNvPr id="3" name="下箭头 2">
            <a:hlinkClick r:id="rId3" action="ppaction://hlinksldjump"/>
          </p:cNvPr>
          <p:cNvSpPr/>
          <p:nvPr/>
        </p:nvSpPr>
        <p:spPr>
          <a:xfrm>
            <a:off x="7572375" y="5715000"/>
            <a:ext cx="214313" cy="2143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1075"/>
            <a:ext cx="6697662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一、区位与区位理论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5513" y="2349500"/>
            <a:ext cx="6059487" cy="3384550"/>
          </a:xfrm>
        </p:spPr>
        <p:txBody>
          <a:bodyPr/>
          <a:lstStyle/>
          <a:p>
            <a:pPr marL="609600" indent="-609600" eaLnBrk="1" hangingPunct="1">
              <a:lnSpc>
                <a:spcPct val="145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</a:rPr>
              <a:t>区位论概念</a:t>
            </a:r>
          </a:p>
          <a:p>
            <a:pPr marL="609600" indent="-609600" eaLnBrk="1" hangingPunct="1">
              <a:lnSpc>
                <a:spcPct val="145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  <a:hlinkClick r:id="rId2" action="ppaction://hlinksldjump"/>
              </a:rPr>
              <a:t>区位与距离衰减律</a:t>
            </a:r>
            <a:endParaRPr lang="zh-CN" altLang="en-US" smtClean="0">
              <a:ea typeface="黑体" pitchFamily="2" charset="-122"/>
            </a:endParaRPr>
          </a:p>
          <a:p>
            <a:pPr marL="609600" indent="-609600" eaLnBrk="1" hangingPunct="1">
              <a:lnSpc>
                <a:spcPct val="145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  <a:hlinkClick r:id="rId3" action="ppaction://hlinksldjump"/>
              </a:rPr>
              <a:t>区位论发展特点</a:t>
            </a:r>
            <a:endParaRPr lang="zh-CN" altLang="en-US" smtClean="0">
              <a:ea typeface="黑体" pitchFamily="2" charset="-122"/>
            </a:endParaRPr>
          </a:p>
          <a:p>
            <a:pPr marL="609600" indent="-609600" eaLnBrk="1" hangingPunct="1">
              <a:lnSpc>
                <a:spcPct val="145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  <a:hlinkClick r:id="rId4" action="ppaction://hlinksldjump"/>
              </a:rPr>
              <a:t>区位论分类</a:t>
            </a:r>
            <a:endParaRPr lang="zh-CN" altLang="en-US" smtClean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经济活动空间关系的距离衰减率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013" y="188913"/>
            <a:ext cx="7273925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179388" y="6107113"/>
            <a:ext cx="8642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1970</a:t>
            </a:r>
            <a:r>
              <a:rPr lang="zh-CN" altLang="en-US"/>
              <a:t>年托布勒（</a:t>
            </a:r>
            <a:r>
              <a:rPr lang="en-US" altLang="zh-CN"/>
              <a:t>Tobler</a:t>
            </a:r>
            <a:r>
              <a:rPr lang="zh-CN" altLang="en-US"/>
              <a:t>）概括的地理学第一大定律</a:t>
            </a:r>
          </a:p>
          <a:p>
            <a:r>
              <a:rPr lang="zh-CN" altLang="en-US"/>
              <a:t>距离：空间距离、时间距离、还可以是文化、制度、信息、心理、动机等方面的差异</a:t>
            </a:r>
          </a:p>
        </p:txBody>
      </p:sp>
      <p:sp>
        <p:nvSpPr>
          <p:cNvPr id="6148" name="WordArt 6">
            <a:hlinkClick r:id="rId3" action="ppaction://hlinksldjump"/>
          </p:cNvPr>
          <p:cNvSpPr>
            <a:spLocks noChangeArrowheads="1" noChangeShapeType="1" noTextEdit="1"/>
          </p:cNvSpPr>
          <p:nvPr/>
        </p:nvSpPr>
        <p:spPr bwMode="auto">
          <a:xfrm>
            <a:off x="8459788" y="5373688"/>
            <a:ext cx="471487" cy="409575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宋体"/>
                <a:ea typeface="宋体"/>
              </a:rPr>
              <a:t>End</a:t>
            </a:r>
            <a:endParaRPr lang="zh-CN" altLang="en-US" sz="3200" kern="10">
              <a:ln w="12700">
                <a:solidFill>
                  <a:srgbClr val="FF0000"/>
                </a:solidFill>
                <a:round/>
                <a:headEnd/>
                <a:tailEnd/>
              </a:ln>
              <a:solidFill>
                <a:srgbClr val="FF6600"/>
              </a:soli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宋体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20713"/>
            <a:ext cx="8229600" cy="847725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36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区位论发展特点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484313"/>
            <a:ext cx="7462837" cy="4248150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 typeface="Wingdings" pitchFamily="2" charset="2"/>
              <a:buChar char="Ø"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阶段：杜能古典农业区位论</a:t>
            </a:r>
            <a:r>
              <a:rPr lang="en-US" altLang="zh-CN" smtClean="0">
                <a:latin typeface="华文细黑"/>
                <a:ea typeface="黑体" pitchFamily="2" charset="-122"/>
              </a:rPr>
              <a:t>——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中心地理论（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1826</a:t>
            </a:r>
            <a:r>
              <a:rPr lang="en-US" altLang="zh-CN" smtClean="0">
                <a:latin typeface="华文细黑"/>
                <a:ea typeface="黑体" pitchFamily="2" charset="-122"/>
              </a:rPr>
              <a:t>—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1930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145000"/>
              </a:lnSpc>
              <a:buFont typeface="Wingdings" pitchFamily="2" charset="2"/>
              <a:buChar char="Ø"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阶段：中心地理论至今</a:t>
            </a:r>
          </a:p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endParaRPr lang="zh-CN" altLang="en-US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研究内容、研究方法</a:t>
            </a:r>
          </a:p>
        </p:txBody>
      </p:sp>
      <p:sp>
        <p:nvSpPr>
          <p:cNvPr id="7172" name="WordArt 4">
            <a:hlinkClick r:id="rId2" action="ppaction://hlinksldjump"/>
          </p:cNvPr>
          <p:cNvSpPr>
            <a:spLocks noChangeArrowheads="1" noChangeShapeType="1" noTextEdit="1"/>
          </p:cNvSpPr>
          <p:nvPr/>
        </p:nvSpPr>
        <p:spPr bwMode="auto">
          <a:xfrm>
            <a:off x="8172450" y="6021388"/>
            <a:ext cx="471488" cy="409575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宋体"/>
                <a:ea typeface="宋体"/>
              </a:rPr>
              <a:t>End</a:t>
            </a:r>
            <a:endParaRPr lang="zh-CN" altLang="en-US" sz="3200" kern="10">
              <a:ln w="12700">
                <a:solidFill>
                  <a:srgbClr val="FF0000"/>
                </a:solidFill>
                <a:round/>
                <a:headEnd/>
                <a:tailEnd/>
              </a:ln>
              <a:solidFill>
                <a:srgbClr val="FF6600"/>
              </a:soli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宋体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908050"/>
            <a:ext cx="6346825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4000" smtClean="0">
                <a:solidFill>
                  <a:srgbClr val="FFFF00"/>
                </a:solidFill>
              </a:rPr>
              <a:t>3</a:t>
            </a:r>
            <a:r>
              <a:rPr lang="en-US" altLang="zh-CN" sz="40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40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区位论分类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2133600"/>
            <a:ext cx="6840537" cy="403225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古典（新古典）区位论 </a:t>
            </a:r>
          </a:p>
          <a:p>
            <a:pPr lvl="1" eaLnBrk="1" hangingPunct="1">
              <a:lnSpc>
                <a:spcPct val="140000"/>
              </a:lnSpc>
              <a:buFont typeface="Wingdings" pitchFamily="2" charset="2"/>
              <a:buChar char="ü"/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成本学派：杜能、韦伯、胡佛、霍特林等</a:t>
            </a:r>
          </a:p>
          <a:p>
            <a:pPr lvl="1" eaLnBrk="1" hangingPunct="1">
              <a:lnSpc>
                <a:spcPct val="140000"/>
              </a:lnSpc>
              <a:buFont typeface="Wingdings" pitchFamily="2" charset="2"/>
              <a:buChar char="ü"/>
              <a:defRPr/>
            </a:pPr>
            <a:r>
              <a:rPr lang="zh-CN" altLang="en-US" sz="2400" smtClean="0">
                <a:latin typeface="Times New Roman" pitchFamily="18" charset="0"/>
                <a:ea typeface="黑体" pitchFamily="2" charset="-122"/>
              </a:rPr>
              <a:t>市场学派：克里斯塔勒、廖什等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行为区位论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战略区位论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组织结构区位论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7092950" y="5805488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6877050" y="6092825"/>
            <a:ext cx="1366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8198" name="WordArt 6">
            <a:hlinkClick r:id="rId2" action="ppaction://hlinksldjump"/>
          </p:cNvPr>
          <p:cNvSpPr>
            <a:spLocks noChangeArrowheads="1" noChangeShapeType="1" noTextEdit="1"/>
          </p:cNvSpPr>
          <p:nvPr/>
        </p:nvSpPr>
        <p:spPr bwMode="auto">
          <a:xfrm>
            <a:off x="8172450" y="6021388"/>
            <a:ext cx="471488" cy="409575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宋体"/>
                <a:ea typeface="宋体"/>
              </a:rPr>
              <a:t>End</a:t>
            </a:r>
            <a:endParaRPr lang="zh-CN" altLang="en-US" sz="3200" kern="10">
              <a:ln w="12700">
                <a:solidFill>
                  <a:srgbClr val="FF0000"/>
                </a:solidFill>
                <a:round/>
                <a:headEnd/>
                <a:tailEnd/>
              </a:ln>
              <a:solidFill>
                <a:srgbClr val="FF6600"/>
              </a:soli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宋体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539750" y="2349500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区位因子</a:t>
            </a:r>
          </a:p>
        </p:txBody>
      </p:sp>
      <p:sp>
        <p:nvSpPr>
          <p:cNvPr id="94213" name="AutoShape 5"/>
          <p:cNvSpPr>
            <a:spLocks/>
          </p:cNvSpPr>
          <p:nvPr/>
        </p:nvSpPr>
        <p:spPr bwMode="auto">
          <a:xfrm>
            <a:off x="1763713" y="1916113"/>
            <a:ext cx="431800" cy="2233612"/>
          </a:xfrm>
          <a:prstGeom prst="leftBrace">
            <a:avLst>
              <a:gd name="adj1" fmla="val 4310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1958975" y="1697038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经济因子</a:t>
            </a:r>
          </a:p>
        </p:txBody>
      </p:sp>
      <p:sp>
        <p:nvSpPr>
          <p:cNvPr id="94215" name="AutoShape 7"/>
          <p:cNvSpPr>
            <a:spLocks/>
          </p:cNvSpPr>
          <p:nvPr/>
        </p:nvSpPr>
        <p:spPr bwMode="auto">
          <a:xfrm>
            <a:off x="3203575" y="1700213"/>
            <a:ext cx="73025" cy="649287"/>
          </a:xfrm>
          <a:prstGeom prst="lef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6" name="Text Box 8"/>
          <p:cNvSpPr txBox="1">
            <a:spLocks noChangeArrowheads="1"/>
          </p:cNvSpPr>
          <p:nvPr/>
        </p:nvSpPr>
        <p:spPr bwMode="auto">
          <a:xfrm>
            <a:off x="3327400" y="1481138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成本因子</a:t>
            </a:r>
          </a:p>
        </p:txBody>
      </p:sp>
      <p:sp>
        <p:nvSpPr>
          <p:cNvPr id="94217" name="AutoShape 9"/>
          <p:cNvSpPr>
            <a:spLocks/>
          </p:cNvSpPr>
          <p:nvPr/>
        </p:nvSpPr>
        <p:spPr bwMode="auto">
          <a:xfrm>
            <a:off x="4572000" y="1412875"/>
            <a:ext cx="71438" cy="576263"/>
          </a:xfrm>
          <a:prstGeom prst="leftBrace">
            <a:avLst>
              <a:gd name="adj1" fmla="val 6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4695825" y="1192213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运费因子</a:t>
            </a:r>
          </a:p>
        </p:txBody>
      </p:sp>
      <p:sp>
        <p:nvSpPr>
          <p:cNvPr id="94219" name="Text Box 11"/>
          <p:cNvSpPr txBox="1">
            <a:spLocks noChangeArrowheads="1"/>
          </p:cNvSpPr>
          <p:nvPr/>
        </p:nvSpPr>
        <p:spPr bwMode="auto">
          <a:xfrm>
            <a:off x="4695825" y="1697038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非运费因子</a:t>
            </a: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3327400" y="2128838"/>
            <a:ext cx="4756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收入因子：市场、价格、收入、近消费地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2124075" y="3860800"/>
            <a:ext cx="577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>
                <a:ea typeface="华文细黑" pitchFamily="2" charset="-122"/>
              </a:rPr>
              <a:t>非经济因子：决策者行为、区域政策、自然条件、</a:t>
            </a:r>
          </a:p>
          <a:p>
            <a:r>
              <a:rPr lang="zh-CN" altLang="en-US" sz="2000">
                <a:ea typeface="华文细黑" pitchFamily="2" charset="-122"/>
              </a:rPr>
              <a:t>                      军事上的考虑等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4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4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4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4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/>
      <p:bldP spid="94213" grpId="0" animBg="1"/>
      <p:bldP spid="94214" grpId="0"/>
      <p:bldP spid="94215" grpId="0" animBg="1"/>
      <p:bldP spid="94216" grpId="0"/>
      <p:bldP spid="94217" grpId="0" animBg="1"/>
      <p:bldP spid="94218" grpId="0"/>
      <p:bldP spid="94219" grpId="0"/>
      <p:bldP spid="94220" grpId="0"/>
      <p:bldP spid="942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989138"/>
            <a:ext cx="8820150" cy="2808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4000" dirty="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章  第</a:t>
            </a:r>
            <a:r>
              <a:rPr lang="en-US" altLang="zh-CN" sz="4000" dirty="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节</a:t>
            </a:r>
            <a:br>
              <a:rPr lang="zh-CN" altLang="en-US" sz="4000" dirty="0" smtClean="0">
                <a:latin typeface="黑体" pitchFamily="2" charset="-122"/>
                <a:ea typeface="黑体" pitchFamily="2" charset="-122"/>
              </a:rPr>
            </a:br>
            <a:r>
              <a:rPr lang="zh-CN" altLang="en-US" sz="4000" dirty="0" smtClean="0">
                <a:latin typeface="黑体" pitchFamily="2" charset="-122"/>
                <a:ea typeface="黑体" pitchFamily="2" charset="-122"/>
              </a:rPr>
              <a:t>自然因素对经济活动区位的一般影响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1628775"/>
            <a:ext cx="7067550" cy="3816350"/>
          </a:xfrm>
        </p:spPr>
        <p:txBody>
          <a:bodyPr/>
          <a:lstStyle/>
          <a:p>
            <a:pPr eaLnBrk="1" hangingPunct="1">
              <a:lnSpc>
                <a:spcPct val="145000"/>
              </a:lnSpc>
              <a:spcBef>
                <a:spcPts val="2400"/>
              </a:spcBef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一、土地因子对经济区位的影响</a:t>
            </a:r>
          </a:p>
          <a:p>
            <a:pPr eaLnBrk="1" hangingPunct="1">
              <a:lnSpc>
                <a:spcPct val="145000"/>
              </a:lnSpc>
              <a:spcBef>
                <a:spcPts val="2400"/>
              </a:spcBef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二、原材料因子对经济区位的影响</a:t>
            </a:r>
          </a:p>
          <a:p>
            <a:pPr eaLnBrk="1" hangingPunct="1">
              <a:lnSpc>
                <a:spcPct val="145000"/>
              </a:lnSpc>
              <a:spcBef>
                <a:spcPts val="2400"/>
              </a:spcBef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三、能源因子对经济区位的影响</a:t>
            </a:r>
          </a:p>
          <a:p>
            <a:pPr eaLnBrk="1" hangingPunct="1">
              <a:lnSpc>
                <a:spcPct val="145000"/>
              </a:lnSpc>
              <a:spcBef>
                <a:spcPts val="2400"/>
              </a:spcBef>
              <a:buFont typeface="Wingdings" pitchFamily="2" charset="2"/>
              <a:buNone/>
              <a:defRPr/>
            </a:pPr>
            <a:r>
              <a:rPr lang="zh-CN" altLang="en-US" sz="2800" dirty="0" smtClean="0">
                <a:ea typeface="黑体" pitchFamily="2" charset="-122"/>
              </a:rPr>
              <a:t>四、自然环境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96975"/>
            <a:ext cx="8147050" cy="576263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smtClean="0">
                <a:solidFill>
                  <a:srgbClr val="FFFF00"/>
                </a:solidFill>
                <a:ea typeface="黑体" pitchFamily="2" charset="-122"/>
              </a:rPr>
              <a:t>一、土地因子对经济区位的影响</a:t>
            </a:r>
            <a:endParaRPr lang="zh-CN" altLang="en-US" sz="4000" smtClean="0">
              <a:solidFill>
                <a:srgbClr val="FFFF00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565400"/>
            <a:ext cx="7859712" cy="3529013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</a:rPr>
              <a:t>土地对经济活动的影响通过两方面决定</a:t>
            </a:r>
          </a:p>
          <a:p>
            <a:pPr marL="609600" indent="-609600" eaLnBrk="1" hangingPunct="1">
              <a:lnSpc>
                <a:spcPct val="150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</a:rPr>
              <a:t>土地参与经济活动的方式</a:t>
            </a:r>
          </a:p>
          <a:p>
            <a:pPr marL="609600" indent="-609600" eaLnBrk="1" hangingPunct="1">
              <a:lnSpc>
                <a:spcPct val="150000"/>
              </a:lnSpc>
              <a:buFont typeface="Wingdings" pitchFamily="2" charset="2"/>
              <a:buAutoNum type="arabicPeriod"/>
              <a:defRPr/>
            </a:pPr>
            <a:r>
              <a:rPr lang="zh-CN" altLang="en-US" smtClean="0">
                <a:ea typeface="黑体" pitchFamily="2" charset="-122"/>
              </a:rPr>
              <a:t>不同的生产部门对土地的要求不同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5" descr="城市不同土地利用类型地租"/>
          <p:cNvPicPr>
            <a:picLocks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388" y="476250"/>
            <a:ext cx="4176712" cy="5400675"/>
          </a:xfrm>
          <a:noFill/>
        </p:spPr>
      </p:pic>
      <p:pic>
        <p:nvPicPr>
          <p:cNvPr id="13315" name="Picture 8" descr="城市区位型工业的收益性空间界限"/>
          <p:cNvPicPr>
            <a:picLocks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427538" y="476250"/>
            <a:ext cx="4537075" cy="54006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836613"/>
            <a:ext cx="8229600" cy="288925"/>
          </a:xfrm>
        </p:spPr>
        <p:txBody>
          <a:bodyPr/>
          <a:lstStyle/>
          <a:p>
            <a:pPr marL="838200" indent="-838200" algn="l" eaLnBrk="1" hangingPunct="1">
              <a:defRPr/>
            </a:pPr>
            <a:r>
              <a:rPr lang="zh-CN" altLang="en-US" sz="3600" smtClean="0">
                <a:solidFill>
                  <a:srgbClr val="FFFF00"/>
                </a:solidFill>
                <a:ea typeface="黑体" pitchFamily="2" charset="-122"/>
              </a:rPr>
              <a:t>二、原材料因子对经济区位的影响</a:t>
            </a:r>
            <a:r>
              <a:rPr lang="zh-CN" altLang="en-US" smtClean="0">
                <a:solidFill>
                  <a:schemeClr val="tx1"/>
                </a:solidFill>
              </a:rPr>
              <a:t/>
            </a:r>
            <a:br>
              <a:rPr lang="zh-CN" altLang="en-US" smtClean="0">
                <a:solidFill>
                  <a:schemeClr val="tx1"/>
                </a:solidFill>
              </a:rPr>
            </a:b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675687" cy="518477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原材料因子的构成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初级原料、加工原料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原材料对产业布局的影响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）矿产资源分布直接影响原材料型工业的区位选择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）工业布局由近原料地转向临海型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）现代经济活动通过中心组织原材料来达到现代社会生产的及时性、可靠性与灵活性的要求</a:t>
            </a:r>
            <a:r>
              <a:rPr lang="en-US" altLang="zh-CN" sz="2800" smtClean="0">
                <a:latin typeface="华文细黑"/>
                <a:ea typeface="黑体" pitchFamily="2" charset="-122"/>
              </a:rPr>
              <a:t>——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临空型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052513"/>
            <a:ext cx="8229600" cy="504825"/>
          </a:xfrm>
        </p:spPr>
        <p:txBody>
          <a:bodyPr/>
          <a:lstStyle/>
          <a:p>
            <a:pPr marL="838200" indent="-838200" algn="l" eaLnBrk="1" hangingPunct="1">
              <a:defRPr/>
            </a:pPr>
            <a:r>
              <a:rPr lang="zh-CN" altLang="en-US" sz="3600" smtClean="0">
                <a:solidFill>
                  <a:srgbClr val="FFFF00"/>
                </a:solidFill>
                <a:ea typeface="黑体" pitchFamily="2" charset="-122"/>
              </a:rPr>
              <a:t>三、能源因子对经济区位的影响</a:t>
            </a:r>
            <a:r>
              <a:rPr lang="zh-CN" altLang="en-US" smtClean="0"/>
              <a:t/>
            </a:r>
            <a:br>
              <a:rPr lang="zh-CN" altLang="en-US" smtClean="0"/>
            </a:br>
            <a:endParaRPr lang="zh-CN" altLang="en-US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773238"/>
            <a:ext cx="7920037" cy="4464050"/>
          </a:xfrm>
        </p:spPr>
        <p:txBody>
          <a:bodyPr/>
          <a:lstStyle/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能源因子分类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一次能源、二次能源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能源对经济活动区位的影响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）大量稳定的能源是经济活动的基础</a:t>
            </a:r>
          </a:p>
          <a:p>
            <a:pPr marL="609600" indent="-609600"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）能源直接影响到产业经营成本、效率、对环境的影响以及公众对企业发展的态度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200" dirty="0" smtClean="0">
                <a:solidFill>
                  <a:srgbClr val="FFFF00"/>
                </a:solidFill>
                <a:ea typeface="黑体" pitchFamily="49" charset="-122"/>
              </a:rPr>
              <a:t>四、自然环境因素对经济活动区位的影响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478155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defRPr/>
            </a:pPr>
            <a:r>
              <a:rPr lang="zh-CN" altLang="en-US" sz="28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自然条件、自然环境、自然资源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sz="24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自然资源（联合国环境规划署）：在一定时间、地点条件下能生产经济价值，以提高人类当前和将来福利的自然环境因素和条件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sz="24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自然资源涵义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8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为经济活动提供必要的自然前提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8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是影响经济活动地理分布的重要因素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8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为实行劳动地域分工提供自然基础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800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是制约地区产业结构的重要因素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 descr="back068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9144000" cy="6669088"/>
          </a:xfrm>
          <a:noFill/>
        </p:spPr>
      </p:pic>
      <p:sp>
        <p:nvSpPr>
          <p:cNvPr id="17411" name="Text Box 6"/>
          <p:cNvSpPr txBox="1">
            <a:spLocks noChangeArrowheads="1"/>
          </p:cNvSpPr>
          <p:nvPr/>
        </p:nvSpPr>
        <p:spPr bwMode="auto">
          <a:xfrm>
            <a:off x="3779838" y="2060575"/>
            <a:ext cx="4392612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9600">
                <a:solidFill>
                  <a:schemeClr val="bg2"/>
                </a:solidFill>
                <a:latin typeface="华文行楷" pitchFamily="2" charset="-122"/>
                <a:ea typeface="华文行楷" pitchFamily="2" charset="-122"/>
              </a:rPr>
              <a:t>谢 谢！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am">
  <a:themeElements>
    <a:clrScheme name="Beam 10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FDEA75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 10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FDEA75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Cascade</Template>
  <TotalTime>1953</TotalTime>
  <Words>874</Words>
  <Application>Microsoft Office PowerPoint</Application>
  <PresentationFormat>全屏显示(4:3)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黑体</vt:lpstr>
      <vt:lpstr>华文细黑</vt:lpstr>
      <vt:lpstr>Times New Roman</vt:lpstr>
      <vt:lpstr>华文行楷</vt:lpstr>
      <vt:lpstr>Beam</vt:lpstr>
      <vt:lpstr>第2章 经济活动区位的影响因素</vt:lpstr>
      <vt:lpstr>幻灯片 2</vt:lpstr>
      <vt:lpstr>一、区位与区位理论</vt:lpstr>
      <vt:lpstr>幻灯片 4</vt:lpstr>
      <vt:lpstr>2.区位论发展特点</vt:lpstr>
      <vt:lpstr>3.区位论分类</vt:lpstr>
      <vt:lpstr>幻灯片 7</vt:lpstr>
      <vt:lpstr>第2章  第2节 自然因素对经济活动区位的一般影响</vt:lpstr>
      <vt:lpstr>幻灯片 9</vt:lpstr>
      <vt:lpstr>一、土地因子对经济区位的影响</vt:lpstr>
      <vt:lpstr>幻灯片 11</vt:lpstr>
      <vt:lpstr>二、原材料因子对经济区位的影响 </vt:lpstr>
      <vt:lpstr>三、能源因子对经济区位的影响 </vt:lpstr>
      <vt:lpstr>四、自然环境因素对经济活动区位的影响</vt:lpstr>
      <vt:lpstr>幻灯片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乡镇企业型新产业区非农建设用地可持续发展研究  ——以福建省晋江市为例</dc:title>
  <dc:creator>asd</dc:creator>
  <cp:lastModifiedBy>xbany</cp:lastModifiedBy>
  <cp:revision>60</cp:revision>
  <dcterms:created xsi:type="dcterms:W3CDTF">2004-02-11T15:34:43Z</dcterms:created>
  <dcterms:modified xsi:type="dcterms:W3CDTF">2020-02-11T12:48:26Z</dcterms:modified>
</cp:coreProperties>
</file>